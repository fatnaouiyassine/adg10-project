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1.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9"/>
    <p:sldId id="279" r:id="rId30"/>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0" d="100"/>
          <a:sy n="50" d="100"/>
        </p:scale>
        <p:origin x="946" y="3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29" Type="http://schemas.openxmlformats.org/officeDocument/2006/relationships/slide" Target="slides/slide23.xml"/><Relationship Id="rId30" Type="http://schemas.openxmlformats.org/officeDocument/2006/relationships/slide" Target="slides/slide2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fr-FR"/>
  <c:roundedCorners val="1"/>
  <c:style val="2"/>
  <c:chart>
    <c:autoTitleDeleted val="1"/>
    <c:plotArea>
      <c:layout/>
      <c:barChart>
        <c:barDir val="bar"/>
        <c:grouping val="clustered"/>
        <c:varyColors val="0"/>
        <c:ser>
          <c:idx val="0"/>
          <c:order val="0"/>
          <c:tx>
            <c:v>Poids dans le score (%)</c:v>
          </c:tx>
          <c:spPr>
            <a:solidFill>
              <a:srgbClr val="A65A43"/>
            </a:solidFill>
          </c:spPr>
          <c:invertIfNegative val="1"/>
          <c:dLbls>
            <c:spPr>
              <a:noFill/>
              <a:ln>
                <a:noFill/>
              </a:ln>
              <a:effectLst/>
            </c:spPr>
            <c:txPr>
              <a:bodyPr anchorCtr="1"/>
              <a:lstStyle/>
              <a:p>
                <a:pPr>
                  <a:defRPr sz="2250">
                    <a:solidFill>
                      <a:srgbClr val="414548"/>
                    </a:solidFill>
                    <a:latin typeface="Calibri"/>
                    <a:ea typeface="Calibri"/>
                    <a:cs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Data'!$A$2:$A$6</c:f>
              <c:strCache>
                <c:ptCount val="5"/>
                <c:pt idx="0">
                  <c:v>Budget</c:v>
                </c:pt>
                <c:pt idx="1">
                  <c:v>Urgence</c:v>
                </c:pt>
                <c:pt idx="2">
                  <c:v>Décideur</c:v>
                </c:pt>
                <c:pt idx="3">
                  <c:v>Taille</c:v>
                </c:pt>
                <c:pt idx="4">
                  <c:v>Canal</c:v>
                </c:pt>
              </c:strCache>
            </c:strRef>
          </c:cat>
          <c:val>
            <c:numRef>
              <c:f>'Chart Data'!$B$2:$B$6</c:f>
              <c:numCache>
                <c:formatCode>General</c:formatCode>
                <c:ptCount val="5"/>
                <c:pt idx="0">
                  <c:v>30</c:v>
                </c:pt>
                <c:pt idx="1">
                  <c:v>25</c:v>
                </c:pt>
                <c:pt idx="2">
                  <c:v>20</c:v>
                </c:pt>
                <c:pt idx="3">
                  <c:v>15</c:v>
                </c:pt>
                <c:pt idx="4">
                  <c:v>10</c:v>
                </c:pt>
              </c:numCache>
            </c:numRef>
          </c:val>
          <c:extLst>
            <c:ext xmlns:c14="http://schemas.microsoft.com/office/drawing/2007/8/2/chart" uri="{6F2FDCE9-48DA-4B69-8628-5D25D57E5C99}">
              <c14:invertSolidFillFmt>
                <c14:spPr xmlns:c14="http://schemas.microsoft.com/office/drawing/2007/8/2/chart">
                  <a:solidFill>
                    <a:srgbClr val="414548"/>
                  </a:solidFill>
                </c14:spPr>
              </c14:invertSolidFillFmt>
            </c:ext>
            <c:ext xmlns:c16="http://schemas.microsoft.com/office/drawing/2014/chart" uri="{C3380CC4-5D6E-409C-BE32-E72D297353CC}">
              <c16:uniqueId val="{00000000-421E-44FA-8B29-E17319D61E0B}"/>
            </c:ext>
          </c:extLst>
        </c:ser>
        <c:dLbls>
          <c:dLblPos val="outEnd"/>
          <c:showLegendKey val="0"/>
          <c:showVal val="1"/>
          <c:showCatName val="0"/>
          <c:showSerName val="0"/>
          <c:showPercent val="0"/>
          <c:showBubbleSize val="0"/>
        </c:dLbls>
        <c:gapWidth val="65"/>
        <c:axId val="48650112"/>
        <c:axId val="48672768"/>
      </c:barChart>
      <c:catAx>
        <c:axId val="48650112"/>
        <c:scaling>
          <c:orientation val="minMax"/>
        </c:scaling>
        <c:delete val="0"/>
        <c:axPos val="l"/>
        <c:majorGridlines>
          <c:spPr>
            <a:ln w="9525">
              <a:solidFill>
                <a:srgbClr val="ACAFA6"/>
              </a:solidFill>
            </a:ln>
          </c:spPr>
        </c:majorGridlines>
        <c:numFmt formatCode="General" sourceLinked="1"/>
        <c:majorTickMark val="none"/>
        <c:minorTickMark val="none"/>
        <c:tickLblPos val="nextTo"/>
        <c:spPr>
          <a:ln w="9525">
            <a:solidFill>
              <a:srgbClr val="D4D4D4"/>
            </a:solidFill>
            <a:prstDash val="solid"/>
          </a:ln>
        </c:spPr>
        <c:txPr>
          <a:bodyPr anchorCtr="1"/>
          <a:lstStyle/>
          <a:p>
            <a:pPr>
              <a:defRPr sz="1950">
                <a:solidFill>
                  <a:srgbClr val="414548"/>
                </a:solidFill>
                <a:latin typeface="Calibri"/>
                <a:ea typeface="Calibri"/>
                <a:cs typeface="Calibri"/>
              </a:defRPr>
            </a:pPr>
            <a:endParaRPr lang="en-US"/>
          </a:p>
        </c:txPr>
        <c:crossAx val="48672768"/>
        <c:crosses val="autoZero"/>
        <c:auto val="1"/>
        <c:lblAlgn val="ctr"/>
        <c:lblOffset val="100"/>
        <c:noMultiLvlLbl val="1"/>
      </c:catAx>
      <c:valAx>
        <c:axId val="48672768"/>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2400">
                <a:solidFill>
                  <a:srgbClr val="414548"/>
                </a:solidFill>
                <a:latin typeface="Calibri"/>
                <a:ea typeface="Calibri"/>
                <a:cs typeface="Calibri"/>
              </a:defRPr>
            </a:pPr>
            <a:endParaRPr lang="en-US"/>
          </a:p>
        </c:txPr>
        <c:crossAx val="48650112"/>
        <c:crosses val="autoZero"/>
        <c:crossBetween val="between"/>
      </c:valAx>
    </c:plotArea>
    <c:plotVisOnly val="1"/>
    <c:dispBlanksAs val="zero"/>
    <c:showDLblsOverMax val="1"/>
  </c:chart>
  <c:spPr>
    <a:solidFill>
      <a:srgbClr val="F3F0E2"/>
    </a:solidFill>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25 secondes.</a:t>
            </a:r>
          </a:p>
          <a:p>
            <a:endParaRPr/>
          </a:p>
          <a:p>
            <a:r>
              <a:t>Bonjour, je suis Yassine Fatnaoui. Je vous présente ADG-10, un projet consacré à l’automatisation du parcours commercial des formations. L’objectif est d’aider une équipe à qualifier ses prospects, préparer ses offres et suivre ses dossiers, tout en conservant la validation humaine.</a:t>
            </a:r>
          </a:p>
          <a:p>
            <a:endParaRPr/>
          </a:p>
          <a:p>
            <a:r>
              <a:t>Sources : Rapport, couverture et introduction générale.</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20 secondes.</a:t>
            </a:r>
          </a:p>
          <a:p>
            <a:endParaRPr/>
          </a:p>
          <a:p>
            <a:r>
              <a:t>La présentation suit cinq parties. Après le contexte et les besoins, je présenterai le fonctionnement du système, puis ses choix techniques et une démonstration. Je terminerai par les résultats et les limites à traiter.</a:t>
            </a:r>
          </a:p>
          <a:p>
            <a:endParaRPr/>
          </a:p>
          <a:p>
            <a:r>
              <a:t>Sources : Structure du modèle de présentation fourni.</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15 secondes.</a:t>
            </a:r>
          </a:p>
          <a:p>
            <a:endParaRPr/>
          </a:p>
          <a:p>
            <a:r>
              <a:t>La question de départ est simple : comment assurer la continuité du suivi lorsqu’un dossier traverse plusieurs étapes et plusieurs outils ?</a:t>
            </a:r>
          </a:p>
          <a:p>
            <a:endParaRPr/>
          </a:p>
          <a:p>
            <a:r>
              <a:t>Sources : Rapport, introduction et problématique.</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45 secondes.</a:t>
            </a:r>
          </a:p>
          <a:p>
            <a:endParaRPr/>
          </a:p>
          <a:p>
            <a:r>
              <a:t>Le contexte métier est celui de la commercialisation de formations. Un catalogue rassemble les titres, les publics, les durées et les tarifs. L’équipe doit ensuite faire correspondre une offre à un besoin réel. Le dossier commercial évolue au fil des échanges, et la perte d’une information peut affecter les relances ou les documents. Le projet porte sur cette continuité. La description de l’organisme reprend le cadrage fourni, sans inventer de données sur ses effectifs ou ses résultats.</a:t>
            </a:r>
          </a:p>
          <a:p>
            <a:endParaRPr/>
          </a:p>
          <a:p>
            <a:r>
              <a:t>Sources : Rapport, sections 1.1 et 1.2.</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10 secondes.</a:t>
            </a:r>
          </a:p>
          <a:p>
            <a:endParaRPr/>
          </a:p>
          <a:p>
            <a:r>
              <a:t>Le projet doit automatiser les opérations répétitives tout en laissant les décisions et la négociation au commercial.</a:t>
            </a:r>
          </a:p>
          <a:p>
            <a:endParaRPr/>
          </a:p>
          <a:p>
            <a:r>
              <a:t>Sources : Rapport, section 1.2.</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45 secondes.</a:t>
            </a:r>
          </a:p>
          <a:p>
            <a:endParaRPr/>
          </a:p>
          <a:p>
            <a:r>
              <a:t>Le problème ne se résume pas à envoyer plus de messages. Il faut savoir quel prospect contacter, quelle formation proposer et quelle action a déjà été réalisée. Une interruption entre l’envoi d’un message et la mise à jour du CRM peut provoquer un doublon. La solution doit donc coordonner le contenu et les états du dossier. Le prototype apporte une première réponse, avec des limites que je préciserai.</a:t>
            </a:r>
          </a:p>
          <a:p>
            <a:endParaRPr/>
          </a:p>
          <a:p>
            <a:r>
              <a:t>Sources : Rapport, sections 1.2.3 et 3.2.2.</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40 secondes.</a:t>
            </a:r>
          </a:p>
          <a:p>
            <a:endParaRPr/>
          </a:p>
          <a:p>
            <a:r>
              <a:t>Les objectifs sont opérationnels. Airtable sert de référentiel, les règles de scoring déterminent une priorité, et les modèles partagés harmonisent les communications. Le dashboard permet de consulter les données et de lancer les scripts. Le périmètre ne comprend pas une signature électronique ni un suivi automatique des paiements. Le nom d’agent commercial désigne ici un prototype supervisé, pas un système autonome de bout en bout.</a:t>
            </a:r>
          </a:p>
          <a:p>
            <a:endParaRPr/>
          </a:p>
          <a:p>
            <a:r>
              <a:t>Sources : README.md, app.py, run_pipeline.py et run_e8_contract.py.</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35 secondes.</a:t>
            </a:r>
          </a:p>
          <a:p>
            <a:endParaRPr/>
          </a:p>
          <a:p>
            <a:r>
              <a:t>J’ai organisé la présentation du travail par phases. Le cadrage précède la conception des données et des règles, puis les modules sont intégrés progressivement. Les vérifications servent à identifier les limites et à ajuster la solution. La démarche s’inspire d’un fonctionnement itératif. Je ne présente pas un historique de réunions ou un calendrier précis qui ne serait pas documenté.</a:t>
            </a:r>
          </a:p>
          <a:p>
            <a:endParaRPr/>
          </a:p>
          <a:p>
            <a:r>
              <a:t>Sources : Rapport, section 1.3.</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10 secondes.</a:t>
            </a:r>
          </a:p>
          <a:p>
            <a:endParaRPr/>
          </a:p>
          <a:p>
            <a:r>
              <a:t>La conception traduit les besoins métier en étapes, en données et en interactions entre les composants.</a:t>
            </a:r>
          </a:p>
          <a:p>
            <a:endParaRPr/>
          </a:p>
          <a:p>
            <a:r>
              <a:t>Sources : Rapport, chapitre 2.</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55 secondes.</a:t>
            </a:r>
          </a:p>
          <a:p>
            <a:endParaRPr/>
          </a:p>
          <a:p>
            <a:r>
              <a:t>Le pipeline se décompose en huit étapes. E1 génère les contenus à partir du catalogue. E2 les décline pour certains canaux, mais E3 ne publie pas automatiquement. E4 qualifie les prospects, puis E5 entretient le contact. E6 prépare la proposition et E7 organise le suivi. Enfin, E8 produit la convention et la facture pour les dossiers marqués signés. Le pipeline principal relie surtout E4 à E7. E1 et E8 disposent de commandes séparées.</a:t>
            </a:r>
          </a:p>
          <a:p>
            <a:endParaRPr/>
          </a:p>
          <a:p>
            <a:r>
              <a:t>Sources : run_e1_content.py, run_e2_multichannel.py, run_pipeline.py, run_e8_contract.py.</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40 secondes.</a:t>
            </a:r>
          </a:p>
          <a:p>
            <a:endParaRPr/>
          </a:p>
          <a:p>
            <a:r>
              <a:t>Le principal utilisateur est le commercial. Il consulte les prospects, choisit le mode d’exécution, lance une commande et contrôle son résultat. La configuration relève d’un rôle d’administration. Ces rôles décrivent les responsabilités du processus, mais ils ne correspondent pas encore à une gestion d’utilisateurs dans le dashboard. Les services techniques comme Airtable et Groq agissent en support.</a:t>
            </a:r>
          </a:p>
          <a:p>
            <a:endParaRPr/>
          </a:p>
          <a:p>
            <a:r>
              <a:t>Sources : app.py, config.py. Rapport, sections 2.1.3 et 2.2.</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45 secondes.</a:t>
            </a:r>
          </a:p>
          <a:p>
            <a:endParaRPr/>
          </a:p>
          <a:p>
            <a:r>
              <a:t>Le modèle repose sur les formations et les leads. Un lead doit être rattaché à la bonne formation pour obtenir une offre cohérente. Les documents restent des fichiers locaux et le journal mémorise les actions envoyées. Le schéma est conceptuel : le code manipule des dictionnaires Airtable, sans ORM ni classes persistées correspondantes. Aujourd’hui, le repli sur la première formation en cas de lien invalide constitue une limite importante à supprimer avant exploitation.</a:t>
            </a:r>
          </a:p>
          <a:p>
            <a:endParaRPr/>
          </a:p>
          <a:p>
            <a:r>
              <a:t>Sources : airtable_client.py, pipeline_utils.py, state_store.py.</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65 secondes.</a:t>
            </a:r>
          </a:p>
          <a:p>
            <a:endParaRPr/>
          </a:p>
          <a:p>
            <a:r>
              <a:t>Le scoring reste déterministe et explicable. Il combine cinq sous-notes sur dix avec les pondérations affichées. Le budget et l’urgence pèsent le plus. Les valeurs sont normalisées, puis le résultat est arrondi à une décimale. Dans l’exemple fictif, les contributions donnent 3 plus 2,5 plus 2 plus 1,5 plus 0,5, soit 9,5. Le lead passe en priorité. Un score intermédiaire entre dans une qualification courte, et les scores plus faibles dans une séquence de nurturing. Ces seuils sont des règles du prototype, pas des résultats statistiques de conversion.</a:t>
            </a:r>
          </a:p>
          <a:p>
            <a:endParaRPr/>
          </a:p>
          <a:p>
            <a:r>
              <a:t>Sources : scoring.py, tests/test_business_rules.py.</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60 secondes.</a:t>
            </a:r>
          </a:p>
          <a:p>
            <a:endParaRPr/>
          </a:p>
          <a:p>
            <a:r>
              <a:t>Le scénario montre l’ordre des opérations. Le programme lit les données, vérifie le journal, prépare le PDF puis appelle la messagerie. Il enregistre le succès avant de mettre à jour le CRM. Si l’écriture CRM échoue, la reprise peut retrouver l’action et réconcilier le dossier. Cette protection réduit certains doublons. Elle ne garantit pas une exécution exactement une fois : une interruption entre l’envoi et l’écriture du journal reste possible, et le fichier JSON ne verrouille pas les exécutions simultanées.</a:t>
            </a:r>
          </a:p>
          <a:p>
            <a:endParaRPr/>
          </a:p>
          <a:p>
            <a:r>
              <a:t>Sources : run_pipeline.py, run_e6_proposal.py, state_store.py.</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55 secondes.</a:t>
            </a:r>
          </a:p>
          <a:p>
            <a:endParaRPr/>
          </a:p>
          <a:p>
            <a:r>
              <a:t>L’interface lit les données et déclenche les commandes dans des processus distincts. Le cœur métier applique les règles de score et construit les séquences. Les adaptateurs relient le programme aux services externes, tandis que ReportLab produit les PDF. La configuration est centralisée. Cette séparation facilite les tests locaux et la lecture du code. Le choix reste adapté à un prototype supervisé sur un poste. Une utilisation multi-utilisateur demande un service d’exécution, une base transactionnelle et une protection des accès.</a:t>
            </a:r>
          </a:p>
          <a:p>
            <a:endParaRPr/>
          </a:p>
          <a:p>
            <a:r>
              <a:t>Sources : app.py, config.py, run_pipeline.py, email_sender.py, whatsapp_sender.py, pdf_theme.py.</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10 secondes.</a:t>
            </a:r>
          </a:p>
          <a:p>
            <a:endParaRPr/>
          </a:p>
          <a:p>
            <a:r>
              <a:t>Je passe maintenant aux choix de réalisation et aux résultats concrets du projet.</a:t>
            </a:r>
          </a:p>
          <a:p>
            <a:endParaRPr/>
          </a:p>
          <a:p>
            <a:r>
              <a:t>Sources : Rapport, chapitre 4.</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45 secondes.</a:t>
            </a:r>
          </a:p>
          <a:p>
            <a:endParaRPr/>
          </a:p>
          <a:p>
            <a:r>
              <a:t>Les technologies répondent à des responsabilités précises. Python porte les fonctions métier, Airtable le référentiel, et Groq la génération. Les quatre champs de contenu attendus sont contrôlés, même si la validation doit encore devenir plus stricte. Streamlit permet de regrouper les commandes sans développer un frontend séparé. ReportLab remplace l’ancienne génération documentaire. WhatsApp dépend d’une session navigateur disponible et ne fournit pas une preuve de réception.</a:t>
            </a:r>
          </a:p>
          <a:p>
            <a:endParaRPr/>
          </a:p>
          <a:p>
            <a:r>
              <a:t>Sources : requirements.txt, generation_contenu.py, app.py, pdf_theme.py et adaptateurs d’envoi.</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80 secondes.</a:t>
            </a:r>
          </a:p>
          <a:p>
            <a:endParaRPr/>
          </a:p>
          <a:p>
            <a:r>
              <a:t>La démonstration suit un parcours court. Je présente les indicateurs : nombre de leads, score moyen, priorités et clients signés. Je montre ensuite la vue Leads, la recherche et le filtrage, puis je reviens aux commandes. Le mode simulation est sélectionné par défaut. Le passage en mode réel nécessite une confirmation. Les quatre onglets donnent accès à la vue d’ensemble, aux leads, aux formations et à l’activité. Dans la capture, les six contacts sont fictifs, le score moyen est 7,4 et quatre scores atteignent huit. Les mentions de configuration attestent la présence de paramètres, pas la réussite d’un appel externe. Si la démonstration en direct est indisponible, cette capture permet de présenter les mêmes étapes sans exposer de données réelles.</a:t>
            </a:r>
          </a:p>
          <a:p>
            <a:endParaRPr/>
          </a:p>
          <a:p>
            <a:r>
              <a:t>Sources : app.py. Capture locale dashboard.png, données de démonstration.</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65 secondes.</a:t>
            </a:r>
          </a:p>
          <a:p>
            <a:endParaRPr/>
          </a:p>
          <a:p>
            <a:r>
              <a:t>La version actuelle produit trois documents avec un thème commun. La proposition reprend la formation, ses bénéfices, sa validité et les informations du prospect. La convention structure les engagements, les conditions et les signatures. La facture utilise une référence annuelle et affiche les montants. Les messages associent un objet clair, une personnalisation et une prochaine action. E8 traite les leads marqués signés et peut envoyer la convention et la facture ensemble. Cela ne remplace ni la signature électronique ni le rapprochement du paiement. Les règles de TVA, les prix textuels et les champs incomplets doivent encore être fiabilisés.</a:t>
            </a:r>
          </a:p>
          <a:p>
            <a:endParaRPr/>
          </a:p>
          <a:p>
            <a:r>
              <a:t>Sources : proposal_generator.py, contract_generator.py, commercial_templates.py, run_e8_contract.py. Exemples locaux sans valeur commerciale.</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55 secondes.</a:t>
            </a:r>
          </a:p>
          <a:p>
            <a:endParaRPr/>
          </a:p>
          <a:p>
            <a:r>
              <a:t>Les résultats vérifiés sont onze tests métier réussis, une analyse syntaxique de vingt-huit fichiers propres au projet et un contrôle de cohérence des dépendances. Les tests portent sur des règles ciblées, notamment les scores, les références et le journal. Ils ne constituent pas une recette complète des intégrations. Je ne présente pas de taux de conversion ou de gain de temps mesuré : ces indicateurs nécessitent une collecte en exploitation et une comparaison avec une situation de référence.</a:t>
            </a:r>
          </a:p>
          <a:p>
            <a:endParaRPr/>
          </a:p>
          <a:p>
            <a:r>
              <a:t>Sources : tests/test_business_rules.py. Vérifications locales réalisées pour le rapport le 17 septembre 2026.</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60 secondes.</a:t>
            </a:r>
          </a:p>
          <a:p>
            <a:endParaRPr/>
          </a:p>
          <a:p>
            <a:r>
              <a:t>La première priorité est la cohérence des dossiers : une formation clairement identifiée et des montants non ambigus. Ensuite, un planificateur doit gérer les échéances manquées et l’arrêt des relances après réponse. La sécurité concerne l’accès au dashboard, les secrets et la protection des données. Pour plusieurs utilisateurs, le journal doit devenir central et transactionnel. Enfin, la publication sociale et le suivi après-vente étendent le périmètre. L’ordre proposé consolide les parcours existants avant d’ajouter des canaux.</a:t>
            </a:r>
          </a:p>
          <a:p>
            <a:endParaRPr/>
          </a:p>
          <a:p>
            <a:r>
              <a:t>Sources : Rapport, sections 3.2.4 et 4.3.2. État du code analysé.</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40 secondes.</a:t>
            </a:r>
          </a:p>
          <a:p>
            <a:endParaRPr/>
          </a:p>
          <a:p>
            <a:r>
              <a:t>Pour conclure, ADG-10 réunit les principales fonctions du parcours commercial dans un prototype supervisé. Le travail combine analyse métier, intégration de services, génération documentaire et conception d’une interface. La suite consiste à renforcer la fiabilité et à conduire une recette sur un périmètre réel contrôlé. Ce projet m’a permis d’articuler les choix techniques avec les exigences du suivi commercial. Je vous remercie pour votre attention et je suis prêt à répondre à vos questions.</a:t>
            </a:r>
          </a:p>
          <a:p>
            <a:endParaRPr/>
          </a:p>
          <a:p>
            <a:r>
              <a:t>Sources : Rapport, conclusion générale et perspectives.</a:t>
            </a:r>
          </a:p>
          <a:p>
            <a:r>
              <a:t>Référence documentaire : Rapport de stage ADG-10, version du 17 septembre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Références techniques du projet.</a:t>
            </a:r>
          </a:p>
          <a:p xmlns:a="http://schemas.openxmlformats.org/drawingml/2006/main">
            <a:r>
              <a:t>Python : https://docs.python.org/3/</a:t>
            </a:r>
          </a:p>
          <a:p xmlns:a="http://schemas.openxmlformats.org/drawingml/2006/main">
            <a:r>
              <a:t>Airtable Web API : https://airtable.com/developers/web/api/introduction</a:t>
            </a:r>
          </a:p>
          <a:p xmlns:a="http://schemas.openxmlformats.org/drawingml/2006/main">
            <a:r>
              <a:t>Groq : https://console.groq.com/docs/overview</a:t>
            </a:r>
          </a:p>
          <a:p xmlns:a="http://schemas.openxmlformats.org/drawingml/2006/main">
            <a:r>
              <a:t>Streamlit : https://docs.streamlit.io/</a:t>
            </a:r>
          </a:p>
          <a:p xmlns:a="http://schemas.openxmlformats.org/drawingml/2006/main">
            <a:r>
              <a:t>ReportLab : https://docs.reportlab.com/</a:t>
            </a:r>
          </a:p>
          <a:p xmlns:a="http://schemas.openxmlformats.org/drawingml/2006/main">
            <a:r>
              <a:t>Documentation interne : rapport de stage et code source ADG-10.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Je vous remercie pour votre attention. Je suis à votre disposition pour répondre à vos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 Id="rIdResearchBg" Type="http://schemas.openxmlformats.org/officeDocument/2006/relationships/image" Target="../media/research-hero.png"/><Relationship Id="rIdWorkflowBg" Type="http://schemas.openxmlformats.org/officeDocument/2006/relationships/image" Target="../media/workflow-background.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ResearchBg" Type="http://schemas.openxmlformats.org/officeDocument/2006/relationships/image" Target="../media/research-content.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ResearchBg" Type="http://schemas.openxmlformats.org/officeDocument/2006/relationships/image" Target="../media/research-hero.png"/><Relationship Id="rIdWorkflowBg" Type="http://schemas.openxmlformats.org/officeDocument/2006/relationships/image" Target="../media/schematic-slid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 Id="rIdResearchBg" Type="http://schemas.openxmlformats.org/officeDocument/2006/relationships/image" Target="../media/research-content.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ResearchBg" Type="http://schemas.openxmlformats.org/officeDocument/2006/relationships/image" Target="../media/research-hero.png"/><Relationship Id="rIdWorkflowBg" Type="http://schemas.openxmlformats.org/officeDocument/2006/relationships/image" Target="../media/schematic-slid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 Id="rIdResearchBg" Type="http://schemas.openxmlformats.org/officeDocument/2006/relationships/image" Target="../media/research-content.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 Id="rIdResearchBg" Type="http://schemas.openxmlformats.org/officeDocument/2006/relationships/image" Target="../media/research-content.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 Id="rIdResearchBg" Type="http://schemas.openxmlformats.org/officeDocument/2006/relationships/image" Target="../media/research-content.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ResearchBg" Type="http://schemas.openxmlformats.org/officeDocument/2006/relationships/image" Target="../media/research-hero.png"/><Relationship Id="rIdWorkflowBg" Type="http://schemas.openxmlformats.org/officeDocument/2006/relationships/image" Target="../media/schematic-slide-9.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 Id="rIdResearchBg" Type="http://schemas.openxmlformats.org/officeDocument/2006/relationships/image" Target="../media/research-content.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 Id="rIdResearchBg" Type="http://schemas.openxmlformats.org/officeDocument/2006/relationships/image" Target="../media/research-content.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 Id="rIdResearchBg" Type="http://schemas.openxmlformats.org/officeDocument/2006/relationships/image" Target="../media/research-content.png"/></Relationships>
</file>

<file path=ppt/slides/_rels/slide1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3.xml"/><Relationship Id="rId1" Type="http://schemas.openxmlformats.org/officeDocument/2006/relationships/slideLayout" Target="../slideLayouts/slideLayout1.xml"/><Relationship Id="rIdResearchBg" Type="http://schemas.openxmlformats.org/officeDocument/2006/relationships/image" Target="../media/research-content.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 Id="rIdResearchBg" Type="http://schemas.openxmlformats.org/officeDocument/2006/relationships/image" Target="../media/research-content.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 Id="rIdResearchBg" Type="http://schemas.openxmlformats.org/officeDocument/2006/relationships/image" Target="../media/research-content.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ResearchBg" Type="http://schemas.openxmlformats.org/officeDocument/2006/relationships/image" Target="../media/research-hero.png"/><Relationship Id="rIdWorkflowBg" Type="http://schemas.openxmlformats.org/officeDocument/2006/relationships/image" Target="../media/schematic-slide-16.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 Id="rIdResearchBg" Type="http://schemas.openxmlformats.org/officeDocument/2006/relationships/image" Target="../media/research-content.png"/></Relationships>
</file>

<file path=ppt/slides/_rels/slide1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8.xml"/><Relationship Id="rId1" Type="http://schemas.openxmlformats.org/officeDocument/2006/relationships/slideLayout" Target="../slideLayouts/slideLayout1.xml"/><Relationship Id="rIdResearchBg" Type="http://schemas.openxmlformats.org/officeDocument/2006/relationships/image" Target="../media/research-content.png"/></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 Id="rIdResearchBg" Type="http://schemas.openxmlformats.org/officeDocument/2006/relationships/image" Target="../media/research-content.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 Id="rIdResearchBg" Type="http://schemas.openxmlformats.org/officeDocument/2006/relationships/image" Target="../media/research-content.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 Id="rIdResearchBg" Type="http://schemas.openxmlformats.org/officeDocument/2006/relationships/image" Target="../media/research-content.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 Id="rIdResearchBg" Type="http://schemas.openxmlformats.org/officeDocument/2006/relationships/image" Target="../media/research-hero.png"/><Relationship Id="rIdWorkflowBg" Type="http://schemas.openxmlformats.org/officeDocument/2006/relationships/image" Target="../media/schematic-slid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NotesAdded" Type="http://schemas.openxmlformats.org/officeDocument/2006/relationships/notesSlide" Target="../notesSlides/notesSlide23.xml"/><Relationship Id="rIdResearchBg" Type="http://schemas.openxmlformats.org/officeDocument/2006/relationships/image" Target="../media/research-content.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png"/><Relationship Id="rIdNotesAdded" Type="http://schemas.openxmlformats.org/officeDocument/2006/relationships/notesSlide" Target="../notesSlides/notesSlide24.xml"/><Relationship Id="rIdResearchBg" Type="http://schemas.openxmlformats.org/officeDocument/2006/relationships/image" Target="../media/research-hero.png"/><Relationship Id="rIdWorkflowBg" Type="http://schemas.openxmlformats.org/officeDocument/2006/relationships/image" Target="../media/schematic-slide-2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3F0E2"/>
        </a:solidFill>
        <a:effectLst/>
      </p:bgPr>
    </p:bg>
    <p:spTree>
      <p:nvGrpSpPr>
        <p:cNvPr id="1" name=""/>
        <p:cNvGrpSpPr/>
        <p:nvPr/>
      </p:nvGrpSpPr>
      <p:grpSpPr>
        <a:xfrm>
          <a:off x="0" y="0"/>
          <a:ext cx="0" cy="0"/>
          <a:chOff x="0" y="0"/>
          <a:chExt cx="0" cy="0"/>
        </a:xfrm>
      </p:grpSpPr>
      <p:pic>
        <p:nvPicPr>
          <p:cNvPr id="2000" name="" descr="Illustration conceptuelle du suivi des prospects, des échanges et des documents commerciaux"/>
          <p:cNvPicPr>
            <a:picLocks noChangeAspect="1"/>
          </p:cNvPicPr>
          <p:nvPr/>
        </p:nvPicPr>
        <p:blipFill>
          <a:blip r:embed="rIdWorkflowBg"/>
          <a:srcRect l="0" t="27" r="0" b="27"/>
          <a:stretch>
            <a:fillRect l="0" t="0" r="0" b="0"/>
          </a:stretch>
        </p:blipFill>
        <p:spPr>
          <a:xfrm>
            <a:off x="0" y="0"/>
            <a:ext cx="18288000" cy="10287000"/>
          </a:xfrm>
          <a:prstGeom prst="rect">
            <a:avLst/>
          </a:prstGeom>
        </p:spPr>
      </p:pic>
      <p:sp>
        <p:nvSpPr>
          <p:cNvPr id="2" name="ADG-10  /  AUTOMATISATION DU CYCLE COMMERCIAL">
            <a:extLst>
              <a:ext uri="{FF2B5EF4-FFF2-40B4-BE49-F238E27FC236}">
                <a16:creationId xmlns:a16="http://schemas.microsoft.com/office/drawing/2014/main" id="{C8DEFA67-796F-4A0D-9A37-28F309C5167E}"/>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A65A43"/>
                </a:solidFill>
                <a:latin typeface="Calibri"/>
                <a:ea typeface="Calibri"/>
                <a:cs typeface="Calibri"/>
              </a:defRPr>
            </a:pPr>
            <a:r>
              <a:rPr sz="1800" b="1">
                <a:solidFill>
                  <a:srgbClr val="A65A43"/>
                </a:solidFill>
                <a:latin typeface="Calibri"/>
                <a:ea typeface="Calibri"/>
                <a:cs typeface="Calibri"/>
              </a:rPr>
              <a:t>ADG-10  /  AUTOMATISATION DU CYCLE COMMERCIAL</a:t>
            </a:r>
          </a:p>
        </p:txBody>
      </p:sp>
      <p:sp>
        <p:nvSpPr>
          <p:cNvPr id="3" name="01 / 22">
            <a:extLst>
              <a:ext uri="{FF2B5EF4-FFF2-40B4-BE49-F238E27FC236}">
                <a16:creationId xmlns:a16="http://schemas.microsoft.com/office/drawing/2014/main" id="{D705FD00-4DBA-46E7-86F0-86F405DFFF91}"/>
              </a:ext>
            </a:extLst>
          </p:cNvPr>
          <p:cNvSpPr>
            <a:spLocks noGrp="1"/>
          </p:cNvSpPr>
          <p:nvPr/>
        </p:nvSpPr>
        <p:spPr>
          <a:xfrm>
            <a:off x="14382750" y="9696450"/>
            <a:ext cx="1333500" cy="323850"/>
          </a:xfrm>
          <a:prstGeom prst="rect">
            <a:avLst/>
          </a:prstGeom>
          <a:noFill/>
          <a:ln w="0">
            <a:noFill/>
          </a:ln>
        </p:spPr>
        <p:txBody>
          <a:bodyPr wrap="square" lIns="0" tIns="0" rIns="0" bIns="0" anchor="ctr">
            <a:noAutofit/>
          </a:bodyPr>
          <a:lstStyle/>
          <a:p>
            <a:pPr algn="ctr">
              <a:defRPr sz="1650" b="1">
                <a:solidFill>
                  <a:srgbClr val="414548"/>
                </a:solidFill>
                <a:latin typeface="Calibri"/>
                <a:ea typeface="Calibri"/>
                <a:cs typeface="Calibri"/>
              </a:defRPr>
            </a:pPr>
            <a:r>
              <a:rPr sz="1650" b="1">
                <a:solidFill>
                  <a:srgbClr val="414548"/>
                </a:solidFill>
                <a:latin typeface="Calibri"/>
                <a:ea typeface="Calibri"/>
                <a:cs typeface="Calibri"/>
              </a:rPr>
              <a:t>01 / 24</a:t>
            </a:r>
          </a:p>
        </p:txBody>
      </p:sp>
      <p:sp>
        <p:nvSpPr>
          <p:cNvPr id="4" name="SOUTENANCE DU PROJET DE FIN D’ANNÉE">
            <a:extLst>
              <a:ext uri="{FF2B5EF4-FFF2-40B4-BE49-F238E27FC236}">
                <a16:creationId xmlns:a16="http://schemas.microsoft.com/office/drawing/2014/main" id="{2A13F122-0E6D-454F-BF87-B152B851B813}"/>
              </a:ext>
            </a:extLst>
          </p:cNvPr>
          <p:cNvSpPr>
            <a:spLocks noGrp="1"/>
          </p:cNvSpPr>
          <p:nvPr/>
        </p:nvSpPr>
        <p:spPr>
          <a:xfrm>
            <a:off x="1000125" y="2619375"/>
            <a:ext cx="10477500" cy="619125"/>
          </a:xfrm>
          <a:prstGeom prst="rect">
            <a:avLst/>
          </a:prstGeom>
          <a:noFill/>
          <a:ln w="0">
            <a:noFill/>
          </a:ln>
        </p:spPr>
        <p:txBody>
          <a:bodyPr wrap="square" lIns="0" tIns="0" rIns="0" bIns="0" anchor="ctr">
            <a:noAutofit/>
          </a:bodyPr>
          <a:lstStyle/>
          <a:p>
            <a:pPr algn="l">
              <a:defRPr sz="2250" b="1">
                <a:solidFill>
                  <a:srgbClr val="686B67"/>
                </a:solidFill>
                <a:latin typeface="Calibri"/>
                <a:ea typeface="Calibri"/>
                <a:cs typeface="Calibri"/>
              </a:defRPr>
            </a:pPr>
            <a:r>
              <a:rPr sz="2250" b="1">
                <a:solidFill>
                  <a:srgbClr val="686B67"/>
                </a:solidFill>
                <a:latin typeface="Calibri"/>
                <a:ea typeface="Calibri"/>
                <a:cs typeface="Calibri"/>
              </a:rPr>
              <a:t>SOUTENANCE DU PROJET DE FIN D’ANNÉE</a:t>
            </a:r>
          </a:p>
        </p:txBody>
      </p:sp>
      <p:sp>
        <p:nvSpPr>
          <p:cNvPr id="5" name="ADG-10">
            <a:extLst>
              <a:ext uri="{FF2B5EF4-FFF2-40B4-BE49-F238E27FC236}">
                <a16:creationId xmlns:a16="http://schemas.microsoft.com/office/drawing/2014/main" id="{E00372D1-C5C9-42EA-894B-7184DF262654}"/>
              </a:ext>
            </a:extLst>
          </p:cNvPr>
          <p:cNvSpPr>
            <a:spLocks noGrp="1"/>
          </p:cNvSpPr>
          <p:nvPr/>
        </p:nvSpPr>
        <p:spPr>
          <a:xfrm>
            <a:off x="952500" y="3429000"/>
            <a:ext cx="9715500" cy="1571625"/>
          </a:xfrm>
          <a:prstGeom prst="rect">
            <a:avLst/>
          </a:prstGeom>
          <a:noFill/>
          <a:ln w="0">
            <a:noFill/>
          </a:ln>
        </p:spPr>
        <p:txBody>
          <a:bodyPr wrap="square" lIns="0" tIns="0" rIns="0" bIns="0" anchor="ctr">
            <a:noAutofit/>
          </a:bodyPr>
          <a:lstStyle/>
          <a:p>
            <a:pPr algn="l">
              <a:defRPr sz="10200" b="1">
                <a:solidFill>
                  <a:srgbClr val="414548"/>
                </a:solidFill>
                <a:latin typeface="Calibri"/>
                <a:ea typeface="Calibri"/>
                <a:cs typeface="Calibri"/>
              </a:defRPr>
            </a:pPr>
            <a:r>
              <a:rPr sz="10200" b="1">
                <a:solidFill>
                  <a:srgbClr val="414548"/>
                </a:solidFill>
                <a:latin typeface="Calibri"/>
                <a:ea typeface="Calibri"/>
                <a:cs typeface="Calibri"/>
              </a:rPr>
              <a:t>ADG-10</a:t>
            </a:r>
          </a:p>
        </p:txBody>
      </p:sp>
      <p:sp>
        <p:nvSpPr>
          <p:cNvPr id="6" name="Automatisation du cycle&#10;commercial des formations">
            <a:extLst>
              <a:ext uri="{FF2B5EF4-FFF2-40B4-BE49-F238E27FC236}">
                <a16:creationId xmlns:a16="http://schemas.microsoft.com/office/drawing/2014/main" id="{5045A703-DAB6-469A-B802-21CFE1A572E9}"/>
              </a:ext>
            </a:extLst>
          </p:cNvPr>
          <p:cNvSpPr>
            <a:spLocks noGrp="1"/>
          </p:cNvSpPr>
          <p:nvPr/>
        </p:nvSpPr>
        <p:spPr>
          <a:xfrm>
            <a:off x="1000125" y="5095875"/>
            <a:ext cx="10287000" cy="1571625"/>
          </a:xfrm>
          <a:prstGeom prst="rect">
            <a:avLst/>
          </a:prstGeom>
          <a:noFill/>
          <a:ln w="0">
            <a:noFill/>
          </a:ln>
        </p:spPr>
        <p:txBody>
          <a:bodyPr wrap="square" lIns="0" tIns="0" rIns="0" bIns="0" anchor="ctr">
            <a:noAutofit/>
          </a:bodyPr>
          <a:lstStyle/>
          <a:p>
            <a:pPr algn="l">
              <a:defRPr sz="4500" b="1">
                <a:solidFill>
                  <a:srgbClr val="414548"/>
                </a:solidFill>
                <a:latin typeface="Calibri"/>
                <a:ea typeface="Calibri"/>
                <a:cs typeface="Calibri"/>
              </a:defRPr>
            </a:pPr>
            <a:r>
              <a:rPr sz="4500" b="1">
                <a:solidFill>
                  <a:srgbClr val="414548"/>
                </a:solidFill>
                <a:latin typeface="Calibri"/>
                <a:ea typeface="Calibri"/>
                <a:cs typeface="Calibri"/>
              </a:rPr>
              <a:t>Automatisation du cycle</a:t>
            </a:r>
          </a:p>
          <a:p>
            <a:pPr algn="l">
              <a:defRPr sz="4500" b="1">
                <a:solidFill>
                  <a:srgbClr val="414548"/>
                </a:solidFill>
                <a:latin typeface="Calibri"/>
                <a:ea typeface="Calibri"/>
                <a:cs typeface="Calibri"/>
              </a:defRPr>
            </a:pPr>
            <a:r>
              <a:rPr sz="4500" b="1">
                <a:solidFill>
                  <a:srgbClr val="414548"/>
                </a:solidFill>
                <a:latin typeface="Calibri"/>
                <a:ea typeface="Calibri"/>
                <a:cs typeface="Calibri"/>
              </a:rPr>
              <a:t>commercial des formations</a:t>
            </a:r>
          </a:p>
        </p:txBody>
      </p:sp>
      <p:sp>
        <p:nvSpPr>
          <p:cNvPr id="7" name="Présenté par Yassine FATNAOUI">
            <a:extLst>
              <a:ext uri="{FF2B5EF4-FFF2-40B4-BE49-F238E27FC236}">
                <a16:creationId xmlns:a16="http://schemas.microsoft.com/office/drawing/2014/main" id="{EFAEF88D-D3C4-4834-9233-9F8FB8B39F67}"/>
              </a:ext>
            </a:extLst>
          </p:cNvPr>
          <p:cNvSpPr>
            <a:spLocks noGrp="1"/>
          </p:cNvSpPr>
          <p:nvPr/>
        </p:nvSpPr>
        <p:spPr>
          <a:xfrm>
            <a:off x="1000125" y="7239000"/>
            <a:ext cx="10382250" cy="952500"/>
          </a:xfrm>
          <a:prstGeom prst="rect">
            <a:avLst/>
          </a:prstGeom>
          <a:noFill/>
          <a:ln w="0">
            <a:noFill/>
          </a:ln>
        </p:spPr>
        <p:txBody>
          <a:bodyPr wrap="square" lIns="0" tIns="0" rIns="0" bIns="0" anchor="ctr">
            <a:noAutofit/>
          </a:bodyPr>
          <a:lstStyle/>
          <a:p>
            <a:pPr algn="l">
              <a:defRPr sz="2475" b="0">
                <a:solidFill>
                  <a:srgbClr val="414548"/>
                </a:solidFill>
                <a:latin typeface="Calibri"/>
                <a:ea typeface="Calibri"/>
                <a:cs typeface="Calibri"/>
              </a:defRPr>
            </a:pPr>
            <a:r>
              <a:rPr sz="2475" b="0" dirty="0" err="1">
                <a:solidFill>
                  <a:srgbClr val="414548"/>
                </a:solidFill>
                <a:latin typeface="Calibri"/>
                <a:ea typeface="Calibri"/>
                <a:cs typeface="Calibri"/>
              </a:rPr>
              <a:t>Présenté</a:t>
            </a:r>
            <a:r>
              <a:rPr sz="2475" b="0" dirty="0">
                <a:solidFill>
                  <a:srgbClr val="414548"/>
                </a:solidFill>
                <a:latin typeface="Calibri"/>
                <a:ea typeface="Calibri"/>
                <a:cs typeface="Calibri"/>
              </a:rPr>
              <a:t> par </a:t>
            </a:r>
            <a:r>
              <a:rPr lang="en-GB" sz="2475" b="0" dirty="0">
                <a:solidFill>
                  <a:srgbClr val="414548"/>
                </a:solidFill>
                <a:latin typeface="Calibri"/>
                <a:ea typeface="Calibri"/>
                <a:cs typeface="Calibri"/>
              </a:rPr>
              <a:t>:</a:t>
            </a:r>
          </a:p>
          <a:p>
            <a:pPr algn="l">
              <a:defRPr sz="2475" b="0">
                <a:solidFill>
                  <a:srgbClr val="414548"/>
                </a:solidFill>
                <a:latin typeface="Calibri"/>
                <a:ea typeface="Calibri"/>
                <a:cs typeface="Calibri"/>
              </a:defRPr>
            </a:pPr>
            <a:r>
              <a:rPr sz="2475" b="0" dirty="0">
                <a:solidFill>
                  <a:srgbClr val="414548"/>
                </a:solidFill>
                <a:latin typeface="Calibri"/>
                <a:ea typeface="Calibri"/>
                <a:cs typeface="Calibri"/>
              </a:rPr>
              <a:t>Yassine FATNAOUI</a:t>
            </a:r>
          </a:p>
        </p:txBody>
      </p:sp>
      <p:sp>
        <p:nvSpPr>
          <p:cNvPr id="8" name="Encadrants&#10;AZOUGUIGH El Houssaine&#10;BAILOUL Charaf Eddine">
            <a:extLst>
              <a:ext uri="{FF2B5EF4-FFF2-40B4-BE49-F238E27FC236}">
                <a16:creationId xmlns:a16="http://schemas.microsoft.com/office/drawing/2014/main" id="{1083EAA5-BE09-402E-AF16-7A96EC6629FE}"/>
              </a:ext>
            </a:extLst>
          </p:cNvPr>
          <p:cNvSpPr>
            <a:spLocks noGrp="1"/>
          </p:cNvSpPr>
          <p:nvPr/>
        </p:nvSpPr>
        <p:spPr>
          <a:xfrm>
            <a:off x="1000125" y="8191500"/>
            <a:ext cx="10382250" cy="1190625"/>
          </a:xfrm>
          <a:prstGeom prst="rect">
            <a:avLst/>
          </a:prstGeom>
          <a:noFill/>
          <a:ln w="0">
            <a:noFill/>
          </a:ln>
        </p:spPr>
        <p:txBody>
          <a:bodyPr wrap="square" lIns="0" tIns="0" rIns="0" bIns="0" anchor="ctr">
            <a:noAutofit/>
          </a:bodyPr>
          <a:lstStyle/>
          <a:p>
            <a:pPr lvl="0"/>
            <a:r>
              <a:rPr lang="fr-FR" sz="2180" dirty="0">
                <a:solidFill>
                  <a:srgbClr val="414548"/>
                </a:solidFill>
              </a:rPr>
              <a:t>Encadré par :</a:t>
            </a:r>
            <a:endParaRPr lang="en-GB" sz="2180" dirty="0">
              <a:solidFill>
                <a:srgbClr val="414548"/>
              </a:solidFill>
            </a:endParaRPr>
          </a:p>
          <a:p>
            <a:pPr algn="l">
              <a:defRPr sz="2175" b="0">
                <a:solidFill>
                  <a:srgbClr val="414548"/>
                </a:solidFill>
                <a:latin typeface="Calibri"/>
                <a:ea typeface="Calibri"/>
                <a:cs typeface="Calibri"/>
              </a:defRPr>
            </a:pPr>
            <a:r>
              <a:rPr sz="2175" b="0" dirty="0">
                <a:solidFill>
                  <a:srgbClr val="414548"/>
                </a:solidFill>
                <a:latin typeface="Calibri"/>
                <a:ea typeface="Calibri"/>
                <a:cs typeface="Calibri"/>
              </a:rPr>
              <a:t>AZOUGUIGH El </a:t>
            </a:r>
            <a:r>
              <a:rPr sz="2175" b="0" dirty="0" err="1">
                <a:solidFill>
                  <a:srgbClr val="414548"/>
                </a:solidFill>
                <a:latin typeface="Calibri"/>
                <a:ea typeface="Calibri"/>
                <a:cs typeface="Calibri"/>
              </a:rPr>
              <a:t>Houssaine</a:t>
            </a:r>
            <a:endParaRPr sz="2175" b="0" dirty="0">
              <a:solidFill>
                <a:srgbClr val="414548"/>
              </a:solidFill>
              <a:latin typeface="Calibri"/>
              <a:ea typeface="Calibri"/>
              <a:cs typeface="Calibri"/>
            </a:endParaRPr>
          </a:p>
          <a:p>
            <a:pPr algn="l">
              <a:defRPr sz="2175" b="0">
                <a:solidFill>
                  <a:srgbClr val="414548"/>
                </a:solidFill>
                <a:latin typeface="Calibri"/>
                <a:ea typeface="Calibri"/>
                <a:cs typeface="Calibri"/>
              </a:defRPr>
            </a:pPr>
            <a:r>
              <a:rPr sz="2175" b="0" dirty="0">
                <a:solidFill>
                  <a:srgbClr val="414548"/>
                </a:solidFill>
                <a:latin typeface="Calibri"/>
                <a:ea typeface="Calibri"/>
                <a:cs typeface="Calibri"/>
              </a:rPr>
              <a:t>BAILOUL Charaf Eddine</a:t>
            </a:r>
          </a:p>
        </p:txBody>
      </p:sp>
      <p:sp>
        <p:nvSpPr>
          <p:cNvPr id="9" name="Année universitaire 2025-2026">
            <a:extLst>
              <a:ext uri="{FF2B5EF4-FFF2-40B4-BE49-F238E27FC236}">
                <a16:creationId xmlns:a16="http://schemas.microsoft.com/office/drawing/2014/main" id="{726EFBE4-490B-4797-B56A-1BFA452CDE02}"/>
              </a:ext>
            </a:extLst>
          </p:cNvPr>
          <p:cNvSpPr>
            <a:spLocks noGrp="1"/>
          </p:cNvSpPr>
          <p:nvPr/>
        </p:nvSpPr>
        <p:spPr>
          <a:xfrm>
            <a:off x="1000125" y="9696450"/>
            <a:ext cx="8572500" cy="323850"/>
          </a:xfrm>
          <a:prstGeom prst="rect">
            <a:avLst/>
          </a:prstGeom>
          <a:noFill/>
          <a:ln w="0">
            <a:noFill/>
          </a:ln>
        </p:spPr>
        <p:txBody>
          <a:bodyPr wrap="square" lIns="0" tIns="0" rIns="0" bIns="0" anchor="ctr">
            <a:noAutofit/>
          </a:bodyPr>
          <a:lstStyle/>
          <a:p>
            <a:pPr algn="l">
              <a:defRPr sz="1650" b="0">
                <a:solidFill>
                  <a:srgbClr val="686B67"/>
                </a:solidFill>
                <a:latin typeface="Calibri"/>
                <a:ea typeface="Calibri"/>
                <a:cs typeface="Calibri"/>
              </a:defRPr>
            </a:pPr>
            <a:r>
              <a:rPr sz="1650" b="0">
                <a:solidFill>
                  <a:srgbClr val="686B67"/>
                </a:solidFill>
                <a:latin typeface="Calibri"/>
                <a:ea typeface="Calibri"/>
                <a:cs typeface="Calibri"/>
              </a:rPr>
              <a:t>Année universitaire 2025-2026</a:t>
            </a:r>
          </a:p>
        </p:txBody>
      </p:sp>
      <p:pic>
        <p:nvPicPr>
          <p:cNvPr id="11" name="object 8">
            <a:extLst>
              <a:ext uri="{FF2B5EF4-FFF2-40B4-BE49-F238E27FC236}">
                <a16:creationId xmlns:a16="http://schemas.microsoft.com/office/drawing/2014/main" id="{4CE5F001-85FF-F843-D51A-8D1DF1E4B8C2}"/>
              </a:ext>
            </a:extLst>
          </p:cNvPr>
          <p:cNvPicPr/>
          <p:nvPr/>
        </p:nvPicPr>
        <p:blipFill>
          <a:blip r:embed="rId4" cstate="print"/>
          <a:stretch>
            <a:fillRect/>
          </a:stretch>
        </p:blipFill>
        <p:spPr>
          <a:xfrm>
            <a:off x="1316355" y="1381125"/>
            <a:ext cx="3892867" cy="974406"/>
          </a:xfrm>
          <a:prstGeom prst="rect">
            <a:avLst/>
          </a:prstGeom>
        </p:spPr>
      </p:pic>
      <p:pic>
        <p:nvPicPr>
          <p:cNvPr id="13" name="Image 12">
            <a:extLst>
              <a:ext uri="{FF2B5EF4-FFF2-40B4-BE49-F238E27FC236}">
                <a16:creationId xmlns:a16="http://schemas.microsoft.com/office/drawing/2014/main" id="{0D0B3C35-DB99-2EEE-7178-D8E0B967C0E9}"/>
              </a:ext>
            </a:extLst>
          </p:cNvPr>
          <p:cNvPicPr>
            <a:picLocks noChangeAspect="1"/>
          </p:cNvPicPr>
          <p:nvPr/>
        </p:nvPicPr>
        <p:blipFill>
          <a:blip r:embed="rId5"/>
          <a:stretch>
            <a:fillRect/>
          </a:stretch>
        </p:blipFill>
        <p:spPr>
          <a:xfrm>
            <a:off x="8012332" y="1381125"/>
            <a:ext cx="2263336" cy="929721"/>
          </a:xfrm>
          <a:prstGeom prst="rect">
            <a:avLst/>
          </a:prstGeom>
        </p:spPr>
      </p:pic>
    </p:spTree>
    <p:extLst>
      <p:ext uri="{BB962C8B-B14F-4D97-AF65-F5344CB8AC3E}">
        <p14:creationId xmlns:p14="http://schemas.microsoft.com/office/powerpoint/2010/main" val="1826378513"/>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4"/>
                                  </p:tgtEl>
                                  <p:attrNameLst>
                                    <p:attrName>style.visibility</p:attrName>
                                  </p:attrNameLst>
                                </p:cBhvr>
                                <p:to>
                                  <p:strVal val="visible"/>
                                </p:to>
                              </p:set>
                              <p:animEffect transition="in" filter="wipe(right)">
                                <p:cBhvr>
                                  <p:cTn id="6" dur="550" fill="hold"/>
                                  <p:tgtEl>
                                    <p:spTgt spid="4"/>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5"/>
                                  </p:tgtEl>
                                  <p:attrNameLst>
                                    <p:attrName>style.visibility</p:attrName>
                                  </p:attrNameLst>
                                </p:cBhvr>
                                <p:to>
                                  <p:strVal val="visible"/>
                                </p:to>
                              </p:set>
                              <p:animEffect transition="in" filter="wipe(right)">
                                <p:cBhvr>
                                  <p:cTn id="10" dur="550" fill="hold"/>
                                  <p:tgtEl>
                                    <p:spTgt spid="5"/>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6"/>
                                  </p:tgtEl>
                                  <p:attrNameLst>
                                    <p:attrName>style.visibility</p:attrName>
                                  </p:attrNameLst>
                                </p:cBhvr>
                                <p:to>
                                  <p:strVal val="visible"/>
                                </p:to>
                              </p:set>
                              <p:animEffect transition="in" filter="wipe(right)">
                                <p:cBhvr>
                                  <p:cTn id="14" dur="550" fill="hold"/>
                                  <p:tgtEl>
                                    <p:spTgt spid="6"/>
                                  </p:tgtEl>
                                </p:cBhvr>
                              </p:animEffect>
                            </p:childTnLst>
                          </p:cTn>
                        </p:par>
                      </p:childTnLst>
                    </p:cTn>
                  </p:par>
                  <p:par>
                    <p:cTn id="15" fill="hold">
                      <p:stCondLst>
                        <p:cond delay="370"/>
                      </p:stCondLst>
                      <p:childTnLst>
                        <p:par>
                          <p:cTn id="16" presetID="22" presetClass="entr" presetSubtype="1" fill="hold" nodeType="withEffect">
                            <p:stCondLst>
                              <p:cond delay="0"/>
                            </p:stCondLst>
                            <p:childTnLst>
                              <p:set>
                                <p:cBhvr>
                                  <p:cTn id="17" dur="1" fill="hold"/>
                                  <p:tgtEl>
                                    <p:spTgt spid="7"/>
                                  </p:tgtEl>
                                  <p:attrNameLst>
                                    <p:attrName>style.visibility</p:attrName>
                                  </p:attrNameLst>
                                </p:cBhvr>
                                <p:to>
                                  <p:strVal val="visible"/>
                                </p:to>
                              </p:set>
                              <p:animEffect transition="in" filter="wipe(right)">
                                <p:cBhvr>
                                  <p:cTn id="18" dur="550" fill="hold"/>
                                  <p:tgtEl>
                                    <p:spTgt spid="7"/>
                                  </p:tgtEl>
                                </p:cBhvr>
                              </p:animEffect>
                            </p:childTnLst>
                          </p:cTn>
                        </p:par>
                      </p:childTnLst>
                    </p:cTn>
                  </p:par>
                  <p:par>
                    <p:cTn id="19" fill="hold">
                      <p:stCondLst>
                        <p:cond delay="460"/>
                      </p:stCondLst>
                      <p:childTnLst>
                        <p:par>
                          <p:cTn id="20" presetID="22" presetClass="entr" presetSubtype="1" fill="hold" nodeType="withEffect">
                            <p:stCondLst>
                              <p:cond delay="0"/>
                            </p:stCondLst>
                            <p:childTnLst>
                              <p:set>
                                <p:cBhvr>
                                  <p:cTn id="21" dur="1" fill="hold"/>
                                  <p:tgtEl>
                                    <p:spTgt spid="8"/>
                                  </p:tgtEl>
                                  <p:attrNameLst>
                                    <p:attrName>style.visibility</p:attrName>
                                  </p:attrNameLst>
                                </p:cBhvr>
                                <p:to>
                                  <p:strVal val="visible"/>
                                </p:to>
                              </p:set>
                              <p:animEffect transition="in" filter="wipe(right)">
                                <p:cBhvr>
                                  <p:cTn id="22" dur="550" fill="hold"/>
                                  <p:tgtEl>
                                    <p:spTgt spid="8"/>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3F0E2"/>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ResearchBg"/>
          <a:srcRect l="0" t="27" r="0" b="27"/>
          <a:stretch>
            <a:fillRect l="0" t="0" r="0" b="0"/>
          </a:stretch>
        </p:blipFill>
        <p:spPr>
          <a:xfrm>
            <a:off x="0" y="0"/>
            <a:ext cx="18288000" cy="10287000"/>
          </a:xfrm>
          <a:prstGeom prst="rect">
            <a:avLst/>
          </a:prstGeom>
        </p:spPr>
      </p:pic>
      <p:sp>
        <p:nvSpPr>
          <p:cNvPr id="2" name="ADG-10  /  AUTOMATISATION DU CYCLE COMMERCIAL">
            <a:extLst>
              <a:ext uri="{FF2B5EF4-FFF2-40B4-BE49-F238E27FC236}">
                <a16:creationId xmlns:a16="http://schemas.microsoft.com/office/drawing/2014/main" id="{9137AF4E-6450-45B8-920F-1037DEC5DB55}"/>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A65A43"/>
                </a:solidFill>
                <a:latin typeface="Calibri"/>
                <a:ea typeface="Calibri"/>
                <a:cs typeface="Calibri"/>
              </a:defRPr>
            </a:pPr>
            <a:r>
              <a:rPr sz="1800" b="1">
                <a:solidFill>
                  <a:srgbClr val="A65A43"/>
                </a:solidFill>
                <a:latin typeface="Calibri"/>
                <a:ea typeface="Calibri"/>
                <a:cs typeface="Calibri"/>
              </a:rPr>
              <a:t>ADG-10  /  AUTOMATISATION DU CYCLE COMMERCIAL</a:t>
            </a:r>
          </a:p>
        </p:txBody>
      </p:sp>
      <p:sp>
        <p:nvSpPr>
          <p:cNvPr id="3" name="02 / 22">
            <a:extLst>
              <a:ext uri="{FF2B5EF4-FFF2-40B4-BE49-F238E27FC236}">
                <a16:creationId xmlns:a16="http://schemas.microsoft.com/office/drawing/2014/main" id="{30BACA2D-AADA-49F8-8F0C-C55BA68FEAAA}"/>
              </a:ext>
            </a:extLst>
          </p:cNvPr>
          <p:cNvSpPr>
            <a:spLocks noGrp="1"/>
          </p:cNvSpPr>
          <p:nvPr/>
        </p:nvSpPr>
        <p:spPr>
          <a:xfrm>
            <a:off x="14382750" y="9696450"/>
            <a:ext cx="1333500" cy="323850"/>
          </a:xfrm>
          <a:prstGeom prst="rect">
            <a:avLst/>
          </a:prstGeom>
          <a:noFill/>
          <a:ln w="0">
            <a:noFill/>
          </a:ln>
        </p:spPr>
        <p:txBody>
          <a:bodyPr wrap="square" lIns="0" tIns="0" rIns="0" bIns="0" anchor="ctr">
            <a:noAutofit/>
          </a:bodyPr>
          <a:lstStyle/>
          <a:p>
            <a:pPr algn="ctr">
              <a:defRPr sz="1650" b="1">
                <a:solidFill>
                  <a:srgbClr val="414548"/>
                </a:solidFill>
                <a:latin typeface="Calibri"/>
                <a:ea typeface="Calibri"/>
                <a:cs typeface="Calibri"/>
              </a:defRPr>
            </a:pPr>
            <a:r>
              <a:rPr sz="1650" b="1">
                <a:solidFill>
                  <a:srgbClr val="414548"/>
                </a:solidFill>
                <a:latin typeface="Calibri"/>
                <a:ea typeface="Calibri"/>
                <a:cs typeface="Calibri"/>
              </a:rPr>
              <a:t>02 / 24</a:t>
            </a:r>
          </a:p>
        </p:txBody>
      </p:sp>
      <p:sp>
        <p:nvSpPr>
          <p:cNvPr id="4" name="Plan de la présentation">
            <a:extLst>
              <a:ext uri="{FF2B5EF4-FFF2-40B4-BE49-F238E27FC236}">
                <a16:creationId xmlns:a16="http://schemas.microsoft.com/office/drawing/2014/main" id="{760C1532-044A-4DDF-8742-86C2956E7DA5}"/>
              </a:ext>
            </a:extLst>
          </p:cNvPr>
          <p:cNvSpPr>
            <a:spLocks noGrp="1"/>
          </p:cNvSpPr>
          <p:nvPr/>
        </p:nvSpPr>
        <p:spPr>
          <a:xfrm>
            <a:off x="952500" y="1905000"/>
            <a:ext cx="10477500" cy="1000125"/>
          </a:xfrm>
          <a:prstGeom prst="rect">
            <a:avLst/>
          </a:prstGeom>
          <a:noFill/>
          <a:ln w="0">
            <a:noFill/>
          </a:ln>
        </p:spPr>
        <p:txBody>
          <a:bodyPr wrap="square" lIns="0" tIns="0" rIns="0" bIns="0" anchor="ctr">
            <a:noAutofit/>
          </a:bodyPr>
          <a:lstStyle/>
          <a:p>
            <a:pPr algn="l">
              <a:defRPr sz="5250" b="1">
                <a:solidFill>
                  <a:srgbClr val="414548"/>
                </a:solidFill>
                <a:latin typeface="Calibri"/>
                <a:ea typeface="Calibri"/>
                <a:cs typeface="Calibri"/>
              </a:defRPr>
            </a:pPr>
            <a:r>
              <a:rPr sz="5250" b="1">
                <a:solidFill>
                  <a:srgbClr val="414548"/>
                </a:solidFill>
                <a:latin typeface="Calibri"/>
                <a:ea typeface="Calibri"/>
                <a:cs typeface="Calibri"/>
              </a:rPr>
              <a:t>Plan de la présentation</a:t>
            </a:r>
          </a:p>
        </p:txBody>
      </p:sp>
      <p:sp>
        <p:nvSpPr>
          <p:cNvPr id="5" name="01">
            <a:extLst>
              <a:ext uri="{FF2B5EF4-FFF2-40B4-BE49-F238E27FC236}">
                <a16:creationId xmlns:a16="http://schemas.microsoft.com/office/drawing/2014/main" id="{03CA72ED-CC82-47FA-8CAB-1B76BBFEA3F3}"/>
              </a:ext>
            </a:extLst>
          </p:cNvPr>
          <p:cNvSpPr>
            <a:spLocks noGrp="1"/>
          </p:cNvSpPr>
          <p:nvPr/>
        </p:nvSpPr>
        <p:spPr>
          <a:xfrm>
            <a:off x="2047875" y="3905250"/>
            <a:ext cx="1143000" cy="1143000"/>
          </a:xfrm>
          <a:prstGeom prst="ellipse">
            <a:avLst/>
          </a:prstGeom>
          <a:solidFill>
            <a:srgbClr val="5D818B"/>
          </a:solidFill>
          <a:ln w="19050">
            <a:solidFill>
              <a:srgbClr val="5D818B"/>
            </a:solidFill>
          </a:ln>
        </p:spPr>
        <p:txBody>
          <a:bodyPr wrap="square" lIns="0" tIns="0" rIns="0" bIns="0" anchor="ctr">
            <a:noAutofit/>
          </a:bodyPr>
          <a:lstStyle/>
          <a:p>
            <a:pPr algn="ctr">
              <a:defRPr sz="3000" b="1">
                <a:solidFill>
                  <a:srgbClr val="F3F0E2"/>
                </a:solidFill>
                <a:latin typeface="Calibri"/>
                <a:ea typeface="Calibri"/>
                <a:cs typeface="Calibri"/>
              </a:defRPr>
            </a:pPr>
            <a:r>
              <a:rPr sz="3000" b="1">
                <a:solidFill>
                  <a:srgbClr val="F3F0E2"/>
                </a:solidFill>
                <a:latin typeface="Calibri"/>
                <a:ea typeface="Calibri"/>
                <a:cs typeface="Calibri"/>
              </a:rPr>
              <a:t>01</a:t>
            </a:r>
          </a:p>
        </p:txBody>
      </p:sp>
      <p:sp>
        <p:nvSpPr>
          <p:cNvPr id="6" name="Introduction">
            <a:extLst>
              <a:ext uri="{FF2B5EF4-FFF2-40B4-BE49-F238E27FC236}">
                <a16:creationId xmlns:a16="http://schemas.microsoft.com/office/drawing/2014/main" id="{1110382A-16EA-4FCF-858D-C1AD7C5FAA88}"/>
              </a:ext>
            </a:extLst>
          </p:cNvPr>
          <p:cNvSpPr>
            <a:spLocks noGrp="1"/>
          </p:cNvSpPr>
          <p:nvPr/>
        </p:nvSpPr>
        <p:spPr>
          <a:xfrm>
            <a:off x="1190625" y="5381625"/>
            <a:ext cx="2914650" cy="2286000"/>
          </a:xfrm>
          <a:prstGeom prst="rect">
            <a:avLst/>
          </a:prstGeom>
          <a:noFill/>
          <a:ln w="0">
            <a:noFill/>
          </a:ln>
        </p:spPr>
        <p:txBody>
          <a:bodyPr wrap="square" lIns="0" tIns="0" rIns="0" bIns="0" anchor="t">
            <a:noAutofit/>
          </a:bodyPr>
          <a:lstStyle/>
          <a:p>
            <a:pPr algn="ctr">
              <a:defRPr sz="2700" b="0">
                <a:solidFill>
                  <a:srgbClr val="414548"/>
                </a:solidFill>
                <a:latin typeface="Calibri"/>
                <a:ea typeface="Calibri"/>
                <a:cs typeface="Calibri"/>
              </a:defRPr>
            </a:pPr>
            <a:r>
              <a:rPr sz="2700" b="0">
                <a:solidFill>
                  <a:srgbClr val="414548"/>
                </a:solidFill>
                <a:latin typeface="Calibri"/>
                <a:ea typeface="Calibri"/>
                <a:cs typeface="Calibri"/>
              </a:rPr>
              <a:t>Introduction</a:t>
            </a:r>
          </a:p>
        </p:txBody>
      </p:sp>
      <p:sp>
        <p:nvSpPr>
          <p:cNvPr id="7" name="02">
            <a:extLst>
              <a:ext uri="{FF2B5EF4-FFF2-40B4-BE49-F238E27FC236}">
                <a16:creationId xmlns:a16="http://schemas.microsoft.com/office/drawing/2014/main" id="{322D5BAC-7BE4-4DD1-9A80-16E573A2AD9A}"/>
              </a:ext>
            </a:extLst>
          </p:cNvPr>
          <p:cNvSpPr>
            <a:spLocks noGrp="1"/>
          </p:cNvSpPr>
          <p:nvPr/>
        </p:nvSpPr>
        <p:spPr>
          <a:xfrm>
            <a:off x="5305425" y="3905250"/>
            <a:ext cx="1143000" cy="1143000"/>
          </a:xfrm>
          <a:prstGeom prst="ellipse">
            <a:avLst/>
          </a:prstGeom>
          <a:solidFill>
            <a:srgbClr val="A65A43"/>
          </a:solidFill>
          <a:ln w="19050">
            <a:solidFill>
              <a:srgbClr val="A65A43"/>
            </a:solidFill>
          </a:ln>
        </p:spPr>
        <p:txBody>
          <a:bodyPr wrap="square" lIns="0" tIns="0" rIns="0" bIns="0" anchor="ctr">
            <a:noAutofit/>
          </a:bodyPr>
          <a:lstStyle/>
          <a:p>
            <a:pPr algn="ctr">
              <a:defRPr sz="3000" b="1">
                <a:solidFill>
                  <a:srgbClr val="F3F0E2"/>
                </a:solidFill>
                <a:latin typeface="Calibri"/>
                <a:ea typeface="Calibri"/>
                <a:cs typeface="Calibri"/>
              </a:defRPr>
            </a:pPr>
            <a:r>
              <a:rPr sz="3000" b="1">
                <a:solidFill>
                  <a:srgbClr val="F3F0E2"/>
                </a:solidFill>
                <a:latin typeface="Calibri"/>
                <a:ea typeface="Calibri"/>
                <a:cs typeface="Calibri"/>
              </a:rPr>
              <a:t>02</a:t>
            </a:r>
          </a:p>
        </p:txBody>
      </p:sp>
      <p:sp>
        <p:nvSpPr>
          <p:cNvPr id="8" name="Contexte général du projet">
            <a:extLst>
              <a:ext uri="{FF2B5EF4-FFF2-40B4-BE49-F238E27FC236}">
                <a16:creationId xmlns:a16="http://schemas.microsoft.com/office/drawing/2014/main" id="{3602BC88-B748-43F1-8B31-BDB2D4011444}"/>
              </a:ext>
            </a:extLst>
          </p:cNvPr>
          <p:cNvSpPr>
            <a:spLocks noGrp="1"/>
          </p:cNvSpPr>
          <p:nvPr/>
        </p:nvSpPr>
        <p:spPr>
          <a:xfrm>
            <a:off x="4448175" y="5381625"/>
            <a:ext cx="2914650" cy="2286000"/>
          </a:xfrm>
          <a:prstGeom prst="rect">
            <a:avLst/>
          </a:prstGeom>
          <a:noFill/>
          <a:ln w="0">
            <a:noFill/>
          </a:ln>
        </p:spPr>
        <p:txBody>
          <a:bodyPr wrap="square" lIns="0" tIns="0" rIns="0" bIns="0" anchor="t">
            <a:noAutofit/>
          </a:bodyPr>
          <a:lstStyle/>
          <a:p>
            <a:pPr algn="ctr">
              <a:defRPr sz="2700" b="0">
                <a:solidFill>
                  <a:srgbClr val="414548"/>
                </a:solidFill>
                <a:latin typeface="Calibri"/>
                <a:ea typeface="Calibri"/>
                <a:cs typeface="Calibri"/>
              </a:defRPr>
            </a:pPr>
            <a:r>
              <a:rPr sz="2700" b="0">
                <a:solidFill>
                  <a:srgbClr val="414548"/>
                </a:solidFill>
                <a:latin typeface="Calibri"/>
                <a:ea typeface="Calibri"/>
                <a:cs typeface="Calibri"/>
              </a:rPr>
              <a:t>Contexte général du projet</a:t>
            </a:r>
          </a:p>
        </p:txBody>
      </p:sp>
      <p:sp>
        <p:nvSpPr>
          <p:cNvPr id="9" name="03">
            <a:extLst>
              <a:ext uri="{FF2B5EF4-FFF2-40B4-BE49-F238E27FC236}">
                <a16:creationId xmlns:a16="http://schemas.microsoft.com/office/drawing/2014/main" id="{C08DA630-EB3C-4D25-BA08-6048D0AA6979}"/>
              </a:ext>
            </a:extLst>
          </p:cNvPr>
          <p:cNvSpPr>
            <a:spLocks noGrp="1"/>
          </p:cNvSpPr>
          <p:nvPr/>
        </p:nvSpPr>
        <p:spPr>
          <a:xfrm>
            <a:off x="8562975" y="3905250"/>
            <a:ext cx="1143000" cy="1143000"/>
          </a:xfrm>
          <a:prstGeom prst="ellipse">
            <a:avLst/>
          </a:prstGeom>
          <a:solidFill>
            <a:srgbClr val="414548"/>
          </a:solidFill>
          <a:ln w="19050">
            <a:solidFill>
              <a:srgbClr val="414548"/>
            </a:solidFill>
          </a:ln>
        </p:spPr>
        <p:txBody>
          <a:bodyPr wrap="square" lIns="0" tIns="0" rIns="0" bIns="0" anchor="ctr">
            <a:noAutofit/>
          </a:bodyPr>
          <a:lstStyle/>
          <a:p>
            <a:pPr algn="ctr">
              <a:defRPr sz="3000" b="1">
                <a:solidFill>
                  <a:srgbClr val="F3F0E2"/>
                </a:solidFill>
                <a:latin typeface="Calibri"/>
                <a:ea typeface="Calibri"/>
                <a:cs typeface="Calibri"/>
              </a:defRPr>
            </a:pPr>
            <a:r>
              <a:rPr sz="3000" b="1">
                <a:solidFill>
                  <a:srgbClr val="F3F0E2"/>
                </a:solidFill>
                <a:latin typeface="Calibri"/>
                <a:ea typeface="Calibri"/>
                <a:cs typeface="Calibri"/>
              </a:rPr>
              <a:t>03</a:t>
            </a:r>
          </a:p>
        </p:txBody>
      </p:sp>
      <p:sp>
        <p:nvSpPr>
          <p:cNvPr id="10" name="Étude conceptuelle de la solution">
            <a:extLst>
              <a:ext uri="{FF2B5EF4-FFF2-40B4-BE49-F238E27FC236}">
                <a16:creationId xmlns:a16="http://schemas.microsoft.com/office/drawing/2014/main" id="{0A8F00BD-24AF-48EB-AFBE-5FB8FF5B78DB}"/>
              </a:ext>
            </a:extLst>
          </p:cNvPr>
          <p:cNvSpPr>
            <a:spLocks noGrp="1"/>
          </p:cNvSpPr>
          <p:nvPr/>
        </p:nvSpPr>
        <p:spPr>
          <a:xfrm>
            <a:off x="7705725" y="5381625"/>
            <a:ext cx="2914650" cy="2286000"/>
          </a:xfrm>
          <a:prstGeom prst="rect">
            <a:avLst/>
          </a:prstGeom>
          <a:noFill/>
          <a:ln w="0">
            <a:noFill/>
          </a:ln>
        </p:spPr>
        <p:txBody>
          <a:bodyPr wrap="square" lIns="0" tIns="0" rIns="0" bIns="0" anchor="t">
            <a:noAutofit/>
          </a:bodyPr>
          <a:lstStyle/>
          <a:p>
            <a:pPr algn="ctr">
              <a:defRPr sz="2700" b="0">
                <a:solidFill>
                  <a:srgbClr val="414548"/>
                </a:solidFill>
                <a:latin typeface="Calibri"/>
                <a:ea typeface="Calibri"/>
                <a:cs typeface="Calibri"/>
              </a:defRPr>
            </a:pPr>
            <a:r>
              <a:rPr sz="2700" b="0">
                <a:solidFill>
                  <a:srgbClr val="414548"/>
                </a:solidFill>
                <a:latin typeface="Calibri"/>
                <a:ea typeface="Calibri"/>
                <a:cs typeface="Calibri"/>
              </a:rPr>
              <a:t>Étude conceptuelle de la solution</a:t>
            </a:r>
          </a:p>
        </p:txBody>
      </p:sp>
      <p:sp>
        <p:nvSpPr>
          <p:cNvPr id="11" name="04">
            <a:extLst>
              <a:ext uri="{FF2B5EF4-FFF2-40B4-BE49-F238E27FC236}">
                <a16:creationId xmlns:a16="http://schemas.microsoft.com/office/drawing/2014/main" id="{129C883D-6078-437E-8339-D0AC3EF07F9C}"/>
              </a:ext>
            </a:extLst>
          </p:cNvPr>
          <p:cNvSpPr>
            <a:spLocks noGrp="1"/>
          </p:cNvSpPr>
          <p:nvPr/>
        </p:nvSpPr>
        <p:spPr>
          <a:xfrm>
            <a:off x="11820525" y="3905250"/>
            <a:ext cx="1143000" cy="1143000"/>
          </a:xfrm>
          <a:prstGeom prst="ellipse">
            <a:avLst/>
          </a:prstGeom>
          <a:solidFill>
            <a:srgbClr val="A47A3E"/>
          </a:solidFill>
          <a:ln w="19050">
            <a:solidFill>
              <a:srgbClr val="A47A3E"/>
            </a:solidFill>
          </a:ln>
        </p:spPr>
        <p:txBody>
          <a:bodyPr wrap="square" lIns="0" tIns="0" rIns="0" bIns="0" anchor="ctr">
            <a:noAutofit/>
          </a:bodyPr>
          <a:lstStyle/>
          <a:p>
            <a:pPr algn="ctr">
              <a:defRPr sz="3000" b="1">
                <a:solidFill>
                  <a:srgbClr val="F3F0E2"/>
                </a:solidFill>
                <a:latin typeface="Calibri"/>
                <a:ea typeface="Calibri"/>
                <a:cs typeface="Calibri"/>
              </a:defRPr>
            </a:pPr>
            <a:r>
              <a:rPr sz="3000" b="1">
                <a:solidFill>
                  <a:srgbClr val="F3F0E2"/>
                </a:solidFill>
                <a:latin typeface="Calibri"/>
                <a:ea typeface="Calibri"/>
                <a:cs typeface="Calibri"/>
              </a:rPr>
              <a:t>04</a:t>
            </a:r>
          </a:p>
        </p:txBody>
      </p:sp>
      <p:sp>
        <p:nvSpPr>
          <p:cNvPr id="12" name="Réalisation et mise en œuvre">
            <a:extLst>
              <a:ext uri="{FF2B5EF4-FFF2-40B4-BE49-F238E27FC236}">
                <a16:creationId xmlns:a16="http://schemas.microsoft.com/office/drawing/2014/main" id="{A5198FA3-62FC-4CE4-AA9D-6C8E58F2E19B}"/>
              </a:ext>
            </a:extLst>
          </p:cNvPr>
          <p:cNvSpPr>
            <a:spLocks noGrp="1"/>
          </p:cNvSpPr>
          <p:nvPr/>
        </p:nvSpPr>
        <p:spPr>
          <a:xfrm>
            <a:off x="10963275" y="5381625"/>
            <a:ext cx="2914650" cy="2286000"/>
          </a:xfrm>
          <a:prstGeom prst="rect">
            <a:avLst/>
          </a:prstGeom>
          <a:noFill/>
          <a:ln w="0">
            <a:noFill/>
          </a:ln>
        </p:spPr>
        <p:txBody>
          <a:bodyPr wrap="square" lIns="0" tIns="0" rIns="0" bIns="0" anchor="t">
            <a:noAutofit/>
          </a:bodyPr>
          <a:lstStyle/>
          <a:p>
            <a:pPr algn="ctr">
              <a:defRPr sz="2700" b="0">
                <a:solidFill>
                  <a:srgbClr val="414548"/>
                </a:solidFill>
                <a:latin typeface="Calibri"/>
                <a:ea typeface="Calibri"/>
                <a:cs typeface="Calibri"/>
              </a:defRPr>
            </a:pPr>
            <a:r>
              <a:rPr sz="2700" b="0">
                <a:solidFill>
                  <a:srgbClr val="414548"/>
                </a:solidFill>
                <a:latin typeface="Calibri"/>
                <a:ea typeface="Calibri"/>
                <a:cs typeface="Calibri"/>
              </a:rPr>
              <a:t>Réalisation et mise en œuvre</a:t>
            </a:r>
          </a:p>
        </p:txBody>
      </p:sp>
      <p:sp>
        <p:nvSpPr>
          <p:cNvPr id="13" name="05">
            <a:extLst>
              <a:ext uri="{FF2B5EF4-FFF2-40B4-BE49-F238E27FC236}">
                <a16:creationId xmlns:a16="http://schemas.microsoft.com/office/drawing/2014/main" id="{5FB35BAA-A28A-46C0-9570-5BD29E593420}"/>
              </a:ext>
            </a:extLst>
          </p:cNvPr>
          <p:cNvSpPr>
            <a:spLocks noGrp="1"/>
          </p:cNvSpPr>
          <p:nvPr/>
        </p:nvSpPr>
        <p:spPr>
          <a:xfrm>
            <a:off x="15078075" y="3905250"/>
            <a:ext cx="1143000" cy="1143000"/>
          </a:xfrm>
          <a:prstGeom prst="ellipse">
            <a:avLst/>
          </a:prstGeom>
          <a:solidFill>
            <a:srgbClr val="5D818B"/>
          </a:solidFill>
          <a:ln w="19050">
            <a:solidFill>
              <a:srgbClr val="5D818B"/>
            </a:solidFill>
          </a:ln>
        </p:spPr>
        <p:txBody>
          <a:bodyPr wrap="square" lIns="0" tIns="0" rIns="0" bIns="0" anchor="ctr">
            <a:noAutofit/>
          </a:bodyPr>
          <a:lstStyle/>
          <a:p>
            <a:pPr algn="ctr">
              <a:defRPr sz="3000" b="1">
                <a:solidFill>
                  <a:srgbClr val="F3F0E2"/>
                </a:solidFill>
                <a:latin typeface="Calibri"/>
                <a:ea typeface="Calibri"/>
                <a:cs typeface="Calibri"/>
              </a:defRPr>
            </a:pPr>
            <a:r>
              <a:rPr sz="3000" b="1">
                <a:solidFill>
                  <a:srgbClr val="F3F0E2"/>
                </a:solidFill>
                <a:latin typeface="Calibri"/>
                <a:ea typeface="Calibri"/>
                <a:cs typeface="Calibri"/>
              </a:rPr>
              <a:t>05</a:t>
            </a:r>
          </a:p>
        </p:txBody>
      </p:sp>
      <p:sp>
        <p:nvSpPr>
          <p:cNvPr id="14" name="Conclusion et perspectives">
            <a:extLst>
              <a:ext uri="{FF2B5EF4-FFF2-40B4-BE49-F238E27FC236}">
                <a16:creationId xmlns:a16="http://schemas.microsoft.com/office/drawing/2014/main" id="{AD7D544C-F534-4E0C-8C87-C96E772FCBE5}"/>
              </a:ext>
            </a:extLst>
          </p:cNvPr>
          <p:cNvSpPr>
            <a:spLocks noGrp="1"/>
          </p:cNvSpPr>
          <p:nvPr/>
        </p:nvSpPr>
        <p:spPr>
          <a:xfrm>
            <a:off x="14220825" y="5381625"/>
            <a:ext cx="2914650" cy="2286000"/>
          </a:xfrm>
          <a:prstGeom prst="rect">
            <a:avLst/>
          </a:prstGeom>
          <a:noFill/>
          <a:ln w="0">
            <a:noFill/>
          </a:ln>
        </p:spPr>
        <p:txBody>
          <a:bodyPr wrap="square" lIns="0" tIns="0" rIns="0" bIns="0" anchor="t">
            <a:noAutofit/>
          </a:bodyPr>
          <a:lstStyle/>
          <a:p>
            <a:pPr algn="ctr">
              <a:defRPr sz="2700" b="0">
                <a:solidFill>
                  <a:srgbClr val="414548"/>
                </a:solidFill>
                <a:latin typeface="Calibri"/>
                <a:ea typeface="Calibri"/>
                <a:cs typeface="Calibri"/>
              </a:defRPr>
            </a:pPr>
            <a:r>
              <a:rPr sz="2700" b="0">
                <a:solidFill>
                  <a:srgbClr val="414548"/>
                </a:solidFill>
                <a:latin typeface="Calibri"/>
                <a:ea typeface="Calibri"/>
                <a:cs typeface="Calibri"/>
              </a:rPr>
              <a:t>Conclusion et perspectives</a:t>
            </a:r>
          </a:p>
        </p:txBody>
      </p:sp>
    </p:spTree>
    <p:extLst>
      <p:ext uri="{BB962C8B-B14F-4D97-AF65-F5344CB8AC3E}">
        <p14:creationId xmlns:p14="http://schemas.microsoft.com/office/powerpoint/2010/main" val="691831143"/>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4"/>
                                  </p:tgtEl>
                                  <p:attrNameLst>
                                    <p:attrName>style.visibility</p:attrName>
                                  </p:attrNameLst>
                                </p:cBhvr>
                                <p:to>
                                  <p:strVal val="visible"/>
                                </p:to>
                              </p:set>
                              <p:animEffect transition="in" filter="wipe(right)">
                                <p:cBhvr>
                                  <p:cTn id="6" dur="550" fill="hold"/>
                                  <p:tgtEl>
                                    <p:spTgt spid="4"/>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5"/>
                                  </p:tgtEl>
                                  <p:attrNameLst>
                                    <p:attrName>style.visibility</p:attrName>
                                  </p:attrNameLst>
                                </p:cBhvr>
                                <p:to>
                                  <p:strVal val="visible"/>
                                </p:to>
                              </p:set>
                              <p:animEffect transition="in" filter="wipe(right)">
                                <p:cBhvr>
                                  <p:cTn id="10" dur="550" fill="hold"/>
                                  <p:tgtEl>
                                    <p:spTgt spid="5"/>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6"/>
                                  </p:tgtEl>
                                  <p:attrNameLst>
                                    <p:attrName>style.visibility</p:attrName>
                                  </p:attrNameLst>
                                </p:cBhvr>
                                <p:to>
                                  <p:strVal val="visible"/>
                                </p:to>
                              </p:set>
                              <p:animEffect transition="in" filter="wipe(right)">
                                <p:cBhvr>
                                  <p:cTn id="14" dur="550" fill="hold"/>
                                  <p:tgtEl>
                                    <p:spTgt spid="6"/>
                                  </p:tgtEl>
                                </p:cBhvr>
                              </p:animEffect>
                            </p:childTnLst>
                          </p:cTn>
                        </p:par>
                      </p:childTnLst>
                    </p:cTn>
                  </p:par>
                  <p:par>
                    <p:cTn id="15" fill="hold">
                      <p:stCondLst>
                        <p:cond delay="370"/>
                      </p:stCondLst>
                      <p:childTnLst>
                        <p:par>
                          <p:cTn id="16" presetID="22" presetClass="entr" presetSubtype="1" fill="hold" nodeType="withEffect">
                            <p:stCondLst>
                              <p:cond delay="0"/>
                            </p:stCondLst>
                            <p:childTnLst>
                              <p:set>
                                <p:cBhvr>
                                  <p:cTn id="17" dur="1" fill="hold"/>
                                  <p:tgtEl>
                                    <p:spTgt spid="7"/>
                                  </p:tgtEl>
                                  <p:attrNameLst>
                                    <p:attrName>style.visibility</p:attrName>
                                  </p:attrNameLst>
                                </p:cBhvr>
                                <p:to>
                                  <p:strVal val="visible"/>
                                </p:to>
                              </p:set>
                              <p:animEffect transition="in" filter="wipe(right)">
                                <p:cBhvr>
                                  <p:cTn id="18" dur="550" fill="hold"/>
                                  <p:tgtEl>
                                    <p:spTgt spid="7"/>
                                  </p:tgtEl>
                                </p:cBhvr>
                              </p:animEffect>
                            </p:childTnLst>
                          </p:cTn>
                        </p:par>
                      </p:childTnLst>
                    </p:cTn>
                  </p:par>
                  <p:par>
                    <p:cTn id="19" fill="hold">
                      <p:stCondLst>
                        <p:cond delay="460"/>
                      </p:stCondLst>
                      <p:childTnLst>
                        <p:par>
                          <p:cTn id="20" presetID="22" presetClass="entr" presetSubtype="1" fill="hold" nodeType="withEffect">
                            <p:stCondLst>
                              <p:cond delay="0"/>
                            </p:stCondLst>
                            <p:childTnLst>
                              <p:set>
                                <p:cBhvr>
                                  <p:cTn id="21" dur="1" fill="hold"/>
                                  <p:tgtEl>
                                    <p:spTgt spid="8"/>
                                  </p:tgtEl>
                                  <p:attrNameLst>
                                    <p:attrName>style.visibility</p:attrName>
                                  </p:attrNameLst>
                                </p:cBhvr>
                                <p:to>
                                  <p:strVal val="visible"/>
                                </p:to>
                              </p:set>
                              <p:animEffect transition="in" filter="wipe(right)">
                                <p:cBhvr>
                                  <p:cTn id="22" dur="550" fill="hold"/>
                                  <p:tgtEl>
                                    <p:spTgt spid="8"/>
                                  </p:tgtEl>
                                </p:cBhvr>
                              </p:animEffect>
                            </p:childTnLst>
                          </p:cTn>
                        </p:par>
                      </p:childTnLst>
                    </p:cTn>
                  </p:par>
                  <p:par>
                    <p:cTn id="23" fill="hold">
                      <p:stCondLst>
                        <p:cond delay="550"/>
                      </p:stCondLst>
                      <p:childTnLst>
                        <p:par>
                          <p:cTn id="24" presetID="22" presetClass="entr" presetSubtype="1" fill="hold" nodeType="withEffect">
                            <p:stCondLst>
                              <p:cond delay="0"/>
                            </p:stCondLst>
                            <p:childTnLst>
                              <p:set>
                                <p:cBhvr>
                                  <p:cTn id="25" dur="1" fill="hold"/>
                                  <p:tgtEl>
                                    <p:spTgt spid="9"/>
                                  </p:tgtEl>
                                  <p:attrNameLst>
                                    <p:attrName>style.visibility</p:attrName>
                                  </p:attrNameLst>
                                </p:cBhvr>
                                <p:to>
                                  <p:strVal val="visible"/>
                                </p:to>
                              </p:set>
                              <p:animEffect transition="in" filter="wipe(right)">
                                <p:cBhvr>
                                  <p:cTn id="26" dur="550" fill="hold"/>
                                  <p:tgtEl>
                                    <p:spTgt spid="9"/>
                                  </p:tgtEl>
                                </p:cBhvr>
                              </p:animEffect>
                            </p:childTnLst>
                          </p:cTn>
                        </p:par>
                      </p:childTnLst>
                    </p:cTn>
                  </p:par>
                  <p:par>
                    <p:cTn id="27" fill="hold">
                      <p:stCondLst>
                        <p:cond delay="640"/>
                      </p:stCondLst>
                      <p:childTnLst>
                        <p:par>
                          <p:cTn id="28" presetID="22" presetClass="entr" presetSubtype="1" fill="hold" nodeType="withEffect">
                            <p:stCondLst>
                              <p:cond delay="0"/>
                            </p:stCondLst>
                            <p:childTnLst>
                              <p:set>
                                <p:cBhvr>
                                  <p:cTn id="29" dur="1" fill="hold"/>
                                  <p:tgtEl>
                                    <p:spTgt spid="10"/>
                                  </p:tgtEl>
                                  <p:attrNameLst>
                                    <p:attrName>style.visibility</p:attrName>
                                  </p:attrNameLst>
                                </p:cBhvr>
                                <p:to>
                                  <p:strVal val="visible"/>
                                </p:to>
                              </p:set>
                              <p:animEffect transition="in" filter="wipe(right)">
                                <p:cBhvr>
                                  <p:cTn id="30" dur="550" fill="hold"/>
                                  <p:tgtEl>
                                    <p:spTgt spid="10"/>
                                  </p:tgtEl>
                                </p:cBhvr>
                              </p:animEffect>
                            </p:childTnLst>
                          </p:cTn>
                        </p:par>
                      </p:childTnLst>
                    </p:cTn>
                  </p:par>
                  <p:par>
                    <p:cTn id="31" fill="hold">
                      <p:stCondLst>
                        <p:cond delay="730"/>
                      </p:stCondLst>
                      <p:childTnLst>
                        <p:par>
                          <p:cTn id="32" presetID="22" presetClass="entr" presetSubtype="1" fill="hold" nodeType="withEffect">
                            <p:stCondLst>
                              <p:cond delay="0"/>
                            </p:stCondLst>
                            <p:childTnLst>
                              <p:set>
                                <p:cBhvr>
                                  <p:cTn id="33" dur="1" fill="hold"/>
                                  <p:tgtEl>
                                    <p:spTgt spid="11"/>
                                  </p:tgtEl>
                                  <p:attrNameLst>
                                    <p:attrName>style.visibility</p:attrName>
                                  </p:attrNameLst>
                                </p:cBhvr>
                                <p:to>
                                  <p:strVal val="visible"/>
                                </p:to>
                              </p:set>
                              <p:animEffect transition="in" filter="wipe(right)">
                                <p:cBhvr>
                                  <p:cTn id="34" dur="550" fill="hold"/>
                                  <p:tgtEl>
                                    <p:spTgt spid="11"/>
                                  </p:tgtEl>
                                </p:cBhvr>
                              </p:animEffect>
                            </p:childTnLst>
                          </p:cTn>
                        </p:par>
                      </p:childTnLst>
                    </p:cTn>
                  </p:par>
                  <p:par>
                    <p:cTn id="35" fill="hold">
                      <p:stCondLst>
                        <p:cond delay="730"/>
                      </p:stCondLst>
                      <p:childTnLst>
                        <p:par>
                          <p:cTn id="36" presetID="22" presetClass="entr" presetSubtype="1" fill="hold" nodeType="withEffect">
                            <p:stCondLst>
                              <p:cond delay="0"/>
                            </p:stCondLst>
                            <p:childTnLst>
                              <p:set>
                                <p:cBhvr>
                                  <p:cTn id="37" dur="1" fill="hold"/>
                                  <p:tgtEl>
                                    <p:spTgt spid="12"/>
                                  </p:tgtEl>
                                  <p:attrNameLst>
                                    <p:attrName>style.visibility</p:attrName>
                                  </p:attrNameLst>
                                </p:cBhvr>
                                <p:to>
                                  <p:strVal val="visible"/>
                                </p:to>
                              </p:set>
                              <p:animEffect transition="in" filter="wipe(right)">
                                <p:cBhvr>
                                  <p:cTn id="38" dur="550" fill="hold"/>
                                  <p:tgtEl>
                                    <p:spTgt spid="12"/>
                                  </p:tgtEl>
                                </p:cBhvr>
                              </p:animEffect>
                            </p:childTnLst>
                          </p:cTn>
                        </p:par>
                      </p:childTnLst>
                    </p:cTn>
                  </p:par>
                  <p:par>
                    <p:cTn id="39" fill="hold">
                      <p:stCondLst>
                        <p:cond delay="730"/>
                      </p:stCondLst>
                      <p:childTnLst>
                        <p:par>
                          <p:cTn id="40" presetID="22" presetClass="entr" presetSubtype="1" fill="hold" nodeType="withEffect">
                            <p:stCondLst>
                              <p:cond delay="0"/>
                            </p:stCondLst>
                            <p:childTnLst>
                              <p:set>
                                <p:cBhvr>
                                  <p:cTn id="41" dur="1" fill="hold"/>
                                  <p:tgtEl>
                                    <p:spTgt spid="13"/>
                                  </p:tgtEl>
                                  <p:attrNameLst>
                                    <p:attrName>style.visibility</p:attrName>
                                  </p:attrNameLst>
                                </p:cBhvr>
                                <p:to>
                                  <p:strVal val="visible"/>
                                </p:to>
                              </p:set>
                              <p:animEffect transition="in" filter="wipe(right)">
                                <p:cBhvr>
                                  <p:cTn id="42" dur="550" fill="hold"/>
                                  <p:tgtEl>
                                    <p:spTgt spid="13"/>
                                  </p:tgtEl>
                                </p:cBhvr>
                              </p:animEffect>
                            </p:childTnLst>
                          </p:cTn>
                        </p:par>
                      </p:childTnLst>
                    </p:cTn>
                  </p:par>
                  <p:par>
                    <p:cTn id="43" fill="hold">
                      <p:stCondLst>
                        <p:cond delay="730"/>
                      </p:stCondLst>
                      <p:childTnLst>
                        <p:par>
                          <p:cTn id="44" presetID="22" presetClass="entr" presetSubtype="1" fill="hold" nodeType="withEffect">
                            <p:stCondLst>
                              <p:cond delay="0"/>
                            </p:stCondLst>
                            <p:childTnLst>
                              <p:set>
                                <p:cBhvr>
                                  <p:cTn id="45" dur="1" fill="hold"/>
                                  <p:tgtEl>
                                    <p:spTgt spid="14"/>
                                  </p:tgtEl>
                                  <p:attrNameLst>
                                    <p:attrName>style.visibility</p:attrName>
                                  </p:attrNameLst>
                                </p:cBhvr>
                                <p:to>
                                  <p:strVal val="visible"/>
                                </p:to>
                              </p:set>
                              <p:animEffect transition="in" filter="wipe(right)">
                                <p:cBhvr>
                                  <p:cTn id="46" dur="550" fill="hold"/>
                                  <p:tgtEl>
                                    <p:spTgt spid="14"/>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3F0E2"/>
        </a:solidFill>
        <a:effectLst/>
      </p:bgPr>
    </p:bg>
    <p:spTree>
      <p:nvGrpSpPr>
        <p:cNvPr id="1" name=""/>
        <p:cNvGrpSpPr/>
        <p:nvPr/>
      </p:nvGrpSpPr>
      <p:grpSpPr>
        <a:xfrm>
          <a:off x="0" y="0"/>
          <a:ext cx="0" cy="0"/>
          <a:chOff x="0" y="0"/>
          <a:chExt cx="0" cy="0"/>
        </a:xfrm>
      </p:grpSpPr>
      <p:pic>
        <p:nvPicPr>
          <p:cNvPr id="2000" name="" descr="Illustration conceptuelle du suivi des prospects, des échanges et des documents commerciaux"/>
          <p:cNvPicPr>
            <a:picLocks noChangeAspect="1"/>
          </p:cNvPicPr>
          <p:nvPr/>
        </p:nvPicPr>
        <p:blipFill>
          <a:blip r:embed="rIdWorkflowBg"/>
          <a:srcRect l="0" t="27" r="0" b="27"/>
          <a:stretch>
            <a:fillRect l="0" t="0" r="0" b="0"/>
          </a:stretch>
        </p:blipFill>
        <p:spPr>
          <a:xfrm>
            <a:off x="0" y="0"/>
            <a:ext cx="18288000" cy="10287000"/>
          </a:xfrm>
          <a:prstGeom prst="rect">
            <a:avLst/>
          </a:prstGeom>
        </p:spPr>
      </p:pic>
      <p:sp>
        <p:nvSpPr>
          <p:cNvPr id="2" name="ADG-10  /  AUTOMATISATION DU CYCLE COMMERCIAL">
            <a:extLst>
              <a:ext uri="{FF2B5EF4-FFF2-40B4-BE49-F238E27FC236}">
                <a16:creationId xmlns:a16="http://schemas.microsoft.com/office/drawing/2014/main" id="{5CA386B8-0655-4244-A0ED-C1627BC0CADC}"/>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A65A43"/>
                </a:solidFill>
                <a:latin typeface="Calibri"/>
                <a:ea typeface="Calibri"/>
                <a:cs typeface="Calibri"/>
              </a:defRPr>
            </a:pPr>
            <a:r>
              <a:rPr sz="1800" b="1">
                <a:solidFill>
                  <a:srgbClr val="A65A43"/>
                </a:solidFill>
                <a:latin typeface="Calibri"/>
                <a:ea typeface="Calibri"/>
                <a:cs typeface="Calibri"/>
              </a:rPr>
              <a:t>ADG-10  /  AUTOMATISATION DU CYCLE COMMERCIAL</a:t>
            </a:r>
          </a:p>
        </p:txBody>
      </p:sp>
      <p:sp>
        <p:nvSpPr>
          <p:cNvPr id="3" name="03 / 22">
            <a:extLst>
              <a:ext uri="{FF2B5EF4-FFF2-40B4-BE49-F238E27FC236}">
                <a16:creationId xmlns:a16="http://schemas.microsoft.com/office/drawing/2014/main" id="{EBE46161-7143-406F-B61C-F60ED80AE45C}"/>
              </a:ext>
            </a:extLst>
          </p:cNvPr>
          <p:cNvSpPr>
            <a:spLocks noGrp="1"/>
          </p:cNvSpPr>
          <p:nvPr/>
        </p:nvSpPr>
        <p:spPr>
          <a:xfrm>
            <a:off x="14382750" y="9696450"/>
            <a:ext cx="1333500" cy="323850"/>
          </a:xfrm>
          <a:prstGeom prst="rect">
            <a:avLst/>
          </a:prstGeom>
          <a:noFill/>
          <a:ln w="0">
            <a:noFill/>
          </a:ln>
        </p:spPr>
        <p:txBody>
          <a:bodyPr wrap="square" lIns="0" tIns="0" rIns="0" bIns="0" anchor="ctr">
            <a:noAutofit/>
          </a:bodyPr>
          <a:lstStyle/>
          <a:p>
            <a:pPr algn="ctr">
              <a:defRPr sz="1650" b="1">
                <a:solidFill>
                  <a:srgbClr val="414548"/>
                </a:solidFill>
                <a:latin typeface="Calibri"/>
                <a:ea typeface="Calibri"/>
                <a:cs typeface="Calibri"/>
              </a:defRPr>
            </a:pPr>
            <a:r>
              <a:rPr sz="1650" b="1">
                <a:solidFill>
                  <a:srgbClr val="414548"/>
                </a:solidFill>
                <a:latin typeface="Calibri"/>
                <a:ea typeface="Calibri"/>
                <a:cs typeface="Calibri"/>
              </a:rPr>
              <a:t>03 / 24</a:t>
            </a:r>
          </a:p>
        </p:txBody>
      </p:sp>
      <p:sp>
        <p:nvSpPr>
          <p:cNvPr id="4" name="01">
            <a:extLst>
              <a:ext uri="{FF2B5EF4-FFF2-40B4-BE49-F238E27FC236}">
                <a16:creationId xmlns:a16="http://schemas.microsoft.com/office/drawing/2014/main" id="{D18D63E6-3AF1-4FA9-8C30-FD1595DA04C3}"/>
              </a:ext>
            </a:extLst>
          </p:cNvPr>
          <p:cNvSpPr>
            <a:spLocks noGrp="1"/>
          </p:cNvSpPr>
          <p:nvPr/>
        </p:nvSpPr>
        <p:spPr>
          <a:xfrm>
            <a:off x="857250" y="1428750"/>
            <a:ext cx="6667500" cy="1857375"/>
          </a:xfrm>
          <a:prstGeom prst="rect">
            <a:avLst/>
          </a:prstGeom>
          <a:noFill/>
          <a:ln w="0">
            <a:noFill/>
          </a:ln>
        </p:spPr>
        <p:txBody>
          <a:bodyPr wrap="square" lIns="0" tIns="0" rIns="0" bIns="0" anchor="ctr">
            <a:noAutofit/>
          </a:bodyPr>
          <a:lstStyle/>
          <a:p>
            <a:pPr algn="l">
              <a:defRPr sz="11850" b="1">
                <a:solidFill>
                  <a:srgbClr val="A65A43"/>
                </a:solidFill>
                <a:latin typeface="Calibri"/>
                <a:ea typeface="Calibri"/>
                <a:cs typeface="Calibri"/>
              </a:defRPr>
            </a:pPr>
            <a:r>
              <a:rPr sz="11850" b="1">
                <a:solidFill>
                  <a:srgbClr val="A65A43"/>
                </a:solidFill>
                <a:latin typeface="Calibri"/>
                <a:ea typeface="Calibri"/>
                <a:cs typeface="Calibri"/>
              </a:rPr>
              <a:t>01</a:t>
            </a:r>
          </a:p>
        </p:txBody>
      </p:sp>
      <p:sp>
        <p:nvSpPr>
          <p:cNvPr id="5" name="Introduction">
            <a:extLst>
              <a:ext uri="{FF2B5EF4-FFF2-40B4-BE49-F238E27FC236}">
                <a16:creationId xmlns:a16="http://schemas.microsoft.com/office/drawing/2014/main" id="{3A880565-E8B8-4586-B973-1A37A4C9039B}"/>
              </a:ext>
            </a:extLst>
          </p:cNvPr>
          <p:cNvSpPr>
            <a:spLocks noGrp="1"/>
          </p:cNvSpPr>
          <p:nvPr/>
        </p:nvSpPr>
        <p:spPr>
          <a:xfrm>
            <a:off x="952500" y="3524250"/>
            <a:ext cx="9810750" cy="2000250"/>
          </a:xfrm>
          <a:prstGeom prst="rect">
            <a:avLst/>
          </a:prstGeom>
          <a:noFill/>
          <a:ln w="0">
            <a:noFill/>
          </a:ln>
        </p:spPr>
        <p:txBody>
          <a:bodyPr wrap="square" lIns="0" tIns="0" rIns="0" bIns="0" anchor="ctr">
            <a:noAutofit/>
          </a:bodyPr>
          <a:lstStyle/>
          <a:p>
            <a:pPr algn="l">
              <a:defRPr sz="5850" b="1">
                <a:solidFill>
                  <a:srgbClr val="414548"/>
                </a:solidFill>
                <a:latin typeface="Calibri"/>
                <a:ea typeface="Calibri"/>
                <a:cs typeface="Calibri"/>
              </a:defRPr>
            </a:pPr>
            <a:r>
              <a:rPr sz="5850" b="1">
                <a:solidFill>
                  <a:srgbClr val="414548"/>
                </a:solidFill>
                <a:latin typeface="Calibri"/>
                <a:ea typeface="Calibri"/>
                <a:cs typeface="Calibri"/>
              </a:rPr>
              <a:t>Introduction</a:t>
            </a:r>
          </a:p>
        </p:txBody>
      </p:sp>
      <p:sp>
        <p:nvSpPr>
          <p:cNvPr id="6" name="Comment assurer un suivi cohérent&#10;du premier contact au">
            <a:extLst>
              <a:ext uri="{FF2B5EF4-FFF2-40B4-BE49-F238E27FC236}">
                <a16:creationId xmlns:a16="http://schemas.microsoft.com/office/drawing/2014/main" id="{C2383F8F-4C89-4A39-9003-8737184B1E21}"/>
              </a:ext>
            </a:extLst>
          </p:cNvPr>
          <p:cNvSpPr>
            <a:spLocks noGrp="1"/>
          </p:cNvSpPr>
          <p:nvPr/>
        </p:nvSpPr>
        <p:spPr>
          <a:xfrm>
            <a:off x="1000125" y="5857875"/>
            <a:ext cx="9048750" cy="1428750"/>
          </a:xfrm>
          <a:prstGeom prst="rect">
            <a:avLst/>
          </a:prstGeom>
          <a:noFill/>
          <a:ln w="0">
            <a:noFill/>
          </a:ln>
        </p:spPr>
        <p:txBody>
          <a:bodyPr wrap="square" lIns="0" tIns="0" rIns="0" bIns="0" anchor="ctr">
            <a:noAutofit/>
          </a:bodyPr>
          <a:lstStyle/>
          <a:p>
            <a:pPr algn="l">
              <a:defRPr sz="2925" b="0">
                <a:solidFill>
                  <a:srgbClr val="414548"/>
                </a:solidFill>
                <a:latin typeface="Calibri"/>
                <a:ea typeface="Calibri"/>
                <a:cs typeface="Calibri"/>
              </a:defRPr>
            </a:pPr>
            <a:r>
              <a:rPr sz="2925" b="0">
                <a:solidFill>
                  <a:srgbClr val="414548"/>
                </a:solidFill>
                <a:latin typeface="Calibri"/>
                <a:ea typeface="Calibri"/>
                <a:cs typeface="Calibri"/>
              </a:rPr>
              <a:t>Comment assurer un suivi cohérent</a:t>
            </a:r>
          </a:p>
          <a:p>
            <a:pPr algn="l">
              <a:defRPr sz="2925" b="0">
                <a:solidFill>
                  <a:srgbClr val="414548"/>
                </a:solidFill>
                <a:latin typeface="Calibri"/>
                <a:ea typeface="Calibri"/>
                <a:cs typeface="Calibri"/>
              </a:defRPr>
            </a:pPr>
            <a:r>
              <a:rPr sz="2925" b="0">
                <a:solidFill>
                  <a:srgbClr val="414548"/>
                </a:solidFill>
                <a:latin typeface="Calibri"/>
                <a:ea typeface="Calibri"/>
                <a:cs typeface="Calibri"/>
              </a:rPr>
              <a:t>du premier contact aux documents commerciaux ?</a:t>
            </a:r>
          </a:p>
        </p:txBody>
      </p:sp>
    </p:spTree>
    <p:extLst>
      <p:ext uri="{BB962C8B-B14F-4D97-AF65-F5344CB8AC3E}">
        <p14:creationId xmlns:p14="http://schemas.microsoft.com/office/powerpoint/2010/main" val="749796306"/>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4"/>
                                  </p:tgtEl>
                                  <p:attrNameLst>
                                    <p:attrName>style.visibility</p:attrName>
                                  </p:attrNameLst>
                                </p:cBhvr>
                                <p:to>
                                  <p:strVal val="visible"/>
                                </p:to>
                              </p:set>
                              <p:animEffect transition="in" filter="wipe(right)">
                                <p:cBhvr>
                                  <p:cTn id="6" dur="550" fill="hold"/>
                                  <p:tgtEl>
                                    <p:spTgt spid="4"/>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5"/>
                                  </p:tgtEl>
                                  <p:attrNameLst>
                                    <p:attrName>style.visibility</p:attrName>
                                  </p:attrNameLst>
                                </p:cBhvr>
                                <p:to>
                                  <p:strVal val="visible"/>
                                </p:to>
                              </p:set>
                              <p:animEffect transition="in" filter="wipe(right)">
                                <p:cBhvr>
                                  <p:cTn id="10" dur="550" fill="hold"/>
                                  <p:tgtEl>
                                    <p:spTgt spid="5"/>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6"/>
                                  </p:tgtEl>
                                  <p:attrNameLst>
                                    <p:attrName>style.visibility</p:attrName>
                                  </p:attrNameLst>
                                </p:cBhvr>
                                <p:to>
                                  <p:strVal val="visible"/>
                                </p:to>
                              </p:set>
                              <p:animEffect transition="in" filter="wipe(right)">
                                <p:cBhvr>
                                  <p:cTn id="14" dur="550" fill="hold"/>
                                  <p:tgtEl>
                                    <p:spTgt spid="6"/>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3F0E2"/>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ResearchBg"/>
          <a:srcRect l="0" t="27" r="0" b="27"/>
          <a:stretch>
            <a:fillRect l="0" t="0" r="0" b="0"/>
          </a:stretch>
        </p:blipFill>
        <p:spPr>
          <a:xfrm>
            <a:off x="0" y="0"/>
            <a:ext cx="18288000" cy="10287000"/>
          </a:xfrm>
          <a:prstGeom prst="rect">
            <a:avLst/>
          </a:prstGeom>
        </p:spPr>
      </p:pic>
      <p:sp>
        <p:nvSpPr>
          <p:cNvPr id="10" name="ADG-10  /  AUTOMATISATION DU CYCLE COMMERCIAL">
            <a:extLst>
              <a:ext uri="{FF2B5EF4-FFF2-40B4-BE49-F238E27FC236}">
                <a16:creationId xmlns:a16="http://schemas.microsoft.com/office/drawing/2014/main" id="{0C488777-26AE-41B0-B320-6C341B03DA82}"/>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A65A43"/>
                </a:solidFill>
                <a:latin typeface="Calibri"/>
                <a:ea typeface="Calibri"/>
                <a:cs typeface="Calibri"/>
              </a:defRPr>
            </a:pPr>
            <a:r>
              <a:rPr sz="1800" b="1">
                <a:solidFill>
                  <a:srgbClr val="A65A43"/>
                </a:solidFill>
                <a:latin typeface="Calibri"/>
                <a:ea typeface="Calibri"/>
                <a:cs typeface="Calibri"/>
              </a:rPr>
              <a:t>ADG-10  /  AUTOMATISATION DU CYCLE COMMERCIAL</a:t>
            </a:r>
          </a:p>
        </p:txBody>
      </p:sp>
      <p:sp>
        <p:nvSpPr>
          <p:cNvPr id="2" name="04 / 22">
            <a:extLst>
              <a:ext uri="{FF2B5EF4-FFF2-40B4-BE49-F238E27FC236}">
                <a16:creationId xmlns:a16="http://schemas.microsoft.com/office/drawing/2014/main" id="{0277FBC1-6773-46A6-9857-0D6EB15E17C2}"/>
              </a:ext>
            </a:extLst>
          </p:cNvPr>
          <p:cNvSpPr>
            <a:spLocks noGrp="1"/>
          </p:cNvSpPr>
          <p:nvPr/>
        </p:nvSpPr>
        <p:spPr>
          <a:xfrm>
            <a:off x="14382750" y="9696450"/>
            <a:ext cx="1333500" cy="323850"/>
          </a:xfrm>
          <a:prstGeom prst="rect">
            <a:avLst/>
          </a:prstGeom>
          <a:noFill/>
          <a:ln w="0">
            <a:noFill/>
          </a:ln>
        </p:spPr>
        <p:txBody>
          <a:bodyPr wrap="square" lIns="0" tIns="0" rIns="0" bIns="0" anchor="ctr">
            <a:noAutofit/>
          </a:bodyPr>
          <a:lstStyle/>
          <a:p>
            <a:pPr algn="ctr">
              <a:defRPr sz="1650" b="1">
                <a:solidFill>
                  <a:srgbClr val="414548"/>
                </a:solidFill>
                <a:latin typeface="Calibri"/>
                <a:ea typeface="Calibri"/>
                <a:cs typeface="Calibri"/>
              </a:defRPr>
            </a:pPr>
            <a:r>
              <a:rPr sz="1650" b="1">
                <a:solidFill>
                  <a:srgbClr val="414548"/>
                </a:solidFill>
                <a:latin typeface="Calibri"/>
                <a:ea typeface="Calibri"/>
                <a:cs typeface="Calibri"/>
              </a:rPr>
              <a:t>04 / 24</a:t>
            </a:r>
          </a:p>
        </p:txBody>
      </p:sp>
      <p:sp>
        <p:nvSpPr>
          <p:cNvPr id="3" name="Organisme d’accueil et besoin métier">
            <a:extLst>
              <a:ext uri="{FF2B5EF4-FFF2-40B4-BE49-F238E27FC236}">
                <a16:creationId xmlns:a16="http://schemas.microsoft.com/office/drawing/2014/main" id="{E5273644-82A0-4265-80EB-12B5CB2CCCD7}"/>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414548"/>
                </a:solidFill>
                <a:latin typeface="Calibri"/>
                <a:ea typeface="Calibri"/>
                <a:cs typeface="Calibri"/>
              </a:defRPr>
            </a:pPr>
            <a:r>
              <a:rPr sz="4650" b="1">
                <a:solidFill>
                  <a:srgbClr val="414548"/>
                </a:solidFill>
                <a:latin typeface="Calibri"/>
                <a:ea typeface="Calibri"/>
                <a:cs typeface="Calibri"/>
              </a:rPr>
              <a:t>Organisme d’accueil et besoin métier</a:t>
            </a:r>
          </a:p>
        </p:txBody>
      </p:sp>
      <p:sp>
        <p:nvSpPr>
          <p:cNvPr id="4" name="01">
            <a:extLst>
              <a:ext uri="{FF2B5EF4-FFF2-40B4-BE49-F238E27FC236}">
                <a16:creationId xmlns:a16="http://schemas.microsoft.com/office/drawing/2014/main" id="{528B4E2A-9CF7-4BBA-A3E3-741CEDED490D}"/>
              </a:ext>
            </a:extLst>
          </p:cNvPr>
          <p:cNvSpPr>
            <a:spLocks noGrp="1"/>
          </p:cNvSpPr>
          <p:nvPr/>
        </p:nvSpPr>
        <p:spPr>
          <a:xfrm>
            <a:off x="1428750" y="3286125"/>
            <a:ext cx="952500" cy="952500"/>
          </a:xfrm>
          <a:prstGeom prst="ellipse">
            <a:avLst/>
          </a:prstGeom>
          <a:solidFill>
            <a:srgbClr val="5D818B"/>
          </a:solidFill>
          <a:ln w="19050">
            <a:solidFill>
              <a:srgbClr val="5D818B"/>
            </a:solidFill>
          </a:ln>
        </p:spPr>
        <p:txBody>
          <a:bodyPr wrap="square" lIns="0" tIns="0" rIns="0" bIns="0" anchor="ctr">
            <a:noAutofit/>
          </a:bodyPr>
          <a:lstStyle/>
          <a:p>
            <a:pPr algn="ctr">
              <a:defRPr sz="2550" b="1">
                <a:solidFill>
                  <a:srgbClr val="F3F0E2"/>
                </a:solidFill>
                <a:latin typeface="Calibri"/>
                <a:ea typeface="Calibri"/>
                <a:cs typeface="Calibri"/>
              </a:defRPr>
            </a:pPr>
            <a:r>
              <a:rPr sz="2550" b="1">
                <a:solidFill>
                  <a:srgbClr val="F3F0E2"/>
                </a:solidFill>
                <a:latin typeface="Calibri"/>
                <a:ea typeface="Calibri"/>
                <a:cs typeface="Calibri"/>
              </a:rPr>
              <a:t>01</a:t>
            </a:r>
          </a:p>
        </p:txBody>
      </p:sp>
      <p:sp>
        <p:nvSpPr>
          <p:cNvPr id="5" name="ADBCENTER LOGISPLAN, dans l’environnement&#10;Adaoui Busine">
            <a:extLst>
              <a:ext uri="{FF2B5EF4-FFF2-40B4-BE49-F238E27FC236}">
                <a16:creationId xmlns:a16="http://schemas.microsoft.com/office/drawing/2014/main" id="{C40A0F94-5AD8-4960-B94F-4CF6C7E4F432}"/>
              </a:ext>
            </a:extLst>
          </p:cNvPr>
          <p:cNvSpPr>
            <a:spLocks noGrp="1"/>
          </p:cNvSpPr>
          <p:nvPr/>
        </p:nvSpPr>
        <p:spPr>
          <a:xfrm>
            <a:off x="2952750" y="3000375"/>
            <a:ext cx="13049250" cy="1524000"/>
          </a:xfrm>
          <a:prstGeom prst="rect">
            <a:avLst/>
          </a:prstGeom>
          <a:noFill/>
          <a:ln w="0">
            <a:noFill/>
          </a:ln>
        </p:spPr>
        <p:txBody>
          <a:bodyPr wrap="square" lIns="0" tIns="0" rIns="0" bIns="0" anchor="ctr">
            <a:noAutofit/>
          </a:bodyPr>
          <a:lstStyle/>
          <a:p>
            <a:pPr algn="l">
              <a:defRPr sz="2850" b="0">
                <a:solidFill>
                  <a:srgbClr val="414548"/>
                </a:solidFill>
                <a:latin typeface="Calibri"/>
                <a:ea typeface="Calibri"/>
                <a:cs typeface="Calibri"/>
              </a:defRPr>
            </a:pPr>
            <a:r>
              <a:rPr sz="2850" b="0">
                <a:solidFill>
                  <a:srgbClr val="414548"/>
                </a:solidFill>
                <a:latin typeface="Calibri"/>
                <a:ea typeface="Calibri"/>
                <a:cs typeface="Calibri"/>
              </a:rPr>
              <a:t>ADBCENTER LOGISPLAN, dans l’environnement</a:t>
            </a:r>
          </a:p>
          <a:p>
            <a:pPr algn="l">
              <a:defRPr sz="2850" b="0">
                <a:solidFill>
                  <a:srgbClr val="414548"/>
                </a:solidFill>
                <a:latin typeface="Calibri"/>
                <a:ea typeface="Calibri"/>
                <a:cs typeface="Calibri"/>
              </a:defRPr>
            </a:pPr>
            <a:r>
              <a:rPr sz="2850" b="0">
                <a:solidFill>
                  <a:srgbClr val="414548"/>
                </a:solidFill>
                <a:latin typeface="Calibri"/>
                <a:ea typeface="Calibri"/>
                <a:cs typeface="Calibri"/>
              </a:rPr>
              <a:t>Adaoui Business Centre à Agadir.</a:t>
            </a:r>
          </a:p>
        </p:txBody>
      </p:sp>
      <p:sp>
        <p:nvSpPr>
          <p:cNvPr id="6" name="02">
            <a:extLst>
              <a:ext uri="{FF2B5EF4-FFF2-40B4-BE49-F238E27FC236}">
                <a16:creationId xmlns:a16="http://schemas.microsoft.com/office/drawing/2014/main" id="{D4E55075-DAE2-4017-9D2F-C6C39E0CDBC8}"/>
              </a:ext>
            </a:extLst>
          </p:cNvPr>
          <p:cNvSpPr>
            <a:spLocks noGrp="1"/>
          </p:cNvSpPr>
          <p:nvPr/>
        </p:nvSpPr>
        <p:spPr>
          <a:xfrm>
            <a:off x="1428750" y="5095875"/>
            <a:ext cx="952500" cy="952500"/>
          </a:xfrm>
          <a:prstGeom prst="ellipse">
            <a:avLst/>
          </a:prstGeom>
          <a:solidFill>
            <a:srgbClr val="A65A43"/>
          </a:solidFill>
          <a:ln w="19050">
            <a:solidFill>
              <a:srgbClr val="A65A43"/>
            </a:solidFill>
          </a:ln>
        </p:spPr>
        <p:txBody>
          <a:bodyPr wrap="square" lIns="0" tIns="0" rIns="0" bIns="0" anchor="ctr">
            <a:noAutofit/>
          </a:bodyPr>
          <a:lstStyle/>
          <a:p>
            <a:pPr algn="ctr">
              <a:defRPr sz="2550" b="1">
                <a:solidFill>
                  <a:srgbClr val="F3F0E2"/>
                </a:solidFill>
                <a:latin typeface="Calibri"/>
                <a:ea typeface="Calibri"/>
                <a:cs typeface="Calibri"/>
              </a:defRPr>
            </a:pPr>
            <a:r>
              <a:rPr sz="2550" b="1">
                <a:solidFill>
                  <a:srgbClr val="F3F0E2"/>
                </a:solidFill>
                <a:latin typeface="Calibri"/>
                <a:ea typeface="Calibri"/>
                <a:cs typeface="Calibri"/>
              </a:rPr>
              <a:t>02</a:t>
            </a:r>
          </a:p>
        </p:txBody>
      </p:sp>
      <p:sp>
        <p:nvSpPr>
          <p:cNvPr id="7" name="Activité : formation et accompagnement professionnel&#10;po">
            <a:extLst>
              <a:ext uri="{FF2B5EF4-FFF2-40B4-BE49-F238E27FC236}">
                <a16:creationId xmlns:a16="http://schemas.microsoft.com/office/drawing/2014/main" id="{2866C232-E5A6-4E0A-B7A8-F900A87BFF43}"/>
              </a:ext>
            </a:extLst>
          </p:cNvPr>
          <p:cNvSpPr>
            <a:spLocks noGrp="1"/>
          </p:cNvSpPr>
          <p:nvPr/>
        </p:nvSpPr>
        <p:spPr>
          <a:xfrm>
            <a:off x="2952750" y="4810125"/>
            <a:ext cx="13049250" cy="1524000"/>
          </a:xfrm>
          <a:prstGeom prst="rect">
            <a:avLst/>
          </a:prstGeom>
          <a:noFill/>
          <a:ln w="0">
            <a:noFill/>
          </a:ln>
        </p:spPr>
        <p:txBody>
          <a:bodyPr wrap="square" lIns="0" tIns="0" rIns="0" bIns="0" anchor="ctr">
            <a:noAutofit/>
          </a:bodyPr>
          <a:lstStyle/>
          <a:p>
            <a:pPr algn="l">
              <a:defRPr sz="2850" b="0">
                <a:solidFill>
                  <a:srgbClr val="414548"/>
                </a:solidFill>
                <a:latin typeface="Calibri"/>
                <a:ea typeface="Calibri"/>
                <a:cs typeface="Calibri"/>
              </a:defRPr>
            </a:pPr>
            <a:r>
              <a:rPr sz="2850" b="0">
                <a:solidFill>
                  <a:srgbClr val="414548"/>
                </a:solidFill>
                <a:latin typeface="Calibri"/>
                <a:ea typeface="Calibri"/>
                <a:cs typeface="Calibri"/>
              </a:rPr>
              <a:t>Activité : formation et accompagnement professionnel</a:t>
            </a:r>
          </a:p>
          <a:p>
            <a:pPr algn="l">
              <a:defRPr sz="2850" b="0">
                <a:solidFill>
                  <a:srgbClr val="414548"/>
                </a:solidFill>
                <a:latin typeface="Calibri"/>
                <a:ea typeface="Calibri"/>
                <a:cs typeface="Calibri"/>
              </a:defRPr>
            </a:pPr>
            <a:r>
              <a:rPr sz="2850" b="0">
                <a:solidFill>
                  <a:srgbClr val="414548"/>
                </a:solidFill>
                <a:latin typeface="Calibri"/>
                <a:ea typeface="Calibri"/>
                <a:cs typeface="Calibri"/>
              </a:rPr>
              <a:t>pour les salariés, les cadres et les entreprises.</a:t>
            </a:r>
          </a:p>
        </p:txBody>
      </p:sp>
      <p:sp>
        <p:nvSpPr>
          <p:cNvPr id="8" name="03">
            <a:extLst>
              <a:ext uri="{FF2B5EF4-FFF2-40B4-BE49-F238E27FC236}">
                <a16:creationId xmlns:a16="http://schemas.microsoft.com/office/drawing/2014/main" id="{93F04A50-BF90-4A56-A3CB-3FC410FBC574}"/>
              </a:ext>
            </a:extLst>
          </p:cNvPr>
          <p:cNvSpPr>
            <a:spLocks noGrp="1"/>
          </p:cNvSpPr>
          <p:nvPr/>
        </p:nvSpPr>
        <p:spPr>
          <a:xfrm>
            <a:off x="1428750" y="6905625"/>
            <a:ext cx="952500" cy="952500"/>
          </a:xfrm>
          <a:prstGeom prst="ellipse">
            <a:avLst/>
          </a:prstGeom>
          <a:solidFill>
            <a:srgbClr val="414548"/>
          </a:solidFill>
          <a:ln w="19050">
            <a:solidFill>
              <a:srgbClr val="414548"/>
            </a:solidFill>
          </a:ln>
        </p:spPr>
        <p:txBody>
          <a:bodyPr wrap="square" lIns="0" tIns="0" rIns="0" bIns="0" anchor="ctr">
            <a:noAutofit/>
          </a:bodyPr>
          <a:lstStyle/>
          <a:p>
            <a:pPr algn="ctr">
              <a:defRPr sz="2550" b="1">
                <a:solidFill>
                  <a:srgbClr val="F3F0E2"/>
                </a:solidFill>
                <a:latin typeface="Calibri"/>
                <a:ea typeface="Calibri"/>
                <a:cs typeface="Calibri"/>
              </a:defRPr>
            </a:pPr>
            <a:r>
              <a:rPr sz="2550" b="1">
                <a:solidFill>
                  <a:srgbClr val="F3F0E2"/>
                </a:solidFill>
                <a:latin typeface="Calibri"/>
                <a:ea typeface="Calibri"/>
                <a:cs typeface="Calibri"/>
              </a:rPr>
              <a:t>03</a:t>
            </a:r>
          </a:p>
        </p:txBody>
      </p:sp>
      <p:sp>
        <p:nvSpPr>
          <p:cNvPr id="9" name="Besoin : retrouver les informations du prospect et&#10;prép">
            <a:extLst>
              <a:ext uri="{FF2B5EF4-FFF2-40B4-BE49-F238E27FC236}">
                <a16:creationId xmlns:a16="http://schemas.microsoft.com/office/drawing/2014/main" id="{EB3C0EF6-57CE-4BF4-9232-E21BD6E61D92}"/>
              </a:ext>
            </a:extLst>
          </p:cNvPr>
          <p:cNvSpPr>
            <a:spLocks noGrp="1"/>
          </p:cNvSpPr>
          <p:nvPr/>
        </p:nvSpPr>
        <p:spPr>
          <a:xfrm>
            <a:off x="2952750" y="6619875"/>
            <a:ext cx="13049250" cy="1524000"/>
          </a:xfrm>
          <a:prstGeom prst="rect">
            <a:avLst/>
          </a:prstGeom>
          <a:noFill/>
          <a:ln w="0">
            <a:noFill/>
          </a:ln>
        </p:spPr>
        <p:txBody>
          <a:bodyPr wrap="square" lIns="0" tIns="0" rIns="0" bIns="0" anchor="ctr">
            <a:noAutofit/>
          </a:bodyPr>
          <a:lstStyle/>
          <a:p>
            <a:pPr algn="l">
              <a:defRPr sz="2850" b="0">
                <a:solidFill>
                  <a:srgbClr val="414548"/>
                </a:solidFill>
                <a:latin typeface="Calibri"/>
                <a:ea typeface="Calibri"/>
                <a:cs typeface="Calibri"/>
              </a:defRPr>
            </a:pPr>
            <a:r>
              <a:rPr sz="2850" b="0">
                <a:solidFill>
                  <a:srgbClr val="414548"/>
                </a:solidFill>
                <a:latin typeface="Calibri"/>
                <a:ea typeface="Calibri"/>
                <a:cs typeface="Calibri"/>
              </a:rPr>
              <a:t>Besoin : retrouver les informations du prospect et</a:t>
            </a:r>
          </a:p>
          <a:p>
            <a:pPr algn="l">
              <a:defRPr sz="2850" b="0">
                <a:solidFill>
                  <a:srgbClr val="414548"/>
                </a:solidFill>
                <a:latin typeface="Calibri"/>
                <a:ea typeface="Calibri"/>
                <a:cs typeface="Calibri"/>
              </a:defRPr>
            </a:pPr>
            <a:r>
              <a:rPr sz="2850" b="0">
                <a:solidFill>
                  <a:srgbClr val="414548"/>
                </a:solidFill>
                <a:latin typeface="Calibri"/>
                <a:ea typeface="Calibri"/>
                <a:cs typeface="Calibri"/>
              </a:rPr>
              <a:t>préparer la prochaine action sans refaire tout le dossier.</a:t>
            </a:r>
          </a:p>
        </p:txBody>
      </p:sp>
    </p:spTree>
    <p:extLst>
      <p:ext uri="{BB962C8B-B14F-4D97-AF65-F5344CB8AC3E}">
        <p14:creationId xmlns:p14="http://schemas.microsoft.com/office/powerpoint/2010/main" val="1965834720"/>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4"/>
                                  </p:tgtEl>
                                  <p:attrNameLst>
                                    <p:attrName>style.visibility</p:attrName>
                                  </p:attrNameLst>
                                </p:cBhvr>
                                <p:to>
                                  <p:strVal val="visible"/>
                                </p:to>
                              </p:set>
                              <p:animEffect transition="in" filter="wipe(right)">
                                <p:cBhvr>
                                  <p:cTn id="10" dur="550" fill="hold"/>
                                  <p:tgtEl>
                                    <p:spTgt spid="4"/>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5"/>
                                  </p:tgtEl>
                                  <p:attrNameLst>
                                    <p:attrName>style.visibility</p:attrName>
                                  </p:attrNameLst>
                                </p:cBhvr>
                                <p:to>
                                  <p:strVal val="visible"/>
                                </p:to>
                              </p:set>
                              <p:animEffect transition="in" filter="wipe(right)">
                                <p:cBhvr>
                                  <p:cTn id="14" dur="550" fill="hold"/>
                                  <p:tgtEl>
                                    <p:spTgt spid="5"/>
                                  </p:tgtEl>
                                </p:cBhvr>
                              </p:animEffect>
                            </p:childTnLst>
                          </p:cTn>
                        </p:par>
                      </p:childTnLst>
                    </p:cTn>
                  </p:par>
                  <p:par>
                    <p:cTn id="15" fill="hold">
                      <p:stCondLst>
                        <p:cond delay="370"/>
                      </p:stCondLst>
                      <p:childTnLst>
                        <p:par>
                          <p:cTn id="16" presetID="22" presetClass="entr" presetSubtype="1" fill="hold" nodeType="withEffect">
                            <p:stCondLst>
                              <p:cond delay="0"/>
                            </p:stCondLst>
                            <p:childTnLst>
                              <p:set>
                                <p:cBhvr>
                                  <p:cTn id="17" dur="1" fill="hold"/>
                                  <p:tgtEl>
                                    <p:spTgt spid="6"/>
                                  </p:tgtEl>
                                  <p:attrNameLst>
                                    <p:attrName>style.visibility</p:attrName>
                                  </p:attrNameLst>
                                </p:cBhvr>
                                <p:to>
                                  <p:strVal val="visible"/>
                                </p:to>
                              </p:set>
                              <p:animEffect transition="in" filter="wipe(right)">
                                <p:cBhvr>
                                  <p:cTn id="18" dur="550" fill="hold"/>
                                  <p:tgtEl>
                                    <p:spTgt spid="6"/>
                                  </p:tgtEl>
                                </p:cBhvr>
                              </p:animEffect>
                            </p:childTnLst>
                          </p:cTn>
                        </p:par>
                      </p:childTnLst>
                    </p:cTn>
                  </p:par>
                  <p:par>
                    <p:cTn id="19" fill="hold">
                      <p:stCondLst>
                        <p:cond delay="460"/>
                      </p:stCondLst>
                      <p:childTnLst>
                        <p:par>
                          <p:cTn id="20" presetID="22" presetClass="entr" presetSubtype="1" fill="hold" nodeType="withEffect">
                            <p:stCondLst>
                              <p:cond delay="0"/>
                            </p:stCondLst>
                            <p:childTnLst>
                              <p:set>
                                <p:cBhvr>
                                  <p:cTn id="21" dur="1" fill="hold"/>
                                  <p:tgtEl>
                                    <p:spTgt spid="7"/>
                                  </p:tgtEl>
                                  <p:attrNameLst>
                                    <p:attrName>style.visibility</p:attrName>
                                  </p:attrNameLst>
                                </p:cBhvr>
                                <p:to>
                                  <p:strVal val="visible"/>
                                </p:to>
                              </p:set>
                              <p:animEffect transition="in" filter="wipe(right)">
                                <p:cBhvr>
                                  <p:cTn id="22" dur="550" fill="hold"/>
                                  <p:tgtEl>
                                    <p:spTgt spid="7"/>
                                  </p:tgtEl>
                                </p:cBhvr>
                              </p:animEffect>
                            </p:childTnLst>
                          </p:cTn>
                        </p:par>
                      </p:childTnLst>
                    </p:cTn>
                  </p:par>
                  <p:par>
                    <p:cTn id="23" fill="hold">
                      <p:stCondLst>
                        <p:cond delay="550"/>
                      </p:stCondLst>
                      <p:childTnLst>
                        <p:par>
                          <p:cTn id="24" presetID="22" presetClass="entr" presetSubtype="1" fill="hold" nodeType="withEffect">
                            <p:stCondLst>
                              <p:cond delay="0"/>
                            </p:stCondLst>
                            <p:childTnLst>
                              <p:set>
                                <p:cBhvr>
                                  <p:cTn id="25" dur="1" fill="hold"/>
                                  <p:tgtEl>
                                    <p:spTgt spid="8"/>
                                  </p:tgtEl>
                                  <p:attrNameLst>
                                    <p:attrName>style.visibility</p:attrName>
                                  </p:attrNameLst>
                                </p:cBhvr>
                                <p:to>
                                  <p:strVal val="visible"/>
                                </p:to>
                              </p:set>
                              <p:animEffect transition="in" filter="wipe(right)">
                                <p:cBhvr>
                                  <p:cTn id="26" dur="550" fill="hold"/>
                                  <p:tgtEl>
                                    <p:spTgt spid="8"/>
                                  </p:tgtEl>
                                </p:cBhvr>
                              </p:animEffect>
                            </p:childTnLst>
                          </p:cTn>
                        </p:par>
                      </p:childTnLst>
                    </p:cTn>
                  </p:par>
                  <p:par>
                    <p:cTn id="27" fill="hold">
                      <p:stCondLst>
                        <p:cond delay="640"/>
                      </p:stCondLst>
                      <p:childTnLst>
                        <p:par>
                          <p:cTn id="28" presetID="22" presetClass="entr" presetSubtype="1" fill="hold" nodeType="withEffect">
                            <p:stCondLst>
                              <p:cond delay="0"/>
                            </p:stCondLst>
                            <p:childTnLst>
                              <p:set>
                                <p:cBhvr>
                                  <p:cTn id="29" dur="1" fill="hold"/>
                                  <p:tgtEl>
                                    <p:spTgt spid="9"/>
                                  </p:tgtEl>
                                  <p:attrNameLst>
                                    <p:attrName>style.visibility</p:attrName>
                                  </p:attrNameLst>
                                </p:cBhvr>
                                <p:to>
                                  <p:strVal val="visible"/>
                                </p:to>
                              </p:set>
                              <p:animEffect transition="in" filter="wipe(right)">
                                <p:cBhvr>
                                  <p:cTn id="30" dur="550" fill="hold"/>
                                  <p:tgtEl>
                                    <p:spTgt spid="9"/>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3F0E2"/>
        </a:solidFill>
        <a:effectLst/>
      </p:bgPr>
    </p:bg>
    <p:spTree>
      <p:nvGrpSpPr>
        <p:cNvPr id="1" name=""/>
        <p:cNvGrpSpPr/>
        <p:nvPr/>
      </p:nvGrpSpPr>
      <p:grpSpPr>
        <a:xfrm>
          <a:off x="0" y="0"/>
          <a:ext cx="0" cy="0"/>
          <a:chOff x="0" y="0"/>
          <a:chExt cx="0" cy="0"/>
        </a:xfrm>
      </p:grpSpPr>
      <p:pic>
        <p:nvPicPr>
          <p:cNvPr id="2000" name="" descr="Illustration conceptuelle du suivi des prospects, des échanges et des documents commerciaux"/>
          <p:cNvPicPr>
            <a:picLocks noChangeAspect="1"/>
          </p:cNvPicPr>
          <p:nvPr/>
        </p:nvPicPr>
        <p:blipFill>
          <a:blip r:embed="rIdWorkflowBg"/>
          <a:srcRect l="0" t="27" r="0" b="27"/>
          <a:stretch>
            <a:fillRect l="0" t="0" r="0" b="0"/>
          </a:stretch>
        </p:blipFill>
        <p:spPr>
          <a:xfrm>
            <a:off x="0" y="0"/>
            <a:ext cx="18288000" cy="10287000"/>
          </a:xfrm>
          <a:prstGeom prst="rect">
            <a:avLst/>
          </a:prstGeom>
        </p:spPr>
      </p:pic>
      <p:sp>
        <p:nvSpPr>
          <p:cNvPr id="2" name="ADG-10  /  AUTOMATISATION DU CYCLE COMMERCIAL">
            <a:extLst>
              <a:ext uri="{FF2B5EF4-FFF2-40B4-BE49-F238E27FC236}">
                <a16:creationId xmlns:a16="http://schemas.microsoft.com/office/drawing/2014/main" id="{DEF22889-4D46-4FDA-9922-98BEDC7145F4}"/>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A65A43"/>
                </a:solidFill>
                <a:latin typeface="Calibri"/>
                <a:ea typeface="Calibri"/>
                <a:cs typeface="Calibri"/>
              </a:defRPr>
            </a:pPr>
            <a:r>
              <a:rPr sz="1800" b="1">
                <a:solidFill>
                  <a:srgbClr val="A65A43"/>
                </a:solidFill>
                <a:latin typeface="Calibri"/>
                <a:ea typeface="Calibri"/>
                <a:cs typeface="Calibri"/>
              </a:rPr>
              <a:t>ADG-10  /  AUTOMATISATION DU CYCLE COMMERCIAL</a:t>
            </a:r>
          </a:p>
        </p:txBody>
      </p:sp>
      <p:sp>
        <p:nvSpPr>
          <p:cNvPr id="3" name="05 / 22">
            <a:extLst>
              <a:ext uri="{FF2B5EF4-FFF2-40B4-BE49-F238E27FC236}">
                <a16:creationId xmlns:a16="http://schemas.microsoft.com/office/drawing/2014/main" id="{4BB33A68-E152-4BE4-8507-6838B11DA06E}"/>
              </a:ext>
            </a:extLst>
          </p:cNvPr>
          <p:cNvSpPr>
            <a:spLocks noGrp="1"/>
          </p:cNvSpPr>
          <p:nvPr/>
        </p:nvSpPr>
        <p:spPr>
          <a:xfrm>
            <a:off x="14382750" y="9696450"/>
            <a:ext cx="1333500" cy="323850"/>
          </a:xfrm>
          <a:prstGeom prst="rect">
            <a:avLst/>
          </a:prstGeom>
          <a:noFill/>
          <a:ln w="0">
            <a:noFill/>
          </a:ln>
        </p:spPr>
        <p:txBody>
          <a:bodyPr wrap="square" lIns="0" tIns="0" rIns="0" bIns="0" anchor="ctr">
            <a:noAutofit/>
          </a:bodyPr>
          <a:lstStyle/>
          <a:p>
            <a:pPr algn="ctr">
              <a:defRPr sz="1650" b="1">
                <a:solidFill>
                  <a:srgbClr val="414548"/>
                </a:solidFill>
                <a:latin typeface="Calibri"/>
                <a:ea typeface="Calibri"/>
                <a:cs typeface="Calibri"/>
              </a:defRPr>
            </a:pPr>
            <a:r>
              <a:rPr sz="1650" b="1">
                <a:solidFill>
                  <a:srgbClr val="414548"/>
                </a:solidFill>
                <a:latin typeface="Calibri"/>
                <a:ea typeface="Calibri"/>
                <a:cs typeface="Calibri"/>
              </a:rPr>
              <a:t>05 / 24</a:t>
            </a:r>
          </a:p>
        </p:txBody>
      </p:sp>
      <p:sp>
        <p:nvSpPr>
          <p:cNvPr id="4" name="02">
            <a:extLst>
              <a:ext uri="{FF2B5EF4-FFF2-40B4-BE49-F238E27FC236}">
                <a16:creationId xmlns:a16="http://schemas.microsoft.com/office/drawing/2014/main" id="{4B8F4481-9EFC-44CA-98EE-537AFA4261B6}"/>
              </a:ext>
            </a:extLst>
          </p:cNvPr>
          <p:cNvSpPr>
            <a:spLocks noGrp="1"/>
          </p:cNvSpPr>
          <p:nvPr/>
        </p:nvSpPr>
        <p:spPr>
          <a:xfrm>
            <a:off x="857250" y="1428750"/>
            <a:ext cx="6667500" cy="1857375"/>
          </a:xfrm>
          <a:prstGeom prst="rect">
            <a:avLst/>
          </a:prstGeom>
          <a:noFill/>
          <a:ln w="0">
            <a:noFill/>
          </a:ln>
        </p:spPr>
        <p:txBody>
          <a:bodyPr wrap="square" lIns="0" tIns="0" rIns="0" bIns="0" anchor="ctr">
            <a:noAutofit/>
          </a:bodyPr>
          <a:lstStyle/>
          <a:p>
            <a:pPr algn="l">
              <a:defRPr sz="11850" b="1">
                <a:solidFill>
                  <a:srgbClr val="A65A43"/>
                </a:solidFill>
                <a:latin typeface="Calibri"/>
                <a:ea typeface="Calibri"/>
                <a:cs typeface="Calibri"/>
              </a:defRPr>
            </a:pPr>
            <a:r>
              <a:rPr sz="11850" b="1">
                <a:solidFill>
                  <a:srgbClr val="A65A43"/>
                </a:solidFill>
                <a:latin typeface="Calibri"/>
                <a:ea typeface="Calibri"/>
                <a:cs typeface="Calibri"/>
              </a:rPr>
              <a:t>02</a:t>
            </a:r>
          </a:p>
        </p:txBody>
      </p:sp>
      <p:sp>
        <p:nvSpPr>
          <p:cNvPr id="5" name="Contexte général&#10;du projet">
            <a:extLst>
              <a:ext uri="{FF2B5EF4-FFF2-40B4-BE49-F238E27FC236}">
                <a16:creationId xmlns:a16="http://schemas.microsoft.com/office/drawing/2014/main" id="{D5FC36D9-9E5F-45A3-8F61-E1E5C0AF68E9}"/>
              </a:ext>
            </a:extLst>
          </p:cNvPr>
          <p:cNvSpPr>
            <a:spLocks noGrp="1"/>
          </p:cNvSpPr>
          <p:nvPr/>
        </p:nvSpPr>
        <p:spPr>
          <a:xfrm>
            <a:off x="952500" y="3524250"/>
            <a:ext cx="9810750" cy="2000250"/>
          </a:xfrm>
          <a:prstGeom prst="rect">
            <a:avLst/>
          </a:prstGeom>
          <a:noFill/>
          <a:ln w="0">
            <a:noFill/>
          </a:ln>
        </p:spPr>
        <p:txBody>
          <a:bodyPr wrap="square" lIns="0" tIns="0" rIns="0" bIns="0" anchor="ctr">
            <a:noAutofit/>
          </a:bodyPr>
          <a:lstStyle/>
          <a:p>
            <a:pPr algn="l">
              <a:defRPr sz="5850" b="1">
                <a:solidFill>
                  <a:srgbClr val="414548"/>
                </a:solidFill>
                <a:latin typeface="Calibri"/>
                <a:ea typeface="Calibri"/>
                <a:cs typeface="Calibri"/>
              </a:defRPr>
            </a:pPr>
            <a:r>
              <a:rPr sz="5850" b="1">
                <a:solidFill>
                  <a:srgbClr val="414548"/>
                </a:solidFill>
                <a:latin typeface="Calibri"/>
                <a:ea typeface="Calibri"/>
                <a:cs typeface="Calibri"/>
              </a:rPr>
              <a:t>Contexte général</a:t>
            </a:r>
          </a:p>
          <a:p>
            <a:pPr algn="l">
              <a:defRPr sz="5850" b="1">
                <a:solidFill>
                  <a:srgbClr val="414548"/>
                </a:solidFill>
                <a:latin typeface="Calibri"/>
                <a:ea typeface="Calibri"/>
                <a:cs typeface="Calibri"/>
              </a:defRPr>
            </a:pPr>
            <a:r>
              <a:rPr sz="5850" b="1">
                <a:solidFill>
                  <a:srgbClr val="414548"/>
                </a:solidFill>
                <a:latin typeface="Calibri"/>
                <a:ea typeface="Calibri"/>
                <a:cs typeface="Calibri"/>
              </a:rPr>
              <a:t>du projet</a:t>
            </a:r>
          </a:p>
        </p:txBody>
      </p:sp>
      <p:sp>
        <p:nvSpPr>
          <p:cNvPr id="6" name="Des tâches répétitives à structurer&#10;et des décisions co">
            <a:extLst>
              <a:ext uri="{FF2B5EF4-FFF2-40B4-BE49-F238E27FC236}">
                <a16:creationId xmlns:a16="http://schemas.microsoft.com/office/drawing/2014/main" id="{EDFA4240-6BDA-4D93-88B3-1A6E71440662}"/>
              </a:ext>
            </a:extLst>
          </p:cNvPr>
          <p:cNvSpPr>
            <a:spLocks noGrp="1"/>
          </p:cNvSpPr>
          <p:nvPr/>
        </p:nvSpPr>
        <p:spPr>
          <a:xfrm>
            <a:off x="1000125" y="5857875"/>
            <a:ext cx="9048750" cy="1428750"/>
          </a:xfrm>
          <a:prstGeom prst="rect">
            <a:avLst/>
          </a:prstGeom>
          <a:noFill/>
          <a:ln w="0">
            <a:noFill/>
          </a:ln>
        </p:spPr>
        <p:txBody>
          <a:bodyPr wrap="square" lIns="0" tIns="0" rIns="0" bIns="0" anchor="ctr">
            <a:noAutofit/>
          </a:bodyPr>
          <a:lstStyle/>
          <a:p>
            <a:pPr algn="l">
              <a:defRPr sz="2925" b="0">
                <a:solidFill>
                  <a:srgbClr val="414548"/>
                </a:solidFill>
                <a:latin typeface="Calibri"/>
                <a:ea typeface="Calibri"/>
                <a:cs typeface="Calibri"/>
              </a:defRPr>
            </a:pPr>
            <a:r>
              <a:rPr sz="2925" b="0">
                <a:solidFill>
                  <a:srgbClr val="414548"/>
                </a:solidFill>
                <a:latin typeface="Calibri"/>
                <a:ea typeface="Calibri"/>
                <a:cs typeface="Calibri"/>
              </a:rPr>
              <a:t>Des tâches répétitives à structurer</a:t>
            </a:r>
          </a:p>
          <a:p>
            <a:pPr algn="l">
              <a:defRPr sz="2925" b="0">
                <a:solidFill>
                  <a:srgbClr val="414548"/>
                </a:solidFill>
                <a:latin typeface="Calibri"/>
                <a:ea typeface="Calibri"/>
                <a:cs typeface="Calibri"/>
              </a:defRPr>
            </a:pPr>
            <a:r>
              <a:rPr sz="2925" b="0">
                <a:solidFill>
                  <a:srgbClr val="414548"/>
                </a:solidFill>
                <a:latin typeface="Calibri"/>
                <a:ea typeface="Calibri"/>
                <a:cs typeface="Calibri"/>
              </a:rPr>
              <a:t>et des décisions commerciales à conserver</a:t>
            </a:r>
          </a:p>
        </p:txBody>
      </p:sp>
    </p:spTree>
    <p:extLst>
      <p:ext uri="{BB962C8B-B14F-4D97-AF65-F5344CB8AC3E}">
        <p14:creationId xmlns:p14="http://schemas.microsoft.com/office/powerpoint/2010/main" val="1211372578"/>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4"/>
                                  </p:tgtEl>
                                  <p:attrNameLst>
                                    <p:attrName>style.visibility</p:attrName>
                                  </p:attrNameLst>
                                </p:cBhvr>
                                <p:to>
                                  <p:strVal val="visible"/>
                                </p:to>
                              </p:set>
                              <p:animEffect transition="in" filter="wipe(right)">
                                <p:cBhvr>
                                  <p:cTn id="6" dur="550" fill="hold"/>
                                  <p:tgtEl>
                                    <p:spTgt spid="4"/>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5"/>
                                  </p:tgtEl>
                                  <p:attrNameLst>
                                    <p:attrName>style.visibility</p:attrName>
                                  </p:attrNameLst>
                                </p:cBhvr>
                                <p:to>
                                  <p:strVal val="visible"/>
                                </p:to>
                              </p:set>
                              <p:animEffect transition="in" filter="wipe(right)">
                                <p:cBhvr>
                                  <p:cTn id="10" dur="550" fill="hold"/>
                                  <p:tgtEl>
                                    <p:spTgt spid="5"/>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6"/>
                                  </p:tgtEl>
                                  <p:attrNameLst>
                                    <p:attrName>style.visibility</p:attrName>
                                  </p:attrNameLst>
                                </p:cBhvr>
                                <p:to>
                                  <p:strVal val="visible"/>
                                </p:to>
                              </p:set>
                              <p:animEffect transition="in" filter="wipe(right)">
                                <p:cBhvr>
                                  <p:cTn id="14" dur="550" fill="hold"/>
                                  <p:tgtEl>
                                    <p:spTgt spid="6"/>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3F0E2"/>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ResearchBg"/>
          <a:srcRect l="0" t="27" r="0" b="27"/>
          <a:stretch>
            <a:fillRect l="0" t="0" r="0" b="0"/>
          </a:stretch>
        </p:blipFill>
        <p:spPr>
          <a:xfrm>
            <a:off x="0" y="0"/>
            <a:ext cx="18288000" cy="10287000"/>
          </a:xfrm>
          <a:prstGeom prst="rect">
            <a:avLst/>
          </a:prstGeom>
        </p:spPr>
      </p:pic>
      <p:sp>
        <p:nvSpPr>
          <p:cNvPr id="10" name="ADG-10  /  AUTOMATISATION DU CYCLE COMMERCIAL">
            <a:extLst>
              <a:ext uri="{FF2B5EF4-FFF2-40B4-BE49-F238E27FC236}">
                <a16:creationId xmlns:a16="http://schemas.microsoft.com/office/drawing/2014/main" id="{EFA0BB28-8E0E-4EB5-A40F-A882F8011B72}"/>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A65A43"/>
                </a:solidFill>
                <a:latin typeface="Calibri"/>
                <a:ea typeface="Calibri"/>
                <a:cs typeface="Calibri"/>
              </a:defRPr>
            </a:pPr>
            <a:r>
              <a:rPr sz="1800" b="1">
                <a:solidFill>
                  <a:srgbClr val="A65A43"/>
                </a:solidFill>
                <a:latin typeface="Calibri"/>
                <a:ea typeface="Calibri"/>
                <a:cs typeface="Calibri"/>
              </a:rPr>
              <a:t>ADG-10  /  AUTOMATISATION DU CYCLE COMMERCIAL</a:t>
            </a:r>
          </a:p>
        </p:txBody>
      </p:sp>
      <p:sp>
        <p:nvSpPr>
          <p:cNvPr id="2" name="06 / 22">
            <a:extLst>
              <a:ext uri="{FF2B5EF4-FFF2-40B4-BE49-F238E27FC236}">
                <a16:creationId xmlns:a16="http://schemas.microsoft.com/office/drawing/2014/main" id="{A7041217-369A-4608-B09A-E397A33B97A9}"/>
              </a:ext>
            </a:extLst>
          </p:cNvPr>
          <p:cNvSpPr>
            <a:spLocks noGrp="1"/>
          </p:cNvSpPr>
          <p:nvPr/>
        </p:nvSpPr>
        <p:spPr>
          <a:xfrm>
            <a:off x="14382750" y="9696450"/>
            <a:ext cx="1333500" cy="323850"/>
          </a:xfrm>
          <a:prstGeom prst="rect">
            <a:avLst/>
          </a:prstGeom>
          <a:noFill/>
          <a:ln w="0">
            <a:noFill/>
          </a:ln>
        </p:spPr>
        <p:txBody>
          <a:bodyPr wrap="square" lIns="0" tIns="0" rIns="0" bIns="0" anchor="ctr">
            <a:noAutofit/>
          </a:bodyPr>
          <a:lstStyle/>
          <a:p>
            <a:pPr algn="ctr">
              <a:defRPr sz="1650" b="1">
                <a:solidFill>
                  <a:srgbClr val="414548"/>
                </a:solidFill>
                <a:latin typeface="Calibri"/>
                <a:ea typeface="Calibri"/>
                <a:cs typeface="Calibri"/>
              </a:defRPr>
            </a:pPr>
            <a:r>
              <a:rPr sz="1650" b="1">
                <a:solidFill>
                  <a:srgbClr val="414548"/>
                </a:solidFill>
                <a:latin typeface="Calibri"/>
                <a:ea typeface="Calibri"/>
                <a:cs typeface="Calibri"/>
              </a:rPr>
              <a:t>06 / 24</a:t>
            </a:r>
          </a:p>
        </p:txBody>
      </p:sp>
      <p:sp>
        <p:nvSpPr>
          <p:cNvPr id="3" name="Problématique">
            <a:extLst>
              <a:ext uri="{FF2B5EF4-FFF2-40B4-BE49-F238E27FC236}">
                <a16:creationId xmlns:a16="http://schemas.microsoft.com/office/drawing/2014/main" id="{59742A2D-6887-4211-AD9B-427516039A43}"/>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414548"/>
                </a:solidFill>
                <a:latin typeface="Calibri"/>
                <a:ea typeface="Calibri"/>
                <a:cs typeface="Calibri"/>
              </a:defRPr>
            </a:pPr>
            <a:r>
              <a:rPr sz="4650" b="1" dirty="0" err="1">
                <a:solidFill>
                  <a:srgbClr val="414548"/>
                </a:solidFill>
                <a:latin typeface="Calibri"/>
                <a:ea typeface="Calibri"/>
                <a:cs typeface="Calibri"/>
              </a:rPr>
              <a:t>Problématique</a:t>
            </a:r>
            <a:r>
              <a:rPr lang="en-GB" sz="4650" b="1" dirty="0">
                <a:solidFill>
                  <a:srgbClr val="414548"/>
                </a:solidFill>
                <a:latin typeface="Calibri"/>
                <a:ea typeface="Calibri"/>
                <a:cs typeface="Calibri"/>
              </a:rPr>
              <a:t>s</a:t>
            </a:r>
            <a:endParaRPr sz="4650" b="1" dirty="0">
              <a:solidFill>
                <a:srgbClr val="414548"/>
              </a:solidFill>
              <a:latin typeface="Calibri"/>
              <a:ea typeface="Calibri"/>
              <a:cs typeface="Calibri"/>
            </a:endParaRPr>
          </a:p>
        </p:txBody>
      </p:sp>
      <p:sp>
        <p:nvSpPr>
          <p:cNvPr id="4" name="01">
            <a:extLst>
              <a:ext uri="{FF2B5EF4-FFF2-40B4-BE49-F238E27FC236}">
                <a16:creationId xmlns:a16="http://schemas.microsoft.com/office/drawing/2014/main" id="{916FE001-E8DC-441C-9CF3-7ED77E8208E7}"/>
              </a:ext>
            </a:extLst>
          </p:cNvPr>
          <p:cNvSpPr>
            <a:spLocks noGrp="1"/>
          </p:cNvSpPr>
          <p:nvPr/>
        </p:nvSpPr>
        <p:spPr>
          <a:xfrm>
            <a:off x="1428750" y="3286125"/>
            <a:ext cx="952500" cy="952500"/>
          </a:xfrm>
          <a:prstGeom prst="ellipse">
            <a:avLst/>
          </a:prstGeom>
          <a:solidFill>
            <a:srgbClr val="5D818B"/>
          </a:solidFill>
          <a:ln w="19050">
            <a:solidFill>
              <a:srgbClr val="5D818B"/>
            </a:solidFill>
          </a:ln>
        </p:spPr>
        <p:txBody>
          <a:bodyPr wrap="square" lIns="0" tIns="0" rIns="0" bIns="0" anchor="ctr">
            <a:noAutofit/>
          </a:bodyPr>
          <a:lstStyle/>
          <a:p>
            <a:pPr algn="ctr">
              <a:defRPr sz="2550" b="1">
                <a:solidFill>
                  <a:srgbClr val="F3F0E2"/>
                </a:solidFill>
                <a:latin typeface="Calibri"/>
                <a:ea typeface="Calibri"/>
                <a:cs typeface="Calibri"/>
              </a:defRPr>
            </a:pPr>
            <a:r>
              <a:rPr sz="2550" b="1">
                <a:solidFill>
                  <a:srgbClr val="F3F0E2"/>
                </a:solidFill>
                <a:latin typeface="Calibri"/>
                <a:ea typeface="Calibri"/>
                <a:cs typeface="Calibri"/>
              </a:rPr>
              <a:t>01</a:t>
            </a:r>
          </a:p>
        </p:txBody>
      </p:sp>
      <p:sp>
        <p:nvSpPr>
          <p:cNvPr id="5" name="Des informations réparties entre le CRM,&#10;les messages e">
            <a:extLst>
              <a:ext uri="{FF2B5EF4-FFF2-40B4-BE49-F238E27FC236}">
                <a16:creationId xmlns:a16="http://schemas.microsoft.com/office/drawing/2014/main" id="{5DEC16C6-ECD8-4396-B4D5-8F0F2C68C4DB}"/>
              </a:ext>
            </a:extLst>
          </p:cNvPr>
          <p:cNvSpPr>
            <a:spLocks noGrp="1"/>
          </p:cNvSpPr>
          <p:nvPr/>
        </p:nvSpPr>
        <p:spPr>
          <a:xfrm>
            <a:off x="2952750" y="3000375"/>
            <a:ext cx="13049250" cy="1524000"/>
          </a:xfrm>
          <a:prstGeom prst="rect">
            <a:avLst/>
          </a:prstGeom>
          <a:noFill/>
          <a:ln w="0">
            <a:noFill/>
          </a:ln>
        </p:spPr>
        <p:txBody>
          <a:bodyPr wrap="square" lIns="0" tIns="0" rIns="0" bIns="0" anchor="ctr">
            <a:noAutofit/>
          </a:bodyPr>
          <a:lstStyle/>
          <a:p>
            <a:pPr algn="l">
              <a:defRPr sz="2850" b="0">
                <a:solidFill>
                  <a:srgbClr val="414548"/>
                </a:solidFill>
                <a:latin typeface="Calibri"/>
                <a:ea typeface="Calibri"/>
                <a:cs typeface="Calibri"/>
              </a:defRPr>
            </a:pPr>
            <a:r>
              <a:rPr sz="2850" b="0">
                <a:solidFill>
                  <a:srgbClr val="414548"/>
                </a:solidFill>
                <a:latin typeface="Calibri"/>
                <a:ea typeface="Calibri"/>
                <a:cs typeface="Calibri"/>
              </a:rPr>
              <a:t>Des informations réparties entre le CRM,</a:t>
            </a:r>
          </a:p>
          <a:p>
            <a:pPr algn="l">
              <a:defRPr sz="2850" b="0">
                <a:solidFill>
                  <a:srgbClr val="414548"/>
                </a:solidFill>
                <a:latin typeface="Calibri"/>
                <a:ea typeface="Calibri"/>
                <a:cs typeface="Calibri"/>
              </a:defRPr>
            </a:pPr>
            <a:r>
              <a:rPr sz="2850" b="0">
                <a:solidFill>
                  <a:srgbClr val="414548"/>
                </a:solidFill>
                <a:latin typeface="Calibri"/>
                <a:ea typeface="Calibri"/>
                <a:cs typeface="Calibri"/>
              </a:rPr>
              <a:t>les messages et les fichiers.</a:t>
            </a:r>
          </a:p>
        </p:txBody>
      </p:sp>
      <p:sp>
        <p:nvSpPr>
          <p:cNvPr id="6" name="02">
            <a:extLst>
              <a:ext uri="{FF2B5EF4-FFF2-40B4-BE49-F238E27FC236}">
                <a16:creationId xmlns:a16="http://schemas.microsoft.com/office/drawing/2014/main" id="{65FCA6C2-EA22-4735-9F4D-456A2B50A1C0}"/>
              </a:ext>
            </a:extLst>
          </p:cNvPr>
          <p:cNvSpPr>
            <a:spLocks noGrp="1"/>
          </p:cNvSpPr>
          <p:nvPr/>
        </p:nvSpPr>
        <p:spPr>
          <a:xfrm>
            <a:off x="1428750" y="5095875"/>
            <a:ext cx="952500" cy="952500"/>
          </a:xfrm>
          <a:prstGeom prst="ellipse">
            <a:avLst/>
          </a:prstGeom>
          <a:solidFill>
            <a:srgbClr val="A65A43"/>
          </a:solidFill>
          <a:ln w="19050">
            <a:solidFill>
              <a:srgbClr val="A65A43"/>
            </a:solidFill>
          </a:ln>
        </p:spPr>
        <p:txBody>
          <a:bodyPr wrap="square" lIns="0" tIns="0" rIns="0" bIns="0" anchor="ctr">
            <a:noAutofit/>
          </a:bodyPr>
          <a:lstStyle/>
          <a:p>
            <a:pPr algn="ctr">
              <a:defRPr sz="2550" b="1">
                <a:solidFill>
                  <a:srgbClr val="F3F0E2"/>
                </a:solidFill>
                <a:latin typeface="Calibri"/>
                <a:ea typeface="Calibri"/>
                <a:cs typeface="Calibri"/>
              </a:defRPr>
            </a:pPr>
            <a:r>
              <a:rPr sz="2550" b="1">
                <a:solidFill>
                  <a:srgbClr val="F3F0E2"/>
                </a:solidFill>
                <a:latin typeface="Calibri"/>
                <a:ea typeface="Calibri"/>
                <a:cs typeface="Calibri"/>
              </a:rPr>
              <a:t>02</a:t>
            </a:r>
          </a:p>
        </p:txBody>
      </p:sp>
      <p:sp>
        <p:nvSpPr>
          <p:cNvPr id="7" name="Des relances difficiles à suivre et un risque&#10;de renvoy">
            <a:extLst>
              <a:ext uri="{FF2B5EF4-FFF2-40B4-BE49-F238E27FC236}">
                <a16:creationId xmlns:a16="http://schemas.microsoft.com/office/drawing/2014/main" id="{3613235F-387E-4C27-AEF3-4A484BB6E462}"/>
              </a:ext>
            </a:extLst>
          </p:cNvPr>
          <p:cNvSpPr>
            <a:spLocks noGrp="1"/>
          </p:cNvSpPr>
          <p:nvPr/>
        </p:nvSpPr>
        <p:spPr>
          <a:xfrm>
            <a:off x="2952750" y="4810125"/>
            <a:ext cx="13049250" cy="1524000"/>
          </a:xfrm>
          <a:prstGeom prst="rect">
            <a:avLst/>
          </a:prstGeom>
          <a:noFill/>
          <a:ln w="0">
            <a:noFill/>
          </a:ln>
        </p:spPr>
        <p:txBody>
          <a:bodyPr wrap="square" lIns="0" tIns="0" rIns="0" bIns="0" anchor="ctr">
            <a:noAutofit/>
          </a:bodyPr>
          <a:lstStyle/>
          <a:p>
            <a:pPr algn="l">
              <a:defRPr sz="2850" b="0">
                <a:solidFill>
                  <a:srgbClr val="414548"/>
                </a:solidFill>
                <a:latin typeface="Calibri"/>
                <a:ea typeface="Calibri"/>
                <a:cs typeface="Calibri"/>
              </a:defRPr>
            </a:pPr>
            <a:r>
              <a:rPr sz="2850" b="0">
                <a:solidFill>
                  <a:srgbClr val="414548"/>
                </a:solidFill>
                <a:latin typeface="Calibri"/>
                <a:ea typeface="Calibri"/>
                <a:cs typeface="Calibri"/>
              </a:rPr>
              <a:t>Des relances difficiles à suivre et un risque</a:t>
            </a:r>
          </a:p>
          <a:p>
            <a:pPr algn="l">
              <a:defRPr sz="2850" b="0">
                <a:solidFill>
                  <a:srgbClr val="414548"/>
                </a:solidFill>
                <a:latin typeface="Calibri"/>
                <a:ea typeface="Calibri"/>
                <a:cs typeface="Calibri"/>
              </a:defRPr>
            </a:pPr>
            <a:r>
              <a:rPr sz="2850" b="0">
                <a:solidFill>
                  <a:srgbClr val="414548"/>
                </a:solidFill>
                <a:latin typeface="Calibri"/>
                <a:ea typeface="Calibri"/>
                <a:cs typeface="Calibri"/>
              </a:rPr>
              <a:t>de renvoyer une action déjà effectuée.</a:t>
            </a:r>
          </a:p>
        </p:txBody>
      </p:sp>
      <p:sp>
        <p:nvSpPr>
          <p:cNvPr id="8" name="03">
            <a:extLst>
              <a:ext uri="{FF2B5EF4-FFF2-40B4-BE49-F238E27FC236}">
                <a16:creationId xmlns:a16="http://schemas.microsoft.com/office/drawing/2014/main" id="{8584F5A4-975E-4B43-8FBC-C471A21DBAB6}"/>
              </a:ext>
            </a:extLst>
          </p:cNvPr>
          <p:cNvSpPr>
            <a:spLocks noGrp="1"/>
          </p:cNvSpPr>
          <p:nvPr/>
        </p:nvSpPr>
        <p:spPr>
          <a:xfrm>
            <a:off x="1428750" y="6905625"/>
            <a:ext cx="952500" cy="952500"/>
          </a:xfrm>
          <a:prstGeom prst="ellipse">
            <a:avLst/>
          </a:prstGeom>
          <a:solidFill>
            <a:srgbClr val="414548"/>
          </a:solidFill>
          <a:ln w="19050">
            <a:solidFill>
              <a:srgbClr val="414548"/>
            </a:solidFill>
          </a:ln>
        </p:spPr>
        <p:txBody>
          <a:bodyPr wrap="square" lIns="0" tIns="0" rIns="0" bIns="0" anchor="ctr">
            <a:noAutofit/>
          </a:bodyPr>
          <a:lstStyle/>
          <a:p>
            <a:pPr algn="ctr">
              <a:defRPr sz="2550" b="1">
                <a:solidFill>
                  <a:srgbClr val="F3F0E2"/>
                </a:solidFill>
                <a:latin typeface="Calibri"/>
                <a:ea typeface="Calibri"/>
                <a:cs typeface="Calibri"/>
              </a:defRPr>
            </a:pPr>
            <a:r>
              <a:rPr sz="2550" b="1">
                <a:solidFill>
                  <a:srgbClr val="F3F0E2"/>
                </a:solidFill>
                <a:latin typeface="Calibri"/>
                <a:ea typeface="Calibri"/>
                <a:cs typeface="Calibri"/>
              </a:rPr>
              <a:t>03</a:t>
            </a:r>
          </a:p>
        </p:txBody>
      </p:sp>
      <p:sp>
        <p:nvSpPr>
          <p:cNvPr id="9" name="Comment fiabiliser le parcours sans perdre&#10;la personnal">
            <a:extLst>
              <a:ext uri="{FF2B5EF4-FFF2-40B4-BE49-F238E27FC236}">
                <a16:creationId xmlns:a16="http://schemas.microsoft.com/office/drawing/2014/main" id="{E2D5F251-B8F7-41CA-83C6-1B147336BFCF}"/>
              </a:ext>
            </a:extLst>
          </p:cNvPr>
          <p:cNvSpPr>
            <a:spLocks noGrp="1"/>
          </p:cNvSpPr>
          <p:nvPr/>
        </p:nvSpPr>
        <p:spPr>
          <a:xfrm>
            <a:off x="2952750" y="6619875"/>
            <a:ext cx="13049250" cy="1524000"/>
          </a:xfrm>
          <a:prstGeom prst="rect">
            <a:avLst/>
          </a:prstGeom>
          <a:noFill/>
          <a:ln w="0">
            <a:noFill/>
          </a:ln>
        </p:spPr>
        <p:txBody>
          <a:bodyPr wrap="square" lIns="0" tIns="0" rIns="0" bIns="0" anchor="ctr">
            <a:noAutofit/>
          </a:bodyPr>
          <a:lstStyle/>
          <a:p>
            <a:pPr algn="l">
              <a:defRPr sz="2850" b="0">
                <a:solidFill>
                  <a:srgbClr val="414548"/>
                </a:solidFill>
                <a:latin typeface="Calibri"/>
                <a:ea typeface="Calibri"/>
                <a:cs typeface="Calibri"/>
              </a:defRPr>
            </a:pPr>
            <a:r>
              <a:rPr sz="2850" b="0">
                <a:solidFill>
                  <a:srgbClr val="414548"/>
                </a:solidFill>
                <a:latin typeface="Calibri"/>
                <a:ea typeface="Calibri"/>
                <a:cs typeface="Calibri"/>
              </a:rPr>
              <a:t>Comment fiabiliser le parcours sans perdre</a:t>
            </a:r>
          </a:p>
          <a:p>
            <a:pPr algn="l">
              <a:defRPr sz="2850" b="0">
                <a:solidFill>
                  <a:srgbClr val="414548"/>
                </a:solidFill>
                <a:latin typeface="Calibri"/>
                <a:ea typeface="Calibri"/>
                <a:cs typeface="Calibri"/>
              </a:defRPr>
            </a:pPr>
            <a:r>
              <a:rPr sz="2850" b="0">
                <a:solidFill>
                  <a:srgbClr val="414548"/>
                </a:solidFill>
                <a:latin typeface="Calibri"/>
                <a:ea typeface="Calibri"/>
                <a:cs typeface="Calibri"/>
              </a:rPr>
              <a:t>la personnalisation de la relation commerciale ?</a:t>
            </a:r>
          </a:p>
        </p:txBody>
      </p:sp>
    </p:spTree>
    <p:extLst>
      <p:ext uri="{BB962C8B-B14F-4D97-AF65-F5344CB8AC3E}">
        <p14:creationId xmlns:p14="http://schemas.microsoft.com/office/powerpoint/2010/main" val="2070717835"/>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4"/>
                                  </p:tgtEl>
                                  <p:attrNameLst>
                                    <p:attrName>style.visibility</p:attrName>
                                  </p:attrNameLst>
                                </p:cBhvr>
                                <p:to>
                                  <p:strVal val="visible"/>
                                </p:to>
                              </p:set>
                              <p:animEffect transition="in" filter="wipe(right)">
                                <p:cBhvr>
                                  <p:cTn id="10" dur="550" fill="hold"/>
                                  <p:tgtEl>
                                    <p:spTgt spid="4"/>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5"/>
                                  </p:tgtEl>
                                  <p:attrNameLst>
                                    <p:attrName>style.visibility</p:attrName>
                                  </p:attrNameLst>
                                </p:cBhvr>
                                <p:to>
                                  <p:strVal val="visible"/>
                                </p:to>
                              </p:set>
                              <p:animEffect transition="in" filter="wipe(right)">
                                <p:cBhvr>
                                  <p:cTn id="14" dur="550" fill="hold"/>
                                  <p:tgtEl>
                                    <p:spTgt spid="5"/>
                                  </p:tgtEl>
                                </p:cBhvr>
                              </p:animEffect>
                            </p:childTnLst>
                          </p:cTn>
                        </p:par>
                      </p:childTnLst>
                    </p:cTn>
                  </p:par>
                  <p:par>
                    <p:cTn id="15" fill="hold">
                      <p:stCondLst>
                        <p:cond delay="370"/>
                      </p:stCondLst>
                      <p:childTnLst>
                        <p:par>
                          <p:cTn id="16" presetID="22" presetClass="entr" presetSubtype="1" fill="hold" nodeType="withEffect">
                            <p:stCondLst>
                              <p:cond delay="0"/>
                            </p:stCondLst>
                            <p:childTnLst>
                              <p:set>
                                <p:cBhvr>
                                  <p:cTn id="17" dur="1" fill="hold"/>
                                  <p:tgtEl>
                                    <p:spTgt spid="6"/>
                                  </p:tgtEl>
                                  <p:attrNameLst>
                                    <p:attrName>style.visibility</p:attrName>
                                  </p:attrNameLst>
                                </p:cBhvr>
                                <p:to>
                                  <p:strVal val="visible"/>
                                </p:to>
                              </p:set>
                              <p:animEffect transition="in" filter="wipe(right)">
                                <p:cBhvr>
                                  <p:cTn id="18" dur="550" fill="hold"/>
                                  <p:tgtEl>
                                    <p:spTgt spid="6"/>
                                  </p:tgtEl>
                                </p:cBhvr>
                              </p:animEffect>
                            </p:childTnLst>
                          </p:cTn>
                        </p:par>
                      </p:childTnLst>
                    </p:cTn>
                  </p:par>
                  <p:par>
                    <p:cTn id="19" fill="hold">
                      <p:stCondLst>
                        <p:cond delay="460"/>
                      </p:stCondLst>
                      <p:childTnLst>
                        <p:par>
                          <p:cTn id="20" presetID="22" presetClass="entr" presetSubtype="1" fill="hold" nodeType="withEffect">
                            <p:stCondLst>
                              <p:cond delay="0"/>
                            </p:stCondLst>
                            <p:childTnLst>
                              <p:set>
                                <p:cBhvr>
                                  <p:cTn id="21" dur="1" fill="hold"/>
                                  <p:tgtEl>
                                    <p:spTgt spid="7"/>
                                  </p:tgtEl>
                                  <p:attrNameLst>
                                    <p:attrName>style.visibility</p:attrName>
                                  </p:attrNameLst>
                                </p:cBhvr>
                                <p:to>
                                  <p:strVal val="visible"/>
                                </p:to>
                              </p:set>
                              <p:animEffect transition="in" filter="wipe(right)">
                                <p:cBhvr>
                                  <p:cTn id="22" dur="550" fill="hold"/>
                                  <p:tgtEl>
                                    <p:spTgt spid="7"/>
                                  </p:tgtEl>
                                </p:cBhvr>
                              </p:animEffect>
                            </p:childTnLst>
                          </p:cTn>
                        </p:par>
                      </p:childTnLst>
                    </p:cTn>
                  </p:par>
                  <p:par>
                    <p:cTn id="23" fill="hold">
                      <p:stCondLst>
                        <p:cond delay="550"/>
                      </p:stCondLst>
                      <p:childTnLst>
                        <p:par>
                          <p:cTn id="24" presetID="22" presetClass="entr" presetSubtype="1" fill="hold" nodeType="withEffect">
                            <p:stCondLst>
                              <p:cond delay="0"/>
                            </p:stCondLst>
                            <p:childTnLst>
                              <p:set>
                                <p:cBhvr>
                                  <p:cTn id="25" dur="1" fill="hold"/>
                                  <p:tgtEl>
                                    <p:spTgt spid="8"/>
                                  </p:tgtEl>
                                  <p:attrNameLst>
                                    <p:attrName>style.visibility</p:attrName>
                                  </p:attrNameLst>
                                </p:cBhvr>
                                <p:to>
                                  <p:strVal val="visible"/>
                                </p:to>
                              </p:set>
                              <p:animEffect transition="in" filter="wipe(right)">
                                <p:cBhvr>
                                  <p:cTn id="26" dur="550" fill="hold"/>
                                  <p:tgtEl>
                                    <p:spTgt spid="8"/>
                                  </p:tgtEl>
                                </p:cBhvr>
                              </p:animEffect>
                            </p:childTnLst>
                          </p:cTn>
                        </p:par>
                      </p:childTnLst>
                    </p:cTn>
                  </p:par>
                  <p:par>
                    <p:cTn id="27" fill="hold">
                      <p:stCondLst>
                        <p:cond delay="640"/>
                      </p:stCondLst>
                      <p:childTnLst>
                        <p:par>
                          <p:cTn id="28" presetID="22" presetClass="entr" presetSubtype="1" fill="hold" nodeType="withEffect">
                            <p:stCondLst>
                              <p:cond delay="0"/>
                            </p:stCondLst>
                            <p:childTnLst>
                              <p:set>
                                <p:cBhvr>
                                  <p:cTn id="29" dur="1" fill="hold"/>
                                  <p:tgtEl>
                                    <p:spTgt spid="9"/>
                                  </p:tgtEl>
                                  <p:attrNameLst>
                                    <p:attrName>style.visibility</p:attrName>
                                  </p:attrNameLst>
                                </p:cBhvr>
                                <p:to>
                                  <p:strVal val="visible"/>
                                </p:to>
                              </p:set>
                              <p:animEffect transition="in" filter="wipe(right)">
                                <p:cBhvr>
                                  <p:cTn id="30" dur="550" fill="hold"/>
                                  <p:tgtEl>
                                    <p:spTgt spid="9"/>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3F0E2"/>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ResearchBg"/>
          <a:srcRect l="0" t="27" r="0" b="27"/>
          <a:stretch>
            <a:fillRect l="0" t="0" r="0" b="0"/>
          </a:stretch>
        </p:blipFill>
        <p:spPr>
          <a:xfrm>
            <a:off x="0" y="0"/>
            <a:ext cx="18288000" cy="10287000"/>
          </a:xfrm>
          <a:prstGeom prst="rect">
            <a:avLst/>
          </a:prstGeom>
        </p:spPr>
      </p:pic>
      <p:sp>
        <p:nvSpPr>
          <p:cNvPr id="13" name="ADG-10  /  AUTOMATISATION DU CYCLE COMMERCIAL">
            <a:extLst>
              <a:ext uri="{FF2B5EF4-FFF2-40B4-BE49-F238E27FC236}">
                <a16:creationId xmlns:a16="http://schemas.microsoft.com/office/drawing/2014/main" id="{9FCE5F05-A446-4929-8EF0-211809B82097}"/>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A65A43"/>
                </a:solidFill>
                <a:latin typeface="Calibri"/>
                <a:ea typeface="Calibri"/>
                <a:cs typeface="Calibri"/>
              </a:defRPr>
            </a:pPr>
            <a:r>
              <a:rPr sz="1800" b="1">
                <a:solidFill>
                  <a:srgbClr val="A65A43"/>
                </a:solidFill>
                <a:latin typeface="Calibri"/>
                <a:ea typeface="Calibri"/>
                <a:cs typeface="Calibri"/>
              </a:rPr>
              <a:t>ADG-10  /  AUTOMATISATION DU CYCLE COMMERCIAL</a:t>
            </a:r>
          </a:p>
        </p:txBody>
      </p:sp>
      <p:sp>
        <p:nvSpPr>
          <p:cNvPr id="2" name="07 / 22">
            <a:extLst>
              <a:ext uri="{FF2B5EF4-FFF2-40B4-BE49-F238E27FC236}">
                <a16:creationId xmlns:a16="http://schemas.microsoft.com/office/drawing/2014/main" id="{67B383EC-7B32-4705-BCC7-9773AC8A1751}"/>
              </a:ext>
            </a:extLst>
          </p:cNvPr>
          <p:cNvSpPr>
            <a:spLocks noGrp="1"/>
          </p:cNvSpPr>
          <p:nvPr/>
        </p:nvSpPr>
        <p:spPr>
          <a:xfrm>
            <a:off x="14382750" y="9696450"/>
            <a:ext cx="1333500" cy="323850"/>
          </a:xfrm>
          <a:prstGeom prst="rect">
            <a:avLst/>
          </a:prstGeom>
          <a:noFill/>
          <a:ln w="0">
            <a:noFill/>
          </a:ln>
        </p:spPr>
        <p:txBody>
          <a:bodyPr wrap="square" lIns="0" tIns="0" rIns="0" bIns="0" anchor="ctr">
            <a:noAutofit/>
          </a:bodyPr>
          <a:lstStyle/>
          <a:p>
            <a:pPr algn="ctr">
              <a:defRPr sz="1650" b="1">
                <a:solidFill>
                  <a:srgbClr val="414548"/>
                </a:solidFill>
                <a:latin typeface="Calibri"/>
                <a:ea typeface="Calibri"/>
                <a:cs typeface="Calibri"/>
              </a:defRPr>
            </a:pPr>
            <a:r>
              <a:rPr sz="1650" b="1">
                <a:solidFill>
                  <a:srgbClr val="414548"/>
                </a:solidFill>
                <a:latin typeface="Calibri"/>
                <a:ea typeface="Calibri"/>
                <a:cs typeface="Calibri"/>
              </a:rPr>
              <a:t>07 / 24</a:t>
            </a:r>
          </a:p>
        </p:txBody>
      </p:sp>
      <p:sp>
        <p:nvSpPr>
          <p:cNvPr id="3" name="Objectifs et périmètre">
            <a:extLst>
              <a:ext uri="{FF2B5EF4-FFF2-40B4-BE49-F238E27FC236}">
                <a16:creationId xmlns:a16="http://schemas.microsoft.com/office/drawing/2014/main" id="{6AA71B74-94C3-43AE-9D85-C5C20C7781AF}"/>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414548"/>
                </a:solidFill>
                <a:latin typeface="Calibri"/>
                <a:ea typeface="Calibri"/>
                <a:cs typeface="Calibri"/>
              </a:defRPr>
            </a:pPr>
            <a:r>
              <a:rPr sz="4650" b="1">
                <a:solidFill>
                  <a:srgbClr val="414548"/>
                </a:solidFill>
                <a:latin typeface="Calibri"/>
                <a:ea typeface="Calibri"/>
                <a:cs typeface="Calibri"/>
              </a:rPr>
              <a:t>Objectifs et périmètre</a:t>
            </a:r>
          </a:p>
        </p:txBody>
      </p:sp>
      <p:sp>
        <p:nvSpPr>
          <p:cNvPr id="4" name="01">
            <a:extLst>
              <a:ext uri="{FF2B5EF4-FFF2-40B4-BE49-F238E27FC236}">
                <a16:creationId xmlns:a16="http://schemas.microsoft.com/office/drawing/2014/main" id="{B97F3238-3D2B-41AD-B5BA-E9FFBFAE77B4}"/>
              </a:ext>
            </a:extLst>
          </p:cNvPr>
          <p:cNvSpPr>
            <a:spLocks noGrp="1"/>
          </p:cNvSpPr>
          <p:nvPr/>
        </p:nvSpPr>
        <p:spPr>
          <a:xfrm>
            <a:off x="2286000" y="3524250"/>
            <a:ext cx="1333500" cy="1333500"/>
          </a:xfrm>
          <a:prstGeom prst="ellipse">
            <a:avLst/>
          </a:prstGeom>
          <a:solidFill>
            <a:srgbClr val="5D818B"/>
          </a:solidFill>
          <a:ln w="19050">
            <a:solidFill>
              <a:srgbClr val="5D818B"/>
            </a:solidFill>
          </a:ln>
        </p:spPr>
        <p:txBody>
          <a:bodyPr wrap="square" lIns="0" tIns="0" rIns="0" bIns="0" anchor="ctr">
            <a:noAutofit/>
          </a:bodyPr>
          <a:lstStyle/>
          <a:p>
            <a:pPr algn="ctr">
              <a:defRPr sz="3000" b="1">
                <a:solidFill>
                  <a:srgbClr val="F3F0E2"/>
                </a:solidFill>
                <a:latin typeface="Calibri"/>
                <a:ea typeface="Calibri"/>
                <a:cs typeface="Calibri"/>
              </a:defRPr>
            </a:pPr>
            <a:r>
              <a:rPr sz="3000" b="1">
                <a:solidFill>
                  <a:srgbClr val="F3F0E2"/>
                </a:solidFill>
                <a:latin typeface="Calibri"/>
                <a:ea typeface="Calibri"/>
                <a:cs typeface="Calibri"/>
              </a:rPr>
              <a:t>01</a:t>
            </a:r>
          </a:p>
        </p:txBody>
      </p:sp>
      <p:sp>
        <p:nvSpPr>
          <p:cNvPr id="5" name="Centraliser les formations et les prospects dans Airtab">
            <a:extLst>
              <a:ext uri="{FF2B5EF4-FFF2-40B4-BE49-F238E27FC236}">
                <a16:creationId xmlns:a16="http://schemas.microsoft.com/office/drawing/2014/main" id="{636B0B95-1EC0-43C9-BC86-DB03764E54BF}"/>
              </a:ext>
            </a:extLst>
          </p:cNvPr>
          <p:cNvSpPr>
            <a:spLocks noGrp="1"/>
          </p:cNvSpPr>
          <p:nvPr/>
        </p:nvSpPr>
        <p:spPr>
          <a:xfrm>
            <a:off x="1095375" y="5334000"/>
            <a:ext cx="3714750" cy="2286000"/>
          </a:xfrm>
          <a:prstGeom prst="rect">
            <a:avLst/>
          </a:prstGeom>
          <a:noFill/>
          <a:ln w="0">
            <a:noFill/>
          </a:ln>
        </p:spPr>
        <p:txBody>
          <a:bodyPr wrap="square" lIns="0" tIns="0" rIns="0" bIns="0" anchor="t">
            <a:noAutofit/>
          </a:bodyPr>
          <a:lstStyle/>
          <a:p>
            <a:pPr algn="ctr">
              <a:defRPr sz="2700" b="0">
                <a:solidFill>
                  <a:srgbClr val="414548"/>
                </a:solidFill>
                <a:latin typeface="Calibri"/>
                <a:ea typeface="Calibri"/>
                <a:cs typeface="Calibri"/>
              </a:defRPr>
            </a:pPr>
            <a:r>
              <a:rPr sz="2700" b="0">
                <a:solidFill>
                  <a:srgbClr val="414548"/>
                </a:solidFill>
                <a:latin typeface="Calibri"/>
                <a:ea typeface="Calibri"/>
                <a:cs typeface="Calibri"/>
              </a:rPr>
              <a:t>Centraliser les formations et les prospects dans Airtable.</a:t>
            </a:r>
          </a:p>
        </p:txBody>
      </p:sp>
      <p:sp>
        <p:nvSpPr>
          <p:cNvPr id="6" name="02">
            <a:extLst>
              <a:ext uri="{FF2B5EF4-FFF2-40B4-BE49-F238E27FC236}">
                <a16:creationId xmlns:a16="http://schemas.microsoft.com/office/drawing/2014/main" id="{2111904B-B06E-450A-A107-C3A726B41F59}"/>
              </a:ext>
            </a:extLst>
          </p:cNvPr>
          <p:cNvSpPr>
            <a:spLocks noGrp="1"/>
          </p:cNvSpPr>
          <p:nvPr/>
        </p:nvSpPr>
        <p:spPr>
          <a:xfrm>
            <a:off x="6334125" y="3524250"/>
            <a:ext cx="1333500" cy="1333500"/>
          </a:xfrm>
          <a:prstGeom prst="ellipse">
            <a:avLst/>
          </a:prstGeom>
          <a:solidFill>
            <a:srgbClr val="A65A43"/>
          </a:solidFill>
          <a:ln w="19050">
            <a:solidFill>
              <a:srgbClr val="A65A43"/>
            </a:solidFill>
          </a:ln>
        </p:spPr>
        <p:txBody>
          <a:bodyPr wrap="square" lIns="0" tIns="0" rIns="0" bIns="0" anchor="ctr">
            <a:noAutofit/>
          </a:bodyPr>
          <a:lstStyle/>
          <a:p>
            <a:pPr algn="ctr">
              <a:defRPr sz="3000" b="1">
                <a:solidFill>
                  <a:srgbClr val="F3F0E2"/>
                </a:solidFill>
                <a:latin typeface="Calibri"/>
                <a:ea typeface="Calibri"/>
                <a:cs typeface="Calibri"/>
              </a:defRPr>
            </a:pPr>
            <a:r>
              <a:rPr sz="3000" b="1">
                <a:solidFill>
                  <a:srgbClr val="F3F0E2"/>
                </a:solidFill>
                <a:latin typeface="Calibri"/>
                <a:ea typeface="Calibri"/>
                <a:cs typeface="Calibri"/>
              </a:rPr>
              <a:t>02</a:t>
            </a:r>
          </a:p>
        </p:txBody>
      </p:sp>
      <p:sp>
        <p:nvSpPr>
          <p:cNvPr id="7" name="Prioriser les leads avec un score explicable.">
            <a:extLst>
              <a:ext uri="{FF2B5EF4-FFF2-40B4-BE49-F238E27FC236}">
                <a16:creationId xmlns:a16="http://schemas.microsoft.com/office/drawing/2014/main" id="{9DDBBCDA-0F7E-4C58-AB6C-CB3F46980316}"/>
              </a:ext>
            </a:extLst>
          </p:cNvPr>
          <p:cNvSpPr>
            <a:spLocks noGrp="1"/>
          </p:cNvSpPr>
          <p:nvPr/>
        </p:nvSpPr>
        <p:spPr>
          <a:xfrm>
            <a:off x="5143500" y="5334000"/>
            <a:ext cx="3714750" cy="2286000"/>
          </a:xfrm>
          <a:prstGeom prst="rect">
            <a:avLst/>
          </a:prstGeom>
          <a:noFill/>
          <a:ln w="0">
            <a:noFill/>
          </a:ln>
        </p:spPr>
        <p:txBody>
          <a:bodyPr wrap="square" lIns="0" tIns="0" rIns="0" bIns="0" anchor="t">
            <a:noAutofit/>
          </a:bodyPr>
          <a:lstStyle/>
          <a:p>
            <a:pPr algn="ctr">
              <a:defRPr sz="2700" b="0">
                <a:solidFill>
                  <a:srgbClr val="414548"/>
                </a:solidFill>
                <a:latin typeface="Calibri"/>
                <a:ea typeface="Calibri"/>
                <a:cs typeface="Calibri"/>
              </a:defRPr>
            </a:pPr>
            <a:r>
              <a:rPr sz="2700" b="0">
                <a:solidFill>
                  <a:srgbClr val="414548"/>
                </a:solidFill>
                <a:latin typeface="Calibri"/>
                <a:ea typeface="Calibri"/>
                <a:cs typeface="Calibri"/>
              </a:rPr>
              <a:t>Prioriser les leads avec un score explicable.</a:t>
            </a:r>
          </a:p>
        </p:txBody>
      </p:sp>
      <p:sp>
        <p:nvSpPr>
          <p:cNvPr id="8" name="03">
            <a:extLst>
              <a:ext uri="{FF2B5EF4-FFF2-40B4-BE49-F238E27FC236}">
                <a16:creationId xmlns:a16="http://schemas.microsoft.com/office/drawing/2014/main" id="{58861E72-E3F9-4084-B311-8518AD84548C}"/>
              </a:ext>
            </a:extLst>
          </p:cNvPr>
          <p:cNvSpPr>
            <a:spLocks noGrp="1"/>
          </p:cNvSpPr>
          <p:nvPr/>
        </p:nvSpPr>
        <p:spPr>
          <a:xfrm>
            <a:off x="10382250" y="3524250"/>
            <a:ext cx="1333500" cy="1333500"/>
          </a:xfrm>
          <a:prstGeom prst="ellipse">
            <a:avLst/>
          </a:prstGeom>
          <a:solidFill>
            <a:srgbClr val="414548"/>
          </a:solidFill>
          <a:ln w="19050">
            <a:solidFill>
              <a:srgbClr val="414548"/>
            </a:solidFill>
          </a:ln>
        </p:spPr>
        <p:txBody>
          <a:bodyPr wrap="square" lIns="0" tIns="0" rIns="0" bIns="0" anchor="ctr">
            <a:noAutofit/>
          </a:bodyPr>
          <a:lstStyle/>
          <a:p>
            <a:pPr algn="ctr">
              <a:defRPr sz="3000" b="1">
                <a:solidFill>
                  <a:srgbClr val="F3F0E2"/>
                </a:solidFill>
                <a:latin typeface="Calibri"/>
                <a:ea typeface="Calibri"/>
                <a:cs typeface="Calibri"/>
              </a:defRPr>
            </a:pPr>
            <a:r>
              <a:rPr sz="3000" b="1">
                <a:solidFill>
                  <a:srgbClr val="F3F0E2"/>
                </a:solidFill>
                <a:latin typeface="Calibri"/>
                <a:ea typeface="Calibri"/>
                <a:cs typeface="Calibri"/>
              </a:rPr>
              <a:t>03</a:t>
            </a:r>
          </a:p>
        </p:txBody>
      </p:sp>
      <p:sp>
        <p:nvSpPr>
          <p:cNvPr id="9" name="Préparer des messages et des documents cohérents.">
            <a:extLst>
              <a:ext uri="{FF2B5EF4-FFF2-40B4-BE49-F238E27FC236}">
                <a16:creationId xmlns:a16="http://schemas.microsoft.com/office/drawing/2014/main" id="{E952DB02-F7AD-498F-83E0-1C6783CB7CBE}"/>
              </a:ext>
            </a:extLst>
          </p:cNvPr>
          <p:cNvSpPr>
            <a:spLocks noGrp="1"/>
          </p:cNvSpPr>
          <p:nvPr/>
        </p:nvSpPr>
        <p:spPr>
          <a:xfrm>
            <a:off x="9191625" y="5334000"/>
            <a:ext cx="3714750" cy="2286000"/>
          </a:xfrm>
          <a:prstGeom prst="rect">
            <a:avLst/>
          </a:prstGeom>
          <a:noFill/>
          <a:ln w="0">
            <a:noFill/>
          </a:ln>
        </p:spPr>
        <p:txBody>
          <a:bodyPr wrap="square" lIns="0" tIns="0" rIns="0" bIns="0" anchor="t">
            <a:noAutofit/>
          </a:bodyPr>
          <a:lstStyle/>
          <a:p>
            <a:pPr algn="ctr">
              <a:defRPr sz="2700" b="0">
                <a:solidFill>
                  <a:srgbClr val="414548"/>
                </a:solidFill>
                <a:latin typeface="Calibri"/>
                <a:ea typeface="Calibri"/>
                <a:cs typeface="Calibri"/>
              </a:defRPr>
            </a:pPr>
            <a:r>
              <a:rPr sz="2700" b="0">
                <a:solidFill>
                  <a:srgbClr val="414548"/>
                </a:solidFill>
                <a:latin typeface="Calibri"/>
                <a:ea typeface="Calibri"/>
                <a:cs typeface="Calibri"/>
              </a:rPr>
              <a:t>Préparer des messages et des documents cohérents.</a:t>
            </a:r>
          </a:p>
        </p:txBody>
      </p:sp>
      <p:sp>
        <p:nvSpPr>
          <p:cNvPr id="10" name="04">
            <a:extLst>
              <a:ext uri="{FF2B5EF4-FFF2-40B4-BE49-F238E27FC236}">
                <a16:creationId xmlns:a16="http://schemas.microsoft.com/office/drawing/2014/main" id="{0E2BE6DC-CD66-4CD8-93C8-A8A76C2804D9}"/>
              </a:ext>
            </a:extLst>
          </p:cNvPr>
          <p:cNvSpPr>
            <a:spLocks noGrp="1"/>
          </p:cNvSpPr>
          <p:nvPr/>
        </p:nvSpPr>
        <p:spPr>
          <a:xfrm>
            <a:off x="14430375" y="3524250"/>
            <a:ext cx="1333500" cy="1333500"/>
          </a:xfrm>
          <a:prstGeom prst="ellipse">
            <a:avLst/>
          </a:prstGeom>
          <a:solidFill>
            <a:srgbClr val="A47A3E"/>
          </a:solidFill>
          <a:ln w="19050">
            <a:solidFill>
              <a:srgbClr val="A47A3E"/>
            </a:solidFill>
          </a:ln>
        </p:spPr>
        <p:txBody>
          <a:bodyPr wrap="square" lIns="0" tIns="0" rIns="0" bIns="0" anchor="ctr">
            <a:noAutofit/>
          </a:bodyPr>
          <a:lstStyle/>
          <a:p>
            <a:pPr algn="ctr">
              <a:defRPr sz="3000" b="1">
                <a:solidFill>
                  <a:srgbClr val="F3F0E2"/>
                </a:solidFill>
                <a:latin typeface="Calibri"/>
                <a:ea typeface="Calibri"/>
                <a:cs typeface="Calibri"/>
              </a:defRPr>
            </a:pPr>
            <a:r>
              <a:rPr sz="3000" b="1">
                <a:solidFill>
                  <a:srgbClr val="F3F0E2"/>
                </a:solidFill>
                <a:latin typeface="Calibri"/>
                <a:ea typeface="Calibri"/>
                <a:cs typeface="Calibri"/>
              </a:rPr>
              <a:t>04</a:t>
            </a:r>
          </a:p>
        </p:txBody>
      </p:sp>
      <p:sp>
        <p:nvSpPr>
          <p:cNvPr id="11" name="Piloter les traitements depuis un tableau de bord.">
            <a:extLst>
              <a:ext uri="{FF2B5EF4-FFF2-40B4-BE49-F238E27FC236}">
                <a16:creationId xmlns:a16="http://schemas.microsoft.com/office/drawing/2014/main" id="{F9166339-313E-4E9F-8E07-9E99AB792F53}"/>
              </a:ext>
            </a:extLst>
          </p:cNvPr>
          <p:cNvSpPr>
            <a:spLocks noGrp="1"/>
          </p:cNvSpPr>
          <p:nvPr/>
        </p:nvSpPr>
        <p:spPr>
          <a:xfrm>
            <a:off x="13239750" y="5334000"/>
            <a:ext cx="3714750" cy="2286000"/>
          </a:xfrm>
          <a:prstGeom prst="rect">
            <a:avLst/>
          </a:prstGeom>
          <a:noFill/>
          <a:ln w="0">
            <a:noFill/>
          </a:ln>
        </p:spPr>
        <p:txBody>
          <a:bodyPr wrap="square" lIns="0" tIns="0" rIns="0" bIns="0" anchor="t">
            <a:noAutofit/>
          </a:bodyPr>
          <a:lstStyle/>
          <a:p>
            <a:pPr algn="ctr">
              <a:defRPr sz="2700" b="0">
                <a:solidFill>
                  <a:srgbClr val="414548"/>
                </a:solidFill>
                <a:latin typeface="Calibri"/>
                <a:ea typeface="Calibri"/>
                <a:cs typeface="Calibri"/>
              </a:defRPr>
            </a:pPr>
            <a:r>
              <a:rPr sz="2700" b="0">
                <a:solidFill>
                  <a:srgbClr val="414548"/>
                </a:solidFill>
                <a:latin typeface="Calibri"/>
                <a:ea typeface="Calibri"/>
                <a:cs typeface="Calibri"/>
              </a:rPr>
              <a:t>Piloter les traitements depuis un tableau de bord.</a:t>
            </a:r>
          </a:p>
        </p:txBody>
      </p:sp>
      <p:sp>
        <p:nvSpPr>
          <p:cNvPr id="12" name="La validation commerciale, la signature et le paiement ">
            <a:extLst>
              <a:ext uri="{FF2B5EF4-FFF2-40B4-BE49-F238E27FC236}">
                <a16:creationId xmlns:a16="http://schemas.microsoft.com/office/drawing/2014/main" id="{EF4EB6EA-1890-45AD-AD2C-DDF6BB544608}"/>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686B67"/>
                </a:solidFill>
                <a:latin typeface="Calibri"/>
                <a:ea typeface="Calibri"/>
                <a:cs typeface="Calibri"/>
              </a:defRPr>
            </a:pPr>
            <a:r>
              <a:rPr sz="2025" b="0">
                <a:solidFill>
                  <a:srgbClr val="686B67"/>
                </a:solidFill>
                <a:latin typeface="Calibri"/>
                <a:ea typeface="Calibri"/>
                <a:cs typeface="Calibri"/>
              </a:rPr>
              <a:t>La validation commerciale, la signature et le paiement restent hors automatisation complète.</a:t>
            </a:r>
          </a:p>
        </p:txBody>
      </p:sp>
    </p:spTree>
    <p:extLst>
      <p:ext uri="{BB962C8B-B14F-4D97-AF65-F5344CB8AC3E}">
        <p14:creationId xmlns:p14="http://schemas.microsoft.com/office/powerpoint/2010/main" val="1245886449"/>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4"/>
                                  </p:tgtEl>
                                  <p:attrNameLst>
                                    <p:attrName>style.visibility</p:attrName>
                                  </p:attrNameLst>
                                </p:cBhvr>
                                <p:to>
                                  <p:strVal val="visible"/>
                                </p:to>
                              </p:set>
                              <p:animEffect transition="in" filter="wipe(right)">
                                <p:cBhvr>
                                  <p:cTn id="10" dur="550" fill="hold"/>
                                  <p:tgtEl>
                                    <p:spTgt spid="4"/>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5"/>
                                  </p:tgtEl>
                                  <p:attrNameLst>
                                    <p:attrName>style.visibility</p:attrName>
                                  </p:attrNameLst>
                                </p:cBhvr>
                                <p:to>
                                  <p:strVal val="visible"/>
                                </p:to>
                              </p:set>
                              <p:animEffect transition="in" filter="wipe(right)">
                                <p:cBhvr>
                                  <p:cTn id="14" dur="550" fill="hold"/>
                                  <p:tgtEl>
                                    <p:spTgt spid="5"/>
                                  </p:tgtEl>
                                </p:cBhvr>
                              </p:animEffect>
                            </p:childTnLst>
                          </p:cTn>
                        </p:par>
                      </p:childTnLst>
                    </p:cTn>
                  </p:par>
                  <p:par>
                    <p:cTn id="15" fill="hold">
                      <p:stCondLst>
                        <p:cond delay="370"/>
                      </p:stCondLst>
                      <p:childTnLst>
                        <p:par>
                          <p:cTn id="16" presetID="22" presetClass="entr" presetSubtype="1" fill="hold" nodeType="withEffect">
                            <p:stCondLst>
                              <p:cond delay="0"/>
                            </p:stCondLst>
                            <p:childTnLst>
                              <p:set>
                                <p:cBhvr>
                                  <p:cTn id="17" dur="1" fill="hold"/>
                                  <p:tgtEl>
                                    <p:spTgt spid="6"/>
                                  </p:tgtEl>
                                  <p:attrNameLst>
                                    <p:attrName>style.visibility</p:attrName>
                                  </p:attrNameLst>
                                </p:cBhvr>
                                <p:to>
                                  <p:strVal val="visible"/>
                                </p:to>
                              </p:set>
                              <p:animEffect transition="in" filter="wipe(right)">
                                <p:cBhvr>
                                  <p:cTn id="18" dur="550" fill="hold"/>
                                  <p:tgtEl>
                                    <p:spTgt spid="6"/>
                                  </p:tgtEl>
                                </p:cBhvr>
                              </p:animEffect>
                            </p:childTnLst>
                          </p:cTn>
                        </p:par>
                      </p:childTnLst>
                    </p:cTn>
                  </p:par>
                  <p:par>
                    <p:cTn id="19" fill="hold">
                      <p:stCondLst>
                        <p:cond delay="460"/>
                      </p:stCondLst>
                      <p:childTnLst>
                        <p:par>
                          <p:cTn id="20" presetID="22" presetClass="entr" presetSubtype="1" fill="hold" nodeType="withEffect">
                            <p:stCondLst>
                              <p:cond delay="0"/>
                            </p:stCondLst>
                            <p:childTnLst>
                              <p:set>
                                <p:cBhvr>
                                  <p:cTn id="21" dur="1" fill="hold"/>
                                  <p:tgtEl>
                                    <p:spTgt spid="7"/>
                                  </p:tgtEl>
                                  <p:attrNameLst>
                                    <p:attrName>style.visibility</p:attrName>
                                  </p:attrNameLst>
                                </p:cBhvr>
                                <p:to>
                                  <p:strVal val="visible"/>
                                </p:to>
                              </p:set>
                              <p:animEffect transition="in" filter="wipe(right)">
                                <p:cBhvr>
                                  <p:cTn id="22" dur="550" fill="hold"/>
                                  <p:tgtEl>
                                    <p:spTgt spid="7"/>
                                  </p:tgtEl>
                                </p:cBhvr>
                              </p:animEffect>
                            </p:childTnLst>
                          </p:cTn>
                        </p:par>
                      </p:childTnLst>
                    </p:cTn>
                  </p:par>
                  <p:par>
                    <p:cTn id="23" fill="hold">
                      <p:stCondLst>
                        <p:cond delay="550"/>
                      </p:stCondLst>
                      <p:childTnLst>
                        <p:par>
                          <p:cTn id="24" presetID="22" presetClass="entr" presetSubtype="1" fill="hold" nodeType="withEffect">
                            <p:stCondLst>
                              <p:cond delay="0"/>
                            </p:stCondLst>
                            <p:childTnLst>
                              <p:set>
                                <p:cBhvr>
                                  <p:cTn id="25" dur="1" fill="hold"/>
                                  <p:tgtEl>
                                    <p:spTgt spid="8"/>
                                  </p:tgtEl>
                                  <p:attrNameLst>
                                    <p:attrName>style.visibility</p:attrName>
                                  </p:attrNameLst>
                                </p:cBhvr>
                                <p:to>
                                  <p:strVal val="visible"/>
                                </p:to>
                              </p:set>
                              <p:animEffect transition="in" filter="wipe(right)">
                                <p:cBhvr>
                                  <p:cTn id="26" dur="550" fill="hold"/>
                                  <p:tgtEl>
                                    <p:spTgt spid="8"/>
                                  </p:tgtEl>
                                </p:cBhvr>
                              </p:animEffect>
                            </p:childTnLst>
                          </p:cTn>
                        </p:par>
                      </p:childTnLst>
                    </p:cTn>
                  </p:par>
                  <p:par>
                    <p:cTn id="27" fill="hold">
                      <p:stCondLst>
                        <p:cond delay="640"/>
                      </p:stCondLst>
                      <p:childTnLst>
                        <p:par>
                          <p:cTn id="28" presetID="22" presetClass="entr" presetSubtype="1" fill="hold" nodeType="withEffect">
                            <p:stCondLst>
                              <p:cond delay="0"/>
                            </p:stCondLst>
                            <p:childTnLst>
                              <p:set>
                                <p:cBhvr>
                                  <p:cTn id="29" dur="1" fill="hold"/>
                                  <p:tgtEl>
                                    <p:spTgt spid="9"/>
                                  </p:tgtEl>
                                  <p:attrNameLst>
                                    <p:attrName>style.visibility</p:attrName>
                                  </p:attrNameLst>
                                </p:cBhvr>
                                <p:to>
                                  <p:strVal val="visible"/>
                                </p:to>
                              </p:set>
                              <p:animEffect transition="in" filter="wipe(right)">
                                <p:cBhvr>
                                  <p:cTn id="30" dur="550" fill="hold"/>
                                  <p:tgtEl>
                                    <p:spTgt spid="9"/>
                                  </p:tgtEl>
                                </p:cBhvr>
                              </p:animEffect>
                            </p:childTnLst>
                          </p:cTn>
                        </p:par>
                      </p:childTnLst>
                    </p:cTn>
                  </p:par>
                  <p:par>
                    <p:cTn id="31" fill="hold">
                      <p:stCondLst>
                        <p:cond delay="730"/>
                      </p:stCondLst>
                      <p:childTnLst>
                        <p:par>
                          <p:cTn id="32" presetID="22" presetClass="entr" presetSubtype="1" fill="hold" nodeType="withEffect">
                            <p:stCondLst>
                              <p:cond delay="0"/>
                            </p:stCondLst>
                            <p:childTnLst>
                              <p:set>
                                <p:cBhvr>
                                  <p:cTn id="33" dur="1" fill="hold"/>
                                  <p:tgtEl>
                                    <p:spTgt spid="10"/>
                                  </p:tgtEl>
                                  <p:attrNameLst>
                                    <p:attrName>style.visibility</p:attrName>
                                  </p:attrNameLst>
                                </p:cBhvr>
                                <p:to>
                                  <p:strVal val="visible"/>
                                </p:to>
                              </p:set>
                              <p:animEffect transition="in" filter="wipe(right)">
                                <p:cBhvr>
                                  <p:cTn id="34" dur="550" fill="hold"/>
                                  <p:tgtEl>
                                    <p:spTgt spid="10"/>
                                  </p:tgtEl>
                                </p:cBhvr>
                              </p:animEffect>
                            </p:childTnLst>
                          </p:cTn>
                        </p:par>
                      </p:childTnLst>
                    </p:cTn>
                  </p:par>
                  <p:par>
                    <p:cTn id="35" fill="hold">
                      <p:stCondLst>
                        <p:cond delay="730"/>
                      </p:stCondLst>
                      <p:childTnLst>
                        <p:par>
                          <p:cTn id="36" presetID="22" presetClass="entr" presetSubtype="1" fill="hold" nodeType="withEffect">
                            <p:stCondLst>
                              <p:cond delay="0"/>
                            </p:stCondLst>
                            <p:childTnLst>
                              <p:set>
                                <p:cBhvr>
                                  <p:cTn id="37" dur="1" fill="hold"/>
                                  <p:tgtEl>
                                    <p:spTgt spid="11"/>
                                  </p:tgtEl>
                                  <p:attrNameLst>
                                    <p:attrName>style.visibility</p:attrName>
                                  </p:attrNameLst>
                                </p:cBhvr>
                                <p:to>
                                  <p:strVal val="visible"/>
                                </p:to>
                              </p:set>
                              <p:animEffect transition="in" filter="wipe(right)">
                                <p:cBhvr>
                                  <p:cTn id="38" dur="550" fill="hold"/>
                                  <p:tgtEl>
                                    <p:spTgt spid="11"/>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3F0E2"/>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ResearchBg"/>
          <a:srcRect l="0" t="27" r="0" b="27"/>
          <a:stretch>
            <a:fillRect l="0" t="0" r="0" b="0"/>
          </a:stretch>
        </p:blipFill>
        <p:spPr>
          <a:xfrm>
            <a:off x="0" y="0"/>
            <a:ext cx="18288000" cy="10287000"/>
          </a:xfrm>
          <a:prstGeom prst="rect">
            <a:avLst/>
          </a:prstGeom>
        </p:spPr>
      </p:pic>
      <p:sp>
        <p:nvSpPr>
          <p:cNvPr id="6" name="ADG-10  /  AUTOMATISATION DU CYCLE COMMERCIAL">
            <a:extLst>
              <a:ext uri="{FF2B5EF4-FFF2-40B4-BE49-F238E27FC236}">
                <a16:creationId xmlns:a16="http://schemas.microsoft.com/office/drawing/2014/main" id="{253ABAE0-CD70-4DEC-B59F-5DA9C7D0AB33}"/>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A65A43"/>
                </a:solidFill>
                <a:latin typeface="Calibri"/>
                <a:ea typeface="Calibri"/>
                <a:cs typeface="Calibri"/>
              </a:defRPr>
            </a:pPr>
            <a:r>
              <a:rPr sz="1800" b="1">
                <a:solidFill>
                  <a:srgbClr val="A65A43"/>
                </a:solidFill>
                <a:latin typeface="Calibri"/>
                <a:ea typeface="Calibri"/>
                <a:cs typeface="Calibri"/>
              </a:rPr>
              <a:t>ADG-10  /  AUTOMATISATION DU CYCLE COMMERCIAL</a:t>
            </a:r>
          </a:p>
        </p:txBody>
      </p:sp>
      <p:sp>
        <p:nvSpPr>
          <p:cNvPr id="2" name="08 / 22">
            <a:extLst>
              <a:ext uri="{FF2B5EF4-FFF2-40B4-BE49-F238E27FC236}">
                <a16:creationId xmlns:a16="http://schemas.microsoft.com/office/drawing/2014/main" id="{03654E3D-09E2-4F90-9C7C-DAA62C580BB9}"/>
              </a:ext>
            </a:extLst>
          </p:cNvPr>
          <p:cNvSpPr>
            <a:spLocks noGrp="1"/>
          </p:cNvSpPr>
          <p:nvPr/>
        </p:nvSpPr>
        <p:spPr>
          <a:xfrm>
            <a:off x="14382750" y="9696450"/>
            <a:ext cx="1333500" cy="323850"/>
          </a:xfrm>
          <a:prstGeom prst="rect">
            <a:avLst/>
          </a:prstGeom>
          <a:noFill/>
          <a:ln w="0">
            <a:noFill/>
          </a:ln>
        </p:spPr>
        <p:txBody>
          <a:bodyPr wrap="square" lIns="0" tIns="0" rIns="0" bIns="0" anchor="ctr">
            <a:noAutofit/>
          </a:bodyPr>
          <a:lstStyle/>
          <a:p>
            <a:pPr algn="ctr">
              <a:defRPr sz="1650" b="1">
                <a:solidFill>
                  <a:srgbClr val="414548"/>
                </a:solidFill>
                <a:latin typeface="Calibri"/>
                <a:ea typeface="Calibri"/>
                <a:cs typeface="Calibri"/>
              </a:defRPr>
            </a:pPr>
            <a:r>
              <a:rPr sz="1650" b="1">
                <a:solidFill>
                  <a:srgbClr val="414548"/>
                </a:solidFill>
                <a:latin typeface="Calibri"/>
                <a:ea typeface="Calibri"/>
                <a:cs typeface="Calibri"/>
              </a:rPr>
              <a:t>08 / 24</a:t>
            </a:r>
          </a:p>
        </p:txBody>
      </p:sp>
      <p:sp>
        <p:nvSpPr>
          <p:cNvPr id="3" name="Conduite du projet">
            <a:extLst>
              <a:ext uri="{FF2B5EF4-FFF2-40B4-BE49-F238E27FC236}">
                <a16:creationId xmlns:a16="http://schemas.microsoft.com/office/drawing/2014/main" id="{F2B71238-A8F2-41B9-B193-DD762465B564}"/>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414548"/>
                </a:solidFill>
                <a:latin typeface="Calibri"/>
                <a:ea typeface="Calibri"/>
                <a:cs typeface="Calibri"/>
              </a:defRPr>
            </a:pPr>
            <a:r>
              <a:rPr sz="4650" b="1">
                <a:solidFill>
                  <a:srgbClr val="414548"/>
                </a:solidFill>
                <a:latin typeface="Calibri"/>
                <a:ea typeface="Calibri"/>
                <a:cs typeface="Calibri"/>
              </a:rPr>
              <a:t>Conduite du projet</a:t>
            </a:r>
          </a:p>
        </p:txBody>
      </p:sp>
      <p:graphicFrame>
        <p:nvGraphicFramePr>
          <p:cNvPr id="9" name="Tableau 8"/>
          <p:cNvGraphicFramePr/>
          <p:nvPr>
            <p:extLst>
              <p:ext uri="{D42A27DB-BD31-4B8C-83A1-F6EECF244321}">
                <p14:modId xmlns:p14="http://schemas.microsoft.com/office/powerpoint/2010/main" val="598234117"/>
              </p:ext>
            </p:extLst>
          </p:nvPr>
        </p:nvGraphicFramePr>
        <p:xfrm>
          <a:off x="1571625" y="3286125"/>
          <a:ext cx="14478000" cy="4476750"/>
        </p:xfrm>
        <a:graphic>
          <a:graphicData uri="http://schemas.openxmlformats.org/drawingml/2006/table">
            <a:tbl>
              <a:tblPr/>
              <a:tblGrid>
                <a:gridCol w="2968511">
                  <a:extLst>
                    <a:ext uri="{9D8B030D-6E8A-4147-A177-3AD203B41FA5}">
                      <a16:colId xmlns:a16="http://schemas.microsoft.com/office/drawing/2014/main" val="20000"/>
                    </a:ext>
                  </a:extLst>
                </a:gridCol>
                <a:gridCol w="5989101">
                  <a:extLst>
                    <a:ext uri="{9D8B030D-6E8A-4147-A177-3AD203B41FA5}">
                      <a16:colId xmlns:a16="http://schemas.microsoft.com/office/drawing/2014/main" val="20001"/>
                    </a:ext>
                  </a:extLst>
                </a:gridCol>
                <a:gridCol w="5520388">
                  <a:extLst>
                    <a:ext uri="{9D8B030D-6E8A-4147-A177-3AD203B41FA5}">
                      <a16:colId xmlns:a16="http://schemas.microsoft.com/office/drawing/2014/main" val="20002"/>
                    </a:ext>
                  </a:extLst>
                </a:gridCol>
              </a:tblGrid>
              <a:tr h="895350">
                <a:tc>
                  <a:txBody>
                    <a:bodyPr/>
                    <a:lstStyle/>
                    <a:p>
                      <a:pPr algn="ctr"/>
                      <a:r>
                        <a:rPr sz="2700" b="1">
                          <a:solidFill>
                            <a:srgbClr val="F3F0E2"/>
                          </a:solidFill>
                          <a:latin typeface="Calibri"/>
                          <a:ea typeface="Calibri"/>
                          <a:cs typeface="Calibri"/>
                        </a:rPr>
                        <a:t>Phase</a:t>
                      </a:r>
                    </a:p>
                  </a:txBody>
                  <a:tcPr anchor="ctr">
                    <a:solidFill>
                      <a:srgbClr val="5D818B"/>
                    </a:solidFill>
                  </a:tcPr>
                </a:tc>
                <a:tc>
                  <a:txBody>
                    <a:bodyPr/>
                    <a:lstStyle/>
                    <a:p>
                      <a:pPr algn="ctr"/>
                      <a:r>
                        <a:rPr sz="2700" b="1">
                          <a:solidFill>
                            <a:srgbClr val="F3F0E2"/>
                          </a:solidFill>
                          <a:latin typeface="Calibri"/>
                          <a:ea typeface="Calibri"/>
                          <a:cs typeface="Calibri"/>
                        </a:rPr>
                        <a:t>Travaux</a:t>
                      </a:r>
                    </a:p>
                  </a:txBody>
                  <a:tcPr anchor="ctr">
                    <a:solidFill>
                      <a:srgbClr val="5D818B"/>
                    </a:solidFill>
                  </a:tcPr>
                </a:tc>
                <a:tc>
                  <a:txBody>
                    <a:bodyPr/>
                    <a:lstStyle/>
                    <a:p>
                      <a:pPr algn="ctr"/>
                      <a:r>
                        <a:rPr sz="2700" b="1">
                          <a:solidFill>
                            <a:srgbClr val="F3F0E2"/>
                          </a:solidFill>
                          <a:latin typeface="Calibri"/>
                          <a:ea typeface="Calibri"/>
                          <a:cs typeface="Calibri"/>
                        </a:rPr>
                        <a:t>Livrable</a:t>
                      </a:r>
                    </a:p>
                  </a:txBody>
                  <a:tcPr anchor="ctr">
                    <a:solidFill>
                      <a:srgbClr val="5D818B"/>
                    </a:solidFill>
                  </a:tcPr>
                </a:tc>
                <a:extLst>
                  <a:ext uri="{0D108BD9-81ED-4DB2-BD59-A6C34878D82A}">
                    <a16:rowId xmlns:a16="http://schemas.microsoft.com/office/drawing/2014/main" val="10000"/>
                  </a:ext>
                </a:extLst>
              </a:tr>
              <a:tr h="895350">
                <a:tc>
                  <a:txBody>
                    <a:bodyPr/>
                    <a:lstStyle/>
                    <a:p>
                      <a:pPr algn="ctr"/>
                      <a:r>
                        <a:rPr sz="2700" b="0">
                          <a:solidFill>
                            <a:srgbClr val="414548"/>
                          </a:solidFill>
                          <a:latin typeface="Calibri"/>
                          <a:ea typeface="Calibri"/>
                          <a:cs typeface="Calibri"/>
                        </a:rPr>
                        <a:t>Cadrage</a:t>
                      </a:r>
                    </a:p>
                  </a:txBody>
                  <a:tcPr anchor="ctr">
                    <a:solidFill>
                      <a:srgbClr val="E1E5DD"/>
                    </a:solidFill>
                  </a:tcPr>
                </a:tc>
                <a:tc>
                  <a:txBody>
                    <a:bodyPr/>
                    <a:lstStyle/>
                    <a:p>
                      <a:pPr algn="ctr"/>
                      <a:r>
                        <a:rPr sz="2700" b="0">
                          <a:solidFill>
                            <a:srgbClr val="414548"/>
                          </a:solidFill>
                          <a:latin typeface="Calibri"/>
                          <a:ea typeface="Calibri"/>
                          <a:cs typeface="Calibri"/>
                        </a:rPr>
                        <a:t>Parcours commercial et besoins</a:t>
                      </a:r>
                    </a:p>
                  </a:txBody>
                  <a:tcPr anchor="ctr">
                    <a:solidFill>
                      <a:srgbClr val="E1E5DD"/>
                    </a:solidFill>
                  </a:tcPr>
                </a:tc>
                <a:tc>
                  <a:txBody>
                    <a:bodyPr/>
                    <a:lstStyle/>
                    <a:p>
                      <a:pPr algn="ctr"/>
                      <a:r>
                        <a:rPr sz="2700" b="0">
                          <a:solidFill>
                            <a:srgbClr val="414548"/>
                          </a:solidFill>
                          <a:latin typeface="Calibri"/>
                          <a:ea typeface="Calibri"/>
                          <a:cs typeface="Calibri"/>
                        </a:rPr>
                        <a:t>Périmètre E1 à E8</a:t>
                      </a:r>
                    </a:p>
                  </a:txBody>
                  <a:tcPr anchor="ctr">
                    <a:solidFill>
                      <a:srgbClr val="E1E5DD"/>
                    </a:solidFill>
                  </a:tcPr>
                </a:tc>
                <a:extLst>
                  <a:ext uri="{0D108BD9-81ED-4DB2-BD59-A6C34878D82A}">
                    <a16:rowId xmlns:a16="http://schemas.microsoft.com/office/drawing/2014/main" val="10001"/>
                  </a:ext>
                </a:extLst>
              </a:tr>
              <a:tr h="895350">
                <a:tc>
                  <a:txBody>
                    <a:bodyPr/>
                    <a:lstStyle/>
                    <a:p>
                      <a:pPr algn="ctr"/>
                      <a:r>
                        <a:rPr sz="2700" b="0">
                          <a:solidFill>
                            <a:srgbClr val="414548"/>
                          </a:solidFill>
                          <a:latin typeface="Calibri"/>
                          <a:ea typeface="Calibri"/>
                          <a:cs typeface="Calibri"/>
                        </a:rPr>
                        <a:t>Conception</a:t>
                      </a:r>
                    </a:p>
                  </a:txBody>
                  <a:tcPr anchor="ctr">
                    <a:solidFill>
                      <a:srgbClr val="ECEBDD"/>
                    </a:solidFill>
                  </a:tcPr>
                </a:tc>
                <a:tc>
                  <a:txBody>
                    <a:bodyPr/>
                    <a:lstStyle/>
                    <a:p>
                      <a:pPr algn="ctr"/>
                      <a:r>
                        <a:rPr sz="2700" b="0">
                          <a:solidFill>
                            <a:srgbClr val="414548"/>
                          </a:solidFill>
                          <a:latin typeface="Calibri"/>
                          <a:ea typeface="Calibri"/>
                          <a:cs typeface="Calibri"/>
                        </a:rPr>
                        <a:t>Données, règles et interactions</a:t>
                      </a:r>
                    </a:p>
                  </a:txBody>
                  <a:tcPr anchor="ctr">
                    <a:solidFill>
                      <a:srgbClr val="ECEBDD"/>
                    </a:solidFill>
                  </a:tcPr>
                </a:tc>
                <a:tc>
                  <a:txBody>
                    <a:bodyPr/>
                    <a:lstStyle/>
                    <a:p>
                      <a:pPr algn="ctr"/>
                      <a:r>
                        <a:rPr sz="2700" b="0">
                          <a:solidFill>
                            <a:srgbClr val="414548"/>
                          </a:solidFill>
                          <a:latin typeface="Calibri"/>
                          <a:ea typeface="Calibri"/>
                          <a:cs typeface="Calibri"/>
                        </a:rPr>
                        <a:t>Modèles et scénarios</a:t>
                      </a:r>
                    </a:p>
                  </a:txBody>
                  <a:tcPr anchor="ctr">
                    <a:solidFill>
                      <a:srgbClr val="ECEBDD"/>
                    </a:solidFill>
                  </a:tcPr>
                </a:tc>
                <a:extLst>
                  <a:ext uri="{0D108BD9-81ED-4DB2-BD59-A6C34878D82A}">
                    <a16:rowId xmlns:a16="http://schemas.microsoft.com/office/drawing/2014/main" val="10002"/>
                  </a:ext>
                </a:extLst>
              </a:tr>
              <a:tr h="895350">
                <a:tc>
                  <a:txBody>
                    <a:bodyPr/>
                    <a:lstStyle/>
                    <a:p>
                      <a:pPr algn="ctr"/>
                      <a:r>
                        <a:rPr sz="2700" b="0">
                          <a:solidFill>
                            <a:srgbClr val="414548"/>
                          </a:solidFill>
                          <a:latin typeface="Calibri"/>
                          <a:ea typeface="Calibri"/>
                          <a:cs typeface="Calibri"/>
                        </a:rPr>
                        <a:t>Réalisation</a:t>
                      </a:r>
                    </a:p>
                  </a:txBody>
                  <a:tcPr anchor="ctr">
                    <a:solidFill>
                      <a:srgbClr val="E1E5DD"/>
                    </a:solidFill>
                  </a:tcPr>
                </a:tc>
                <a:tc>
                  <a:txBody>
                    <a:bodyPr/>
                    <a:lstStyle/>
                    <a:p>
                      <a:pPr algn="ctr"/>
                      <a:r>
                        <a:rPr sz="2700" b="0">
                          <a:solidFill>
                            <a:srgbClr val="414548"/>
                          </a:solidFill>
                          <a:latin typeface="Calibri"/>
                          <a:ea typeface="Calibri"/>
                          <a:cs typeface="Calibri"/>
                        </a:rPr>
                        <a:t>Scripts, documents et interface</a:t>
                      </a:r>
                    </a:p>
                  </a:txBody>
                  <a:tcPr anchor="ctr">
                    <a:solidFill>
                      <a:srgbClr val="E1E5DD"/>
                    </a:solidFill>
                  </a:tcPr>
                </a:tc>
                <a:tc>
                  <a:txBody>
                    <a:bodyPr/>
                    <a:lstStyle/>
                    <a:p>
                      <a:pPr algn="ctr"/>
                      <a:r>
                        <a:rPr sz="2700" b="0">
                          <a:solidFill>
                            <a:srgbClr val="414548"/>
                          </a:solidFill>
                          <a:latin typeface="Calibri"/>
                          <a:ea typeface="Calibri"/>
                          <a:cs typeface="Calibri"/>
                        </a:rPr>
                        <a:t>Prototype intégré</a:t>
                      </a:r>
                    </a:p>
                  </a:txBody>
                  <a:tcPr anchor="ctr">
                    <a:solidFill>
                      <a:srgbClr val="E1E5DD"/>
                    </a:solidFill>
                  </a:tcPr>
                </a:tc>
                <a:extLst>
                  <a:ext uri="{0D108BD9-81ED-4DB2-BD59-A6C34878D82A}">
                    <a16:rowId xmlns:a16="http://schemas.microsoft.com/office/drawing/2014/main" val="10003"/>
                  </a:ext>
                </a:extLst>
              </a:tr>
              <a:tr h="895350">
                <a:tc>
                  <a:txBody>
                    <a:bodyPr/>
                    <a:lstStyle/>
                    <a:p>
                      <a:pPr algn="ctr"/>
                      <a:r>
                        <a:rPr sz="2700" b="0">
                          <a:solidFill>
                            <a:srgbClr val="414548"/>
                          </a:solidFill>
                          <a:latin typeface="Calibri"/>
                          <a:ea typeface="Calibri"/>
                          <a:cs typeface="Calibri"/>
                        </a:rPr>
                        <a:t>Validation</a:t>
                      </a:r>
                    </a:p>
                  </a:txBody>
                  <a:tcPr anchor="ctr">
                    <a:solidFill>
                      <a:srgbClr val="ECEBDD"/>
                    </a:solidFill>
                  </a:tcPr>
                </a:tc>
                <a:tc>
                  <a:txBody>
                    <a:bodyPr/>
                    <a:lstStyle/>
                    <a:p>
                      <a:pPr algn="ctr"/>
                      <a:r>
                        <a:rPr sz="2700" b="0">
                          <a:solidFill>
                            <a:srgbClr val="414548"/>
                          </a:solidFill>
                          <a:latin typeface="Calibri"/>
                          <a:ea typeface="Calibri"/>
                          <a:cs typeface="Calibri"/>
                        </a:rPr>
                        <a:t>Tests locaux et démonstration</a:t>
                      </a:r>
                    </a:p>
                  </a:txBody>
                  <a:tcPr anchor="ctr">
                    <a:solidFill>
                      <a:srgbClr val="ECEBDD"/>
                    </a:solidFill>
                  </a:tcPr>
                </a:tc>
                <a:tc>
                  <a:txBody>
                    <a:bodyPr/>
                    <a:lstStyle/>
                    <a:p>
                      <a:pPr algn="ctr"/>
                      <a:r>
                        <a:rPr sz="2700" b="0" dirty="0" err="1">
                          <a:solidFill>
                            <a:srgbClr val="414548"/>
                          </a:solidFill>
                          <a:latin typeface="Calibri"/>
                          <a:ea typeface="Calibri"/>
                          <a:cs typeface="Calibri"/>
                        </a:rPr>
                        <a:t>Résultats</a:t>
                      </a:r>
                      <a:r>
                        <a:rPr sz="2700" b="0" dirty="0">
                          <a:solidFill>
                            <a:srgbClr val="414548"/>
                          </a:solidFill>
                          <a:latin typeface="Calibri"/>
                          <a:ea typeface="Calibri"/>
                          <a:cs typeface="Calibri"/>
                        </a:rPr>
                        <a:t> et </a:t>
                      </a:r>
                      <a:r>
                        <a:rPr sz="2700" b="0" dirty="0" err="1">
                          <a:solidFill>
                            <a:srgbClr val="414548"/>
                          </a:solidFill>
                          <a:latin typeface="Calibri"/>
                          <a:ea typeface="Calibri"/>
                          <a:cs typeface="Calibri"/>
                        </a:rPr>
                        <a:t>limites</a:t>
                      </a:r>
                      <a:endParaRPr sz="2700" b="0" dirty="0">
                        <a:solidFill>
                          <a:srgbClr val="414548"/>
                        </a:solidFill>
                        <a:latin typeface="Calibri"/>
                        <a:ea typeface="Calibri"/>
                        <a:cs typeface="Calibri"/>
                      </a:endParaRPr>
                    </a:p>
                  </a:txBody>
                  <a:tcPr anchor="ctr">
                    <a:solidFill>
                      <a:srgbClr val="ECEBDD"/>
                    </a:solidFill>
                  </a:tcPr>
                </a:tc>
                <a:extLst>
                  <a:ext uri="{0D108BD9-81ED-4DB2-BD59-A6C34878D82A}">
                    <a16:rowId xmlns:a16="http://schemas.microsoft.com/office/drawing/2014/main" val="10004"/>
                  </a:ext>
                </a:extLst>
              </a:tr>
            </a:tbl>
          </a:graphicData>
        </a:graphic>
      </p:graphicFrame>
      <p:sp>
        <p:nvSpPr>
          <p:cNvPr id="5" name="Démarche itérative, avec validation des données et des ">
            <a:extLst>
              <a:ext uri="{FF2B5EF4-FFF2-40B4-BE49-F238E27FC236}">
                <a16:creationId xmlns:a16="http://schemas.microsoft.com/office/drawing/2014/main" id="{FEF6BE22-36FA-40F7-A153-21A3AA18E6A9}"/>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686B67"/>
                </a:solidFill>
                <a:latin typeface="Calibri"/>
                <a:ea typeface="Calibri"/>
                <a:cs typeface="Calibri"/>
              </a:defRPr>
            </a:pPr>
            <a:r>
              <a:rPr sz="2025" b="0">
                <a:solidFill>
                  <a:srgbClr val="686B67"/>
                </a:solidFill>
                <a:latin typeface="Calibri"/>
                <a:ea typeface="Calibri"/>
                <a:cs typeface="Calibri"/>
              </a:rPr>
              <a:t>Démarche itérative, avec validation des données et des fonctions à chaque phase.</a:t>
            </a:r>
          </a:p>
        </p:txBody>
      </p:sp>
    </p:spTree>
    <p:extLst>
      <p:ext uri="{BB962C8B-B14F-4D97-AF65-F5344CB8AC3E}">
        <p14:creationId xmlns:p14="http://schemas.microsoft.com/office/powerpoint/2010/main" val="1162277864"/>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3F0E2"/>
        </a:solidFill>
        <a:effectLst/>
      </p:bgPr>
    </p:bg>
    <p:spTree>
      <p:nvGrpSpPr>
        <p:cNvPr id="1" name=""/>
        <p:cNvGrpSpPr/>
        <p:nvPr/>
      </p:nvGrpSpPr>
      <p:grpSpPr>
        <a:xfrm>
          <a:off x="0" y="0"/>
          <a:ext cx="0" cy="0"/>
          <a:chOff x="0" y="0"/>
          <a:chExt cx="0" cy="0"/>
        </a:xfrm>
      </p:grpSpPr>
      <p:pic>
        <p:nvPicPr>
          <p:cNvPr id="2000" name="" descr="Illustration conceptuelle du suivi des prospects, des échanges et des documents commerciaux"/>
          <p:cNvPicPr>
            <a:picLocks noChangeAspect="1"/>
          </p:cNvPicPr>
          <p:nvPr/>
        </p:nvPicPr>
        <p:blipFill>
          <a:blip r:embed="rIdWorkflowBg"/>
          <a:srcRect l="0" t="27" r="0" b="27"/>
          <a:stretch>
            <a:fillRect l="0" t="0" r="0" b="0"/>
          </a:stretch>
        </p:blipFill>
        <p:spPr>
          <a:xfrm>
            <a:off x="0" y="0"/>
            <a:ext cx="18288000" cy="10287000"/>
          </a:xfrm>
          <a:prstGeom prst="rect">
            <a:avLst/>
          </a:prstGeom>
        </p:spPr>
      </p:pic>
      <p:sp>
        <p:nvSpPr>
          <p:cNvPr id="2" name="ADG-10  /  AUTOMATISATION DU CYCLE COMMERCIAL">
            <a:extLst>
              <a:ext uri="{FF2B5EF4-FFF2-40B4-BE49-F238E27FC236}">
                <a16:creationId xmlns:a16="http://schemas.microsoft.com/office/drawing/2014/main" id="{FFCDC15B-3CF9-41F5-A4D9-3A09328C3DDF}"/>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A65A43"/>
                </a:solidFill>
                <a:latin typeface="Calibri"/>
                <a:ea typeface="Calibri"/>
                <a:cs typeface="Calibri"/>
              </a:defRPr>
            </a:pPr>
            <a:r>
              <a:rPr sz="1800" b="1">
                <a:solidFill>
                  <a:srgbClr val="A65A43"/>
                </a:solidFill>
                <a:latin typeface="Calibri"/>
                <a:ea typeface="Calibri"/>
                <a:cs typeface="Calibri"/>
              </a:rPr>
              <a:t>ADG-10  /  AUTOMATISATION DU CYCLE COMMERCIAL</a:t>
            </a:r>
          </a:p>
        </p:txBody>
      </p:sp>
      <p:sp>
        <p:nvSpPr>
          <p:cNvPr id="3" name="09 / 22">
            <a:extLst>
              <a:ext uri="{FF2B5EF4-FFF2-40B4-BE49-F238E27FC236}">
                <a16:creationId xmlns:a16="http://schemas.microsoft.com/office/drawing/2014/main" id="{41B47B5A-EA9E-4917-9D60-7DF9C68191E2}"/>
              </a:ext>
            </a:extLst>
          </p:cNvPr>
          <p:cNvSpPr>
            <a:spLocks noGrp="1"/>
          </p:cNvSpPr>
          <p:nvPr/>
        </p:nvSpPr>
        <p:spPr>
          <a:xfrm>
            <a:off x="14382750" y="9696450"/>
            <a:ext cx="1333500" cy="323850"/>
          </a:xfrm>
          <a:prstGeom prst="rect">
            <a:avLst/>
          </a:prstGeom>
          <a:noFill/>
          <a:ln w="0">
            <a:noFill/>
          </a:ln>
        </p:spPr>
        <p:txBody>
          <a:bodyPr wrap="square" lIns="0" tIns="0" rIns="0" bIns="0" anchor="ctr">
            <a:noAutofit/>
          </a:bodyPr>
          <a:lstStyle/>
          <a:p>
            <a:pPr algn="ctr">
              <a:defRPr sz="1650" b="1">
                <a:solidFill>
                  <a:srgbClr val="414548"/>
                </a:solidFill>
                <a:latin typeface="Calibri"/>
                <a:ea typeface="Calibri"/>
                <a:cs typeface="Calibri"/>
              </a:defRPr>
            </a:pPr>
            <a:r>
              <a:rPr sz="1650" b="1">
                <a:solidFill>
                  <a:srgbClr val="414548"/>
                </a:solidFill>
                <a:latin typeface="Calibri"/>
                <a:ea typeface="Calibri"/>
                <a:cs typeface="Calibri"/>
              </a:rPr>
              <a:t>09 / 24</a:t>
            </a:r>
          </a:p>
        </p:txBody>
      </p:sp>
      <p:sp>
        <p:nvSpPr>
          <p:cNvPr id="4" name="03">
            <a:extLst>
              <a:ext uri="{FF2B5EF4-FFF2-40B4-BE49-F238E27FC236}">
                <a16:creationId xmlns:a16="http://schemas.microsoft.com/office/drawing/2014/main" id="{23C6F41A-A477-4295-BFF3-0FB9B9951A03}"/>
              </a:ext>
            </a:extLst>
          </p:cNvPr>
          <p:cNvSpPr>
            <a:spLocks noGrp="1"/>
          </p:cNvSpPr>
          <p:nvPr/>
        </p:nvSpPr>
        <p:spPr>
          <a:xfrm>
            <a:off x="857250" y="1428750"/>
            <a:ext cx="6667500" cy="1857375"/>
          </a:xfrm>
          <a:prstGeom prst="rect">
            <a:avLst/>
          </a:prstGeom>
          <a:noFill/>
          <a:ln w="0">
            <a:noFill/>
          </a:ln>
        </p:spPr>
        <p:txBody>
          <a:bodyPr wrap="square" lIns="0" tIns="0" rIns="0" bIns="0" anchor="ctr">
            <a:noAutofit/>
          </a:bodyPr>
          <a:lstStyle/>
          <a:p>
            <a:pPr algn="l">
              <a:defRPr sz="11850" b="1">
                <a:solidFill>
                  <a:srgbClr val="A65A43"/>
                </a:solidFill>
                <a:latin typeface="Calibri"/>
                <a:ea typeface="Calibri"/>
                <a:cs typeface="Calibri"/>
              </a:defRPr>
            </a:pPr>
            <a:r>
              <a:rPr sz="11850" b="1">
                <a:solidFill>
                  <a:srgbClr val="A65A43"/>
                </a:solidFill>
                <a:latin typeface="Calibri"/>
                <a:ea typeface="Calibri"/>
                <a:cs typeface="Calibri"/>
              </a:rPr>
              <a:t>03</a:t>
            </a:r>
          </a:p>
        </p:txBody>
      </p:sp>
      <p:sp>
        <p:nvSpPr>
          <p:cNvPr id="5" name="Étude conceptuelle&#10;de la solution">
            <a:extLst>
              <a:ext uri="{FF2B5EF4-FFF2-40B4-BE49-F238E27FC236}">
                <a16:creationId xmlns:a16="http://schemas.microsoft.com/office/drawing/2014/main" id="{76C088DF-918C-4633-9A5A-41AC84732CB9}"/>
              </a:ext>
            </a:extLst>
          </p:cNvPr>
          <p:cNvSpPr>
            <a:spLocks noGrp="1"/>
          </p:cNvSpPr>
          <p:nvPr/>
        </p:nvSpPr>
        <p:spPr>
          <a:xfrm>
            <a:off x="952500" y="3524250"/>
            <a:ext cx="9810750" cy="2000250"/>
          </a:xfrm>
          <a:prstGeom prst="rect">
            <a:avLst/>
          </a:prstGeom>
          <a:noFill/>
          <a:ln w="0">
            <a:noFill/>
          </a:ln>
        </p:spPr>
        <p:txBody>
          <a:bodyPr wrap="square" lIns="0" tIns="0" rIns="0" bIns="0" anchor="ctr">
            <a:noAutofit/>
          </a:bodyPr>
          <a:lstStyle/>
          <a:p>
            <a:pPr algn="l">
              <a:defRPr sz="5850" b="1">
                <a:solidFill>
                  <a:srgbClr val="414548"/>
                </a:solidFill>
                <a:latin typeface="Calibri"/>
                <a:ea typeface="Calibri"/>
                <a:cs typeface="Calibri"/>
              </a:defRPr>
            </a:pPr>
            <a:r>
              <a:rPr sz="5850" b="1">
                <a:solidFill>
                  <a:srgbClr val="414548"/>
                </a:solidFill>
                <a:latin typeface="Calibri"/>
                <a:ea typeface="Calibri"/>
                <a:cs typeface="Calibri"/>
              </a:rPr>
              <a:t>Étude conceptuelle</a:t>
            </a:r>
          </a:p>
          <a:p>
            <a:pPr algn="l">
              <a:defRPr sz="5850" b="1">
                <a:solidFill>
                  <a:srgbClr val="414548"/>
                </a:solidFill>
                <a:latin typeface="Calibri"/>
                <a:ea typeface="Calibri"/>
                <a:cs typeface="Calibri"/>
              </a:defRPr>
            </a:pPr>
            <a:r>
              <a:rPr sz="5850" b="1">
                <a:solidFill>
                  <a:srgbClr val="414548"/>
                </a:solidFill>
                <a:latin typeface="Calibri"/>
                <a:ea typeface="Calibri"/>
                <a:cs typeface="Calibri"/>
              </a:rPr>
              <a:t>de la solution</a:t>
            </a:r>
          </a:p>
        </p:txBody>
      </p:sp>
      <p:sp>
        <p:nvSpPr>
          <p:cNvPr id="6" name="Le parcours commercial, les acteurs&#10;et la circulation d">
            <a:extLst>
              <a:ext uri="{FF2B5EF4-FFF2-40B4-BE49-F238E27FC236}">
                <a16:creationId xmlns:a16="http://schemas.microsoft.com/office/drawing/2014/main" id="{DD690682-B676-4E9B-ACB5-4CC2A4ED097A}"/>
              </a:ext>
            </a:extLst>
          </p:cNvPr>
          <p:cNvSpPr>
            <a:spLocks noGrp="1"/>
          </p:cNvSpPr>
          <p:nvPr/>
        </p:nvSpPr>
        <p:spPr>
          <a:xfrm>
            <a:off x="1000125" y="5857875"/>
            <a:ext cx="9048750" cy="1428750"/>
          </a:xfrm>
          <a:prstGeom prst="rect">
            <a:avLst/>
          </a:prstGeom>
          <a:noFill/>
          <a:ln w="0">
            <a:noFill/>
          </a:ln>
        </p:spPr>
        <p:txBody>
          <a:bodyPr wrap="square" lIns="0" tIns="0" rIns="0" bIns="0" anchor="ctr">
            <a:noAutofit/>
          </a:bodyPr>
          <a:lstStyle/>
          <a:p>
            <a:pPr algn="l">
              <a:defRPr sz="2925" b="0">
                <a:solidFill>
                  <a:srgbClr val="414548"/>
                </a:solidFill>
                <a:latin typeface="Calibri"/>
                <a:ea typeface="Calibri"/>
                <a:cs typeface="Calibri"/>
              </a:defRPr>
            </a:pPr>
            <a:r>
              <a:rPr sz="2925" b="0">
                <a:solidFill>
                  <a:srgbClr val="414548"/>
                </a:solidFill>
                <a:latin typeface="Calibri"/>
                <a:ea typeface="Calibri"/>
                <a:cs typeface="Calibri"/>
              </a:rPr>
              <a:t>Le parcours commercial, les acteurs</a:t>
            </a:r>
          </a:p>
          <a:p>
            <a:pPr algn="l">
              <a:defRPr sz="2925" b="0">
                <a:solidFill>
                  <a:srgbClr val="414548"/>
                </a:solidFill>
                <a:latin typeface="Calibri"/>
                <a:ea typeface="Calibri"/>
                <a:cs typeface="Calibri"/>
              </a:defRPr>
            </a:pPr>
            <a:r>
              <a:rPr sz="2925" b="0">
                <a:solidFill>
                  <a:srgbClr val="414548"/>
                </a:solidFill>
                <a:latin typeface="Calibri"/>
                <a:ea typeface="Calibri"/>
                <a:cs typeface="Calibri"/>
              </a:rPr>
              <a:t>et la circulation des données</a:t>
            </a:r>
          </a:p>
        </p:txBody>
      </p:sp>
    </p:spTree>
    <p:extLst>
      <p:ext uri="{BB962C8B-B14F-4D97-AF65-F5344CB8AC3E}">
        <p14:creationId xmlns:p14="http://schemas.microsoft.com/office/powerpoint/2010/main" val="968374637"/>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4"/>
                                  </p:tgtEl>
                                  <p:attrNameLst>
                                    <p:attrName>style.visibility</p:attrName>
                                  </p:attrNameLst>
                                </p:cBhvr>
                                <p:to>
                                  <p:strVal val="visible"/>
                                </p:to>
                              </p:set>
                              <p:animEffect transition="in" filter="wipe(right)">
                                <p:cBhvr>
                                  <p:cTn id="6" dur="550" fill="hold"/>
                                  <p:tgtEl>
                                    <p:spTgt spid="4"/>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5"/>
                                  </p:tgtEl>
                                  <p:attrNameLst>
                                    <p:attrName>style.visibility</p:attrName>
                                  </p:attrNameLst>
                                </p:cBhvr>
                                <p:to>
                                  <p:strVal val="visible"/>
                                </p:to>
                              </p:set>
                              <p:animEffect transition="in" filter="wipe(right)">
                                <p:cBhvr>
                                  <p:cTn id="10" dur="550" fill="hold"/>
                                  <p:tgtEl>
                                    <p:spTgt spid="5"/>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6"/>
                                  </p:tgtEl>
                                  <p:attrNameLst>
                                    <p:attrName>style.visibility</p:attrName>
                                  </p:attrNameLst>
                                </p:cBhvr>
                                <p:to>
                                  <p:strVal val="visible"/>
                                </p:to>
                              </p:set>
                              <p:animEffect transition="in" filter="wipe(right)">
                                <p:cBhvr>
                                  <p:cTn id="14" dur="550" fill="hold"/>
                                  <p:tgtEl>
                                    <p:spTgt spid="6"/>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3F0E2"/>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ResearchBg"/>
          <a:srcRect l="0" t="27" r="0" b="27"/>
          <a:stretch>
            <a:fillRect l="0" t="0" r="0" b="0"/>
          </a:stretch>
        </p:blipFill>
        <p:spPr>
          <a:xfrm>
            <a:off x="0" y="0"/>
            <a:ext cx="18288000" cy="10287000"/>
          </a:xfrm>
          <a:prstGeom prst="rect">
            <a:avLst/>
          </a:prstGeom>
        </p:spPr>
      </p:pic>
      <p:sp>
        <p:nvSpPr>
          <p:cNvPr id="6" name="ADG-10  /  AUTOMATISATION DU CYCLE COMMERCIAL">
            <a:extLst>
              <a:ext uri="{FF2B5EF4-FFF2-40B4-BE49-F238E27FC236}">
                <a16:creationId xmlns:a16="http://schemas.microsoft.com/office/drawing/2014/main" id="{0CA67C7A-EE09-4859-9768-07035213902C}"/>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A65A43"/>
                </a:solidFill>
                <a:latin typeface="Calibri"/>
                <a:ea typeface="Calibri"/>
                <a:cs typeface="Calibri"/>
              </a:defRPr>
            </a:pPr>
            <a:r>
              <a:rPr sz="1800" b="1">
                <a:solidFill>
                  <a:srgbClr val="A65A43"/>
                </a:solidFill>
                <a:latin typeface="Calibri"/>
                <a:ea typeface="Calibri"/>
                <a:cs typeface="Calibri"/>
              </a:rPr>
              <a:t>ADG-10  /  AUTOMATISATION DU CYCLE COMMERCIAL</a:t>
            </a:r>
          </a:p>
        </p:txBody>
      </p:sp>
      <p:sp>
        <p:nvSpPr>
          <p:cNvPr id="2" name="10 / 22">
            <a:extLst>
              <a:ext uri="{FF2B5EF4-FFF2-40B4-BE49-F238E27FC236}">
                <a16:creationId xmlns:a16="http://schemas.microsoft.com/office/drawing/2014/main" id="{FA4EFDF6-24BF-450D-90BC-D2E7B2F9D9E8}"/>
              </a:ext>
            </a:extLst>
          </p:cNvPr>
          <p:cNvSpPr>
            <a:spLocks noGrp="1"/>
          </p:cNvSpPr>
          <p:nvPr/>
        </p:nvSpPr>
        <p:spPr>
          <a:xfrm>
            <a:off x="14382750" y="9696450"/>
            <a:ext cx="1333500" cy="323850"/>
          </a:xfrm>
          <a:prstGeom prst="rect">
            <a:avLst/>
          </a:prstGeom>
          <a:noFill/>
          <a:ln w="0">
            <a:noFill/>
          </a:ln>
        </p:spPr>
        <p:txBody>
          <a:bodyPr wrap="square" lIns="0" tIns="0" rIns="0" bIns="0" anchor="ctr">
            <a:noAutofit/>
          </a:bodyPr>
          <a:lstStyle/>
          <a:p>
            <a:pPr algn="ctr">
              <a:defRPr sz="1650" b="1">
                <a:solidFill>
                  <a:srgbClr val="414548"/>
                </a:solidFill>
                <a:latin typeface="Calibri"/>
                <a:ea typeface="Calibri"/>
                <a:cs typeface="Calibri"/>
              </a:defRPr>
            </a:pPr>
            <a:r>
              <a:rPr sz="1650" b="1">
                <a:solidFill>
                  <a:srgbClr val="414548"/>
                </a:solidFill>
                <a:latin typeface="Calibri"/>
                <a:ea typeface="Calibri"/>
                <a:cs typeface="Calibri"/>
              </a:rPr>
              <a:t>10 / 24</a:t>
            </a:r>
          </a:p>
        </p:txBody>
      </p:sp>
      <p:sp>
        <p:nvSpPr>
          <p:cNvPr id="3" name="Le parcours ADG-10">
            <a:extLst>
              <a:ext uri="{FF2B5EF4-FFF2-40B4-BE49-F238E27FC236}">
                <a16:creationId xmlns:a16="http://schemas.microsoft.com/office/drawing/2014/main" id="{48277E13-D8E4-487D-8D23-3D547C175AED}"/>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414548"/>
                </a:solidFill>
                <a:latin typeface="Calibri"/>
                <a:ea typeface="Calibri"/>
                <a:cs typeface="Calibri"/>
              </a:defRPr>
            </a:pPr>
            <a:r>
              <a:rPr sz="4650" b="1">
                <a:solidFill>
                  <a:srgbClr val="414548"/>
                </a:solidFill>
                <a:latin typeface="Calibri"/>
                <a:ea typeface="Calibri"/>
                <a:cs typeface="Calibri"/>
              </a:rPr>
              <a:t>Le parcours ADG-10</a:t>
            </a:r>
          </a:p>
        </p:txBody>
      </p:sp>
      <p:graphicFrame>
        <p:nvGraphicFramePr>
          <p:cNvPr id="9" name="Tableau 8"/>
          <p:cNvGraphicFramePr/>
          <p:nvPr>
            <p:extLst>
              <p:ext uri="{D42A27DB-BD31-4B8C-83A1-F6EECF244321}">
                <p14:modId xmlns:p14="http://schemas.microsoft.com/office/powerpoint/2010/main" val="136856162"/>
              </p:ext>
            </p:extLst>
          </p:nvPr>
        </p:nvGraphicFramePr>
        <p:xfrm>
          <a:off x="1571625" y="3238500"/>
          <a:ext cx="14478000" cy="5000628"/>
        </p:xfrm>
        <a:graphic>
          <a:graphicData uri="http://schemas.openxmlformats.org/drawingml/2006/table">
            <a:tbl>
              <a:tblPr/>
              <a:tblGrid>
                <a:gridCol w="2499799">
                  <a:extLst>
                    <a:ext uri="{9D8B030D-6E8A-4147-A177-3AD203B41FA5}">
                      <a16:colId xmlns:a16="http://schemas.microsoft.com/office/drawing/2014/main" val="20000"/>
                    </a:ext>
                  </a:extLst>
                </a:gridCol>
                <a:gridCol w="6614050">
                  <a:extLst>
                    <a:ext uri="{9D8B030D-6E8A-4147-A177-3AD203B41FA5}">
                      <a16:colId xmlns:a16="http://schemas.microsoft.com/office/drawing/2014/main" val="20001"/>
                    </a:ext>
                  </a:extLst>
                </a:gridCol>
                <a:gridCol w="5364151">
                  <a:extLst>
                    <a:ext uri="{9D8B030D-6E8A-4147-A177-3AD203B41FA5}">
                      <a16:colId xmlns:a16="http://schemas.microsoft.com/office/drawing/2014/main" val="20002"/>
                    </a:ext>
                  </a:extLst>
                </a:gridCol>
              </a:tblGrid>
              <a:tr h="833438">
                <a:tc>
                  <a:txBody>
                    <a:bodyPr/>
                    <a:lstStyle/>
                    <a:p>
                      <a:pPr algn="ctr"/>
                      <a:r>
                        <a:rPr sz="2550" b="1">
                          <a:solidFill>
                            <a:srgbClr val="F3F0E2"/>
                          </a:solidFill>
                          <a:latin typeface="Calibri"/>
                          <a:ea typeface="Calibri"/>
                          <a:cs typeface="Calibri"/>
                        </a:rPr>
                        <a:t>Étape</a:t>
                      </a:r>
                    </a:p>
                  </a:txBody>
                  <a:tcPr anchor="ctr">
                    <a:solidFill>
                      <a:srgbClr val="5D818B"/>
                    </a:solidFill>
                  </a:tcPr>
                </a:tc>
                <a:tc>
                  <a:txBody>
                    <a:bodyPr/>
                    <a:lstStyle/>
                    <a:p>
                      <a:pPr algn="ctr"/>
                      <a:r>
                        <a:rPr sz="2550" b="1">
                          <a:solidFill>
                            <a:srgbClr val="F3F0E2"/>
                          </a:solidFill>
                          <a:latin typeface="Calibri"/>
                          <a:ea typeface="Calibri"/>
                          <a:cs typeface="Calibri"/>
                        </a:rPr>
                        <a:t>Fonction</a:t>
                      </a:r>
                    </a:p>
                  </a:txBody>
                  <a:tcPr anchor="ctr">
                    <a:solidFill>
                      <a:srgbClr val="5D818B"/>
                    </a:solidFill>
                  </a:tcPr>
                </a:tc>
                <a:tc>
                  <a:txBody>
                    <a:bodyPr/>
                    <a:lstStyle/>
                    <a:p>
                      <a:pPr algn="ctr"/>
                      <a:r>
                        <a:rPr sz="2550" b="1">
                          <a:solidFill>
                            <a:srgbClr val="F3F0E2"/>
                          </a:solidFill>
                          <a:latin typeface="Calibri"/>
                          <a:ea typeface="Calibri"/>
                          <a:cs typeface="Calibri"/>
                        </a:rPr>
                        <a:t>État dans le prototype</a:t>
                      </a:r>
                    </a:p>
                  </a:txBody>
                  <a:tcPr anchor="ctr">
                    <a:solidFill>
                      <a:srgbClr val="5D818B"/>
                    </a:solidFill>
                  </a:tcPr>
                </a:tc>
                <a:extLst>
                  <a:ext uri="{0D108BD9-81ED-4DB2-BD59-A6C34878D82A}">
                    <a16:rowId xmlns:a16="http://schemas.microsoft.com/office/drawing/2014/main" val="10000"/>
                  </a:ext>
                </a:extLst>
              </a:tr>
              <a:tr h="833438">
                <a:tc>
                  <a:txBody>
                    <a:bodyPr/>
                    <a:lstStyle/>
                    <a:p>
                      <a:pPr algn="ctr"/>
                      <a:r>
                        <a:rPr sz="2550" b="0">
                          <a:solidFill>
                            <a:srgbClr val="414548"/>
                          </a:solidFill>
                          <a:latin typeface="Calibri"/>
                          <a:ea typeface="Calibri"/>
                          <a:cs typeface="Calibri"/>
                        </a:rPr>
                        <a:t>E1 / E2</a:t>
                      </a:r>
                    </a:p>
                  </a:txBody>
                  <a:tcPr anchor="ctr">
                    <a:solidFill>
                      <a:srgbClr val="E1E5DD"/>
                    </a:solidFill>
                  </a:tcPr>
                </a:tc>
                <a:tc>
                  <a:txBody>
                    <a:bodyPr/>
                    <a:lstStyle/>
                    <a:p>
                      <a:pPr algn="ctr"/>
                      <a:r>
                        <a:rPr sz="2550" b="0">
                          <a:solidFill>
                            <a:srgbClr val="414548"/>
                          </a:solidFill>
                          <a:latin typeface="Calibri"/>
                          <a:ea typeface="Calibri"/>
                          <a:cs typeface="Calibri"/>
                        </a:rPr>
                        <a:t>Contenu IA et textes LinkedIn / WhatsApp</a:t>
                      </a:r>
                    </a:p>
                  </a:txBody>
                  <a:tcPr anchor="ctr">
                    <a:solidFill>
                      <a:srgbClr val="E1E5DD"/>
                    </a:solidFill>
                  </a:tcPr>
                </a:tc>
                <a:tc>
                  <a:txBody>
                    <a:bodyPr/>
                    <a:lstStyle/>
                    <a:p>
                      <a:pPr algn="ctr"/>
                      <a:r>
                        <a:rPr sz="2550" b="0">
                          <a:solidFill>
                            <a:srgbClr val="414548"/>
                          </a:solidFill>
                          <a:latin typeface="Calibri"/>
                          <a:ea typeface="Calibri"/>
                          <a:cs typeface="Calibri"/>
                        </a:rPr>
                        <a:t>Génération disponible</a:t>
                      </a:r>
                    </a:p>
                  </a:txBody>
                  <a:tcPr anchor="ctr">
                    <a:solidFill>
                      <a:srgbClr val="E1E5DD"/>
                    </a:solidFill>
                  </a:tcPr>
                </a:tc>
                <a:extLst>
                  <a:ext uri="{0D108BD9-81ED-4DB2-BD59-A6C34878D82A}">
                    <a16:rowId xmlns:a16="http://schemas.microsoft.com/office/drawing/2014/main" val="10001"/>
                  </a:ext>
                </a:extLst>
              </a:tr>
              <a:tr h="833438">
                <a:tc>
                  <a:txBody>
                    <a:bodyPr/>
                    <a:lstStyle/>
                    <a:p>
                      <a:pPr algn="ctr"/>
                      <a:r>
                        <a:rPr sz="2550" b="0">
                          <a:solidFill>
                            <a:srgbClr val="414548"/>
                          </a:solidFill>
                          <a:latin typeface="Calibri"/>
                          <a:ea typeface="Calibri"/>
                          <a:cs typeface="Calibri"/>
                        </a:rPr>
                        <a:t>E3</a:t>
                      </a:r>
                    </a:p>
                  </a:txBody>
                  <a:tcPr anchor="ctr">
                    <a:solidFill>
                      <a:srgbClr val="ECEBDD"/>
                    </a:solidFill>
                  </a:tcPr>
                </a:tc>
                <a:tc>
                  <a:txBody>
                    <a:bodyPr/>
                    <a:lstStyle/>
                    <a:p>
                      <a:pPr algn="ctr"/>
                      <a:r>
                        <a:rPr sz="2550" b="0">
                          <a:solidFill>
                            <a:srgbClr val="414548"/>
                          </a:solidFill>
                          <a:latin typeface="Calibri"/>
                          <a:ea typeface="Calibri"/>
                          <a:cs typeface="Calibri"/>
                        </a:rPr>
                        <a:t>Publication sociale</a:t>
                      </a:r>
                    </a:p>
                  </a:txBody>
                  <a:tcPr anchor="ctr">
                    <a:solidFill>
                      <a:srgbClr val="ECEBDD"/>
                    </a:solidFill>
                  </a:tcPr>
                </a:tc>
                <a:tc>
                  <a:txBody>
                    <a:bodyPr/>
                    <a:lstStyle/>
                    <a:p>
                      <a:pPr algn="ctr"/>
                      <a:r>
                        <a:rPr sz="2550" b="0">
                          <a:solidFill>
                            <a:srgbClr val="414548"/>
                          </a:solidFill>
                          <a:latin typeface="Calibri"/>
                          <a:ea typeface="Calibri"/>
                          <a:cs typeface="Calibri"/>
                        </a:rPr>
                        <a:t>À développer</a:t>
                      </a:r>
                    </a:p>
                  </a:txBody>
                  <a:tcPr anchor="ctr">
                    <a:solidFill>
                      <a:srgbClr val="ECEBDD"/>
                    </a:solidFill>
                  </a:tcPr>
                </a:tc>
                <a:extLst>
                  <a:ext uri="{0D108BD9-81ED-4DB2-BD59-A6C34878D82A}">
                    <a16:rowId xmlns:a16="http://schemas.microsoft.com/office/drawing/2014/main" val="10002"/>
                  </a:ext>
                </a:extLst>
              </a:tr>
              <a:tr h="833438">
                <a:tc>
                  <a:txBody>
                    <a:bodyPr/>
                    <a:lstStyle/>
                    <a:p>
                      <a:pPr algn="ctr"/>
                      <a:r>
                        <a:rPr sz="2550" b="0">
                          <a:solidFill>
                            <a:srgbClr val="414548"/>
                          </a:solidFill>
                          <a:latin typeface="Calibri"/>
                          <a:ea typeface="Calibri"/>
                          <a:cs typeface="Calibri"/>
                        </a:rPr>
                        <a:t>E4 / E5</a:t>
                      </a:r>
                    </a:p>
                  </a:txBody>
                  <a:tcPr anchor="ctr">
                    <a:solidFill>
                      <a:srgbClr val="E1E5DD"/>
                    </a:solidFill>
                  </a:tcPr>
                </a:tc>
                <a:tc>
                  <a:txBody>
                    <a:bodyPr/>
                    <a:lstStyle/>
                    <a:p>
                      <a:pPr algn="ctr"/>
                      <a:r>
                        <a:rPr sz="2550" b="0">
                          <a:solidFill>
                            <a:srgbClr val="414548"/>
                          </a:solidFill>
                          <a:latin typeface="Calibri"/>
                          <a:ea typeface="Calibri"/>
                          <a:cs typeface="Calibri"/>
                        </a:rPr>
                        <a:t>Scoring et entretien du contact</a:t>
                      </a:r>
                    </a:p>
                  </a:txBody>
                  <a:tcPr anchor="ctr">
                    <a:solidFill>
                      <a:srgbClr val="E1E5DD"/>
                    </a:solidFill>
                  </a:tcPr>
                </a:tc>
                <a:tc>
                  <a:txBody>
                    <a:bodyPr/>
                    <a:lstStyle/>
                    <a:p>
                      <a:pPr algn="ctr"/>
                      <a:r>
                        <a:rPr sz="2550" b="0">
                          <a:solidFill>
                            <a:srgbClr val="414548"/>
                          </a:solidFill>
                          <a:latin typeface="Calibri"/>
                          <a:ea typeface="Calibri"/>
                          <a:cs typeface="Calibri"/>
                        </a:rPr>
                        <a:t>Règles et séquences disponibles</a:t>
                      </a:r>
                    </a:p>
                  </a:txBody>
                  <a:tcPr anchor="ctr">
                    <a:solidFill>
                      <a:srgbClr val="E1E5DD"/>
                    </a:solidFill>
                  </a:tcPr>
                </a:tc>
                <a:extLst>
                  <a:ext uri="{0D108BD9-81ED-4DB2-BD59-A6C34878D82A}">
                    <a16:rowId xmlns:a16="http://schemas.microsoft.com/office/drawing/2014/main" val="10003"/>
                  </a:ext>
                </a:extLst>
              </a:tr>
              <a:tr h="833438">
                <a:tc>
                  <a:txBody>
                    <a:bodyPr/>
                    <a:lstStyle/>
                    <a:p>
                      <a:pPr algn="ctr"/>
                      <a:r>
                        <a:rPr sz="2550" b="0">
                          <a:solidFill>
                            <a:srgbClr val="414548"/>
                          </a:solidFill>
                          <a:latin typeface="Calibri"/>
                          <a:ea typeface="Calibri"/>
                          <a:cs typeface="Calibri"/>
                        </a:rPr>
                        <a:t>E6 / E7</a:t>
                      </a:r>
                    </a:p>
                  </a:txBody>
                  <a:tcPr anchor="ctr">
                    <a:solidFill>
                      <a:srgbClr val="ECEBDD"/>
                    </a:solidFill>
                  </a:tcPr>
                </a:tc>
                <a:tc>
                  <a:txBody>
                    <a:bodyPr/>
                    <a:lstStyle/>
                    <a:p>
                      <a:pPr algn="ctr"/>
                      <a:r>
                        <a:rPr sz="2550" b="0">
                          <a:solidFill>
                            <a:srgbClr val="414548"/>
                          </a:solidFill>
                          <a:latin typeface="Calibri"/>
                          <a:ea typeface="Calibri"/>
                          <a:cs typeface="Calibri"/>
                        </a:rPr>
                        <a:t>Proposition et relances de closing</a:t>
                      </a:r>
                    </a:p>
                  </a:txBody>
                  <a:tcPr anchor="ctr">
                    <a:solidFill>
                      <a:srgbClr val="ECEBDD"/>
                    </a:solidFill>
                  </a:tcPr>
                </a:tc>
                <a:tc>
                  <a:txBody>
                    <a:bodyPr/>
                    <a:lstStyle/>
                    <a:p>
                      <a:pPr algn="ctr"/>
                      <a:r>
                        <a:rPr sz="2550" b="0">
                          <a:solidFill>
                            <a:srgbClr val="414548"/>
                          </a:solidFill>
                          <a:latin typeface="Calibri"/>
                          <a:ea typeface="Calibri"/>
                          <a:cs typeface="Calibri"/>
                        </a:rPr>
                        <a:t>PDF, e-mail et jalons disponibles</a:t>
                      </a:r>
                    </a:p>
                  </a:txBody>
                  <a:tcPr anchor="ctr">
                    <a:solidFill>
                      <a:srgbClr val="ECEBDD"/>
                    </a:solidFill>
                  </a:tcPr>
                </a:tc>
                <a:extLst>
                  <a:ext uri="{0D108BD9-81ED-4DB2-BD59-A6C34878D82A}">
                    <a16:rowId xmlns:a16="http://schemas.microsoft.com/office/drawing/2014/main" val="10004"/>
                  </a:ext>
                </a:extLst>
              </a:tr>
              <a:tr h="833438">
                <a:tc>
                  <a:txBody>
                    <a:bodyPr/>
                    <a:lstStyle/>
                    <a:p>
                      <a:pPr algn="ctr"/>
                      <a:r>
                        <a:rPr sz="2550" b="0">
                          <a:solidFill>
                            <a:srgbClr val="414548"/>
                          </a:solidFill>
                          <a:latin typeface="Calibri"/>
                          <a:ea typeface="Calibri"/>
                          <a:cs typeface="Calibri"/>
                        </a:rPr>
                        <a:t>E8</a:t>
                      </a:r>
                    </a:p>
                  </a:txBody>
                  <a:tcPr anchor="ctr">
                    <a:solidFill>
                      <a:srgbClr val="E1E5DD"/>
                    </a:solidFill>
                  </a:tcPr>
                </a:tc>
                <a:tc>
                  <a:txBody>
                    <a:bodyPr/>
                    <a:lstStyle/>
                    <a:p>
                      <a:pPr algn="ctr"/>
                      <a:r>
                        <a:rPr sz="2550" b="0">
                          <a:solidFill>
                            <a:srgbClr val="414548"/>
                          </a:solidFill>
                          <a:latin typeface="Calibri"/>
                          <a:ea typeface="Calibri"/>
                          <a:cs typeface="Calibri"/>
                        </a:rPr>
                        <a:t>Convention et facture</a:t>
                      </a:r>
                    </a:p>
                  </a:txBody>
                  <a:tcPr anchor="ctr">
                    <a:solidFill>
                      <a:srgbClr val="E1E5DD"/>
                    </a:solidFill>
                  </a:tcPr>
                </a:tc>
                <a:tc>
                  <a:txBody>
                    <a:bodyPr/>
                    <a:lstStyle/>
                    <a:p>
                      <a:pPr algn="ctr"/>
                      <a:r>
                        <a:rPr sz="2550" b="0" dirty="0" err="1">
                          <a:solidFill>
                            <a:srgbClr val="414548"/>
                          </a:solidFill>
                          <a:latin typeface="Calibri"/>
                          <a:ea typeface="Calibri"/>
                          <a:cs typeface="Calibri"/>
                        </a:rPr>
                        <a:t>Génération</a:t>
                      </a:r>
                      <a:r>
                        <a:rPr sz="2550" b="0" dirty="0">
                          <a:solidFill>
                            <a:srgbClr val="414548"/>
                          </a:solidFill>
                          <a:latin typeface="Calibri"/>
                          <a:ea typeface="Calibri"/>
                          <a:cs typeface="Calibri"/>
                        </a:rPr>
                        <a:t> et envoi </a:t>
                      </a:r>
                      <a:r>
                        <a:rPr sz="2550" b="0" dirty="0" err="1">
                          <a:solidFill>
                            <a:srgbClr val="414548"/>
                          </a:solidFill>
                          <a:latin typeface="Calibri"/>
                          <a:ea typeface="Calibri"/>
                          <a:cs typeface="Calibri"/>
                        </a:rPr>
                        <a:t>disponibles</a:t>
                      </a:r>
                      <a:endParaRPr sz="2550" b="0" dirty="0">
                        <a:solidFill>
                          <a:srgbClr val="414548"/>
                        </a:solidFill>
                        <a:latin typeface="Calibri"/>
                        <a:ea typeface="Calibri"/>
                        <a:cs typeface="Calibri"/>
                      </a:endParaRPr>
                    </a:p>
                  </a:txBody>
                  <a:tcPr anchor="ctr">
                    <a:solidFill>
                      <a:srgbClr val="E1E5DD"/>
                    </a:solidFill>
                  </a:tcPr>
                </a:tc>
                <a:extLst>
                  <a:ext uri="{0D108BD9-81ED-4DB2-BD59-A6C34878D82A}">
                    <a16:rowId xmlns:a16="http://schemas.microsoft.com/office/drawing/2014/main" val="10005"/>
                  </a:ext>
                </a:extLst>
              </a:tr>
            </a:tbl>
          </a:graphicData>
        </a:graphic>
      </p:graphicFrame>
      <p:sp>
        <p:nvSpPr>
          <p:cNvPr id="5" name="Les scripts doivent s’exécuter aux échéances prévues. L">
            <a:extLst>
              <a:ext uri="{FF2B5EF4-FFF2-40B4-BE49-F238E27FC236}">
                <a16:creationId xmlns:a16="http://schemas.microsoft.com/office/drawing/2014/main" id="{B5D95766-5063-4AEE-8956-19A945FB9967}"/>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686B67"/>
                </a:solidFill>
                <a:latin typeface="Calibri"/>
                <a:ea typeface="Calibri"/>
                <a:cs typeface="Calibri"/>
              </a:defRPr>
            </a:pPr>
            <a:r>
              <a:rPr sz="2025" b="0">
                <a:solidFill>
                  <a:srgbClr val="686B67"/>
                </a:solidFill>
                <a:latin typeface="Calibri"/>
                <a:ea typeface="Calibri"/>
                <a:cs typeface="Calibri"/>
              </a:rPr>
              <a:t>Les scripts doivent s’exécuter aux échéances prévues. Les réponses du prospect nécessitent un suivi humain.</a:t>
            </a:r>
          </a:p>
        </p:txBody>
      </p:sp>
    </p:spTree>
    <p:extLst>
      <p:ext uri="{BB962C8B-B14F-4D97-AF65-F5344CB8AC3E}">
        <p14:creationId xmlns:p14="http://schemas.microsoft.com/office/powerpoint/2010/main" val="2086923520"/>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3F0E2"/>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ResearchBg"/>
          <a:srcRect l="0" t="27" r="0" b="27"/>
          <a:stretch>
            <a:fillRect l="0" t="0" r="0" b="0"/>
          </a:stretch>
        </p:blipFill>
        <p:spPr>
          <a:xfrm>
            <a:off x="0" y="0"/>
            <a:ext cx="18288000" cy="10287000"/>
          </a:xfrm>
          <a:prstGeom prst="rect">
            <a:avLst/>
          </a:prstGeom>
        </p:spPr>
      </p:pic>
      <p:sp>
        <p:nvSpPr>
          <p:cNvPr id="25" name="ADG-10  /  AUTOMATISATION DU CYCLE COMMERCIAL">
            <a:extLst>
              <a:ext uri="{FF2B5EF4-FFF2-40B4-BE49-F238E27FC236}">
                <a16:creationId xmlns:a16="http://schemas.microsoft.com/office/drawing/2014/main" id="{A61C645D-6D07-4AF1-9680-85AFD04AE349}"/>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A65A43"/>
                </a:solidFill>
                <a:latin typeface="Calibri"/>
                <a:ea typeface="Calibri"/>
                <a:cs typeface="Calibri"/>
              </a:defRPr>
            </a:pPr>
            <a:r>
              <a:rPr sz="1800" b="1">
                <a:solidFill>
                  <a:srgbClr val="A65A43"/>
                </a:solidFill>
                <a:latin typeface="Calibri"/>
                <a:ea typeface="Calibri"/>
                <a:cs typeface="Calibri"/>
              </a:rPr>
              <a:t>ADG-10  /  AUTOMATISATION DU CYCLE COMMERCIAL</a:t>
            </a:r>
          </a:p>
        </p:txBody>
      </p:sp>
      <p:sp>
        <p:nvSpPr>
          <p:cNvPr id="2" name="11 / 22">
            <a:extLst>
              <a:ext uri="{FF2B5EF4-FFF2-40B4-BE49-F238E27FC236}">
                <a16:creationId xmlns:a16="http://schemas.microsoft.com/office/drawing/2014/main" id="{CF546047-32F2-4972-A468-CD69A25110BD}"/>
              </a:ext>
            </a:extLst>
          </p:cNvPr>
          <p:cNvSpPr>
            <a:spLocks noGrp="1"/>
          </p:cNvSpPr>
          <p:nvPr/>
        </p:nvSpPr>
        <p:spPr>
          <a:xfrm>
            <a:off x="14382750" y="9696450"/>
            <a:ext cx="1333500" cy="323850"/>
          </a:xfrm>
          <a:prstGeom prst="rect">
            <a:avLst/>
          </a:prstGeom>
          <a:noFill/>
          <a:ln w="0">
            <a:noFill/>
          </a:ln>
        </p:spPr>
        <p:txBody>
          <a:bodyPr wrap="square" lIns="0" tIns="0" rIns="0" bIns="0" anchor="ctr">
            <a:noAutofit/>
          </a:bodyPr>
          <a:lstStyle/>
          <a:p>
            <a:pPr algn="ctr">
              <a:defRPr sz="1650" b="1">
                <a:solidFill>
                  <a:srgbClr val="414548"/>
                </a:solidFill>
                <a:latin typeface="Calibri"/>
                <a:ea typeface="Calibri"/>
                <a:cs typeface="Calibri"/>
              </a:defRPr>
            </a:pPr>
            <a:r>
              <a:rPr sz="1650" b="1">
                <a:solidFill>
                  <a:srgbClr val="414548"/>
                </a:solidFill>
                <a:latin typeface="Calibri"/>
                <a:ea typeface="Calibri"/>
                <a:cs typeface="Calibri"/>
              </a:rPr>
              <a:t>11 / 24</a:t>
            </a:r>
          </a:p>
        </p:txBody>
      </p:sp>
      <p:sp>
        <p:nvSpPr>
          <p:cNvPr id="3" name="Cas d’utilisation">
            <a:extLst>
              <a:ext uri="{FF2B5EF4-FFF2-40B4-BE49-F238E27FC236}">
                <a16:creationId xmlns:a16="http://schemas.microsoft.com/office/drawing/2014/main" id="{0AB28C8D-7622-41D4-A459-BDDE3A4A8814}"/>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414548"/>
                </a:solidFill>
                <a:latin typeface="Calibri"/>
                <a:ea typeface="Calibri"/>
                <a:cs typeface="Calibri"/>
              </a:defRPr>
            </a:pPr>
            <a:r>
              <a:rPr sz="4650" b="1">
                <a:solidFill>
                  <a:srgbClr val="414548"/>
                </a:solidFill>
                <a:latin typeface="Calibri"/>
                <a:ea typeface="Calibri"/>
                <a:cs typeface="Calibri"/>
              </a:rPr>
              <a:t>Cas d’utilisation</a:t>
            </a:r>
          </a:p>
        </p:txBody>
      </p:sp>
      <p:sp>
        <p:nvSpPr>
          <p:cNvPr id="4" name="Système ADG-10">
            <a:extLst>
              <a:ext uri="{FF2B5EF4-FFF2-40B4-BE49-F238E27FC236}">
                <a16:creationId xmlns:a16="http://schemas.microsoft.com/office/drawing/2014/main" id="{ED12A5D8-1CC0-4939-8A9B-663D563FF89E}"/>
              </a:ext>
            </a:extLst>
          </p:cNvPr>
          <p:cNvSpPr>
            <a:spLocks noGrp="1"/>
          </p:cNvSpPr>
          <p:nvPr/>
        </p:nvSpPr>
        <p:spPr>
          <a:xfrm>
            <a:off x="4857750" y="3067050"/>
            <a:ext cx="8286750" cy="5600700"/>
          </a:xfrm>
          <a:prstGeom prst="rect">
            <a:avLst/>
          </a:prstGeom>
          <a:noFill/>
          <a:ln w="19050">
            <a:solidFill>
              <a:srgbClr val="5D818B"/>
            </a:solidFill>
          </a:ln>
        </p:spPr>
        <p:txBody>
          <a:bodyPr/>
          <a:lstStyle/>
          <a:p>
            <a:endParaRPr lang="en-GB"/>
          </a:p>
        </p:txBody>
      </p:sp>
      <p:sp>
        <p:nvSpPr>
          <p:cNvPr id="5" name="Système ADG-10">
            <a:extLst>
              <a:ext uri="{FF2B5EF4-FFF2-40B4-BE49-F238E27FC236}">
                <a16:creationId xmlns:a16="http://schemas.microsoft.com/office/drawing/2014/main" id="{B5865A18-FD92-4934-B1D5-DF78C1C5BEA6}"/>
              </a:ext>
            </a:extLst>
          </p:cNvPr>
          <p:cNvSpPr>
            <a:spLocks noGrp="1"/>
          </p:cNvSpPr>
          <p:nvPr/>
        </p:nvSpPr>
        <p:spPr>
          <a:xfrm>
            <a:off x="5334000" y="3124200"/>
            <a:ext cx="7334250" cy="457200"/>
          </a:xfrm>
          <a:prstGeom prst="rect">
            <a:avLst/>
          </a:prstGeom>
          <a:noFill/>
          <a:ln w="0">
            <a:noFill/>
          </a:ln>
        </p:spPr>
        <p:txBody>
          <a:bodyPr wrap="square" lIns="0" tIns="0" rIns="0" bIns="0" anchor="ctr">
            <a:noAutofit/>
          </a:bodyPr>
          <a:lstStyle/>
          <a:p>
            <a:pPr algn="ctr">
              <a:defRPr sz="2250" b="1">
                <a:solidFill>
                  <a:srgbClr val="414548"/>
                </a:solidFill>
                <a:latin typeface="Calibri"/>
                <a:ea typeface="Calibri"/>
                <a:cs typeface="Calibri"/>
              </a:defRPr>
            </a:pPr>
            <a:r>
              <a:rPr sz="2250" b="1">
                <a:solidFill>
                  <a:srgbClr val="414548"/>
                </a:solidFill>
                <a:latin typeface="Calibri"/>
                <a:ea typeface="Calibri"/>
                <a:cs typeface="Calibri"/>
              </a:rPr>
              <a:t>Système ADG-10</a:t>
            </a:r>
          </a:p>
        </p:txBody>
      </p:sp>
      <p:sp>
        <p:nvSpPr>
          <p:cNvPr id="6" name="Commercial">
            <a:extLst>
              <a:ext uri="{FF2B5EF4-FFF2-40B4-BE49-F238E27FC236}">
                <a16:creationId xmlns:a16="http://schemas.microsoft.com/office/drawing/2014/main" id="{BD9EA111-2922-46E4-9935-89FD675759DE}"/>
              </a:ext>
            </a:extLst>
          </p:cNvPr>
          <p:cNvSpPr>
            <a:spLocks noGrp="1"/>
          </p:cNvSpPr>
          <p:nvPr/>
        </p:nvSpPr>
        <p:spPr>
          <a:xfrm>
            <a:off x="1095375" y="4191000"/>
            <a:ext cx="2857500" cy="857250"/>
          </a:xfrm>
          <a:prstGeom prst="rect">
            <a:avLst/>
          </a:prstGeom>
          <a:solidFill>
            <a:srgbClr val="E1E5DD"/>
          </a:solidFill>
          <a:ln w="19050">
            <a:solidFill>
              <a:srgbClr val="5D818B"/>
            </a:solidFill>
          </a:ln>
        </p:spPr>
        <p:txBody>
          <a:bodyPr lIns="114300" tIns="85725" rIns="114300" bIns="85725" anchor="ctr">
            <a:noAutofit/>
          </a:bodyPr>
          <a:lstStyle/>
          <a:p>
            <a:pPr algn="ctr">
              <a:defRPr sz="2700">
                <a:solidFill>
                  <a:srgbClr val="414548"/>
                </a:solidFill>
                <a:latin typeface="Calibri"/>
                <a:ea typeface="Calibri"/>
                <a:cs typeface="Calibri"/>
              </a:defRPr>
            </a:pPr>
            <a:r>
              <a:rPr sz="2700">
                <a:solidFill>
                  <a:srgbClr val="414548"/>
                </a:solidFill>
                <a:latin typeface="Calibri"/>
                <a:ea typeface="Calibri"/>
                <a:cs typeface="Calibri"/>
              </a:rPr>
              <a:t>Commercial</a:t>
            </a:r>
          </a:p>
        </p:txBody>
      </p:sp>
      <p:sp>
        <p:nvSpPr>
          <p:cNvPr id="7" name="Administrateur">
            <a:extLst>
              <a:ext uri="{FF2B5EF4-FFF2-40B4-BE49-F238E27FC236}">
                <a16:creationId xmlns:a16="http://schemas.microsoft.com/office/drawing/2014/main" id="{917DA315-CB7C-4609-9F43-2C10C7EC1F97}"/>
              </a:ext>
            </a:extLst>
          </p:cNvPr>
          <p:cNvSpPr>
            <a:spLocks noGrp="1"/>
          </p:cNvSpPr>
          <p:nvPr/>
        </p:nvSpPr>
        <p:spPr>
          <a:xfrm>
            <a:off x="1095375" y="7067550"/>
            <a:ext cx="2857500" cy="857250"/>
          </a:xfrm>
          <a:prstGeom prst="rect">
            <a:avLst/>
          </a:prstGeom>
          <a:solidFill>
            <a:srgbClr val="E1E5DD"/>
          </a:solidFill>
          <a:ln w="19050">
            <a:solidFill>
              <a:srgbClr val="5D818B"/>
            </a:solidFill>
          </a:ln>
        </p:spPr>
        <p:txBody>
          <a:bodyPr lIns="114300" tIns="85725" rIns="114300" bIns="85725" anchor="ctr">
            <a:noAutofit/>
          </a:bodyPr>
          <a:lstStyle/>
          <a:p>
            <a:pPr algn="ctr">
              <a:defRPr sz="2550">
                <a:solidFill>
                  <a:srgbClr val="414548"/>
                </a:solidFill>
                <a:latin typeface="Calibri"/>
                <a:ea typeface="Calibri"/>
                <a:cs typeface="Calibri"/>
              </a:defRPr>
            </a:pPr>
            <a:r>
              <a:rPr sz="2550">
                <a:solidFill>
                  <a:srgbClr val="414548"/>
                </a:solidFill>
                <a:latin typeface="Calibri"/>
                <a:ea typeface="Calibri"/>
                <a:cs typeface="Calibri"/>
              </a:rPr>
              <a:t>Administrateur</a:t>
            </a:r>
          </a:p>
        </p:txBody>
      </p:sp>
      <p:sp>
        <p:nvSpPr>
          <p:cNvPr id="8" name="Consulter et filtrer les leads">
            <a:extLst>
              <a:ext uri="{FF2B5EF4-FFF2-40B4-BE49-F238E27FC236}">
                <a16:creationId xmlns:a16="http://schemas.microsoft.com/office/drawing/2014/main" id="{A4E83CC3-DEF5-4F90-AE48-7B549EA3BF29}"/>
              </a:ext>
            </a:extLst>
          </p:cNvPr>
          <p:cNvSpPr>
            <a:spLocks noGrp="1"/>
          </p:cNvSpPr>
          <p:nvPr/>
        </p:nvSpPr>
        <p:spPr>
          <a:xfrm>
            <a:off x="5381625" y="3667125"/>
            <a:ext cx="7239000" cy="762000"/>
          </a:xfrm>
          <a:prstGeom prst="ellipse">
            <a:avLst/>
          </a:prstGeom>
          <a:solidFill>
            <a:srgbClr val="E1E5DD"/>
          </a:solidFill>
          <a:ln w="19050">
            <a:solidFill>
              <a:srgbClr val="5D818B"/>
            </a:solidFill>
          </a:ln>
        </p:spPr>
        <p:txBody>
          <a:bodyPr lIns="114300" tIns="85725" rIns="114300" bIns="85725" anchor="ctr">
            <a:noAutofit/>
          </a:bodyPr>
          <a:lstStyle/>
          <a:p>
            <a:pPr algn="ctr">
              <a:defRPr sz="2400">
                <a:solidFill>
                  <a:srgbClr val="414548"/>
                </a:solidFill>
                <a:latin typeface="Calibri"/>
                <a:ea typeface="Calibri"/>
                <a:cs typeface="Calibri"/>
              </a:defRPr>
            </a:pPr>
            <a:r>
              <a:rPr sz="2400">
                <a:solidFill>
                  <a:srgbClr val="414548"/>
                </a:solidFill>
                <a:latin typeface="Calibri"/>
                <a:ea typeface="Calibri"/>
                <a:cs typeface="Calibri"/>
              </a:rPr>
              <a:t>Consulter et filtrer les leads</a:t>
            </a:r>
          </a:p>
        </p:txBody>
      </p:sp>
      <p:sp>
        <p:nvSpPr>
          <p:cNvPr id="9" name="Exécuter en simulation / réel">
            <a:extLst>
              <a:ext uri="{FF2B5EF4-FFF2-40B4-BE49-F238E27FC236}">
                <a16:creationId xmlns:a16="http://schemas.microsoft.com/office/drawing/2014/main" id="{FDBAF3B4-70B3-4F2B-928E-B3D709689DC6}"/>
              </a:ext>
            </a:extLst>
          </p:cNvPr>
          <p:cNvSpPr>
            <a:spLocks noGrp="1"/>
          </p:cNvSpPr>
          <p:nvPr/>
        </p:nvSpPr>
        <p:spPr>
          <a:xfrm>
            <a:off x="5381625" y="4638675"/>
            <a:ext cx="7239000" cy="762000"/>
          </a:xfrm>
          <a:prstGeom prst="ellipse">
            <a:avLst/>
          </a:prstGeom>
          <a:solidFill>
            <a:srgbClr val="E1E5DD"/>
          </a:solidFill>
          <a:ln w="19050">
            <a:solidFill>
              <a:srgbClr val="5D818B"/>
            </a:solidFill>
          </a:ln>
        </p:spPr>
        <p:txBody>
          <a:bodyPr lIns="114300" tIns="85725" rIns="114300" bIns="85725" anchor="ctr">
            <a:noAutofit/>
          </a:bodyPr>
          <a:lstStyle/>
          <a:p>
            <a:pPr algn="ctr">
              <a:defRPr sz="2400">
                <a:solidFill>
                  <a:srgbClr val="414548"/>
                </a:solidFill>
                <a:latin typeface="Calibri"/>
                <a:ea typeface="Calibri"/>
                <a:cs typeface="Calibri"/>
              </a:defRPr>
            </a:pPr>
            <a:r>
              <a:rPr sz="2400">
                <a:solidFill>
                  <a:srgbClr val="414548"/>
                </a:solidFill>
                <a:latin typeface="Calibri"/>
                <a:ea typeface="Calibri"/>
                <a:cs typeface="Calibri"/>
              </a:rPr>
              <a:t>Exécuter en simulation / réel</a:t>
            </a:r>
          </a:p>
        </p:txBody>
      </p:sp>
      <p:sp>
        <p:nvSpPr>
          <p:cNvPr id="10" name="Générer contenus et documents">
            <a:extLst>
              <a:ext uri="{FF2B5EF4-FFF2-40B4-BE49-F238E27FC236}">
                <a16:creationId xmlns:a16="http://schemas.microsoft.com/office/drawing/2014/main" id="{AC33E205-9147-4134-B2FB-120ECF4195EA}"/>
              </a:ext>
            </a:extLst>
          </p:cNvPr>
          <p:cNvSpPr>
            <a:spLocks noGrp="1"/>
          </p:cNvSpPr>
          <p:nvPr/>
        </p:nvSpPr>
        <p:spPr>
          <a:xfrm>
            <a:off x="5381625" y="5610225"/>
            <a:ext cx="7239000" cy="762000"/>
          </a:xfrm>
          <a:prstGeom prst="ellipse">
            <a:avLst/>
          </a:prstGeom>
          <a:solidFill>
            <a:srgbClr val="E1E5DD"/>
          </a:solidFill>
          <a:ln w="19050">
            <a:solidFill>
              <a:srgbClr val="5D818B"/>
            </a:solidFill>
          </a:ln>
        </p:spPr>
        <p:txBody>
          <a:bodyPr lIns="114300" tIns="85725" rIns="114300" bIns="85725" anchor="ctr">
            <a:noAutofit/>
          </a:bodyPr>
          <a:lstStyle/>
          <a:p>
            <a:pPr algn="ctr">
              <a:defRPr sz="2400">
                <a:solidFill>
                  <a:srgbClr val="414548"/>
                </a:solidFill>
                <a:latin typeface="Calibri"/>
                <a:ea typeface="Calibri"/>
                <a:cs typeface="Calibri"/>
              </a:defRPr>
            </a:pPr>
            <a:r>
              <a:rPr sz="2400">
                <a:solidFill>
                  <a:srgbClr val="414548"/>
                </a:solidFill>
                <a:latin typeface="Calibri"/>
                <a:ea typeface="Calibri"/>
                <a:cs typeface="Calibri"/>
              </a:rPr>
              <a:t>Générer contenus et documents</a:t>
            </a:r>
          </a:p>
        </p:txBody>
      </p:sp>
      <p:sp>
        <p:nvSpPr>
          <p:cNvPr id="11" name="Déclencher les relances">
            <a:extLst>
              <a:ext uri="{FF2B5EF4-FFF2-40B4-BE49-F238E27FC236}">
                <a16:creationId xmlns:a16="http://schemas.microsoft.com/office/drawing/2014/main" id="{76E435E5-381A-4B31-9A03-8635FFBD9EB7}"/>
              </a:ext>
            </a:extLst>
          </p:cNvPr>
          <p:cNvSpPr>
            <a:spLocks noGrp="1"/>
          </p:cNvSpPr>
          <p:nvPr/>
        </p:nvSpPr>
        <p:spPr>
          <a:xfrm>
            <a:off x="5381625" y="6581775"/>
            <a:ext cx="7239000" cy="762000"/>
          </a:xfrm>
          <a:prstGeom prst="ellipse">
            <a:avLst/>
          </a:prstGeom>
          <a:solidFill>
            <a:srgbClr val="E1E5DD"/>
          </a:solidFill>
          <a:ln w="19050">
            <a:solidFill>
              <a:srgbClr val="5D818B"/>
            </a:solidFill>
          </a:ln>
        </p:spPr>
        <p:txBody>
          <a:bodyPr lIns="114300" tIns="85725" rIns="114300" bIns="85725" anchor="ctr">
            <a:noAutofit/>
          </a:bodyPr>
          <a:lstStyle/>
          <a:p>
            <a:pPr algn="ctr">
              <a:defRPr sz="2400">
                <a:solidFill>
                  <a:srgbClr val="414548"/>
                </a:solidFill>
                <a:latin typeface="Calibri"/>
                <a:ea typeface="Calibri"/>
                <a:cs typeface="Calibri"/>
              </a:defRPr>
            </a:pPr>
            <a:r>
              <a:rPr sz="2400">
                <a:solidFill>
                  <a:srgbClr val="414548"/>
                </a:solidFill>
                <a:latin typeface="Calibri"/>
                <a:ea typeface="Calibri"/>
                <a:cs typeface="Calibri"/>
              </a:rPr>
              <a:t>Déclencher les relances</a:t>
            </a:r>
          </a:p>
        </p:txBody>
      </p:sp>
      <p:sp>
        <p:nvSpPr>
          <p:cNvPr id="12" name="Configurer et contrôler les journaux">
            <a:extLst>
              <a:ext uri="{FF2B5EF4-FFF2-40B4-BE49-F238E27FC236}">
                <a16:creationId xmlns:a16="http://schemas.microsoft.com/office/drawing/2014/main" id="{28A2D41C-FB2C-48EA-BB75-116645D3A4EE}"/>
              </a:ext>
            </a:extLst>
          </p:cNvPr>
          <p:cNvSpPr>
            <a:spLocks noGrp="1"/>
          </p:cNvSpPr>
          <p:nvPr/>
        </p:nvSpPr>
        <p:spPr>
          <a:xfrm>
            <a:off x="5381625" y="7553325"/>
            <a:ext cx="7239000" cy="762000"/>
          </a:xfrm>
          <a:prstGeom prst="ellipse">
            <a:avLst/>
          </a:prstGeom>
          <a:solidFill>
            <a:srgbClr val="E1E5DD"/>
          </a:solidFill>
          <a:ln w="19050">
            <a:solidFill>
              <a:srgbClr val="5D818B"/>
            </a:solidFill>
          </a:ln>
        </p:spPr>
        <p:txBody>
          <a:bodyPr lIns="114300" tIns="85725" rIns="114300" bIns="85725" anchor="ctr">
            <a:noAutofit/>
          </a:bodyPr>
          <a:lstStyle/>
          <a:p>
            <a:pPr algn="ctr">
              <a:defRPr sz="2400">
                <a:solidFill>
                  <a:srgbClr val="414548"/>
                </a:solidFill>
                <a:latin typeface="Calibri"/>
                <a:ea typeface="Calibri"/>
                <a:cs typeface="Calibri"/>
              </a:defRPr>
            </a:pPr>
            <a:r>
              <a:rPr sz="2400">
                <a:solidFill>
                  <a:srgbClr val="414548"/>
                </a:solidFill>
                <a:latin typeface="Calibri"/>
                <a:ea typeface="Calibri"/>
                <a:cs typeface="Calibri"/>
              </a:rPr>
              <a:t>Configurer et contrôler les journaux</a:t>
            </a:r>
          </a:p>
        </p:txBody>
      </p:sp>
      <p:cxnSp>
        <p:nvCxnSpPr>
          <p:cNvPr id="37" name="Connecteur droit avec flèche 36"/>
          <p:cNvCxnSpPr>
            <a:stCxn id="6" idx="3"/>
            <a:endCxn id="8" idx="2"/>
          </p:cNvCxnSpPr>
          <p:nvPr/>
        </p:nvCxnSpPr>
        <p:spPr>
          <a:xfrm flipV="1">
            <a:off x="3952875" y="4048125"/>
            <a:ext cx="1428750" cy="571500"/>
          </a:xfrm>
          <a:prstGeom prst="straightConnector1">
            <a:avLst/>
          </a:prstGeom>
          <a:ln w="28575">
            <a:solidFill>
              <a:srgbClr val="A65A43"/>
            </a:solidFill>
            <a:tailEnd type="triangle" w="sm" len="sm"/>
          </a:ln>
        </p:spPr>
      </p:cxnSp>
      <p:cxnSp>
        <p:nvCxnSpPr>
          <p:cNvPr id="38" name="Connecteur droit avec flèche 37"/>
          <p:cNvCxnSpPr>
            <a:stCxn id="6" idx="3"/>
            <a:endCxn id="9" idx="2"/>
          </p:cNvCxnSpPr>
          <p:nvPr/>
        </p:nvCxnSpPr>
        <p:spPr>
          <a:xfrm>
            <a:off x="3952875" y="4619625"/>
            <a:ext cx="1428750" cy="400050"/>
          </a:xfrm>
          <a:prstGeom prst="straightConnector1">
            <a:avLst/>
          </a:prstGeom>
          <a:ln w="28575">
            <a:solidFill>
              <a:srgbClr val="A65A43"/>
            </a:solidFill>
            <a:tailEnd type="triangle" w="sm" len="sm"/>
          </a:ln>
        </p:spPr>
      </p:cxnSp>
      <p:cxnSp>
        <p:nvCxnSpPr>
          <p:cNvPr id="39" name="Connecteur droit avec flèche 38"/>
          <p:cNvCxnSpPr>
            <a:stCxn id="6" idx="3"/>
            <a:endCxn id="10" idx="2"/>
          </p:cNvCxnSpPr>
          <p:nvPr/>
        </p:nvCxnSpPr>
        <p:spPr>
          <a:xfrm>
            <a:off x="3952875" y="4619625"/>
            <a:ext cx="1428750" cy="1371600"/>
          </a:xfrm>
          <a:prstGeom prst="straightConnector1">
            <a:avLst/>
          </a:prstGeom>
          <a:ln w="28575">
            <a:solidFill>
              <a:srgbClr val="A65A43"/>
            </a:solidFill>
            <a:tailEnd type="triangle" w="sm" len="sm"/>
          </a:ln>
        </p:spPr>
      </p:cxnSp>
      <p:cxnSp>
        <p:nvCxnSpPr>
          <p:cNvPr id="40" name="Connecteur droit avec flèche 39"/>
          <p:cNvCxnSpPr>
            <a:stCxn id="6" idx="3"/>
            <a:endCxn id="11" idx="2"/>
          </p:cNvCxnSpPr>
          <p:nvPr/>
        </p:nvCxnSpPr>
        <p:spPr>
          <a:xfrm>
            <a:off x="3952875" y="4619625"/>
            <a:ext cx="1428750" cy="2343150"/>
          </a:xfrm>
          <a:prstGeom prst="straightConnector1">
            <a:avLst/>
          </a:prstGeom>
          <a:ln w="28575">
            <a:solidFill>
              <a:srgbClr val="A65A43"/>
            </a:solidFill>
            <a:tailEnd type="triangle" w="sm" len="sm"/>
          </a:ln>
        </p:spPr>
      </p:cxnSp>
      <p:cxnSp>
        <p:nvCxnSpPr>
          <p:cNvPr id="41" name="Connecteur droit avec flèche 40"/>
          <p:cNvCxnSpPr>
            <a:stCxn id="7" idx="3"/>
            <a:endCxn id="12" idx="2"/>
          </p:cNvCxnSpPr>
          <p:nvPr/>
        </p:nvCxnSpPr>
        <p:spPr>
          <a:xfrm>
            <a:off x="3952875" y="7496175"/>
            <a:ext cx="1428750" cy="438150"/>
          </a:xfrm>
          <a:prstGeom prst="straightConnector1">
            <a:avLst/>
          </a:prstGeom>
          <a:ln w="28575">
            <a:solidFill>
              <a:srgbClr val="A65A43"/>
            </a:solidFill>
            <a:tailEnd type="triangle" w="sm" len="sm"/>
          </a:ln>
        </p:spPr>
      </p:cxnSp>
      <p:sp>
        <p:nvSpPr>
          <p:cNvPr id="18" name="Airtable&#10;Données CRM">
            <a:extLst>
              <a:ext uri="{FF2B5EF4-FFF2-40B4-BE49-F238E27FC236}">
                <a16:creationId xmlns:a16="http://schemas.microsoft.com/office/drawing/2014/main" id="{F634FF19-F943-4A94-B8AC-4FE7F223EF81}"/>
              </a:ext>
            </a:extLst>
          </p:cNvPr>
          <p:cNvSpPr>
            <a:spLocks noGrp="1"/>
          </p:cNvSpPr>
          <p:nvPr/>
        </p:nvSpPr>
        <p:spPr>
          <a:xfrm>
            <a:off x="14097000" y="3810000"/>
            <a:ext cx="3048000" cy="904875"/>
          </a:xfrm>
          <a:prstGeom prst="rect">
            <a:avLst/>
          </a:prstGeom>
          <a:solidFill>
            <a:srgbClr val="E1E5DD"/>
          </a:solidFill>
          <a:ln w="19050">
            <a:solidFill>
              <a:srgbClr val="5D818B"/>
            </a:solidFill>
          </a:ln>
        </p:spPr>
        <p:txBody>
          <a:bodyPr lIns="114300" tIns="85725" rIns="114300" bIns="85725" anchor="ctr">
            <a:noAutofit/>
          </a:bodyPr>
          <a:lstStyle/>
          <a:p>
            <a:pPr algn="ctr">
              <a:defRPr sz="2400">
                <a:solidFill>
                  <a:srgbClr val="414548"/>
                </a:solidFill>
                <a:latin typeface="Calibri"/>
                <a:ea typeface="Calibri"/>
                <a:cs typeface="Calibri"/>
              </a:defRPr>
            </a:pPr>
            <a:r>
              <a:rPr sz="2400">
                <a:solidFill>
                  <a:srgbClr val="414548"/>
                </a:solidFill>
                <a:latin typeface="Calibri"/>
                <a:ea typeface="Calibri"/>
                <a:cs typeface="Calibri"/>
              </a:rPr>
              <a:t>Airtable</a:t>
            </a:r>
          </a:p>
          <a:p>
            <a:pPr algn="ctr">
              <a:defRPr sz="2400">
                <a:solidFill>
                  <a:srgbClr val="414548"/>
                </a:solidFill>
                <a:latin typeface="Calibri"/>
                <a:ea typeface="Calibri"/>
                <a:cs typeface="Calibri"/>
              </a:defRPr>
            </a:pPr>
            <a:r>
              <a:rPr sz="2400">
                <a:solidFill>
                  <a:srgbClr val="414548"/>
                </a:solidFill>
                <a:latin typeface="Calibri"/>
                <a:ea typeface="Calibri"/>
                <a:cs typeface="Calibri"/>
              </a:rPr>
              <a:t>Données CRM</a:t>
            </a:r>
          </a:p>
        </p:txBody>
      </p:sp>
      <p:sp>
        <p:nvSpPr>
          <p:cNvPr id="19" name="Groq&#10;Génération IA">
            <a:extLst>
              <a:ext uri="{FF2B5EF4-FFF2-40B4-BE49-F238E27FC236}">
                <a16:creationId xmlns:a16="http://schemas.microsoft.com/office/drawing/2014/main" id="{C052D946-997E-43B7-A0E3-A78946F89719}"/>
              </a:ext>
            </a:extLst>
          </p:cNvPr>
          <p:cNvSpPr>
            <a:spLocks noGrp="1"/>
          </p:cNvSpPr>
          <p:nvPr/>
        </p:nvSpPr>
        <p:spPr>
          <a:xfrm>
            <a:off x="14097000" y="5657850"/>
            <a:ext cx="3048000" cy="904875"/>
          </a:xfrm>
          <a:prstGeom prst="rect">
            <a:avLst/>
          </a:prstGeom>
          <a:solidFill>
            <a:srgbClr val="E1E5DD"/>
          </a:solidFill>
          <a:ln w="19050">
            <a:solidFill>
              <a:srgbClr val="5D818B"/>
            </a:solidFill>
          </a:ln>
        </p:spPr>
        <p:txBody>
          <a:bodyPr lIns="114300" tIns="85725" rIns="114300" bIns="85725" anchor="ctr">
            <a:noAutofit/>
          </a:bodyPr>
          <a:lstStyle/>
          <a:p>
            <a:pPr algn="ctr">
              <a:defRPr sz="2400">
                <a:solidFill>
                  <a:srgbClr val="414548"/>
                </a:solidFill>
                <a:latin typeface="Calibri"/>
                <a:ea typeface="Calibri"/>
                <a:cs typeface="Calibri"/>
              </a:defRPr>
            </a:pPr>
            <a:r>
              <a:rPr sz="2400">
                <a:solidFill>
                  <a:srgbClr val="414548"/>
                </a:solidFill>
                <a:latin typeface="Calibri"/>
                <a:ea typeface="Calibri"/>
                <a:cs typeface="Calibri"/>
              </a:rPr>
              <a:t>Groq</a:t>
            </a:r>
          </a:p>
          <a:p>
            <a:pPr algn="ctr">
              <a:defRPr sz="2400">
                <a:solidFill>
                  <a:srgbClr val="414548"/>
                </a:solidFill>
                <a:latin typeface="Calibri"/>
                <a:ea typeface="Calibri"/>
                <a:cs typeface="Calibri"/>
              </a:defRPr>
            </a:pPr>
            <a:r>
              <a:rPr sz="2400">
                <a:solidFill>
                  <a:srgbClr val="414548"/>
                </a:solidFill>
                <a:latin typeface="Calibri"/>
                <a:ea typeface="Calibri"/>
                <a:cs typeface="Calibri"/>
              </a:rPr>
              <a:t>Génération IA</a:t>
            </a:r>
          </a:p>
        </p:txBody>
      </p:sp>
      <p:sp>
        <p:nvSpPr>
          <p:cNvPr id="20" name="SMTP / navigateur&#10;Communication">
            <a:extLst>
              <a:ext uri="{FF2B5EF4-FFF2-40B4-BE49-F238E27FC236}">
                <a16:creationId xmlns:a16="http://schemas.microsoft.com/office/drawing/2014/main" id="{E12D8AB8-D35B-4DF4-83DD-D915FBBC77E5}"/>
              </a:ext>
            </a:extLst>
          </p:cNvPr>
          <p:cNvSpPr>
            <a:spLocks noGrp="1"/>
          </p:cNvSpPr>
          <p:nvPr/>
        </p:nvSpPr>
        <p:spPr>
          <a:xfrm>
            <a:off x="14097000" y="7524750"/>
            <a:ext cx="3048000" cy="904875"/>
          </a:xfrm>
          <a:prstGeom prst="rect">
            <a:avLst/>
          </a:prstGeom>
          <a:solidFill>
            <a:srgbClr val="E1E5DD"/>
          </a:solidFill>
          <a:ln w="19050">
            <a:solidFill>
              <a:srgbClr val="5D818B"/>
            </a:solidFill>
          </a:ln>
        </p:spPr>
        <p:txBody>
          <a:bodyPr lIns="114300" tIns="85725" rIns="114300" bIns="85725" anchor="ctr">
            <a:noAutofit/>
          </a:bodyPr>
          <a:lstStyle/>
          <a:p>
            <a:pPr algn="ctr">
              <a:defRPr sz="2400">
                <a:solidFill>
                  <a:srgbClr val="414548"/>
                </a:solidFill>
                <a:latin typeface="Calibri"/>
                <a:ea typeface="Calibri"/>
                <a:cs typeface="Calibri"/>
              </a:defRPr>
            </a:pPr>
            <a:r>
              <a:rPr sz="2400">
                <a:solidFill>
                  <a:srgbClr val="414548"/>
                </a:solidFill>
                <a:latin typeface="Calibri"/>
                <a:ea typeface="Calibri"/>
                <a:cs typeface="Calibri"/>
              </a:rPr>
              <a:t>SMTP / navigateur</a:t>
            </a:r>
          </a:p>
          <a:p>
            <a:pPr algn="ctr">
              <a:defRPr sz="2400">
                <a:solidFill>
                  <a:srgbClr val="414548"/>
                </a:solidFill>
                <a:latin typeface="Calibri"/>
                <a:ea typeface="Calibri"/>
                <a:cs typeface="Calibri"/>
              </a:defRPr>
            </a:pPr>
            <a:r>
              <a:rPr sz="2400">
                <a:solidFill>
                  <a:srgbClr val="414548"/>
                </a:solidFill>
                <a:latin typeface="Calibri"/>
                <a:ea typeface="Calibri"/>
                <a:cs typeface="Calibri"/>
              </a:rPr>
              <a:t>Communication</a:t>
            </a:r>
          </a:p>
        </p:txBody>
      </p:sp>
      <p:cxnSp>
        <p:nvCxnSpPr>
          <p:cNvPr id="45" name="Connecteur droit avec flèche 44"/>
          <p:cNvCxnSpPr>
            <a:stCxn id="8" idx="6"/>
            <a:endCxn id="18" idx="1"/>
          </p:cNvCxnSpPr>
          <p:nvPr/>
        </p:nvCxnSpPr>
        <p:spPr>
          <a:xfrm>
            <a:off x="12620625" y="4048125"/>
            <a:ext cx="1476375" cy="214313"/>
          </a:xfrm>
          <a:prstGeom prst="straightConnector1">
            <a:avLst/>
          </a:prstGeom>
          <a:ln w="28575">
            <a:solidFill>
              <a:srgbClr val="A65A43"/>
            </a:solidFill>
            <a:tailEnd type="triangle" w="sm" len="sm"/>
          </a:ln>
        </p:spPr>
      </p:cxnSp>
      <p:cxnSp>
        <p:nvCxnSpPr>
          <p:cNvPr id="46" name="Connecteur droit avec flèche 45"/>
          <p:cNvCxnSpPr>
            <a:stCxn id="10" idx="6"/>
            <a:endCxn id="19" idx="1"/>
          </p:cNvCxnSpPr>
          <p:nvPr/>
        </p:nvCxnSpPr>
        <p:spPr>
          <a:xfrm>
            <a:off x="12620625" y="5991225"/>
            <a:ext cx="1476375" cy="119063"/>
          </a:xfrm>
          <a:prstGeom prst="straightConnector1">
            <a:avLst/>
          </a:prstGeom>
          <a:ln w="28575">
            <a:solidFill>
              <a:srgbClr val="A65A43"/>
            </a:solidFill>
            <a:tailEnd type="triangle" w="sm" len="sm"/>
          </a:ln>
        </p:spPr>
      </p:cxnSp>
      <p:cxnSp>
        <p:nvCxnSpPr>
          <p:cNvPr id="47" name="Connecteur droit avec flèche 46"/>
          <p:cNvCxnSpPr>
            <a:stCxn id="11" idx="6"/>
            <a:endCxn id="20" idx="1"/>
          </p:cNvCxnSpPr>
          <p:nvPr/>
        </p:nvCxnSpPr>
        <p:spPr>
          <a:xfrm>
            <a:off x="12620625" y="6962775"/>
            <a:ext cx="1476375" cy="1014413"/>
          </a:xfrm>
          <a:prstGeom prst="straightConnector1">
            <a:avLst/>
          </a:prstGeom>
          <a:ln w="28575">
            <a:solidFill>
              <a:srgbClr val="A65A43"/>
            </a:solidFill>
            <a:tailEnd type="triangle" w="sm" len="sm"/>
          </a:ln>
        </p:spPr>
      </p:cxnSp>
      <p:sp>
        <p:nvSpPr>
          <p:cNvPr id="24" name="Rôles métier du rapport. Le prototype ne dispose pas en">
            <a:extLst>
              <a:ext uri="{FF2B5EF4-FFF2-40B4-BE49-F238E27FC236}">
                <a16:creationId xmlns:a16="http://schemas.microsoft.com/office/drawing/2014/main" id="{CE65D6B8-F897-4FD6-9974-0F42A8261599}"/>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686B67"/>
                </a:solidFill>
                <a:latin typeface="Calibri"/>
                <a:ea typeface="Calibri"/>
                <a:cs typeface="Calibri"/>
              </a:defRPr>
            </a:pPr>
            <a:r>
              <a:rPr sz="2025" b="0">
                <a:solidFill>
                  <a:srgbClr val="686B67"/>
                </a:solidFill>
                <a:latin typeface="Calibri"/>
                <a:ea typeface="Calibri"/>
                <a:cs typeface="Calibri"/>
              </a:rPr>
              <a:t>Rôles métier du rapport. Le prototype ne dispose pas encore de comptes applicatifs distincts.</a:t>
            </a:r>
          </a:p>
        </p:txBody>
      </p:sp>
    </p:spTree>
    <p:extLst>
      <p:ext uri="{BB962C8B-B14F-4D97-AF65-F5344CB8AC3E}">
        <p14:creationId xmlns:p14="http://schemas.microsoft.com/office/powerpoint/2010/main" val="100904839"/>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3F0E2"/>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ResearchBg"/>
          <a:srcRect l="0" t="27" r="0" b="27"/>
          <a:stretch>
            <a:fillRect l="0" t="0" r="0" b="0"/>
          </a:stretch>
        </p:blipFill>
        <p:spPr>
          <a:xfrm>
            <a:off x="0" y="0"/>
            <a:ext cx="18288000" cy="10287000"/>
          </a:xfrm>
          <a:prstGeom prst="rect">
            <a:avLst/>
          </a:prstGeom>
        </p:spPr>
      </p:pic>
      <p:sp>
        <p:nvSpPr>
          <p:cNvPr id="15" name="ADG-10  /  AUTOMATISATION DU CYCLE COMMERCIAL">
            <a:extLst>
              <a:ext uri="{FF2B5EF4-FFF2-40B4-BE49-F238E27FC236}">
                <a16:creationId xmlns:a16="http://schemas.microsoft.com/office/drawing/2014/main" id="{2612F9CD-1064-4D53-9C6E-565C0438F28F}"/>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A65A43"/>
                </a:solidFill>
                <a:latin typeface="Calibri"/>
                <a:ea typeface="Calibri"/>
                <a:cs typeface="Calibri"/>
              </a:defRPr>
            </a:pPr>
            <a:r>
              <a:rPr sz="1800" b="1">
                <a:solidFill>
                  <a:srgbClr val="A65A43"/>
                </a:solidFill>
                <a:latin typeface="Calibri"/>
                <a:ea typeface="Calibri"/>
                <a:cs typeface="Calibri"/>
              </a:rPr>
              <a:t>ADG-10  /  AUTOMATISATION DU CYCLE COMMERCIAL</a:t>
            </a:r>
          </a:p>
        </p:txBody>
      </p:sp>
      <p:sp>
        <p:nvSpPr>
          <p:cNvPr id="2" name="12 / 22">
            <a:extLst>
              <a:ext uri="{FF2B5EF4-FFF2-40B4-BE49-F238E27FC236}">
                <a16:creationId xmlns:a16="http://schemas.microsoft.com/office/drawing/2014/main" id="{EA6D5E10-9F9E-4B57-8B74-E848B488E863}"/>
              </a:ext>
            </a:extLst>
          </p:cNvPr>
          <p:cNvSpPr>
            <a:spLocks noGrp="1"/>
          </p:cNvSpPr>
          <p:nvPr/>
        </p:nvSpPr>
        <p:spPr>
          <a:xfrm>
            <a:off x="14382750" y="9696450"/>
            <a:ext cx="1333500" cy="323850"/>
          </a:xfrm>
          <a:prstGeom prst="rect">
            <a:avLst/>
          </a:prstGeom>
          <a:noFill/>
          <a:ln w="0">
            <a:noFill/>
          </a:ln>
        </p:spPr>
        <p:txBody>
          <a:bodyPr wrap="square" lIns="0" tIns="0" rIns="0" bIns="0" anchor="ctr">
            <a:noAutofit/>
          </a:bodyPr>
          <a:lstStyle/>
          <a:p>
            <a:pPr algn="ctr">
              <a:defRPr sz="1650" b="1">
                <a:solidFill>
                  <a:srgbClr val="414548"/>
                </a:solidFill>
                <a:latin typeface="Calibri"/>
                <a:ea typeface="Calibri"/>
                <a:cs typeface="Calibri"/>
              </a:defRPr>
            </a:pPr>
            <a:r>
              <a:rPr sz="1650" b="1">
                <a:solidFill>
                  <a:srgbClr val="414548"/>
                </a:solidFill>
                <a:latin typeface="Calibri"/>
                <a:ea typeface="Calibri"/>
                <a:cs typeface="Calibri"/>
              </a:rPr>
              <a:t>12 / 24</a:t>
            </a:r>
          </a:p>
        </p:txBody>
      </p:sp>
      <p:sp>
        <p:nvSpPr>
          <p:cNvPr id="3" name="Modèle conceptuel des données">
            <a:extLst>
              <a:ext uri="{FF2B5EF4-FFF2-40B4-BE49-F238E27FC236}">
                <a16:creationId xmlns:a16="http://schemas.microsoft.com/office/drawing/2014/main" id="{E224A7B5-BA1F-4A57-944B-ADB07C00E966}"/>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414548"/>
                </a:solidFill>
                <a:latin typeface="Calibri"/>
                <a:ea typeface="Calibri"/>
                <a:cs typeface="Calibri"/>
              </a:defRPr>
            </a:pPr>
            <a:r>
              <a:rPr sz="4650" b="1">
                <a:solidFill>
                  <a:srgbClr val="414548"/>
                </a:solidFill>
                <a:latin typeface="Calibri"/>
                <a:ea typeface="Calibri"/>
                <a:cs typeface="Calibri"/>
              </a:rPr>
              <a:t>Modèle conceptuel des données</a:t>
            </a:r>
          </a:p>
        </p:txBody>
      </p:sp>
      <p:sp>
        <p:nvSpPr>
          <p:cNvPr id="4" name="Formation&#10;id, titre, durée&#10;prix, pitch, objectifs">
            <a:extLst>
              <a:ext uri="{FF2B5EF4-FFF2-40B4-BE49-F238E27FC236}">
                <a16:creationId xmlns:a16="http://schemas.microsoft.com/office/drawing/2014/main" id="{A409B344-7742-452C-BCE7-1BD3CEB7DF56}"/>
              </a:ext>
            </a:extLst>
          </p:cNvPr>
          <p:cNvSpPr>
            <a:spLocks noGrp="1"/>
          </p:cNvSpPr>
          <p:nvPr/>
        </p:nvSpPr>
        <p:spPr>
          <a:xfrm>
            <a:off x="1381125" y="3333750"/>
            <a:ext cx="5810250" cy="1905000"/>
          </a:xfrm>
          <a:prstGeom prst="rect">
            <a:avLst/>
          </a:prstGeom>
          <a:solidFill>
            <a:srgbClr val="E1E5DD"/>
          </a:solidFill>
          <a:ln w="19050">
            <a:solidFill>
              <a:srgbClr val="5D818B"/>
            </a:solidFill>
          </a:ln>
        </p:spPr>
        <p:txBody>
          <a:bodyPr lIns="114300" tIns="85725" rIns="114300" bIns="85725" anchor="ctr">
            <a:noAutofit/>
          </a:bodyPr>
          <a:lstStyle/>
          <a:p>
            <a:pPr algn="ctr">
              <a:defRPr sz="3000">
                <a:solidFill>
                  <a:srgbClr val="414548"/>
                </a:solidFill>
                <a:latin typeface="Calibri"/>
                <a:ea typeface="Calibri"/>
                <a:cs typeface="Calibri"/>
              </a:defRPr>
            </a:pPr>
            <a:r>
              <a:rPr sz="3000">
                <a:solidFill>
                  <a:srgbClr val="414548"/>
                </a:solidFill>
                <a:latin typeface="Calibri"/>
                <a:ea typeface="Calibri"/>
                <a:cs typeface="Calibri"/>
              </a:rPr>
              <a:t>Formation</a:t>
            </a:r>
          </a:p>
          <a:p>
            <a:pPr algn="ctr">
              <a:defRPr sz="3000">
                <a:solidFill>
                  <a:srgbClr val="414548"/>
                </a:solidFill>
                <a:latin typeface="Calibri"/>
                <a:ea typeface="Calibri"/>
                <a:cs typeface="Calibri"/>
              </a:defRPr>
            </a:pPr>
            <a:r>
              <a:rPr sz="3000">
                <a:solidFill>
                  <a:srgbClr val="414548"/>
                </a:solidFill>
                <a:latin typeface="Calibri"/>
                <a:ea typeface="Calibri"/>
                <a:cs typeface="Calibri"/>
              </a:rPr>
              <a:t>id, titre, durée</a:t>
            </a:r>
          </a:p>
          <a:p>
            <a:pPr algn="ctr">
              <a:defRPr sz="3000">
                <a:solidFill>
                  <a:srgbClr val="414548"/>
                </a:solidFill>
                <a:latin typeface="Calibri"/>
                <a:ea typeface="Calibri"/>
                <a:cs typeface="Calibri"/>
              </a:defRPr>
            </a:pPr>
            <a:r>
              <a:rPr sz="3000">
                <a:solidFill>
                  <a:srgbClr val="414548"/>
                </a:solidFill>
                <a:latin typeface="Calibri"/>
                <a:ea typeface="Calibri"/>
                <a:cs typeface="Calibri"/>
              </a:rPr>
              <a:t>prix, pitch, objectifs</a:t>
            </a:r>
          </a:p>
        </p:txBody>
      </p:sp>
      <p:sp>
        <p:nvSpPr>
          <p:cNvPr id="5" name="Lead&#10;id, coordonnées, score&#10;statut, formation, dates">
            <a:extLst>
              <a:ext uri="{FF2B5EF4-FFF2-40B4-BE49-F238E27FC236}">
                <a16:creationId xmlns:a16="http://schemas.microsoft.com/office/drawing/2014/main" id="{7C465DAB-0742-4872-9483-B6C2AA781195}"/>
              </a:ext>
            </a:extLst>
          </p:cNvPr>
          <p:cNvSpPr>
            <a:spLocks noGrp="1"/>
          </p:cNvSpPr>
          <p:nvPr/>
        </p:nvSpPr>
        <p:spPr>
          <a:xfrm>
            <a:off x="10810875" y="3333750"/>
            <a:ext cx="5810250" cy="1905000"/>
          </a:xfrm>
          <a:prstGeom prst="rect">
            <a:avLst/>
          </a:prstGeom>
          <a:solidFill>
            <a:srgbClr val="E1E5DD"/>
          </a:solidFill>
          <a:ln w="19050">
            <a:solidFill>
              <a:srgbClr val="5D818B"/>
            </a:solidFill>
          </a:ln>
        </p:spPr>
        <p:txBody>
          <a:bodyPr lIns="114300" tIns="85725" rIns="114300" bIns="85725" anchor="ctr">
            <a:noAutofit/>
          </a:bodyPr>
          <a:lstStyle/>
          <a:p>
            <a:pPr algn="ctr">
              <a:defRPr sz="3000">
                <a:solidFill>
                  <a:srgbClr val="414548"/>
                </a:solidFill>
                <a:latin typeface="Calibri"/>
                <a:ea typeface="Calibri"/>
                <a:cs typeface="Calibri"/>
              </a:defRPr>
            </a:pPr>
            <a:r>
              <a:rPr sz="3000">
                <a:solidFill>
                  <a:srgbClr val="414548"/>
                </a:solidFill>
                <a:latin typeface="Calibri"/>
                <a:ea typeface="Calibri"/>
                <a:cs typeface="Calibri"/>
              </a:rPr>
              <a:t>Lead</a:t>
            </a:r>
          </a:p>
          <a:p>
            <a:pPr algn="ctr">
              <a:defRPr sz="3000">
                <a:solidFill>
                  <a:srgbClr val="414548"/>
                </a:solidFill>
                <a:latin typeface="Calibri"/>
                <a:ea typeface="Calibri"/>
                <a:cs typeface="Calibri"/>
              </a:defRPr>
            </a:pPr>
            <a:r>
              <a:rPr sz="3000">
                <a:solidFill>
                  <a:srgbClr val="414548"/>
                </a:solidFill>
                <a:latin typeface="Calibri"/>
                <a:ea typeface="Calibri"/>
                <a:cs typeface="Calibri"/>
              </a:rPr>
              <a:t>id, coordonnées, score</a:t>
            </a:r>
          </a:p>
          <a:p>
            <a:pPr algn="ctr">
              <a:defRPr sz="3000">
                <a:solidFill>
                  <a:srgbClr val="414548"/>
                </a:solidFill>
                <a:latin typeface="Calibri"/>
                <a:ea typeface="Calibri"/>
                <a:cs typeface="Calibri"/>
              </a:defRPr>
            </a:pPr>
            <a:r>
              <a:rPr sz="3000">
                <a:solidFill>
                  <a:srgbClr val="414548"/>
                </a:solidFill>
                <a:latin typeface="Calibri"/>
                <a:ea typeface="Calibri"/>
                <a:cs typeface="Calibri"/>
              </a:rPr>
              <a:t>statut, formation, dates</a:t>
            </a:r>
          </a:p>
        </p:txBody>
      </p:sp>
      <p:cxnSp>
        <p:nvCxnSpPr>
          <p:cNvPr id="20" name="Connecteur droit avec flèche 19"/>
          <p:cNvCxnSpPr>
            <a:stCxn id="4" idx="3"/>
            <a:endCxn id="5" idx="1"/>
          </p:cNvCxnSpPr>
          <p:nvPr/>
        </p:nvCxnSpPr>
        <p:spPr>
          <a:xfrm>
            <a:off x="7191375" y="4286250"/>
            <a:ext cx="3619500" cy="0"/>
          </a:xfrm>
          <a:prstGeom prst="straightConnector1">
            <a:avLst/>
          </a:prstGeom>
          <a:ln w="28575">
            <a:solidFill>
              <a:srgbClr val="A65A43"/>
            </a:solidFill>
            <a:tailEnd type="triangle" w="sm" len="sm"/>
          </a:ln>
        </p:spPr>
      </p:cxnSp>
      <p:sp>
        <p:nvSpPr>
          <p:cNvPr id="7" name="1                         0..*">
            <a:extLst>
              <a:ext uri="{FF2B5EF4-FFF2-40B4-BE49-F238E27FC236}">
                <a16:creationId xmlns:a16="http://schemas.microsoft.com/office/drawing/2014/main" id="{5E70FE42-D0E7-4AD6-8DBA-69AA51605B44}"/>
              </a:ext>
            </a:extLst>
          </p:cNvPr>
          <p:cNvSpPr>
            <a:spLocks noGrp="1"/>
          </p:cNvSpPr>
          <p:nvPr/>
        </p:nvSpPr>
        <p:spPr>
          <a:xfrm>
            <a:off x="7477125" y="3810000"/>
            <a:ext cx="3048000" cy="476250"/>
          </a:xfrm>
          <a:prstGeom prst="rect">
            <a:avLst/>
          </a:prstGeom>
          <a:noFill/>
          <a:ln w="0">
            <a:noFill/>
          </a:ln>
        </p:spPr>
        <p:txBody>
          <a:bodyPr wrap="square" lIns="0" tIns="0" rIns="0" bIns="0" anchor="ctr">
            <a:noAutofit/>
          </a:bodyPr>
          <a:lstStyle/>
          <a:p>
            <a:pPr algn="ctr">
              <a:defRPr sz="2325" b="0">
                <a:solidFill>
                  <a:srgbClr val="414548"/>
                </a:solidFill>
                <a:latin typeface="Calibri"/>
                <a:ea typeface="Calibri"/>
                <a:cs typeface="Calibri"/>
              </a:defRPr>
            </a:pPr>
            <a:r>
              <a:rPr sz="2325" b="0">
                <a:solidFill>
                  <a:srgbClr val="414548"/>
                </a:solidFill>
                <a:latin typeface="Calibri"/>
                <a:ea typeface="Calibri"/>
                <a:cs typeface="Calibri"/>
              </a:rPr>
              <a:t>1                         0..*</a:t>
            </a:r>
          </a:p>
        </p:txBody>
      </p:sp>
      <p:sp>
        <p:nvSpPr>
          <p:cNvPr id="8" name="Proposition&#10;référence, date&#10;PDF local">
            <a:extLst>
              <a:ext uri="{FF2B5EF4-FFF2-40B4-BE49-F238E27FC236}">
                <a16:creationId xmlns:a16="http://schemas.microsoft.com/office/drawing/2014/main" id="{E8ABD35F-7962-4282-8E60-9EDDDD482D6E}"/>
              </a:ext>
            </a:extLst>
          </p:cNvPr>
          <p:cNvSpPr>
            <a:spLocks noGrp="1"/>
          </p:cNvSpPr>
          <p:nvPr/>
        </p:nvSpPr>
        <p:spPr>
          <a:xfrm>
            <a:off x="1381125" y="6715125"/>
            <a:ext cx="4572000" cy="1619250"/>
          </a:xfrm>
          <a:prstGeom prst="rect">
            <a:avLst/>
          </a:prstGeom>
          <a:solidFill>
            <a:srgbClr val="E1E5DD"/>
          </a:solidFill>
          <a:ln w="19050">
            <a:solidFill>
              <a:srgbClr val="5D818B"/>
            </a:solidFill>
          </a:ln>
        </p:spPr>
        <p:txBody>
          <a:bodyPr lIns="114300" tIns="85725" rIns="114300" bIns="85725" anchor="ctr">
            <a:noAutofit/>
          </a:bodyPr>
          <a:lstStyle/>
          <a:p>
            <a:pPr algn="ctr">
              <a:defRPr sz="2700">
                <a:solidFill>
                  <a:srgbClr val="414548"/>
                </a:solidFill>
                <a:latin typeface="Calibri"/>
                <a:ea typeface="Calibri"/>
                <a:cs typeface="Calibri"/>
              </a:defRPr>
            </a:pPr>
            <a:r>
              <a:rPr sz="2700">
                <a:solidFill>
                  <a:srgbClr val="414548"/>
                </a:solidFill>
                <a:latin typeface="Calibri"/>
                <a:ea typeface="Calibri"/>
                <a:cs typeface="Calibri"/>
              </a:rPr>
              <a:t>Proposition</a:t>
            </a:r>
          </a:p>
          <a:p>
            <a:pPr algn="ctr">
              <a:defRPr sz="2700">
                <a:solidFill>
                  <a:srgbClr val="414548"/>
                </a:solidFill>
                <a:latin typeface="Calibri"/>
                <a:ea typeface="Calibri"/>
                <a:cs typeface="Calibri"/>
              </a:defRPr>
            </a:pPr>
            <a:r>
              <a:rPr sz="2700">
                <a:solidFill>
                  <a:srgbClr val="414548"/>
                </a:solidFill>
                <a:latin typeface="Calibri"/>
                <a:ea typeface="Calibri"/>
                <a:cs typeface="Calibri"/>
              </a:rPr>
              <a:t>référence, date</a:t>
            </a:r>
          </a:p>
          <a:p>
            <a:pPr algn="ctr">
              <a:defRPr sz="2700">
                <a:solidFill>
                  <a:srgbClr val="414548"/>
                </a:solidFill>
                <a:latin typeface="Calibri"/>
                <a:ea typeface="Calibri"/>
                <a:cs typeface="Calibri"/>
              </a:defRPr>
            </a:pPr>
            <a:r>
              <a:rPr sz="2700">
                <a:solidFill>
                  <a:srgbClr val="414548"/>
                </a:solidFill>
                <a:latin typeface="Calibri"/>
                <a:ea typeface="Calibri"/>
                <a:cs typeface="Calibri"/>
              </a:rPr>
              <a:t>PDF local</a:t>
            </a:r>
          </a:p>
        </p:txBody>
      </p:sp>
      <p:sp>
        <p:nvSpPr>
          <p:cNvPr id="9" name="Convention / Facture&#10;numéro, montants&#10;PDF local">
            <a:extLst>
              <a:ext uri="{FF2B5EF4-FFF2-40B4-BE49-F238E27FC236}">
                <a16:creationId xmlns:a16="http://schemas.microsoft.com/office/drawing/2014/main" id="{B9925B34-6AAF-4DEA-B36E-0C2E6BBFAB86}"/>
              </a:ext>
            </a:extLst>
          </p:cNvPr>
          <p:cNvSpPr>
            <a:spLocks noGrp="1"/>
          </p:cNvSpPr>
          <p:nvPr/>
        </p:nvSpPr>
        <p:spPr>
          <a:xfrm>
            <a:off x="6715125" y="6715125"/>
            <a:ext cx="4762500" cy="1619250"/>
          </a:xfrm>
          <a:prstGeom prst="rect">
            <a:avLst/>
          </a:prstGeom>
          <a:solidFill>
            <a:srgbClr val="E1E5DD"/>
          </a:solidFill>
          <a:ln w="19050">
            <a:solidFill>
              <a:srgbClr val="5D818B"/>
            </a:solidFill>
          </a:ln>
        </p:spPr>
        <p:txBody>
          <a:bodyPr lIns="114300" tIns="85725" rIns="114300" bIns="85725" anchor="ctr">
            <a:noAutofit/>
          </a:bodyPr>
          <a:lstStyle/>
          <a:p>
            <a:pPr algn="ctr">
              <a:defRPr sz="2700">
                <a:solidFill>
                  <a:srgbClr val="414548"/>
                </a:solidFill>
                <a:latin typeface="Calibri"/>
                <a:ea typeface="Calibri"/>
                <a:cs typeface="Calibri"/>
              </a:defRPr>
            </a:pPr>
            <a:r>
              <a:rPr sz="2700">
                <a:solidFill>
                  <a:srgbClr val="414548"/>
                </a:solidFill>
                <a:latin typeface="Calibri"/>
                <a:ea typeface="Calibri"/>
                <a:cs typeface="Calibri"/>
              </a:rPr>
              <a:t>Convention / Facture</a:t>
            </a:r>
          </a:p>
          <a:p>
            <a:pPr algn="ctr">
              <a:defRPr sz="2700">
                <a:solidFill>
                  <a:srgbClr val="414548"/>
                </a:solidFill>
                <a:latin typeface="Calibri"/>
                <a:ea typeface="Calibri"/>
                <a:cs typeface="Calibri"/>
              </a:defRPr>
            </a:pPr>
            <a:r>
              <a:rPr sz="2700">
                <a:solidFill>
                  <a:srgbClr val="414548"/>
                </a:solidFill>
                <a:latin typeface="Calibri"/>
                <a:ea typeface="Calibri"/>
                <a:cs typeface="Calibri"/>
              </a:rPr>
              <a:t>numéro, montants</a:t>
            </a:r>
          </a:p>
          <a:p>
            <a:pPr algn="ctr">
              <a:defRPr sz="2700">
                <a:solidFill>
                  <a:srgbClr val="414548"/>
                </a:solidFill>
                <a:latin typeface="Calibri"/>
                <a:ea typeface="Calibri"/>
                <a:cs typeface="Calibri"/>
              </a:defRPr>
            </a:pPr>
            <a:r>
              <a:rPr sz="2700">
                <a:solidFill>
                  <a:srgbClr val="414548"/>
                </a:solidFill>
                <a:latin typeface="Calibri"/>
                <a:ea typeface="Calibri"/>
                <a:cs typeface="Calibri"/>
              </a:rPr>
              <a:t>PDF local</a:t>
            </a:r>
          </a:p>
        </p:txBody>
      </p:sp>
      <p:sp>
        <p:nvSpPr>
          <p:cNvPr id="10" name="ActionEnvoi&#10;clé, canal, date UTC&#10;journal JSON">
            <a:extLst>
              <a:ext uri="{FF2B5EF4-FFF2-40B4-BE49-F238E27FC236}">
                <a16:creationId xmlns:a16="http://schemas.microsoft.com/office/drawing/2014/main" id="{51CC7B81-1183-42E3-9C09-71E1DF9FC088}"/>
              </a:ext>
            </a:extLst>
          </p:cNvPr>
          <p:cNvSpPr>
            <a:spLocks noGrp="1"/>
          </p:cNvSpPr>
          <p:nvPr/>
        </p:nvSpPr>
        <p:spPr>
          <a:xfrm>
            <a:off x="12239625" y="6715125"/>
            <a:ext cx="4381500" cy="1619250"/>
          </a:xfrm>
          <a:prstGeom prst="rect">
            <a:avLst/>
          </a:prstGeom>
          <a:solidFill>
            <a:srgbClr val="E1E5DD"/>
          </a:solidFill>
          <a:ln w="19050">
            <a:solidFill>
              <a:srgbClr val="5D818B"/>
            </a:solidFill>
          </a:ln>
        </p:spPr>
        <p:txBody>
          <a:bodyPr lIns="114300" tIns="85725" rIns="114300" bIns="85725" anchor="ctr">
            <a:noAutofit/>
          </a:bodyPr>
          <a:lstStyle/>
          <a:p>
            <a:pPr algn="ctr">
              <a:defRPr sz="2700">
                <a:solidFill>
                  <a:srgbClr val="414548"/>
                </a:solidFill>
                <a:latin typeface="Calibri"/>
                <a:ea typeface="Calibri"/>
                <a:cs typeface="Calibri"/>
              </a:defRPr>
            </a:pPr>
            <a:r>
              <a:rPr sz="2700">
                <a:solidFill>
                  <a:srgbClr val="414548"/>
                </a:solidFill>
                <a:latin typeface="Calibri"/>
                <a:ea typeface="Calibri"/>
                <a:cs typeface="Calibri"/>
              </a:rPr>
              <a:t>ActionEnvoi</a:t>
            </a:r>
          </a:p>
          <a:p>
            <a:pPr algn="ctr">
              <a:defRPr sz="2700">
                <a:solidFill>
                  <a:srgbClr val="414548"/>
                </a:solidFill>
                <a:latin typeface="Calibri"/>
                <a:ea typeface="Calibri"/>
                <a:cs typeface="Calibri"/>
              </a:defRPr>
            </a:pPr>
            <a:r>
              <a:rPr sz="2700">
                <a:solidFill>
                  <a:srgbClr val="414548"/>
                </a:solidFill>
                <a:latin typeface="Calibri"/>
                <a:ea typeface="Calibri"/>
                <a:cs typeface="Calibri"/>
              </a:rPr>
              <a:t>clé, canal, date UTC</a:t>
            </a:r>
          </a:p>
          <a:p>
            <a:pPr algn="ctr">
              <a:defRPr sz="2700">
                <a:solidFill>
                  <a:srgbClr val="414548"/>
                </a:solidFill>
                <a:latin typeface="Calibri"/>
                <a:ea typeface="Calibri"/>
                <a:cs typeface="Calibri"/>
              </a:defRPr>
            </a:pPr>
            <a:r>
              <a:rPr sz="2700">
                <a:solidFill>
                  <a:srgbClr val="414548"/>
                </a:solidFill>
                <a:latin typeface="Calibri"/>
                <a:ea typeface="Calibri"/>
                <a:cs typeface="Calibri"/>
              </a:rPr>
              <a:t>journal JSON</a:t>
            </a:r>
          </a:p>
        </p:txBody>
      </p:sp>
      <p:cxnSp>
        <p:nvCxnSpPr>
          <p:cNvPr id="25" name="Connecteur droit avec flèche 24"/>
          <p:cNvCxnSpPr>
            <a:stCxn id="5" idx="2"/>
            <a:endCxn id="8" idx="0"/>
          </p:cNvCxnSpPr>
          <p:nvPr/>
        </p:nvCxnSpPr>
        <p:spPr>
          <a:xfrm flipH="1">
            <a:off x="3667125" y="5238750"/>
            <a:ext cx="10048875" cy="1476375"/>
          </a:xfrm>
          <a:prstGeom prst="straightConnector1">
            <a:avLst/>
          </a:prstGeom>
          <a:ln w="28575">
            <a:solidFill>
              <a:srgbClr val="A65A43"/>
            </a:solidFill>
            <a:tailEnd type="triangle" w="sm" len="sm"/>
          </a:ln>
        </p:spPr>
      </p:cxnSp>
      <p:cxnSp>
        <p:nvCxnSpPr>
          <p:cNvPr id="26" name="Connecteur droit avec flèche 25"/>
          <p:cNvCxnSpPr>
            <a:stCxn id="5" idx="2"/>
            <a:endCxn id="9" idx="0"/>
          </p:cNvCxnSpPr>
          <p:nvPr/>
        </p:nvCxnSpPr>
        <p:spPr>
          <a:xfrm flipH="1">
            <a:off x="9096375" y="5238750"/>
            <a:ext cx="4619625" cy="1476375"/>
          </a:xfrm>
          <a:prstGeom prst="straightConnector1">
            <a:avLst/>
          </a:prstGeom>
          <a:ln w="28575">
            <a:solidFill>
              <a:srgbClr val="A65A43"/>
            </a:solidFill>
            <a:tailEnd type="triangle" w="sm" len="sm"/>
          </a:ln>
        </p:spPr>
      </p:cxnSp>
      <p:cxnSp>
        <p:nvCxnSpPr>
          <p:cNvPr id="27" name="Connecteur droit avec flèche 26"/>
          <p:cNvCxnSpPr>
            <a:stCxn id="5" idx="2"/>
            <a:endCxn id="10" idx="0"/>
          </p:cNvCxnSpPr>
          <p:nvPr/>
        </p:nvCxnSpPr>
        <p:spPr>
          <a:xfrm>
            <a:off x="13716000" y="5238750"/>
            <a:ext cx="714375" cy="1476375"/>
          </a:xfrm>
          <a:prstGeom prst="straightConnector1">
            <a:avLst/>
          </a:prstGeom>
          <a:ln w="28575">
            <a:solidFill>
              <a:srgbClr val="A65A43"/>
            </a:solidFill>
            <a:tailEnd type="triangle" w="sm" len="sm"/>
          </a:ln>
        </p:spPr>
      </p:cxnSp>
      <p:sp>
        <p:nvSpPr>
          <p:cNvPr id="14" name="Modèle conceptuel, non classes Python persistées. Donné">
            <a:extLst>
              <a:ext uri="{FF2B5EF4-FFF2-40B4-BE49-F238E27FC236}">
                <a16:creationId xmlns:a16="http://schemas.microsoft.com/office/drawing/2014/main" id="{544C76AC-2969-413B-9429-59AFB6242A30}"/>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686B67"/>
                </a:solidFill>
                <a:latin typeface="Calibri"/>
                <a:ea typeface="Calibri"/>
                <a:cs typeface="Calibri"/>
              </a:defRPr>
            </a:pPr>
            <a:r>
              <a:rPr sz="2025" b="0">
                <a:solidFill>
                  <a:srgbClr val="686B67"/>
                </a:solidFill>
                <a:latin typeface="Calibri"/>
                <a:ea typeface="Calibri"/>
                <a:cs typeface="Calibri"/>
              </a:rPr>
              <a:t>Modèle conceptuel, non classes Python persistées. Données métier dans Airtable, PDF et journal locaux.</a:t>
            </a:r>
          </a:p>
        </p:txBody>
      </p:sp>
    </p:spTree>
    <p:extLst>
      <p:ext uri="{BB962C8B-B14F-4D97-AF65-F5344CB8AC3E}">
        <p14:creationId xmlns:p14="http://schemas.microsoft.com/office/powerpoint/2010/main" val="1232914277"/>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3F0E2"/>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ResearchBg"/>
          <a:srcRect l="0" t="27" r="0" b="27"/>
          <a:stretch>
            <a:fillRect l="0" t="0" r="0" b="0"/>
          </a:stretch>
        </p:blipFill>
        <p:spPr>
          <a:xfrm>
            <a:off x="0" y="0"/>
            <a:ext cx="18288000" cy="10287000"/>
          </a:xfrm>
          <a:prstGeom prst="rect">
            <a:avLst/>
          </a:prstGeom>
        </p:spPr>
      </p:pic>
      <p:sp>
        <p:nvSpPr>
          <p:cNvPr id="9" name="ADG-10  /  AUTOMATISATION DU CYCLE COMMERCIAL">
            <a:extLst>
              <a:ext uri="{FF2B5EF4-FFF2-40B4-BE49-F238E27FC236}">
                <a16:creationId xmlns:a16="http://schemas.microsoft.com/office/drawing/2014/main" id="{421048B0-4365-4314-A7C1-2297E4F8DD0E}"/>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A65A43"/>
                </a:solidFill>
                <a:latin typeface="Calibri"/>
                <a:ea typeface="Calibri"/>
                <a:cs typeface="Calibri"/>
              </a:defRPr>
            </a:pPr>
            <a:r>
              <a:rPr sz="1800" b="1">
                <a:solidFill>
                  <a:srgbClr val="A65A43"/>
                </a:solidFill>
                <a:latin typeface="Calibri"/>
                <a:ea typeface="Calibri"/>
                <a:cs typeface="Calibri"/>
              </a:rPr>
              <a:t>ADG-10  /  AUTOMATISATION DU CYCLE COMMERCIAL</a:t>
            </a:r>
          </a:p>
        </p:txBody>
      </p:sp>
      <p:sp>
        <p:nvSpPr>
          <p:cNvPr id="2" name="13 / 22">
            <a:extLst>
              <a:ext uri="{FF2B5EF4-FFF2-40B4-BE49-F238E27FC236}">
                <a16:creationId xmlns:a16="http://schemas.microsoft.com/office/drawing/2014/main" id="{E14548D8-56CF-4B0C-8C97-9F26BC88A150}"/>
              </a:ext>
            </a:extLst>
          </p:cNvPr>
          <p:cNvSpPr>
            <a:spLocks noGrp="1"/>
          </p:cNvSpPr>
          <p:nvPr/>
        </p:nvSpPr>
        <p:spPr>
          <a:xfrm>
            <a:off x="14382750" y="9696450"/>
            <a:ext cx="1333500" cy="323850"/>
          </a:xfrm>
          <a:prstGeom prst="rect">
            <a:avLst/>
          </a:prstGeom>
          <a:noFill/>
          <a:ln w="0">
            <a:noFill/>
          </a:ln>
        </p:spPr>
        <p:txBody>
          <a:bodyPr wrap="square" lIns="0" tIns="0" rIns="0" bIns="0" anchor="ctr">
            <a:noAutofit/>
          </a:bodyPr>
          <a:lstStyle/>
          <a:p>
            <a:pPr algn="ctr">
              <a:defRPr sz="1650" b="1">
                <a:solidFill>
                  <a:srgbClr val="414548"/>
                </a:solidFill>
                <a:latin typeface="Calibri"/>
                <a:ea typeface="Calibri"/>
                <a:cs typeface="Calibri"/>
              </a:defRPr>
            </a:pPr>
            <a:r>
              <a:rPr sz="1650" b="1">
                <a:solidFill>
                  <a:srgbClr val="414548"/>
                </a:solidFill>
                <a:latin typeface="Calibri"/>
                <a:ea typeface="Calibri"/>
                <a:cs typeface="Calibri"/>
              </a:rPr>
              <a:t>13 / 24</a:t>
            </a:r>
          </a:p>
        </p:txBody>
      </p:sp>
      <p:sp>
        <p:nvSpPr>
          <p:cNvPr id="3" name="Scoring et routage des prospects">
            <a:extLst>
              <a:ext uri="{FF2B5EF4-FFF2-40B4-BE49-F238E27FC236}">
                <a16:creationId xmlns:a16="http://schemas.microsoft.com/office/drawing/2014/main" id="{4FF48443-6ED1-4E13-92AF-8E36E998E51C}"/>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414548"/>
                </a:solidFill>
                <a:latin typeface="Calibri"/>
                <a:ea typeface="Calibri"/>
                <a:cs typeface="Calibri"/>
              </a:defRPr>
            </a:pPr>
            <a:r>
              <a:rPr sz="4650" b="1">
                <a:solidFill>
                  <a:srgbClr val="414548"/>
                </a:solidFill>
                <a:latin typeface="Calibri"/>
                <a:ea typeface="Calibri"/>
                <a:cs typeface="Calibri"/>
              </a:rPr>
              <a:t>Scoring et routage des prospects</a:t>
            </a:r>
          </a:p>
        </p:txBody>
      </p:sp>
      <p:sp>
        <p:nvSpPr>
          <p:cNvPr id="4" name="Pondération des critères (%)">
            <a:extLst>
              <a:ext uri="{FF2B5EF4-FFF2-40B4-BE49-F238E27FC236}">
                <a16:creationId xmlns:a16="http://schemas.microsoft.com/office/drawing/2014/main" id="{7C539E95-C0F5-4FA0-9AD8-182026CE91DC}"/>
              </a:ext>
            </a:extLst>
          </p:cNvPr>
          <p:cNvSpPr>
            <a:spLocks noGrp="1"/>
          </p:cNvSpPr>
          <p:nvPr/>
        </p:nvSpPr>
        <p:spPr>
          <a:xfrm>
            <a:off x="1905000" y="2952750"/>
            <a:ext cx="6858000" cy="523875"/>
          </a:xfrm>
          <a:prstGeom prst="rect">
            <a:avLst/>
          </a:prstGeom>
          <a:noFill/>
          <a:ln w="0">
            <a:noFill/>
          </a:ln>
        </p:spPr>
        <p:txBody>
          <a:bodyPr wrap="square" lIns="0" tIns="0" rIns="0" bIns="0" anchor="ctr">
            <a:noAutofit/>
          </a:bodyPr>
          <a:lstStyle/>
          <a:p>
            <a:pPr algn="ctr">
              <a:defRPr sz="2250" b="0">
                <a:solidFill>
                  <a:srgbClr val="414548"/>
                </a:solidFill>
                <a:latin typeface="Calibri"/>
                <a:ea typeface="Calibri"/>
                <a:cs typeface="Calibri"/>
              </a:defRPr>
            </a:pPr>
            <a:r>
              <a:rPr sz="2250" b="0">
                <a:solidFill>
                  <a:srgbClr val="414548"/>
                </a:solidFill>
                <a:latin typeface="Calibri"/>
                <a:ea typeface="Calibri"/>
                <a:cs typeface="Calibri"/>
              </a:rPr>
              <a:t>Pondération des critères (%)</a:t>
            </a:r>
          </a:p>
        </p:txBody>
      </p:sp>
      <p:graphicFrame>
        <p:nvGraphicFramePr>
          <p:cNvPr id="13" name="Chart"/>
          <p:cNvGraphicFramePr/>
          <p:nvPr/>
        </p:nvGraphicFramePr>
        <p:xfrm>
          <a:off x="1381125" y="3333750"/>
          <a:ext cx="7715250" cy="4714875"/>
        </p:xfrm>
        <a:graphic>
          <a:graphicData uri="http://schemas.openxmlformats.org/drawingml/2006/chart">
            <c:chart xmlns:c="http://schemas.openxmlformats.org/drawingml/2006/chart" xmlns:r="http://schemas.openxmlformats.org/officeDocument/2006/relationships" r:id="rId3"/>
          </a:graphicData>
        </a:graphic>
      </p:graphicFrame>
      <p:sp>
        <p:nvSpPr>
          <p:cNvPr id="6" name="Score ≥ 8 : priorité commerciale&#10;&#10;5 ≤ score &lt; 8 : quali">
            <a:extLst>
              <a:ext uri="{FF2B5EF4-FFF2-40B4-BE49-F238E27FC236}">
                <a16:creationId xmlns:a16="http://schemas.microsoft.com/office/drawing/2014/main" id="{ABB77C48-A0DC-48AC-969B-F3101D9D503C}"/>
              </a:ext>
            </a:extLst>
          </p:cNvPr>
          <p:cNvSpPr>
            <a:spLocks noGrp="1"/>
          </p:cNvSpPr>
          <p:nvPr/>
        </p:nvSpPr>
        <p:spPr>
          <a:xfrm>
            <a:off x="9810750" y="3476625"/>
            <a:ext cx="5715000" cy="3143250"/>
          </a:xfrm>
          <a:prstGeom prst="rect">
            <a:avLst/>
          </a:prstGeom>
          <a:noFill/>
          <a:ln w="0">
            <a:noFill/>
          </a:ln>
        </p:spPr>
        <p:txBody>
          <a:bodyPr wrap="square" lIns="0" tIns="0" rIns="0" bIns="0" anchor="ctr">
            <a:noAutofit/>
          </a:bodyPr>
          <a:lstStyle/>
          <a:p>
            <a:pPr algn="l">
              <a:defRPr sz="3000" b="0">
                <a:solidFill>
                  <a:srgbClr val="414548"/>
                </a:solidFill>
                <a:latin typeface="Calibri"/>
                <a:ea typeface="Calibri"/>
                <a:cs typeface="Calibri"/>
              </a:defRPr>
            </a:pPr>
            <a:r>
              <a:rPr sz="3000" b="0">
                <a:solidFill>
                  <a:srgbClr val="414548"/>
                </a:solidFill>
                <a:latin typeface="Calibri"/>
                <a:ea typeface="Calibri"/>
                <a:cs typeface="Calibri"/>
              </a:rPr>
              <a:t>Score ≥ 8 : priorité commerciale</a:t>
            </a:r>
          </a:p>
          <a:p>
            <a:endParaRPr sz="3000" b="0">
              <a:solidFill>
                <a:srgbClr val="414548"/>
              </a:solidFill>
              <a:latin typeface="Calibri"/>
              <a:ea typeface="Calibri"/>
              <a:cs typeface="Calibri"/>
            </a:endParaRPr>
          </a:p>
          <a:p>
            <a:pPr algn="l">
              <a:defRPr sz="3000" b="0">
                <a:solidFill>
                  <a:srgbClr val="414548"/>
                </a:solidFill>
                <a:latin typeface="Calibri"/>
                <a:ea typeface="Calibri"/>
                <a:cs typeface="Calibri"/>
              </a:defRPr>
            </a:pPr>
            <a:r>
              <a:rPr sz="3000" b="0">
                <a:solidFill>
                  <a:srgbClr val="414548"/>
                </a:solidFill>
                <a:latin typeface="Calibri"/>
                <a:ea typeface="Calibri"/>
                <a:cs typeface="Calibri"/>
              </a:rPr>
              <a:t>5 ≤ score &lt; 8 : qualification</a:t>
            </a:r>
          </a:p>
          <a:p>
            <a:endParaRPr sz="3000" b="0">
              <a:solidFill>
                <a:srgbClr val="414548"/>
              </a:solidFill>
              <a:latin typeface="Calibri"/>
              <a:ea typeface="Calibri"/>
              <a:cs typeface="Calibri"/>
            </a:endParaRPr>
          </a:p>
          <a:p>
            <a:pPr algn="l">
              <a:defRPr sz="3000" b="0">
                <a:solidFill>
                  <a:srgbClr val="414548"/>
                </a:solidFill>
                <a:latin typeface="Calibri"/>
                <a:ea typeface="Calibri"/>
                <a:cs typeface="Calibri"/>
              </a:defRPr>
            </a:pPr>
            <a:r>
              <a:rPr sz="3000" b="0">
                <a:solidFill>
                  <a:srgbClr val="414548"/>
                </a:solidFill>
                <a:latin typeface="Calibri"/>
                <a:ea typeface="Calibri"/>
                <a:cs typeface="Calibri"/>
              </a:rPr>
              <a:t>Score &lt; 5 : nurturing</a:t>
            </a:r>
          </a:p>
        </p:txBody>
      </p:sp>
      <p:sp>
        <p:nvSpPr>
          <p:cNvPr id="7" name="Exemple fictif : 9,5 / 10&#10;Budget 6 000 MAD, besoin urge">
            <a:extLst>
              <a:ext uri="{FF2B5EF4-FFF2-40B4-BE49-F238E27FC236}">
                <a16:creationId xmlns:a16="http://schemas.microsoft.com/office/drawing/2014/main" id="{57B7080B-D251-4979-8892-396A83BD9425}"/>
              </a:ext>
            </a:extLst>
          </p:cNvPr>
          <p:cNvSpPr>
            <a:spLocks noGrp="1"/>
          </p:cNvSpPr>
          <p:nvPr/>
        </p:nvSpPr>
        <p:spPr>
          <a:xfrm>
            <a:off x="9810750" y="6858000"/>
            <a:ext cx="5619750" cy="1524000"/>
          </a:xfrm>
          <a:prstGeom prst="rect">
            <a:avLst/>
          </a:prstGeom>
          <a:noFill/>
          <a:ln w="0">
            <a:noFill/>
          </a:ln>
        </p:spPr>
        <p:txBody>
          <a:bodyPr wrap="square" lIns="0" tIns="0" rIns="0" bIns="0" anchor="ctr">
            <a:noAutofit/>
          </a:bodyPr>
          <a:lstStyle/>
          <a:p>
            <a:pPr algn="l">
              <a:defRPr sz="2625" b="0">
                <a:solidFill>
                  <a:srgbClr val="414548"/>
                </a:solidFill>
                <a:latin typeface="Calibri"/>
                <a:ea typeface="Calibri"/>
                <a:cs typeface="Calibri"/>
              </a:defRPr>
            </a:pPr>
            <a:r>
              <a:rPr sz="2625" b="0">
                <a:solidFill>
                  <a:srgbClr val="414548"/>
                </a:solidFill>
                <a:latin typeface="Calibri"/>
                <a:ea typeface="Calibri"/>
                <a:cs typeface="Calibri"/>
              </a:rPr>
              <a:t>Exemple fictif : 9,5 / 10</a:t>
            </a:r>
          </a:p>
          <a:p>
            <a:pPr algn="l">
              <a:defRPr sz="2625" b="0">
                <a:solidFill>
                  <a:srgbClr val="414548"/>
                </a:solidFill>
                <a:latin typeface="Calibri"/>
                <a:ea typeface="Calibri"/>
                <a:cs typeface="Calibri"/>
              </a:defRPr>
            </a:pPr>
            <a:r>
              <a:rPr sz="2625" b="0">
                <a:solidFill>
                  <a:srgbClr val="414548"/>
                </a:solidFill>
                <a:latin typeface="Calibri"/>
                <a:ea typeface="Calibri"/>
                <a:cs typeface="Calibri"/>
              </a:rPr>
              <a:t>Budget 6 000 MAD, besoin urgent, DRH, PME, e-mail direct.</a:t>
            </a:r>
          </a:p>
        </p:txBody>
      </p:sp>
      <p:sp>
        <p:nvSpPr>
          <p:cNvPr id="8" name="Le score exprime une priorité de traitement. Il ne mesu">
            <a:extLst>
              <a:ext uri="{FF2B5EF4-FFF2-40B4-BE49-F238E27FC236}">
                <a16:creationId xmlns:a16="http://schemas.microsoft.com/office/drawing/2014/main" id="{2F4CBCF4-6E2C-4DBC-8790-3282CB8FDF81}"/>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686B67"/>
                </a:solidFill>
                <a:latin typeface="Calibri"/>
                <a:ea typeface="Calibri"/>
                <a:cs typeface="Calibri"/>
              </a:defRPr>
            </a:pPr>
            <a:r>
              <a:rPr sz="2025" b="0">
                <a:solidFill>
                  <a:srgbClr val="686B67"/>
                </a:solidFill>
                <a:latin typeface="Calibri"/>
                <a:ea typeface="Calibri"/>
                <a:cs typeface="Calibri"/>
              </a:rPr>
              <a:t>Le score exprime une priorité de traitement. Il ne mesure pas une probabilité de vente.</a:t>
            </a:r>
          </a:p>
        </p:txBody>
      </p:sp>
    </p:spTree>
    <p:extLst>
      <p:ext uri="{BB962C8B-B14F-4D97-AF65-F5344CB8AC3E}">
        <p14:creationId xmlns:p14="http://schemas.microsoft.com/office/powerpoint/2010/main" val="1962960244"/>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4"/>
                                  </p:tgtEl>
                                  <p:attrNameLst>
                                    <p:attrName>style.visibility</p:attrName>
                                  </p:attrNameLst>
                                </p:cBhvr>
                                <p:to>
                                  <p:strVal val="visible"/>
                                </p:to>
                              </p:set>
                              <p:animEffect transition="in" filter="wipe(right)">
                                <p:cBhvr>
                                  <p:cTn id="10" dur="550" fill="hold"/>
                                  <p:tgtEl>
                                    <p:spTgt spid="4"/>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6"/>
                                  </p:tgtEl>
                                  <p:attrNameLst>
                                    <p:attrName>style.visibility</p:attrName>
                                  </p:attrNameLst>
                                </p:cBhvr>
                                <p:to>
                                  <p:strVal val="visible"/>
                                </p:to>
                              </p:set>
                              <p:animEffect transition="in" filter="wipe(right)">
                                <p:cBhvr>
                                  <p:cTn id="14" dur="550" fill="hold"/>
                                  <p:tgtEl>
                                    <p:spTgt spid="6"/>
                                  </p:tgtEl>
                                </p:cBhvr>
                              </p:animEffect>
                            </p:childTnLst>
                          </p:cTn>
                        </p:par>
                      </p:childTnLst>
                    </p:cTn>
                  </p:par>
                  <p:par>
                    <p:cTn id="15" fill="hold">
                      <p:stCondLst>
                        <p:cond delay="370"/>
                      </p:stCondLst>
                      <p:childTnLst>
                        <p:par>
                          <p:cTn id="16" presetID="22" presetClass="entr" presetSubtype="1" fill="hold" nodeType="withEffect">
                            <p:stCondLst>
                              <p:cond delay="0"/>
                            </p:stCondLst>
                            <p:childTnLst>
                              <p:set>
                                <p:cBhvr>
                                  <p:cTn id="17" dur="1" fill="hold"/>
                                  <p:tgtEl>
                                    <p:spTgt spid="7"/>
                                  </p:tgtEl>
                                  <p:attrNameLst>
                                    <p:attrName>style.visibility</p:attrName>
                                  </p:attrNameLst>
                                </p:cBhvr>
                                <p:to>
                                  <p:strVal val="visible"/>
                                </p:to>
                              </p:set>
                              <p:animEffect transition="in" filter="wipe(right)">
                                <p:cBhvr>
                                  <p:cTn id="18" dur="550" fill="hold"/>
                                  <p:tgtEl>
                                    <p:spTgt spid="7"/>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3F0E2"/>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ResearchBg"/>
          <a:srcRect l="0" t="27" r="0" b="27"/>
          <a:stretch>
            <a:fillRect l="0" t="0" r="0" b="0"/>
          </a:stretch>
        </p:blipFill>
        <p:spPr>
          <a:xfrm>
            <a:off x="0" y="0"/>
            <a:ext cx="18288000" cy="10287000"/>
          </a:xfrm>
          <a:prstGeom prst="rect">
            <a:avLst/>
          </a:prstGeom>
        </p:spPr>
      </p:pic>
      <p:sp>
        <p:nvSpPr>
          <p:cNvPr id="44" name="ADG-10  /  AUTOMATISATION DU CYCLE COMMERCIAL">
            <a:extLst>
              <a:ext uri="{FF2B5EF4-FFF2-40B4-BE49-F238E27FC236}">
                <a16:creationId xmlns:a16="http://schemas.microsoft.com/office/drawing/2014/main" id="{D181BC1D-A804-4E93-B78F-A679D860B560}"/>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A65A43"/>
                </a:solidFill>
                <a:latin typeface="Calibri"/>
                <a:ea typeface="Calibri"/>
                <a:cs typeface="Calibri"/>
              </a:defRPr>
            </a:pPr>
            <a:r>
              <a:rPr sz="1800" b="1">
                <a:solidFill>
                  <a:srgbClr val="A65A43"/>
                </a:solidFill>
                <a:latin typeface="Calibri"/>
                <a:ea typeface="Calibri"/>
                <a:cs typeface="Calibri"/>
              </a:rPr>
              <a:t>ADG-10  /  AUTOMATISATION DU CYCLE COMMERCIAL</a:t>
            </a:r>
          </a:p>
        </p:txBody>
      </p:sp>
      <p:sp>
        <p:nvSpPr>
          <p:cNvPr id="2" name="14 / 22">
            <a:extLst>
              <a:ext uri="{FF2B5EF4-FFF2-40B4-BE49-F238E27FC236}">
                <a16:creationId xmlns:a16="http://schemas.microsoft.com/office/drawing/2014/main" id="{0126BA8E-7A44-409C-9A78-5FF694051F25}"/>
              </a:ext>
            </a:extLst>
          </p:cNvPr>
          <p:cNvSpPr>
            <a:spLocks noGrp="1"/>
          </p:cNvSpPr>
          <p:nvPr/>
        </p:nvSpPr>
        <p:spPr>
          <a:xfrm>
            <a:off x="14382750" y="9696450"/>
            <a:ext cx="1333500" cy="323850"/>
          </a:xfrm>
          <a:prstGeom prst="rect">
            <a:avLst/>
          </a:prstGeom>
          <a:noFill/>
          <a:ln w="0">
            <a:noFill/>
          </a:ln>
        </p:spPr>
        <p:txBody>
          <a:bodyPr wrap="square" lIns="0" tIns="0" rIns="0" bIns="0" anchor="ctr">
            <a:noAutofit/>
          </a:bodyPr>
          <a:lstStyle/>
          <a:p>
            <a:pPr algn="ctr">
              <a:defRPr sz="1650" b="1">
                <a:solidFill>
                  <a:srgbClr val="414548"/>
                </a:solidFill>
                <a:latin typeface="Calibri"/>
                <a:ea typeface="Calibri"/>
                <a:cs typeface="Calibri"/>
              </a:defRPr>
            </a:pPr>
            <a:r>
              <a:rPr sz="1650" b="1">
                <a:solidFill>
                  <a:srgbClr val="414548"/>
                </a:solidFill>
                <a:latin typeface="Calibri"/>
                <a:ea typeface="Calibri"/>
                <a:cs typeface="Calibri"/>
              </a:rPr>
              <a:t>14 / 24</a:t>
            </a:r>
          </a:p>
        </p:txBody>
      </p:sp>
      <p:sp>
        <p:nvSpPr>
          <p:cNvPr id="3" name="Séquence d’envoi d’une proposition">
            <a:extLst>
              <a:ext uri="{FF2B5EF4-FFF2-40B4-BE49-F238E27FC236}">
                <a16:creationId xmlns:a16="http://schemas.microsoft.com/office/drawing/2014/main" id="{DF26974F-3DF6-44EC-818F-7B16EA0DC428}"/>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414548"/>
                </a:solidFill>
                <a:latin typeface="Calibri"/>
                <a:ea typeface="Calibri"/>
                <a:cs typeface="Calibri"/>
              </a:defRPr>
            </a:pPr>
            <a:r>
              <a:rPr sz="4650" b="1">
                <a:solidFill>
                  <a:srgbClr val="414548"/>
                </a:solidFill>
                <a:latin typeface="Calibri"/>
                <a:ea typeface="Calibri"/>
                <a:cs typeface="Calibri"/>
              </a:rPr>
              <a:t>Séquence d’envoi d’une proposition</a:t>
            </a:r>
          </a:p>
        </p:txBody>
      </p:sp>
      <p:sp>
        <p:nvSpPr>
          <p:cNvPr id="4" name="Script E6">
            <a:extLst>
              <a:ext uri="{FF2B5EF4-FFF2-40B4-BE49-F238E27FC236}">
                <a16:creationId xmlns:a16="http://schemas.microsoft.com/office/drawing/2014/main" id="{202C86D4-01B2-4CD1-B922-A37D7CFFE179}"/>
              </a:ext>
            </a:extLst>
          </p:cNvPr>
          <p:cNvSpPr>
            <a:spLocks noGrp="1"/>
          </p:cNvSpPr>
          <p:nvPr/>
        </p:nvSpPr>
        <p:spPr>
          <a:xfrm>
            <a:off x="952500" y="3095625"/>
            <a:ext cx="2667000" cy="714375"/>
          </a:xfrm>
          <a:prstGeom prst="rect">
            <a:avLst/>
          </a:prstGeom>
          <a:solidFill>
            <a:srgbClr val="E1E5DD"/>
          </a:solidFill>
          <a:ln w="19050">
            <a:solidFill>
              <a:srgbClr val="5D818B"/>
            </a:solidFill>
          </a:ln>
        </p:spPr>
        <p:txBody>
          <a:bodyPr lIns="114300" tIns="85725" rIns="114300" bIns="85725" anchor="ctr">
            <a:noAutofit/>
          </a:bodyPr>
          <a:lstStyle/>
          <a:p>
            <a:pPr algn="ctr">
              <a:defRPr sz="2625">
                <a:solidFill>
                  <a:srgbClr val="414548"/>
                </a:solidFill>
                <a:latin typeface="Calibri"/>
                <a:ea typeface="Calibri"/>
                <a:cs typeface="Calibri"/>
              </a:defRPr>
            </a:pPr>
            <a:r>
              <a:rPr sz="2625">
                <a:solidFill>
                  <a:srgbClr val="414548"/>
                </a:solidFill>
                <a:latin typeface="Calibri"/>
                <a:ea typeface="Calibri"/>
                <a:cs typeface="Calibri"/>
              </a:rPr>
              <a:t>Script E6</a:t>
            </a:r>
          </a:p>
        </p:txBody>
      </p:sp>
      <p:sp>
        <p:nvSpPr>
          <p:cNvPr id="5" name="Airtable">
            <a:extLst>
              <a:ext uri="{FF2B5EF4-FFF2-40B4-BE49-F238E27FC236}">
                <a16:creationId xmlns:a16="http://schemas.microsoft.com/office/drawing/2014/main" id="{4EDFE9B5-12A7-4B6D-A2AC-AA026534AF26}"/>
              </a:ext>
            </a:extLst>
          </p:cNvPr>
          <p:cNvSpPr>
            <a:spLocks noGrp="1"/>
          </p:cNvSpPr>
          <p:nvPr/>
        </p:nvSpPr>
        <p:spPr>
          <a:xfrm>
            <a:off x="4333875" y="3095625"/>
            <a:ext cx="2667000" cy="714375"/>
          </a:xfrm>
          <a:prstGeom prst="rect">
            <a:avLst/>
          </a:prstGeom>
          <a:solidFill>
            <a:srgbClr val="E1E5DD"/>
          </a:solidFill>
          <a:ln w="19050">
            <a:solidFill>
              <a:srgbClr val="5D818B"/>
            </a:solidFill>
          </a:ln>
        </p:spPr>
        <p:txBody>
          <a:bodyPr lIns="114300" tIns="85725" rIns="114300" bIns="85725" anchor="ctr">
            <a:noAutofit/>
          </a:bodyPr>
          <a:lstStyle/>
          <a:p>
            <a:pPr algn="ctr">
              <a:defRPr sz="2625">
                <a:solidFill>
                  <a:srgbClr val="414548"/>
                </a:solidFill>
                <a:latin typeface="Calibri"/>
                <a:ea typeface="Calibri"/>
                <a:cs typeface="Calibri"/>
              </a:defRPr>
            </a:pPr>
            <a:r>
              <a:rPr sz="2625">
                <a:solidFill>
                  <a:srgbClr val="414548"/>
                </a:solidFill>
                <a:latin typeface="Calibri"/>
                <a:ea typeface="Calibri"/>
                <a:cs typeface="Calibri"/>
              </a:rPr>
              <a:t>Airtable</a:t>
            </a:r>
          </a:p>
        </p:txBody>
      </p:sp>
      <p:sp>
        <p:nvSpPr>
          <p:cNvPr id="6" name="Journal local">
            <a:extLst>
              <a:ext uri="{FF2B5EF4-FFF2-40B4-BE49-F238E27FC236}">
                <a16:creationId xmlns:a16="http://schemas.microsoft.com/office/drawing/2014/main" id="{A45D825F-07C6-49D3-BE4D-679A1DCD321C}"/>
              </a:ext>
            </a:extLst>
          </p:cNvPr>
          <p:cNvSpPr>
            <a:spLocks noGrp="1"/>
          </p:cNvSpPr>
          <p:nvPr/>
        </p:nvSpPr>
        <p:spPr>
          <a:xfrm>
            <a:off x="7715250" y="3095625"/>
            <a:ext cx="2667000" cy="714375"/>
          </a:xfrm>
          <a:prstGeom prst="rect">
            <a:avLst/>
          </a:prstGeom>
          <a:solidFill>
            <a:srgbClr val="E1E5DD"/>
          </a:solidFill>
          <a:ln w="19050">
            <a:solidFill>
              <a:srgbClr val="5D818B"/>
            </a:solidFill>
          </a:ln>
        </p:spPr>
        <p:txBody>
          <a:bodyPr lIns="114300" tIns="85725" rIns="114300" bIns="85725" anchor="ctr">
            <a:noAutofit/>
          </a:bodyPr>
          <a:lstStyle/>
          <a:p>
            <a:pPr algn="ctr">
              <a:defRPr sz="2625">
                <a:solidFill>
                  <a:srgbClr val="414548"/>
                </a:solidFill>
                <a:latin typeface="Calibri"/>
                <a:ea typeface="Calibri"/>
                <a:cs typeface="Calibri"/>
              </a:defRPr>
            </a:pPr>
            <a:r>
              <a:rPr sz="2625">
                <a:solidFill>
                  <a:srgbClr val="414548"/>
                </a:solidFill>
                <a:latin typeface="Calibri"/>
                <a:ea typeface="Calibri"/>
                <a:cs typeface="Calibri"/>
              </a:rPr>
              <a:t>Journal local</a:t>
            </a:r>
          </a:p>
        </p:txBody>
      </p:sp>
      <p:sp>
        <p:nvSpPr>
          <p:cNvPr id="7" name="PDF">
            <a:extLst>
              <a:ext uri="{FF2B5EF4-FFF2-40B4-BE49-F238E27FC236}">
                <a16:creationId xmlns:a16="http://schemas.microsoft.com/office/drawing/2014/main" id="{91F8FC03-5778-4DFE-BBA1-6C960AA705C6}"/>
              </a:ext>
            </a:extLst>
          </p:cNvPr>
          <p:cNvSpPr>
            <a:spLocks noGrp="1"/>
          </p:cNvSpPr>
          <p:nvPr/>
        </p:nvSpPr>
        <p:spPr>
          <a:xfrm>
            <a:off x="11096625" y="3095625"/>
            <a:ext cx="2667000" cy="714375"/>
          </a:xfrm>
          <a:prstGeom prst="rect">
            <a:avLst/>
          </a:prstGeom>
          <a:solidFill>
            <a:srgbClr val="E1E5DD"/>
          </a:solidFill>
          <a:ln w="19050">
            <a:solidFill>
              <a:srgbClr val="5D818B"/>
            </a:solidFill>
          </a:ln>
        </p:spPr>
        <p:txBody>
          <a:bodyPr lIns="114300" tIns="85725" rIns="114300" bIns="85725" anchor="ctr">
            <a:noAutofit/>
          </a:bodyPr>
          <a:lstStyle/>
          <a:p>
            <a:pPr algn="ctr">
              <a:defRPr sz="2625">
                <a:solidFill>
                  <a:srgbClr val="414548"/>
                </a:solidFill>
                <a:latin typeface="Calibri"/>
                <a:ea typeface="Calibri"/>
                <a:cs typeface="Calibri"/>
              </a:defRPr>
            </a:pPr>
            <a:r>
              <a:rPr sz="2625">
                <a:solidFill>
                  <a:srgbClr val="414548"/>
                </a:solidFill>
                <a:latin typeface="Calibri"/>
                <a:ea typeface="Calibri"/>
                <a:cs typeface="Calibri"/>
              </a:rPr>
              <a:t>PDF</a:t>
            </a:r>
          </a:p>
        </p:txBody>
      </p:sp>
      <p:sp>
        <p:nvSpPr>
          <p:cNvPr id="8" name="SMTP">
            <a:extLst>
              <a:ext uri="{FF2B5EF4-FFF2-40B4-BE49-F238E27FC236}">
                <a16:creationId xmlns:a16="http://schemas.microsoft.com/office/drawing/2014/main" id="{21C3CEC5-4C75-4B99-80A2-76ED1148B7AD}"/>
              </a:ext>
            </a:extLst>
          </p:cNvPr>
          <p:cNvSpPr>
            <a:spLocks noGrp="1"/>
          </p:cNvSpPr>
          <p:nvPr/>
        </p:nvSpPr>
        <p:spPr>
          <a:xfrm>
            <a:off x="14478000" y="3095625"/>
            <a:ext cx="2667000" cy="714375"/>
          </a:xfrm>
          <a:prstGeom prst="rect">
            <a:avLst/>
          </a:prstGeom>
          <a:solidFill>
            <a:srgbClr val="E1E5DD"/>
          </a:solidFill>
          <a:ln w="19050">
            <a:solidFill>
              <a:srgbClr val="5D818B"/>
            </a:solidFill>
          </a:ln>
        </p:spPr>
        <p:txBody>
          <a:bodyPr lIns="114300" tIns="85725" rIns="114300" bIns="85725" anchor="ctr">
            <a:noAutofit/>
          </a:bodyPr>
          <a:lstStyle/>
          <a:p>
            <a:pPr algn="ctr">
              <a:defRPr sz="2625">
                <a:solidFill>
                  <a:srgbClr val="414548"/>
                </a:solidFill>
                <a:latin typeface="Calibri"/>
                <a:ea typeface="Calibri"/>
                <a:cs typeface="Calibri"/>
              </a:defRPr>
            </a:pPr>
            <a:r>
              <a:rPr sz="2625">
                <a:solidFill>
                  <a:srgbClr val="414548"/>
                </a:solidFill>
                <a:latin typeface="Calibri"/>
                <a:ea typeface="Calibri"/>
                <a:cs typeface="Calibri"/>
              </a:rPr>
              <a:t>SMTP</a:t>
            </a:r>
          </a:p>
        </p:txBody>
      </p:sp>
      <p:sp>
        <p:nvSpPr>
          <p:cNvPr id="9" name="Point de séquence">
            <a:extLst>
              <a:ext uri="{FF2B5EF4-FFF2-40B4-BE49-F238E27FC236}">
                <a16:creationId xmlns:a16="http://schemas.microsoft.com/office/drawing/2014/main" id="{97230F1D-AB37-49DA-BDA8-02671D9904C2}"/>
              </a:ext>
            </a:extLst>
          </p:cNvPr>
          <p:cNvSpPr>
            <a:spLocks noGrp="1"/>
          </p:cNvSpPr>
          <p:nvPr/>
        </p:nvSpPr>
        <p:spPr>
          <a:xfrm>
            <a:off x="2286000" y="8705850"/>
            <a:ext cx="9525" cy="9525"/>
          </a:xfrm>
          <a:prstGeom prst="rect">
            <a:avLst/>
          </a:prstGeom>
          <a:noFill/>
          <a:ln w="0">
            <a:noFill/>
          </a:ln>
        </p:spPr>
        <p:txBody>
          <a:bodyPr/>
          <a:lstStyle/>
          <a:p>
            <a:endParaRPr lang="en-GB"/>
          </a:p>
        </p:txBody>
      </p:sp>
      <p:cxnSp>
        <p:nvCxnSpPr>
          <p:cNvPr id="53" name="Connecteur droit avec flèche 52"/>
          <p:cNvCxnSpPr>
            <a:stCxn id="4" idx="2"/>
            <a:endCxn id="9" idx="0"/>
          </p:cNvCxnSpPr>
          <p:nvPr/>
        </p:nvCxnSpPr>
        <p:spPr>
          <a:xfrm>
            <a:off x="2286000" y="3810000"/>
            <a:ext cx="4763" cy="4895850"/>
          </a:xfrm>
          <a:prstGeom prst="straightConnector1">
            <a:avLst/>
          </a:prstGeom>
          <a:ln w="19050">
            <a:solidFill>
              <a:srgbClr val="5D818B"/>
            </a:solidFill>
            <a:prstDash val="dash"/>
          </a:ln>
        </p:spPr>
      </p:cxnSp>
      <p:sp>
        <p:nvSpPr>
          <p:cNvPr id="11" name="Point de séquence">
            <a:extLst>
              <a:ext uri="{FF2B5EF4-FFF2-40B4-BE49-F238E27FC236}">
                <a16:creationId xmlns:a16="http://schemas.microsoft.com/office/drawing/2014/main" id="{0D666916-82EC-4F3F-8CA6-89E027612310}"/>
              </a:ext>
            </a:extLst>
          </p:cNvPr>
          <p:cNvSpPr>
            <a:spLocks noGrp="1"/>
          </p:cNvSpPr>
          <p:nvPr/>
        </p:nvSpPr>
        <p:spPr>
          <a:xfrm>
            <a:off x="5667375" y="8705850"/>
            <a:ext cx="9525" cy="9525"/>
          </a:xfrm>
          <a:prstGeom prst="rect">
            <a:avLst/>
          </a:prstGeom>
          <a:noFill/>
          <a:ln w="0">
            <a:noFill/>
          </a:ln>
        </p:spPr>
        <p:txBody>
          <a:bodyPr/>
          <a:lstStyle/>
          <a:p>
            <a:endParaRPr lang="en-GB"/>
          </a:p>
        </p:txBody>
      </p:sp>
      <p:cxnSp>
        <p:nvCxnSpPr>
          <p:cNvPr id="55" name="Connecteur droit avec flèche 54"/>
          <p:cNvCxnSpPr>
            <a:stCxn id="5" idx="2"/>
            <a:endCxn id="11" idx="0"/>
          </p:cNvCxnSpPr>
          <p:nvPr/>
        </p:nvCxnSpPr>
        <p:spPr>
          <a:xfrm>
            <a:off x="5667375" y="3810000"/>
            <a:ext cx="4763" cy="4895850"/>
          </a:xfrm>
          <a:prstGeom prst="straightConnector1">
            <a:avLst/>
          </a:prstGeom>
          <a:ln w="19050">
            <a:solidFill>
              <a:srgbClr val="5D818B"/>
            </a:solidFill>
            <a:prstDash val="dash"/>
          </a:ln>
        </p:spPr>
      </p:cxnSp>
      <p:sp>
        <p:nvSpPr>
          <p:cNvPr id="13" name="Point de séquence">
            <a:extLst>
              <a:ext uri="{FF2B5EF4-FFF2-40B4-BE49-F238E27FC236}">
                <a16:creationId xmlns:a16="http://schemas.microsoft.com/office/drawing/2014/main" id="{D426F840-332E-44BE-B1D1-F1ADE68019D3}"/>
              </a:ext>
            </a:extLst>
          </p:cNvPr>
          <p:cNvSpPr>
            <a:spLocks noGrp="1"/>
          </p:cNvSpPr>
          <p:nvPr/>
        </p:nvSpPr>
        <p:spPr>
          <a:xfrm>
            <a:off x="9048750" y="8705850"/>
            <a:ext cx="9525" cy="9525"/>
          </a:xfrm>
          <a:prstGeom prst="rect">
            <a:avLst/>
          </a:prstGeom>
          <a:noFill/>
          <a:ln w="0">
            <a:noFill/>
          </a:ln>
        </p:spPr>
        <p:txBody>
          <a:bodyPr/>
          <a:lstStyle/>
          <a:p>
            <a:endParaRPr lang="en-GB"/>
          </a:p>
        </p:txBody>
      </p:sp>
      <p:cxnSp>
        <p:nvCxnSpPr>
          <p:cNvPr id="57" name="Connecteur droit avec flèche 56"/>
          <p:cNvCxnSpPr>
            <a:stCxn id="6" idx="2"/>
            <a:endCxn id="13" idx="0"/>
          </p:cNvCxnSpPr>
          <p:nvPr/>
        </p:nvCxnSpPr>
        <p:spPr>
          <a:xfrm>
            <a:off x="9048750" y="3810000"/>
            <a:ext cx="4763" cy="4895850"/>
          </a:xfrm>
          <a:prstGeom prst="straightConnector1">
            <a:avLst/>
          </a:prstGeom>
          <a:ln w="19050">
            <a:solidFill>
              <a:srgbClr val="5D818B"/>
            </a:solidFill>
            <a:prstDash val="dash"/>
          </a:ln>
        </p:spPr>
      </p:cxnSp>
      <p:sp>
        <p:nvSpPr>
          <p:cNvPr id="15" name="Point de séquence">
            <a:extLst>
              <a:ext uri="{FF2B5EF4-FFF2-40B4-BE49-F238E27FC236}">
                <a16:creationId xmlns:a16="http://schemas.microsoft.com/office/drawing/2014/main" id="{07FFF647-0F78-4295-B245-4A3A0F9A7C2D}"/>
              </a:ext>
            </a:extLst>
          </p:cNvPr>
          <p:cNvSpPr>
            <a:spLocks noGrp="1"/>
          </p:cNvSpPr>
          <p:nvPr/>
        </p:nvSpPr>
        <p:spPr>
          <a:xfrm>
            <a:off x="12430125" y="8705850"/>
            <a:ext cx="9525" cy="9525"/>
          </a:xfrm>
          <a:prstGeom prst="rect">
            <a:avLst/>
          </a:prstGeom>
          <a:noFill/>
          <a:ln w="0">
            <a:noFill/>
          </a:ln>
        </p:spPr>
        <p:txBody>
          <a:bodyPr/>
          <a:lstStyle/>
          <a:p>
            <a:endParaRPr lang="en-GB"/>
          </a:p>
        </p:txBody>
      </p:sp>
      <p:cxnSp>
        <p:nvCxnSpPr>
          <p:cNvPr id="59" name="Connecteur droit avec flèche 58"/>
          <p:cNvCxnSpPr>
            <a:stCxn id="7" idx="2"/>
            <a:endCxn id="15" idx="0"/>
          </p:cNvCxnSpPr>
          <p:nvPr/>
        </p:nvCxnSpPr>
        <p:spPr>
          <a:xfrm>
            <a:off x="12430125" y="3810000"/>
            <a:ext cx="4763" cy="4895850"/>
          </a:xfrm>
          <a:prstGeom prst="straightConnector1">
            <a:avLst/>
          </a:prstGeom>
          <a:ln w="19050">
            <a:solidFill>
              <a:srgbClr val="5D818B"/>
            </a:solidFill>
            <a:prstDash val="dash"/>
          </a:ln>
        </p:spPr>
      </p:cxnSp>
      <p:sp>
        <p:nvSpPr>
          <p:cNvPr id="17" name="Point de séquence">
            <a:extLst>
              <a:ext uri="{FF2B5EF4-FFF2-40B4-BE49-F238E27FC236}">
                <a16:creationId xmlns:a16="http://schemas.microsoft.com/office/drawing/2014/main" id="{C5DA14B5-1A19-4298-B809-2F54A680EB81}"/>
              </a:ext>
            </a:extLst>
          </p:cNvPr>
          <p:cNvSpPr>
            <a:spLocks noGrp="1"/>
          </p:cNvSpPr>
          <p:nvPr/>
        </p:nvSpPr>
        <p:spPr>
          <a:xfrm>
            <a:off x="15811500" y="8705850"/>
            <a:ext cx="9525" cy="9525"/>
          </a:xfrm>
          <a:prstGeom prst="rect">
            <a:avLst/>
          </a:prstGeom>
          <a:noFill/>
          <a:ln w="0">
            <a:noFill/>
          </a:ln>
        </p:spPr>
        <p:txBody>
          <a:bodyPr/>
          <a:lstStyle/>
          <a:p>
            <a:endParaRPr lang="en-GB"/>
          </a:p>
        </p:txBody>
      </p:sp>
      <p:cxnSp>
        <p:nvCxnSpPr>
          <p:cNvPr id="61" name="Connecteur droit avec flèche 60"/>
          <p:cNvCxnSpPr>
            <a:stCxn id="8" idx="2"/>
            <a:endCxn id="17" idx="0"/>
          </p:cNvCxnSpPr>
          <p:nvPr/>
        </p:nvCxnSpPr>
        <p:spPr>
          <a:xfrm>
            <a:off x="15811500" y="3810000"/>
            <a:ext cx="4763" cy="4895850"/>
          </a:xfrm>
          <a:prstGeom prst="straightConnector1">
            <a:avLst/>
          </a:prstGeom>
          <a:ln w="19050">
            <a:solidFill>
              <a:srgbClr val="5D818B"/>
            </a:solidFill>
            <a:prstDash val="dash"/>
          </a:ln>
        </p:spPr>
      </p:cxnSp>
      <p:sp>
        <p:nvSpPr>
          <p:cNvPr id="19" name="Point de séquence">
            <a:extLst>
              <a:ext uri="{FF2B5EF4-FFF2-40B4-BE49-F238E27FC236}">
                <a16:creationId xmlns:a16="http://schemas.microsoft.com/office/drawing/2014/main" id="{D6DB26A4-D243-4D18-B561-3851123F1D82}"/>
              </a:ext>
            </a:extLst>
          </p:cNvPr>
          <p:cNvSpPr>
            <a:spLocks noGrp="1"/>
          </p:cNvSpPr>
          <p:nvPr/>
        </p:nvSpPr>
        <p:spPr>
          <a:xfrm>
            <a:off x="2286000" y="4333875"/>
            <a:ext cx="9525" cy="9525"/>
          </a:xfrm>
          <a:prstGeom prst="rect">
            <a:avLst/>
          </a:prstGeom>
          <a:noFill/>
          <a:ln w="0">
            <a:noFill/>
          </a:ln>
        </p:spPr>
        <p:txBody>
          <a:bodyPr/>
          <a:lstStyle/>
          <a:p>
            <a:endParaRPr lang="en-GB"/>
          </a:p>
        </p:txBody>
      </p:sp>
      <p:sp>
        <p:nvSpPr>
          <p:cNvPr id="20" name="Point de séquence">
            <a:extLst>
              <a:ext uri="{FF2B5EF4-FFF2-40B4-BE49-F238E27FC236}">
                <a16:creationId xmlns:a16="http://schemas.microsoft.com/office/drawing/2014/main" id="{9FE55328-082C-4D96-83F9-958AF8E39336}"/>
              </a:ext>
            </a:extLst>
          </p:cNvPr>
          <p:cNvSpPr>
            <a:spLocks noGrp="1"/>
          </p:cNvSpPr>
          <p:nvPr/>
        </p:nvSpPr>
        <p:spPr>
          <a:xfrm>
            <a:off x="5667375" y="4333875"/>
            <a:ext cx="9525" cy="9525"/>
          </a:xfrm>
          <a:prstGeom prst="rect">
            <a:avLst/>
          </a:prstGeom>
          <a:noFill/>
          <a:ln w="0">
            <a:noFill/>
          </a:ln>
        </p:spPr>
        <p:txBody>
          <a:bodyPr/>
          <a:lstStyle/>
          <a:p>
            <a:endParaRPr lang="en-GB"/>
          </a:p>
        </p:txBody>
      </p:sp>
      <p:cxnSp>
        <p:nvCxnSpPr>
          <p:cNvPr id="64" name="Connecteur droit avec flèche 63"/>
          <p:cNvCxnSpPr>
            <a:stCxn id="19" idx="3"/>
            <a:endCxn id="20" idx="1"/>
          </p:cNvCxnSpPr>
          <p:nvPr/>
        </p:nvCxnSpPr>
        <p:spPr>
          <a:xfrm>
            <a:off x="2295525" y="4338638"/>
            <a:ext cx="3371850" cy="0"/>
          </a:xfrm>
          <a:prstGeom prst="straightConnector1">
            <a:avLst/>
          </a:prstGeom>
          <a:ln w="28575">
            <a:solidFill>
              <a:srgbClr val="A65A43"/>
            </a:solidFill>
            <a:tailEnd type="triangle" w="sm" len="sm"/>
          </a:ln>
        </p:spPr>
      </p:cxnSp>
      <p:sp>
        <p:nvSpPr>
          <p:cNvPr id="22" name="1. Lire les prospects">
            <a:extLst>
              <a:ext uri="{FF2B5EF4-FFF2-40B4-BE49-F238E27FC236}">
                <a16:creationId xmlns:a16="http://schemas.microsoft.com/office/drawing/2014/main" id="{3648BF78-A5DE-4274-AA0C-5CBD7BC29FFE}"/>
              </a:ext>
            </a:extLst>
          </p:cNvPr>
          <p:cNvSpPr>
            <a:spLocks noGrp="1"/>
          </p:cNvSpPr>
          <p:nvPr/>
        </p:nvSpPr>
        <p:spPr>
          <a:xfrm>
            <a:off x="2428875" y="3876675"/>
            <a:ext cx="5048250" cy="419100"/>
          </a:xfrm>
          <a:prstGeom prst="rect">
            <a:avLst/>
          </a:prstGeom>
          <a:noFill/>
          <a:ln w="0">
            <a:noFill/>
          </a:ln>
        </p:spPr>
        <p:txBody>
          <a:bodyPr wrap="square" lIns="0" tIns="0" rIns="0" bIns="0" anchor="ctr">
            <a:noAutofit/>
          </a:bodyPr>
          <a:lstStyle/>
          <a:p>
            <a:pPr algn="l">
              <a:defRPr sz="2175" b="0">
                <a:solidFill>
                  <a:srgbClr val="414548"/>
                </a:solidFill>
                <a:latin typeface="Calibri"/>
                <a:ea typeface="Calibri"/>
                <a:cs typeface="Calibri"/>
              </a:defRPr>
            </a:pPr>
            <a:r>
              <a:rPr sz="2175" b="0">
                <a:solidFill>
                  <a:srgbClr val="414548"/>
                </a:solidFill>
                <a:latin typeface="Calibri"/>
                <a:ea typeface="Calibri"/>
                <a:cs typeface="Calibri"/>
              </a:rPr>
              <a:t>1. Lire les prospects</a:t>
            </a:r>
          </a:p>
        </p:txBody>
      </p:sp>
      <p:sp>
        <p:nvSpPr>
          <p:cNvPr id="23" name="Point de séquence">
            <a:extLst>
              <a:ext uri="{FF2B5EF4-FFF2-40B4-BE49-F238E27FC236}">
                <a16:creationId xmlns:a16="http://schemas.microsoft.com/office/drawing/2014/main" id="{3A37DA74-1B06-4198-A131-2515775AA81D}"/>
              </a:ext>
            </a:extLst>
          </p:cNvPr>
          <p:cNvSpPr>
            <a:spLocks noGrp="1"/>
          </p:cNvSpPr>
          <p:nvPr/>
        </p:nvSpPr>
        <p:spPr>
          <a:xfrm>
            <a:off x="2286000" y="5095875"/>
            <a:ext cx="9525" cy="9525"/>
          </a:xfrm>
          <a:prstGeom prst="rect">
            <a:avLst/>
          </a:prstGeom>
          <a:noFill/>
          <a:ln w="0">
            <a:noFill/>
          </a:ln>
        </p:spPr>
        <p:txBody>
          <a:bodyPr/>
          <a:lstStyle/>
          <a:p>
            <a:endParaRPr lang="en-GB"/>
          </a:p>
        </p:txBody>
      </p:sp>
      <p:sp>
        <p:nvSpPr>
          <p:cNvPr id="24" name="Point de séquence">
            <a:extLst>
              <a:ext uri="{FF2B5EF4-FFF2-40B4-BE49-F238E27FC236}">
                <a16:creationId xmlns:a16="http://schemas.microsoft.com/office/drawing/2014/main" id="{0B9B808B-123A-484E-ACDD-0F33190117C9}"/>
              </a:ext>
            </a:extLst>
          </p:cNvPr>
          <p:cNvSpPr>
            <a:spLocks noGrp="1"/>
          </p:cNvSpPr>
          <p:nvPr/>
        </p:nvSpPr>
        <p:spPr>
          <a:xfrm>
            <a:off x="9048750" y="5095875"/>
            <a:ext cx="9525" cy="9525"/>
          </a:xfrm>
          <a:prstGeom prst="rect">
            <a:avLst/>
          </a:prstGeom>
          <a:noFill/>
          <a:ln w="0">
            <a:noFill/>
          </a:ln>
        </p:spPr>
        <p:txBody>
          <a:bodyPr/>
          <a:lstStyle/>
          <a:p>
            <a:endParaRPr lang="en-GB"/>
          </a:p>
        </p:txBody>
      </p:sp>
      <p:cxnSp>
        <p:nvCxnSpPr>
          <p:cNvPr id="68" name="Connecteur droit avec flèche 67"/>
          <p:cNvCxnSpPr>
            <a:stCxn id="23" idx="3"/>
            <a:endCxn id="24" idx="1"/>
          </p:cNvCxnSpPr>
          <p:nvPr/>
        </p:nvCxnSpPr>
        <p:spPr>
          <a:xfrm>
            <a:off x="2295525" y="5100638"/>
            <a:ext cx="6753225" cy="0"/>
          </a:xfrm>
          <a:prstGeom prst="straightConnector1">
            <a:avLst/>
          </a:prstGeom>
          <a:ln w="28575">
            <a:solidFill>
              <a:srgbClr val="A65A43"/>
            </a:solidFill>
            <a:tailEnd type="triangle" w="sm" len="sm"/>
          </a:ln>
        </p:spPr>
      </p:cxnSp>
      <p:sp>
        <p:nvSpPr>
          <p:cNvPr id="26" name="2. Rechercher un envoi antérieur">
            <a:extLst>
              <a:ext uri="{FF2B5EF4-FFF2-40B4-BE49-F238E27FC236}">
                <a16:creationId xmlns:a16="http://schemas.microsoft.com/office/drawing/2014/main" id="{3E30E637-8E30-46CD-87C5-C02A90420CFD}"/>
              </a:ext>
            </a:extLst>
          </p:cNvPr>
          <p:cNvSpPr>
            <a:spLocks noGrp="1"/>
          </p:cNvSpPr>
          <p:nvPr/>
        </p:nvSpPr>
        <p:spPr>
          <a:xfrm>
            <a:off x="2428875" y="4638675"/>
            <a:ext cx="6524625" cy="419100"/>
          </a:xfrm>
          <a:prstGeom prst="rect">
            <a:avLst/>
          </a:prstGeom>
          <a:noFill/>
          <a:ln w="0">
            <a:noFill/>
          </a:ln>
        </p:spPr>
        <p:txBody>
          <a:bodyPr wrap="square" lIns="0" tIns="0" rIns="0" bIns="0" anchor="ctr">
            <a:noAutofit/>
          </a:bodyPr>
          <a:lstStyle/>
          <a:p>
            <a:pPr algn="l">
              <a:defRPr sz="2175" b="0">
                <a:solidFill>
                  <a:srgbClr val="414548"/>
                </a:solidFill>
                <a:latin typeface="Calibri"/>
                <a:ea typeface="Calibri"/>
                <a:cs typeface="Calibri"/>
              </a:defRPr>
            </a:pPr>
            <a:r>
              <a:rPr sz="2175" b="0">
                <a:solidFill>
                  <a:srgbClr val="414548"/>
                </a:solidFill>
                <a:latin typeface="Calibri"/>
                <a:ea typeface="Calibri"/>
                <a:cs typeface="Calibri"/>
              </a:rPr>
              <a:t>2. Rechercher un envoi antérieur</a:t>
            </a:r>
          </a:p>
        </p:txBody>
      </p:sp>
      <p:sp>
        <p:nvSpPr>
          <p:cNvPr id="27" name="Point de séquence">
            <a:extLst>
              <a:ext uri="{FF2B5EF4-FFF2-40B4-BE49-F238E27FC236}">
                <a16:creationId xmlns:a16="http://schemas.microsoft.com/office/drawing/2014/main" id="{DFA9C459-EE56-4523-8ADB-B1D3F41AB1AF}"/>
              </a:ext>
            </a:extLst>
          </p:cNvPr>
          <p:cNvSpPr>
            <a:spLocks noGrp="1"/>
          </p:cNvSpPr>
          <p:nvPr/>
        </p:nvSpPr>
        <p:spPr>
          <a:xfrm>
            <a:off x="2286000" y="5857875"/>
            <a:ext cx="9525" cy="9525"/>
          </a:xfrm>
          <a:prstGeom prst="rect">
            <a:avLst/>
          </a:prstGeom>
          <a:noFill/>
          <a:ln w="0">
            <a:noFill/>
          </a:ln>
        </p:spPr>
        <p:txBody>
          <a:bodyPr/>
          <a:lstStyle/>
          <a:p>
            <a:endParaRPr lang="en-GB"/>
          </a:p>
        </p:txBody>
      </p:sp>
      <p:sp>
        <p:nvSpPr>
          <p:cNvPr id="28" name="Point de séquence">
            <a:extLst>
              <a:ext uri="{FF2B5EF4-FFF2-40B4-BE49-F238E27FC236}">
                <a16:creationId xmlns:a16="http://schemas.microsoft.com/office/drawing/2014/main" id="{84A6FF12-C42F-4CA1-BFEC-73F95EA83B91}"/>
              </a:ext>
            </a:extLst>
          </p:cNvPr>
          <p:cNvSpPr>
            <a:spLocks noGrp="1"/>
          </p:cNvSpPr>
          <p:nvPr/>
        </p:nvSpPr>
        <p:spPr>
          <a:xfrm>
            <a:off x="12430125" y="5857875"/>
            <a:ext cx="9525" cy="9525"/>
          </a:xfrm>
          <a:prstGeom prst="rect">
            <a:avLst/>
          </a:prstGeom>
          <a:noFill/>
          <a:ln w="0">
            <a:noFill/>
          </a:ln>
        </p:spPr>
        <p:txBody>
          <a:bodyPr/>
          <a:lstStyle/>
          <a:p>
            <a:endParaRPr lang="en-GB"/>
          </a:p>
        </p:txBody>
      </p:sp>
      <p:cxnSp>
        <p:nvCxnSpPr>
          <p:cNvPr id="72" name="Connecteur droit avec flèche 71"/>
          <p:cNvCxnSpPr>
            <a:stCxn id="27" idx="3"/>
            <a:endCxn id="28" idx="1"/>
          </p:cNvCxnSpPr>
          <p:nvPr/>
        </p:nvCxnSpPr>
        <p:spPr>
          <a:xfrm>
            <a:off x="2295525" y="5862638"/>
            <a:ext cx="10134600" cy="0"/>
          </a:xfrm>
          <a:prstGeom prst="straightConnector1">
            <a:avLst/>
          </a:prstGeom>
          <a:ln w="28575">
            <a:solidFill>
              <a:srgbClr val="A65A43"/>
            </a:solidFill>
            <a:tailEnd type="triangle" w="sm" len="sm"/>
          </a:ln>
        </p:spPr>
      </p:cxnSp>
      <p:sp>
        <p:nvSpPr>
          <p:cNvPr id="30" name="3. Générer la proposition">
            <a:extLst>
              <a:ext uri="{FF2B5EF4-FFF2-40B4-BE49-F238E27FC236}">
                <a16:creationId xmlns:a16="http://schemas.microsoft.com/office/drawing/2014/main" id="{0D4155C6-87C8-497C-9C8F-BCDF7C20542B}"/>
              </a:ext>
            </a:extLst>
          </p:cNvPr>
          <p:cNvSpPr>
            <a:spLocks noGrp="1"/>
          </p:cNvSpPr>
          <p:nvPr/>
        </p:nvSpPr>
        <p:spPr>
          <a:xfrm>
            <a:off x="2428875" y="5400675"/>
            <a:ext cx="9906000" cy="419100"/>
          </a:xfrm>
          <a:prstGeom prst="rect">
            <a:avLst/>
          </a:prstGeom>
          <a:noFill/>
          <a:ln w="0">
            <a:noFill/>
          </a:ln>
        </p:spPr>
        <p:txBody>
          <a:bodyPr wrap="square" lIns="0" tIns="0" rIns="0" bIns="0" anchor="ctr">
            <a:noAutofit/>
          </a:bodyPr>
          <a:lstStyle/>
          <a:p>
            <a:pPr algn="l">
              <a:defRPr sz="2175" b="0">
                <a:solidFill>
                  <a:srgbClr val="414548"/>
                </a:solidFill>
                <a:latin typeface="Calibri"/>
                <a:ea typeface="Calibri"/>
                <a:cs typeface="Calibri"/>
              </a:defRPr>
            </a:pPr>
            <a:r>
              <a:rPr sz="2175" b="0">
                <a:solidFill>
                  <a:srgbClr val="414548"/>
                </a:solidFill>
                <a:latin typeface="Calibri"/>
                <a:ea typeface="Calibri"/>
                <a:cs typeface="Calibri"/>
              </a:rPr>
              <a:t>3. Générer la proposition</a:t>
            </a:r>
          </a:p>
        </p:txBody>
      </p:sp>
      <p:sp>
        <p:nvSpPr>
          <p:cNvPr id="31" name="Point de séquence">
            <a:extLst>
              <a:ext uri="{FF2B5EF4-FFF2-40B4-BE49-F238E27FC236}">
                <a16:creationId xmlns:a16="http://schemas.microsoft.com/office/drawing/2014/main" id="{11438645-DEBD-47D9-94F1-9C9405A8FF43}"/>
              </a:ext>
            </a:extLst>
          </p:cNvPr>
          <p:cNvSpPr>
            <a:spLocks noGrp="1"/>
          </p:cNvSpPr>
          <p:nvPr/>
        </p:nvSpPr>
        <p:spPr>
          <a:xfrm>
            <a:off x="2286000" y="6619875"/>
            <a:ext cx="9525" cy="9525"/>
          </a:xfrm>
          <a:prstGeom prst="rect">
            <a:avLst/>
          </a:prstGeom>
          <a:noFill/>
          <a:ln w="0">
            <a:noFill/>
          </a:ln>
        </p:spPr>
        <p:txBody>
          <a:bodyPr/>
          <a:lstStyle/>
          <a:p>
            <a:endParaRPr lang="en-GB"/>
          </a:p>
        </p:txBody>
      </p:sp>
      <p:sp>
        <p:nvSpPr>
          <p:cNvPr id="32" name="Point de séquence">
            <a:extLst>
              <a:ext uri="{FF2B5EF4-FFF2-40B4-BE49-F238E27FC236}">
                <a16:creationId xmlns:a16="http://schemas.microsoft.com/office/drawing/2014/main" id="{D9F3A0CF-DB24-4C98-AD4B-1F6C8233AF95}"/>
              </a:ext>
            </a:extLst>
          </p:cNvPr>
          <p:cNvSpPr>
            <a:spLocks noGrp="1"/>
          </p:cNvSpPr>
          <p:nvPr/>
        </p:nvSpPr>
        <p:spPr>
          <a:xfrm>
            <a:off x="15811500" y="6619875"/>
            <a:ext cx="9525" cy="9525"/>
          </a:xfrm>
          <a:prstGeom prst="rect">
            <a:avLst/>
          </a:prstGeom>
          <a:noFill/>
          <a:ln w="0">
            <a:noFill/>
          </a:ln>
        </p:spPr>
        <p:txBody>
          <a:bodyPr/>
          <a:lstStyle/>
          <a:p>
            <a:endParaRPr lang="en-GB"/>
          </a:p>
        </p:txBody>
      </p:sp>
      <p:cxnSp>
        <p:nvCxnSpPr>
          <p:cNvPr id="76" name="Connecteur droit avec flèche 75"/>
          <p:cNvCxnSpPr>
            <a:stCxn id="31" idx="3"/>
            <a:endCxn id="32" idx="1"/>
          </p:cNvCxnSpPr>
          <p:nvPr/>
        </p:nvCxnSpPr>
        <p:spPr>
          <a:xfrm>
            <a:off x="2295525" y="6624638"/>
            <a:ext cx="13515975" cy="0"/>
          </a:xfrm>
          <a:prstGeom prst="straightConnector1">
            <a:avLst/>
          </a:prstGeom>
          <a:ln w="28575">
            <a:solidFill>
              <a:srgbClr val="A65A43"/>
            </a:solidFill>
            <a:tailEnd type="triangle" w="sm" len="sm"/>
          </a:ln>
        </p:spPr>
      </p:cxnSp>
      <p:sp>
        <p:nvSpPr>
          <p:cNvPr id="34" name="4. Envoyer avec pièce jointe">
            <a:extLst>
              <a:ext uri="{FF2B5EF4-FFF2-40B4-BE49-F238E27FC236}">
                <a16:creationId xmlns:a16="http://schemas.microsoft.com/office/drawing/2014/main" id="{654EEFF7-6806-4260-8CB5-58F377377CC7}"/>
              </a:ext>
            </a:extLst>
          </p:cNvPr>
          <p:cNvSpPr>
            <a:spLocks noGrp="1"/>
          </p:cNvSpPr>
          <p:nvPr/>
        </p:nvSpPr>
        <p:spPr>
          <a:xfrm>
            <a:off x="2428875" y="6162675"/>
            <a:ext cx="13287375" cy="419100"/>
          </a:xfrm>
          <a:prstGeom prst="rect">
            <a:avLst/>
          </a:prstGeom>
          <a:noFill/>
          <a:ln w="0">
            <a:noFill/>
          </a:ln>
        </p:spPr>
        <p:txBody>
          <a:bodyPr wrap="square" lIns="0" tIns="0" rIns="0" bIns="0" anchor="ctr">
            <a:noAutofit/>
          </a:bodyPr>
          <a:lstStyle/>
          <a:p>
            <a:pPr algn="l">
              <a:defRPr sz="2175" b="0">
                <a:solidFill>
                  <a:srgbClr val="414548"/>
                </a:solidFill>
                <a:latin typeface="Calibri"/>
                <a:ea typeface="Calibri"/>
                <a:cs typeface="Calibri"/>
              </a:defRPr>
            </a:pPr>
            <a:r>
              <a:rPr sz="2175" b="0">
                <a:solidFill>
                  <a:srgbClr val="414548"/>
                </a:solidFill>
                <a:latin typeface="Calibri"/>
                <a:ea typeface="Calibri"/>
                <a:cs typeface="Calibri"/>
              </a:rPr>
              <a:t>4. Envoyer avec pièce jointe</a:t>
            </a:r>
          </a:p>
        </p:txBody>
      </p:sp>
      <p:sp>
        <p:nvSpPr>
          <p:cNvPr id="35" name="Point de séquence">
            <a:extLst>
              <a:ext uri="{FF2B5EF4-FFF2-40B4-BE49-F238E27FC236}">
                <a16:creationId xmlns:a16="http://schemas.microsoft.com/office/drawing/2014/main" id="{8183025A-A370-4F31-90ED-D39B6492DB97}"/>
              </a:ext>
            </a:extLst>
          </p:cNvPr>
          <p:cNvSpPr>
            <a:spLocks noGrp="1"/>
          </p:cNvSpPr>
          <p:nvPr/>
        </p:nvSpPr>
        <p:spPr>
          <a:xfrm>
            <a:off x="2286000" y="7381875"/>
            <a:ext cx="9525" cy="9525"/>
          </a:xfrm>
          <a:prstGeom prst="rect">
            <a:avLst/>
          </a:prstGeom>
          <a:noFill/>
          <a:ln w="0">
            <a:noFill/>
          </a:ln>
        </p:spPr>
        <p:txBody>
          <a:bodyPr/>
          <a:lstStyle/>
          <a:p>
            <a:endParaRPr lang="en-GB"/>
          </a:p>
        </p:txBody>
      </p:sp>
      <p:sp>
        <p:nvSpPr>
          <p:cNvPr id="36" name="Point de séquence">
            <a:extLst>
              <a:ext uri="{FF2B5EF4-FFF2-40B4-BE49-F238E27FC236}">
                <a16:creationId xmlns:a16="http://schemas.microsoft.com/office/drawing/2014/main" id="{1C792C6D-BB57-4667-A4D7-6CC84815A3E5}"/>
              </a:ext>
            </a:extLst>
          </p:cNvPr>
          <p:cNvSpPr>
            <a:spLocks noGrp="1"/>
          </p:cNvSpPr>
          <p:nvPr/>
        </p:nvSpPr>
        <p:spPr>
          <a:xfrm>
            <a:off x="9048750" y="7381875"/>
            <a:ext cx="9525" cy="9525"/>
          </a:xfrm>
          <a:prstGeom prst="rect">
            <a:avLst/>
          </a:prstGeom>
          <a:noFill/>
          <a:ln w="0">
            <a:noFill/>
          </a:ln>
        </p:spPr>
        <p:txBody>
          <a:bodyPr/>
          <a:lstStyle/>
          <a:p>
            <a:endParaRPr lang="en-GB"/>
          </a:p>
        </p:txBody>
      </p:sp>
      <p:cxnSp>
        <p:nvCxnSpPr>
          <p:cNvPr id="80" name="Connecteur droit avec flèche 79"/>
          <p:cNvCxnSpPr>
            <a:stCxn id="35" idx="3"/>
            <a:endCxn id="36" idx="1"/>
          </p:cNvCxnSpPr>
          <p:nvPr/>
        </p:nvCxnSpPr>
        <p:spPr>
          <a:xfrm>
            <a:off x="2295525" y="7386638"/>
            <a:ext cx="6753225" cy="0"/>
          </a:xfrm>
          <a:prstGeom prst="straightConnector1">
            <a:avLst/>
          </a:prstGeom>
          <a:ln w="28575">
            <a:solidFill>
              <a:srgbClr val="A65A43"/>
            </a:solidFill>
            <a:tailEnd type="triangle" w="sm" len="sm"/>
          </a:ln>
        </p:spPr>
      </p:cxnSp>
      <p:sp>
        <p:nvSpPr>
          <p:cNvPr id="38" name="5. Mémoriser le succès">
            <a:extLst>
              <a:ext uri="{FF2B5EF4-FFF2-40B4-BE49-F238E27FC236}">
                <a16:creationId xmlns:a16="http://schemas.microsoft.com/office/drawing/2014/main" id="{75F47FEE-1291-4714-8951-5EC2C05C93E8}"/>
              </a:ext>
            </a:extLst>
          </p:cNvPr>
          <p:cNvSpPr>
            <a:spLocks noGrp="1"/>
          </p:cNvSpPr>
          <p:nvPr/>
        </p:nvSpPr>
        <p:spPr>
          <a:xfrm>
            <a:off x="2428875" y="6924675"/>
            <a:ext cx="6524625" cy="419100"/>
          </a:xfrm>
          <a:prstGeom prst="rect">
            <a:avLst/>
          </a:prstGeom>
          <a:noFill/>
          <a:ln w="0">
            <a:noFill/>
          </a:ln>
        </p:spPr>
        <p:txBody>
          <a:bodyPr wrap="square" lIns="0" tIns="0" rIns="0" bIns="0" anchor="ctr">
            <a:noAutofit/>
          </a:bodyPr>
          <a:lstStyle/>
          <a:p>
            <a:pPr algn="l">
              <a:defRPr sz="2175" b="0">
                <a:solidFill>
                  <a:srgbClr val="414548"/>
                </a:solidFill>
                <a:latin typeface="Calibri"/>
                <a:ea typeface="Calibri"/>
                <a:cs typeface="Calibri"/>
              </a:defRPr>
            </a:pPr>
            <a:r>
              <a:rPr sz="2175" b="0">
                <a:solidFill>
                  <a:srgbClr val="414548"/>
                </a:solidFill>
                <a:latin typeface="Calibri"/>
                <a:ea typeface="Calibri"/>
                <a:cs typeface="Calibri"/>
              </a:rPr>
              <a:t>5. Mémoriser le succès</a:t>
            </a:r>
          </a:p>
        </p:txBody>
      </p:sp>
      <p:sp>
        <p:nvSpPr>
          <p:cNvPr id="39" name="Point de séquence">
            <a:extLst>
              <a:ext uri="{FF2B5EF4-FFF2-40B4-BE49-F238E27FC236}">
                <a16:creationId xmlns:a16="http://schemas.microsoft.com/office/drawing/2014/main" id="{7CE29C24-3E46-4DE8-B310-0952B29AD886}"/>
              </a:ext>
            </a:extLst>
          </p:cNvPr>
          <p:cNvSpPr>
            <a:spLocks noGrp="1"/>
          </p:cNvSpPr>
          <p:nvPr/>
        </p:nvSpPr>
        <p:spPr>
          <a:xfrm>
            <a:off x="2286000" y="8143875"/>
            <a:ext cx="9525" cy="9525"/>
          </a:xfrm>
          <a:prstGeom prst="rect">
            <a:avLst/>
          </a:prstGeom>
          <a:noFill/>
          <a:ln w="0">
            <a:noFill/>
          </a:ln>
        </p:spPr>
        <p:txBody>
          <a:bodyPr/>
          <a:lstStyle/>
          <a:p>
            <a:endParaRPr lang="en-GB"/>
          </a:p>
        </p:txBody>
      </p:sp>
      <p:sp>
        <p:nvSpPr>
          <p:cNvPr id="40" name="Point de séquence">
            <a:extLst>
              <a:ext uri="{FF2B5EF4-FFF2-40B4-BE49-F238E27FC236}">
                <a16:creationId xmlns:a16="http://schemas.microsoft.com/office/drawing/2014/main" id="{DE773BAC-8062-4CB6-A196-C9B28756DF52}"/>
              </a:ext>
            </a:extLst>
          </p:cNvPr>
          <p:cNvSpPr>
            <a:spLocks noGrp="1"/>
          </p:cNvSpPr>
          <p:nvPr/>
        </p:nvSpPr>
        <p:spPr>
          <a:xfrm>
            <a:off x="5667375" y="8143875"/>
            <a:ext cx="9525" cy="9525"/>
          </a:xfrm>
          <a:prstGeom prst="rect">
            <a:avLst/>
          </a:prstGeom>
          <a:noFill/>
          <a:ln w="0">
            <a:noFill/>
          </a:ln>
        </p:spPr>
        <p:txBody>
          <a:bodyPr/>
          <a:lstStyle/>
          <a:p>
            <a:endParaRPr lang="en-GB"/>
          </a:p>
        </p:txBody>
      </p:sp>
      <p:cxnSp>
        <p:nvCxnSpPr>
          <p:cNvPr id="84" name="Connecteur droit avec flèche 83"/>
          <p:cNvCxnSpPr>
            <a:stCxn id="39" idx="3"/>
            <a:endCxn id="40" idx="1"/>
          </p:cNvCxnSpPr>
          <p:nvPr/>
        </p:nvCxnSpPr>
        <p:spPr>
          <a:xfrm>
            <a:off x="2295525" y="8148638"/>
            <a:ext cx="3371850" cy="0"/>
          </a:xfrm>
          <a:prstGeom prst="straightConnector1">
            <a:avLst/>
          </a:prstGeom>
          <a:ln w="28575">
            <a:solidFill>
              <a:srgbClr val="A65A43"/>
            </a:solidFill>
            <a:tailEnd type="triangle" w="sm" len="sm"/>
          </a:ln>
        </p:spPr>
      </p:cxnSp>
      <p:sp>
        <p:nvSpPr>
          <p:cNvPr id="42" name="6. Mettre à jour date et statut">
            <a:extLst>
              <a:ext uri="{FF2B5EF4-FFF2-40B4-BE49-F238E27FC236}">
                <a16:creationId xmlns:a16="http://schemas.microsoft.com/office/drawing/2014/main" id="{C641C5DD-9723-49A8-8DE6-503AF4C25F89}"/>
              </a:ext>
            </a:extLst>
          </p:cNvPr>
          <p:cNvSpPr>
            <a:spLocks noGrp="1"/>
          </p:cNvSpPr>
          <p:nvPr/>
        </p:nvSpPr>
        <p:spPr>
          <a:xfrm>
            <a:off x="2428875" y="7686675"/>
            <a:ext cx="5048250" cy="419100"/>
          </a:xfrm>
          <a:prstGeom prst="rect">
            <a:avLst/>
          </a:prstGeom>
          <a:noFill/>
          <a:ln w="0">
            <a:noFill/>
          </a:ln>
        </p:spPr>
        <p:txBody>
          <a:bodyPr wrap="square" lIns="0" tIns="0" rIns="0" bIns="0" anchor="ctr">
            <a:noAutofit/>
          </a:bodyPr>
          <a:lstStyle/>
          <a:p>
            <a:pPr algn="l">
              <a:defRPr sz="2175" b="0">
                <a:solidFill>
                  <a:srgbClr val="414548"/>
                </a:solidFill>
                <a:latin typeface="Calibri"/>
                <a:ea typeface="Calibri"/>
                <a:cs typeface="Calibri"/>
              </a:defRPr>
            </a:pPr>
            <a:r>
              <a:rPr sz="2175" b="0">
                <a:solidFill>
                  <a:srgbClr val="414548"/>
                </a:solidFill>
                <a:latin typeface="Calibri"/>
                <a:ea typeface="Calibri"/>
                <a:cs typeface="Calibri"/>
              </a:rPr>
              <a:t>6. Mettre à jour date et statut</a:t>
            </a:r>
          </a:p>
        </p:txBody>
      </p:sp>
      <p:sp>
        <p:nvSpPr>
          <p:cNvPr id="43" name="Si l’envoi est déjà journalisé : réconcilier le CRM san">
            <a:extLst>
              <a:ext uri="{FF2B5EF4-FFF2-40B4-BE49-F238E27FC236}">
                <a16:creationId xmlns:a16="http://schemas.microsoft.com/office/drawing/2014/main" id="{2D3561B4-F220-49F5-88DE-44B6D56A36DE}"/>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686B67"/>
                </a:solidFill>
                <a:latin typeface="Calibri"/>
                <a:ea typeface="Calibri"/>
                <a:cs typeface="Calibri"/>
              </a:defRPr>
            </a:pPr>
            <a:r>
              <a:rPr sz="2025" b="0">
                <a:solidFill>
                  <a:srgbClr val="686B67"/>
                </a:solidFill>
                <a:latin typeface="Calibri"/>
                <a:ea typeface="Calibri"/>
                <a:cs typeface="Calibri"/>
              </a:rPr>
              <a:t>Si l’envoi est déjà journalisé : réconcilier le CRM sans renvoyer le message.</a:t>
            </a:r>
          </a:p>
        </p:txBody>
      </p:sp>
    </p:spTree>
    <p:extLst>
      <p:ext uri="{BB962C8B-B14F-4D97-AF65-F5344CB8AC3E}">
        <p14:creationId xmlns:p14="http://schemas.microsoft.com/office/powerpoint/2010/main" val="1010478592"/>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3F0E2"/>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ResearchBg"/>
          <a:srcRect l="0" t="27" r="0" b="27"/>
          <a:stretch>
            <a:fillRect l="0" t="0" r="0" b="0"/>
          </a:stretch>
        </p:blipFill>
        <p:spPr>
          <a:xfrm>
            <a:off x="0" y="0"/>
            <a:ext cx="18288000" cy="10287000"/>
          </a:xfrm>
          <a:prstGeom prst="rect">
            <a:avLst/>
          </a:prstGeom>
        </p:spPr>
      </p:pic>
      <p:sp>
        <p:nvSpPr>
          <p:cNvPr id="16" name="ADG-10  /  AUTOMATISATION DU CYCLE COMMERCIAL">
            <a:extLst>
              <a:ext uri="{FF2B5EF4-FFF2-40B4-BE49-F238E27FC236}">
                <a16:creationId xmlns:a16="http://schemas.microsoft.com/office/drawing/2014/main" id="{7D13FAFE-FBB7-4F73-8E58-EB10EC32F988}"/>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A65A43"/>
                </a:solidFill>
                <a:latin typeface="Calibri"/>
                <a:ea typeface="Calibri"/>
                <a:cs typeface="Calibri"/>
              </a:defRPr>
            </a:pPr>
            <a:r>
              <a:rPr sz="1800" b="1">
                <a:solidFill>
                  <a:srgbClr val="A65A43"/>
                </a:solidFill>
                <a:latin typeface="Calibri"/>
                <a:ea typeface="Calibri"/>
                <a:cs typeface="Calibri"/>
              </a:rPr>
              <a:t>ADG-10  /  AUTOMATISATION DU CYCLE COMMERCIAL</a:t>
            </a:r>
          </a:p>
        </p:txBody>
      </p:sp>
      <p:sp>
        <p:nvSpPr>
          <p:cNvPr id="2" name="15 / 22">
            <a:extLst>
              <a:ext uri="{FF2B5EF4-FFF2-40B4-BE49-F238E27FC236}">
                <a16:creationId xmlns:a16="http://schemas.microsoft.com/office/drawing/2014/main" id="{BDECBA8A-B43E-49D2-AEA0-8969672452EC}"/>
              </a:ext>
            </a:extLst>
          </p:cNvPr>
          <p:cNvSpPr>
            <a:spLocks noGrp="1"/>
          </p:cNvSpPr>
          <p:nvPr/>
        </p:nvSpPr>
        <p:spPr>
          <a:xfrm>
            <a:off x="14382750" y="9696450"/>
            <a:ext cx="1333500" cy="323850"/>
          </a:xfrm>
          <a:prstGeom prst="rect">
            <a:avLst/>
          </a:prstGeom>
          <a:noFill/>
          <a:ln w="0">
            <a:noFill/>
          </a:ln>
        </p:spPr>
        <p:txBody>
          <a:bodyPr wrap="square" lIns="0" tIns="0" rIns="0" bIns="0" anchor="ctr">
            <a:noAutofit/>
          </a:bodyPr>
          <a:lstStyle/>
          <a:p>
            <a:pPr algn="ctr">
              <a:defRPr sz="1650" b="1">
                <a:solidFill>
                  <a:srgbClr val="414548"/>
                </a:solidFill>
                <a:latin typeface="Calibri"/>
                <a:ea typeface="Calibri"/>
                <a:cs typeface="Calibri"/>
              </a:defRPr>
            </a:pPr>
            <a:r>
              <a:rPr sz="1650" b="1">
                <a:solidFill>
                  <a:srgbClr val="414548"/>
                </a:solidFill>
                <a:latin typeface="Calibri"/>
                <a:ea typeface="Calibri"/>
                <a:cs typeface="Calibri"/>
              </a:rPr>
              <a:t>15 / 24</a:t>
            </a:r>
          </a:p>
        </p:txBody>
      </p:sp>
      <p:sp>
        <p:nvSpPr>
          <p:cNvPr id="3" name="Architecture technique">
            <a:extLst>
              <a:ext uri="{FF2B5EF4-FFF2-40B4-BE49-F238E27FC236}">
                <a16:creationId xmlns:a16="http://schemas.microsoft.com/office/drawing/2014/main" id="{B4BC43E0-7CBC-47B7-A03F-471AF36FB425}"/>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414548"/>
                </a:solidFill>
                <a:latin typeface="Calibri"/>
                <a:ea typeface="Calibri"/>
                <a:cs typeface="Calibri"/>
              </a:defRPr>
            </a:pPr>
            <a:r>
              <a:rPr sz="4650" b="1">
                <a:solidFill>
                  <a:srgbClr val="414548"/>
                </a:solidFill>
                <a:latin typeface="Calibri"/>
                <a:ea typeface="Calibri"/>
                <a:cs typeface="Calibri"/>
              </a:rPr>
              <a:t>Architecture technique</a:t>
            </a:r>
          </a:p>
        </p:txBody>
      </p:sp>
      <p:sp>
        <p:nvSpPr>
          <p:cNvPr id="4" name="Interface Streamlit : vues, filtres, commandes">
            <a:extLst>
              <a:ext uri="{FF2B5EF4-FFF2-40B4-BE49-F238E27FC236}">
                <a16:creationId xmlns:a16="http://schemas.microsoft.com/office/drawing/2014/main" id="{DBE8C58E-EAED-48B5-8B58-24599A3E4EB3}"/>
              </a:ext>
            </a:extLst>
          </p:cNvPr>
          <p:cNvSpPr>
            <a:spLocks noGrp="1"/>
          </p:cNvSpPr>
          <p:nvPr/>
        </p:nvSpPr>
        <p:spPr>
          <a:xfrm>
            <a:off x="3381375" y="3095625"/>
            <a:ext cx="11049000" cy="952500"/>
          </a:xfrm>
          <a:prstGeom prst="rect">
            <a:avLst/>
          </a:prstGeom>
          <a:solidFill>
            <a:srgbClr val="E1E5DD"/>
          </a:solidFill>
          <a:ln w="19050">
            <a:solidFill>
              <a:srgbClr val="5D818B"/>
            </a:solidFill>
          </a:ln>
        </p:spPr>
        <p:txBody>
          <a:bodyPr lIns="114300" tIns="85725" rIns="114300" bIns="85725" anchor="ctr">
            <a:noAutofit/>
          </a:bodyPr>
          <a:lstStyle/>
          <a:p>
            <a:pPr algn="ctr">
              <a:defRPr sz="2925">
                <a:solidFill>
                  <a:srgbClr val="414548"/>
                </a:solidFill>
                <a:latin typeface="Calibri"/>
                <a:ea typeface="Calibri"/>
                <a:cs typeface="Calibri"/>
              </a:defRPr>
            </a:pPr>
            <a:r>
              <a:rPr sz="2925">
                <a:solidFill>
                  <a:srgbClr val="414548"/>
                </a:solidFill>
                <a:latin typeface="Calibri"/>
                <a:ea typeface="Calibri"/>
                <a:cs typeface="Calibri"/>
              </a:rPr>
              <a:t>Interface Streamlit : vues, filtres, commandes</a:t>
            </a:r>
          </a:p>
        </p:txBody>
      </p:sp>
      <p:sp>
        <p:nvSpPr>
          <p:cNvPr id="5" name="Scripts E1 à E8 et orchestrateur du pipeline">
            <a:extLst>
              <a:ext uri="{FF2B5EF4-FFF2-40B4-BE49-F238E27FC236}">
                <a16:creationId xmlns:a16="http://schemas.microsoft.com/office/drawing/2014/main" id="{56EC3815-ECB1-46E6-B3B6-EB8C43D2412D}"/>
              </a:ext>
            </a:extLst>
          </p:cNvPr>
          <p:cNvSpPr>
            <a:spLocks noGrp="1"/>
          </p:cNvSpPr>
          <p:nvPr/>
        </p:nvSpPr>
        <p:spPr>
          <a:xfrm>
            <a:off x="3381375" y="4619625"/>
            <a:ext cx="11049000" cy="952500"/>
          </a:xfrm>
          <a:prstGeom prst="rect">
            <a:avLst/>
          </a:prstGeom>
          <a:solidFill>
            <a:srgbClr val="E1E5DD"/>
          </a:solidFill>
          <a:ln w="19050">
            <a:solidFill>
              <a:srgbClr val="5D818B"/>
            </a:solidFill>
          </a:ln>
        </p:spPr>
        <p:txBody>
          <a:bodyPr lIns="114300" tIns="85725" rIns="114300" bIns="85725" anchor="ctr">
            <a:noAutofit/>
          </a:bodyPr>
          <a:lstStyle/>
          <a:p>
            <a:pPr algn="ctr">
              <a:defRPr sz="2925">
                <a:solidFill>
                  <a:srgbClr val="414548"/>
                </a:solidFill>
                <a:latin typeface="Calibri"/>
                <a:ea typeface="Calibri"/>
                <a:cs typeface="Calibri"/>
              </a:defRPr>
            </a:pPr>
            <a:r>
              <a:rPr sz="2925">
                <a:solidFill>
                  <a:srgbClr val="414548"/>
                </a:solidFill>
                <a:latin typeface="Calibri"/>
                <a:ea typeface="Calibri"/>
                <a:cs typeface="Calibri"/>
              </a:rPr>
              <a:t>Scripts E1 à E8 et orchestrateur du pipeline</a:t>
            </a:r>
          </a:p>
        </p:txBody>
      </p:sp>
      <p:sp>
        <p:nvSpPr>
          <p:cNvPr id="6" name="Règles métier : scoring, séquences, modèles de messages">
            <a:extLst>
              <a:ext uri="{FF2B5EF4-FFF2-40B4-BE49-F238E27FC236}">
                <a16:creationId xmlns:a16="http://schemas.microsoft.com/office/drawing/2014/main" id="{590C7B00-2D5C-4DDD-9C71-EF3C02574B82}"/>
              </a:ext>
            </a:extLst>
          </p:cNvPr>
          <p:cNvSpPr>
            <a:spLocks noGrp="1"/>
          </p:cNvSpPr>
          <p:nvPr/>
        </p:nvSpPr>
        <p:spPr>
          <a:xfrm>
            <a:off x="3381375" y="6143625"/>
            <a:ext cx="11049000" cy="952500"/>
          </a:xfrm>
          <a:prstGeom prst="rect">
            <a:avLst/>
          </a:prstGeom>
          <a:solidFill>
            <a:srgbClr val="E1E5DD"/>
          </a:solidFill>
          <a:ln w="19050">
            <a:solidFill>
              <a:srgbClr val="5D818B"/>
            </a:solidFill>
          </a:ln>
        </p:spPr>
        <p:txBody>
          <a:bodyPr lIns="114300" tIns="85725" rIns="114300" bIns="85725" anchor="ctr">
            <a:noAutofit/>
          </a:bodyPr>
          <a:lstStyle/>
          <a:p>
            <a:pPr algn="ctr">
              <a:defRPr sz="2775">
                <a:solidFill>
                  <a:srgbClr val="414548"/>
                </a:solidFill>
                <a:latin typeface="Calibri"/>
                <a:ea typeface="Calibri"/>
                <a:cs typeface="Calibri"/>
              </a:defRPr>
            </a:pPr>
            <a:r>
              <a:rPr sz="2775">
                <a:solidFill>
                  <a:srgbClr val="414548"/>
                </a:solidFill>
                <a:latin typeface="Calibri"/>
                <a:ea typeface="Calibri"/>
                <a:cs typeface="Calibri"/>
              </a:rPr>
              <a:t>Règles métier : scoring, séquences, modèles de messages</a:t>
            </a:r>
          </a:p>
        </p:txBody>
      </p:sp>
      <p:cxnSp>
        <p:nvCxnSpPr>
          <p:cNvPr id="22" name="Connecteur droit avec flèche 21"/>
          <p:cNvCxnSpPr>
            <a:stCxn id="4" idx="2"/>
            <a:endCxn id="5" idx="0"/>
          </p:cNvCxnSpPr>
          <p:nvPr/>
        </p:nvCxnSpPr>
        <p:spPr>
          <a:xfrm>
            <a:off x="8905875" y="4048125"/>
            <a:ext cx="0" cy="571500"/>
          </a:xfrm>
          <a:prstGeom prst="straightConnector1">
            <a:avLst/>
          </a:prstGeom>
          <a:ln w="28575">
            <a:solidFill>
              <a:srgbClr val="A65A43"/>
            </a:solidFill>
            <a:tailEnd type="triangle" w="sm" len="sm"/>
          </a:ln>
        </p:spPr>
      </p:cxnSp>
      <p:cxnSp>
        <p:nvCxnSpPr>
          <p:cNvPr id="23" name="Connecteur droit avec flèche 22"/>
          <p:cNvCxnSpPr>
            <a:stCxn id="5" idx="2"/>
            <a:endCxn id="6" idx="0"/>
          </p:cNvCxnSpPr>
          <p:nvPr/>
        </p:nvCxnSpPr>
        <p:spPr>
          <a:xfrm>
            <a:off x="8905875" y="5572125"/>
            <a:ext cx="0" cy="571500"/>
          </a:xfrm>
          <a:prstGeom prst="straightConnector1">
            <a:avLst/>
          </a:prstGeom>
          <a:ln w="28575">
            <a:solidFill>
              <a:srgbClr val="A65A43"/>
            </a:solidFill>
            <a:tailEnd type="triangle" w="sm" len="sm"/>
          </a:ln>
        </p:spPr>
      </p:cxnSp>
      <p:sp>
        <p:nvSpPr>
          <p:cNvPr id="9" name="Airtable / Groq&#10;API externes">
            <a:extLst>
              <a:ext uri="{FF2B5EF4-FFF2-40B4-BE49-F238E27FC236}">
                <a16:creationId xmlns:a16="http://schemas.microsoft.com/office/drawing/2014/main" id="{FE90DE21-668B-4734-9D93-ABFB0E2C833B}"/>
              </a:ext>
            </a:extLst>
          </p:cNvPr>
          <p:cNvSpPr>
            <a:spLocks noGrp="1"/>
          </p:cNvSpPr>
          <p:nvPr/>
        </p:nvSpPr>
        <p:spPr>
          <a:xfrm>
            <a:off x="1238250" y="7810500"/>
            <a:ext cx="4572000" cy="1000125"/>
          </a:xfrm>
          <a:prstGeom prst="rect">
            <a:avLst/>
          </a:prstGeom>
          <a:solidFill>
            <a:srgbClr val="E1E5DD"/>
          </a:solidFill>
          <a:ln w="19050">
            <a:solidFill>
              <a:srgbClr val="5D818B"/>
            </a:solidFill>
          </a:ln>
        </p:spPr>
        <p:txBody>
          <a:bodyPr lIns="114300" tIns="85725" rIns="114300" bIns="85725" anchor="ctr">
            <a:noAutofit/>
          </a:bodyPr>
          <a:lstStyle/>
          <a:p>
            <a:pPr algn="ctr">
              <a:defRPr sz="2475">
                <a:solidFill>
                  <a:srgbClr val="414548"/>
                </a:solidFill>
                <a:latin typeface="Calibri"/>
                <a:ea typeface="Calibri"/>
                <a:cs typeface="Calibri"/>
              </a:defRPr>
            </a:pPr>
            <a:r>
              <a:rPr sz="2475">
                <a:solidFill>
                  <a:srgbClr val="414548"/>
                </a:solidFill>
                <a:latin typeface="Calibri"/>
                <a:ea typeface="Calibri"/>
                <a:cs typeface="Calibri"/>
              </a:rPr>
              <a:t>Airtable / Groq</a:t>
            </a:r>
          </a:p>
          <a:p>
            <a:pPr algn="ctr">
              <a:defRPr sz="2475">
                <a:solidFill>
                  <a:srgbClr val="414548"/>
                </a:solidFill>
                <a:latin typeface="Calibri"/>
                <a:ea typeface="Calibri"/>
                <a:cs typeface="Calibri"/>
              </a:defRPr>
            </a:pPr>
            <a:r>
              <a:rPr sz="2475">
                <a:solidFill>
                  <a:srgbClr val="414548"/>
                </a:solidFill>
                <a:latin typeface="Calibri"/>
                <a:ea typeface="Calibri"/>
                <a:cs typeface="Calibri"/>
              </a:rPr>
              <a:t>API externes</a:t>
            </a:r>
          </a:p>
        </p:txBody>
      </p:sp>
      <p:sp>
        <p:nvSpPr>
          <p:cNvPr id="10" name="SMTP / WhatsApp&#10;Adaptateurs d’envoi">
            <a:extLst>
              <a:ext uri="{FF2B5EF4-FFF2-40B4-BE49-F238E27FC236}">
                <a16:creationId xmlns:a16="http://schemas.microsoft.com/office/drawing/2014/main" id="{8602B24F-0A0A-4B27-9461-2EBECD072F51}"/>
              </a:ext>
            </a:extLst>
          </p:cNvPr>
          <p:cNvSpPr>
            <a:spLocks noGrp="1"/>
          </p:cNvSpPr>
          <p:nvPr/>
        </p:nvSpPr>
        <p:spPr>
          <a:xfrm>
            <a:off x="6667500" y="7810500"/>
            <a:ext cx="4572000" cy="1000125"/>
          </a:xfrm>
          <a:prstGeom prst="rect">
            <a:avLst/>
          </a:prstGeom>
          <a:solidFill>
            <a:srgbClr val="E1E5DD"/>
          </a:solidFill>
          <a:ln w="19050">
            <a:solidFill>
              <a:srgbClr val="5D818B"/>
            </a:solidFill>
          </a:ln>
        </p:spPr>
        <p:txBody>
          <a:bodyPr lIns="114300" tIns="85725" rIns="114300" bIns="85725" anchor="ctr">
            <a:noAutofit/>
          </a:bodyPr>
          <a:lstStyle/>
          <a:p>
            <a:pPr algn="ctr">
              <a:defRPr sz="2475">
                <a:solidFill>
                  <a:srgbClr val="414548"/>
                </a:solidFill>
                <a:latin typeface="Calibri"/>
                <a:ea typeface="Calibri"/>
                <a:cs typeface="Calibri"/>
              </a:defRPr>
            </a:pPr>
            <a:r>
              <a:rPr sz="2475">
                <a:solidFill>
                  <a:srgbClr val="414548"/>
                </a:solidFill>
                <a:latin typeface="Calibri"/>
                <a:ea typeface="Calibri"/>
                <a:cs typeface="Calibri"/>
              </a:rPr>
              <a:t>SMTP / WhatsApp</a:t>
            </a:r>
          </a:p>
          <a:p>
            <a:pPr algn="ctr">
              <a:defRPr sz="2475">
                <a:solidFill>
                  <a:srgbClr val="414548"/>
                </a:solidFill>
                <a:latin typeface="Calibri"/>
                <a:ea typeface="Calibri"/>
                <a:cs typeface="Calibri"/>
              </a:defRPr>
            </a:pPr>
            <a:r>
              <a:rPr sz="2475">
                <a:solidFill>
                  <a:srgbClr val="414548"/>
                </a:solidFill>
                <a:latin typeface="Calibri"/>
                <a:ea typeface="Calibri"/>
                <a:cs typeface="Calibri"/>
              </a:rPr>
              <a:t>Adaptateurs d’envoi</a:t>
            </a:r>
          </a:p>
        </p:txBody>
      </p:sp>
      <p:sp>
        <p:nvSpPr>
          <p:cNvPr id="11" name="ReportLab / JSON&#10;PDF et état local">
            <a:extLst>
              <a:ext uri="{FF2B5EF4-FFF2-40B4-BE49-F238E27FC236}">
                <a16:creationId xmlns:a16="http://schemas.microsoft.com/office/drawing/2014/main" id="{F692E796-5FE1-46DF-B86B-F34BCF4510E4}"/>
              </a:ext>
            </a:extLst>
          </p:cNvPr>
          <p:cNvSpPr>
            <a:spLocks noGrp="1"/>
          </p:cNvSpPr>
          <p:nvPr/>
        </p:nvSpPr>
        <p:spPr>
          <a:xfrm>
            <a:off x="12096750" y="7810500"/>
            <a:ext cx="4572000" cy="1000125"/>
          </a:xfrm>
          <a:prstGeom prst="rect">
            <a:avLst/>
          </a:prstGeom>
          <a:solidFill>
            <a:srgbClr val="E1E5DD"/>
          </a:solidFill>
          <a:ln w="19050">
            <a:solidFill>
              <a:srgbClr val="5D818B"/>
            </a:solidFill>
          </a:ln>
        </p:spPr>
        <p:txBody>
          <a:bodyPr lIns="114300" tIns="85725" rIns="114300" bIns="85725" anchor="ctr">
            <a:noAutofit/>
          </a:bodyPr>
          <a:lstStyle/>
          <a:p>
            <a:pPr algn="ctr">
              <a:defRPr sz="2475">
                <a:solidFill>
                  <a:srgbClr val="414548"/>
                </a:solidFill>
                <a:latin typeface="Calibri"/>
                <a:ea typeface="Calibri"/>
                <a:cs typeface="Calibri"/>
              </a:defRPr>
            </a:pPr>
            <a:r>
              <a:rPr sz="2475">
                <a:solidFill>
                  <a:srgbClr val="414548"/>
                </a:solidFill>
                <a:latin typeface="Calibri"/>
                <a:ea typeface="Calibri"/>
                <a:cs typeface="Calibri"/>
              </a:rPr>
              <a:t>ReportLab / JSON</a:t>
            </a:r>
          </a:p>
          <a:p>
            <a:pPr algn="ctr">
              <a:defRPr sz="2475">
                <a:solidFill>
                  <a:srgbClr val="414548"/>
                </a:solidFill>
                <a:latin typeface="Calibri"/>
                <a:ea typeface="Calibri"/>
                <a:cs typeface="Calibri"/>
              </a:defRPr>
            </a:pPr>
            <a:r>
              <a:rPr sz="2475">
                <a:solidFill>
                  <a:srgbClr val="414548"/>
                </a:solidFill>
                <a:latin typeface="Calibri"/>
                <a:ea typeface="Calibri"/>
                <a:cs typeface="Calibri"/>
              </a:rPr>
              <a:t>PDF et état local</a:t>
            </a:r>
          </a:p>
        </p:txBody>
      </p:sp>
      <p:cxnSp>
        <p:nvCxnSpPr>
          <p:cNvPr id="27" name="Connecteur droit avec flèche 26"/>
          <p:cNvCxnSpPr>
            <a:stCxn id="6" idx="2"/>
            <a:endCxn id="9" idx="0"/>
          </p:cNvCxnSpPr>
          <p:nvPr/>
        </p:nvCxnSpPr>
        <p:spPr>
          <a:xfrm flipH="1">
            <a:off x="3524250" y="7096125"/>
            <a:ext cx="5381625" cy="714375"/>
          </a:xfrm>
          <a:prstGeom prst="straightConnector1">
            <a:avLst/>
          </a:prstGeom>
          <a:ln w="28575">
            <a:solidFill>
              <a:srgbClr val="A65A43"/>
            </a:solidFill>
            <a:tailEnd type="triangle" w="sm" len="sm"/>
          </a:ln>
        </p:spPr>
      </p:cxnSp>
      <p:cxnSp>
        <p:nvCxnSpPr>
          <p:cNvPr id="28" name="Connecteur droit avec flèche 27"/>
          <p:cNvCxnSpPr>
            <a:stCxn id="6" idx="2"/>
            <a:endCxn id="10" idx="0"/>
          </p:cNvCxnSpPr>
          <p:nvPr/>
        </p:nvCxnSpPr>
        <p:spPr>
          <a:xfrm>
            <a:off x="8905875" y="7096125"/>
            <a:ext cx="47625" cy="714375"/>
          </a:xfrm>
          <a:prstGeom prst="straightConnector1">
            <a:avLst/>
          </a:prstGeom>
          <a:ln w="28575">
            <a:solidFill>
              <a:srgbClr val="A65A43"/>
            </a:solidFill>
            <a:tailEnd type="triangle" w="sm" len="sm"/>
          </a:ln>
        </p:spPr>
      </p:cxnSp>
      <p:cxnSp>
        <p:nvCxnSpPr>
          <p:cNvPr id="29" name="Connecteur droit avec flèche 28"/>
          <p:cNvCxnSpPr>
            <a:stCxn id="6" idx="2"/>
            <a:endCxn id="11" idx="0"/>
          </p:cNvCxnSpPr>
          <p:nvPr/>
        </p:nvCxnSpPr>
        <p:spPr>
          <a:xfrm>
            <a:off x="8905875" y="7096125"/>
            <a:ext cx="5476875" cy="714375"/>
          </a:xfrm>
          <a:prstGeom prst="straightConnector1">
            <a:avLst/>
          </a:prstGeom>
          <a:ln w="28575">
            <a:solidFill>
              <a:srgbClr val="A65A43"/>
            </a:solidFill>
            <a:tailEnd type="triangle" w="sm" len="sm"/>
          </a:ln>
        </p:spPr>
      </p:cxnSp>
      <p:sp>
        <p:nvSpPr>
          <p:cNvPr id="15" name="Configuration centralisée, simulation par défaut, logs ">
            <a:extLst>
              <a:ext uri="{FF2B5EF4-FFF2-40B4-BE49-F238E27FC236}">
                <a16:creationId xmlns:a16="http://schemas.microsoft.com/office/drawing/2014/main" id="{43C9E977-72A6-4169-B6CD-CB073B00ADF6}"/>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686B67"/>
                </a:solidFill>
                <a:latin typeface="Calibri"/>
                <a:ea typeface="Calibri"/>
                <a:cs typeface="Calibri"/>
              </a:defRPr>
            </a:pPr>
            <a:r>
              <a:rPr sz="2025" b="0">
                <a:solidFill>
                  <a:srgbClr val="686B67"/>
                </a:solidFill>
                <a:latin typeface="Calibri"/>
                <a:ea typeface="Calibri"/>
                <a:cs typeface="Calibri"/>
              </a:rPr>
              <a:t>Configuration centralisée, simulation par défaut, logs et contrôles locaux.</a:t>
            </a:r>
          </a:p>
        </p:txBody>
      </p:sp>
    </p:spTree>
    <p:extLst>
      <p:ext uri="{BB962C8B-B14F-4D97-AF65-F5344CB8AC3E}">
        <p14:creationId xmlns:p14="http://schemas.microsoft.com/office/powerpoint/2010/main" val="532659116"/>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3F0E2"/>
        </a:solidFill>
        <a:effectLst/>
      </p:bgPr>
    </p:bg>
    <p:spTree>
      <p:nvGrpSpPr>
        <p:cNvPr id="1" name=""/>
        <p:cNvGrpSpPr/>
        <p:nvPr/>
      </p:nvGrpSpPr>
      <p:grpSpPr>
        <a:xfrm>
          <a:off x="0" y="0"/>
          <a:ext cx="0" cy="0"/>
          <a:chOff x="0" y="0"/>
          <a:chExt cx="0" cy="0"/>
        </a:xfrm>
      </p:grpSpPr>
      <p:pic>
        <p:nvPicPr>
          <p:cNvPr id="2000" name="" descr="Illustration conceptuelle du suivi des prospects, des échanges et des documents commerciaux"/>
          <p:cNvPicPr>
            <a:picLocks noChangeAspect="1"/>
          </p:cNvPicPr>
          <p:nvPr/>
        </p:nvPicPr>
        <p:blipFill>
          <a:blip r:embed="rIdWorkflowBg"/>
          <a:srcRect l="0" t="27" r="0" b="27"/>
          <a:stretch>
            <a:fillRect l="0" t="0" r="0" b="0"/>
          </a:stretch>
        </p:blipFill>
        <p:spPr>
          <a:xfrm>
            <a:off x="0" y="0"/>
            <a:ext cx="18288000" cy="10287000"/>
          </a:xfrm>
          <a:prstGeom prst="rect">
            <a:avLst/>
          </a:prstGeom>
        </p:spPr>
      </p:pic>
      <p:sp>
        <p:nvSpPr>
          <p:cNvPr id="2" name="ADG-10  /  AUTOMATISATION DU CYCLE COMMERCIAL">
            <a:extLst>
              <a:ext uri="{FF2B5EF4-FFF2-40B4-BE49-F238E27FC236}">
                <a16:creationId xmlns:a16="http://schemas.microsoft.com/office/drawing/2014/main" id="{D39C9BB4-989A-41EC-BEE1-69C61C1CD791}"/>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A65A43"/>
                </a:solidFill>
                <a:latin typeface="Calibri"/>
                <a:ea typeface="Calibri"/>
                <a:cs typeface="Calibri"/>
              </a:defRPr>
            </a:pPr>
            <a:r>
              <a:rPr sz="1800" b="1">
                <a:solidFill>
                  <a:srgbClr val="A65A43"/>
                </a:solidFill>
                <a:latin typeface="Calibri"/>
                <a:ea typeface="Calibri"/>
                <a:cs typeface="Calibri"/>
              </a:rPr>
              <a:t>ADG-10  /  AUTOMATISATION DU CYCLE COMMERCIAL</a:t>
            </a:r>
          </a:p>
        </p:txBody>
      </p:sp>
      <p:sp>
        <p:nvSpPr>
          <p:cNvPr id="3" name="16 / 22">
            <a:extLst>
              <a:ext uri="{FF2B5EF4-FFF2-40B4-BE49-F238E27FC236}">
                <a16:creationId xmlns:a16="http://schemas.microsoft.com/office/drawing/2014/main" id="{392BD285-B82E-4CC6-BD82-4A63B8D8BD11}"/>
              </a:ext>
            </a:extLst>
          </p:cNvPr>
          <p:cNvSpPr>
            <a:spLocks noGrp="1"/>
          </p:cNvSpPr>
          <p:nvPr/>
        </p:nvSpPr>
        <p:spPr>
          <a:xfrm>
            <a:off x="14382750" y="9696450"/>
            <a:ext cx="1333500" cy="323850"/>
          </a:xfrm>
          <a:prstGeom prst="rect">
            <a:avLst/>
          </a:prstGeom>
          <a:noFill/>
          <a:ln w="0">
            <a:noFill/>
          </a:ln>
        </p:spPr>
        <p:txBody>
          <a:bodyPr wrap="square" lIns="0" tIns="0" rIns="0" bIns="0" anchor="ctr">
            <a:noAutofit/>
          </a:bodyPr>
          <a:lstStyle/>
          <a:p>
            <a:pPr algn="ctr">
              <a:defRPr sz="1650" b="1">
                <a:solidFill>
                  <a:srgbClr val="414548"/>
                </a:solidFill>
                <a:latin typeface="Calibri"/>
                <a:ea typeface="Calibri"/>
                <a:cs typeface="Calibri"/>
              </a:defRPr>
            </a:pPr>
            <a:r>
              <a:rPr sz="1650" b="1">
                <a:solidFill>
                  <a:srgbClr val="414548"/>
                </a:solidFill>
                <a:latin typeface="Calibri"/>
                <a:ea typeface="Calibri"/>
                <a:cs typeface="Calibri"/>
              </a:rPr>
              <a:t>16 / 24</a:t>
            </a:r>
          </a:p>
        </p:txBody>
      </p:sp>
      <p:sp>
        <p:nvSpPr>
          <p:cNvPr id="4" name="04">
            <a:extLst>
              <a:ext uri="{FF2B5EF4-FFF2-40B4-BE49-F238E27FC236}">
                <a16:creationId xmlns:a16="http://schemas.microsoft.com/office/drawing/2014/main" id="{9B45A550-6BC3-4194-A36C-EFFD4F9157F3}"/>
              </a:ext>
            </a:extLst>
          </p:cNvPr>
          <p:cNvSpPr>
            <a:spLocks noGrp="1"/>
          </p:cNvSpPr>
          <p:nvPr/>
        </p:nvSpPr>
        <p:spPr>
          <a:xfrm>
            <a:off x="857250" y="1428750"/>
            <a:ext cx="6667500" cy="1857375"/>
          </a:xfrm>
          <a:prstGeom prst="rect">
            <a:avLst/>
          </a:prstGeom>
          <a:noFill/>
          <a:ln w="0">
            <a:noFill/>
          </a:ln>
        </p:spPr>
        <p:txBody>
          <a:bodyPr wrap="square" lIns="0" tIns="0" rIns="0" bIns="0" anchor="ctr">
            <a:noAutofit/>
          </a:bodyPr>
          <a:lstStyle/>
          <a:p>
            <a:pPr algn="l">
              <a:defRPr sz="11850" b="1">
                <a:solidFill>
                  <a:srgbClr val="A65A43"/>
                </a:solidFill>
                <a:latin typeface="Calibri"/>
                <a:ea typeface="Calibri"/>
                <a:cs typeface="Calibri"/>
              </a:defRPr>
            </a:pPr>
            <a:r>
              <a:rPr sz="11850" b="1">
                <a:solidFill>
                  <a:srgbClr val="A65A43"/>
                </a:solidFill>
                <a:latin typeface="Calibri"/>
                <a:ea typeface="Calibri"/>
                <a:cs typeface="Calibri"/>
              </a:rPr>
              <a:t>04</a:t>
            </a:r>
          </a:p>
        </p:txBody>
      </p:sp>
      <p:sp>
        <p:nvSpPr>
          <p:cNvPr id="5" name="Réalisation et&#10;mise en œuvre">
            <a:extLst>
              <a:ext uri="{FF2B5EF4-FFF2-40B4-BE49-F238E27FC236}">
                <a16:creationId xmlns:a16="http://schemas.microsoft.com/office/drawing/2014/main" id="{DFAB81EC-A43E-4B89-BC80-EABFE9EA5641}"/>
              </a:ext>
            </a:extLst>
          </p:cNvPr>
          <p:cNvSpPr>
            <a:spLocks noGrp="1"/>
          </p:cNvSpPr>
          <p:nvPr/>
        </p:nvSpPr>
        <p:spPr>
          <a:xfrm>
            <a:off x="952500" y="3524250"/>
            <a:ext cx="9810750" cy="2000250"/>
          </a:xfrm>
          <a:prstGeom prst="rect">
            <a:avLst/>
          </a:prstGeom>
          <a:noFill/>
          <a:ln w="0">
            <a:noFill/>
          </a:ln>
        </p:spPr>
        <p:txBody>
          <a:bodyPr wrap="square" lIns="0" tIns="0" rIns="0" bIns="0" anchor="ctr">
            <a:noAutofit/>
          </a:bodyPr>
          <a:lstStyle/>
          <a:p>
            <a:pPr algn="l">
              <a:defRPr sz="5850" b="1">
                <a:solidFill>
                  <a:srgbClr val="414548"/>
                </a:solidFill>
                <a:latin typeface="Calibri"/>
                <a:ea typeface="Calibri"/>
                <a:cs typeface="Calibri"/>
              </a:defRPr>
            </a:pPr>
            <a:r>
              <a:rPr sz="5850" b="1">
                <a:solidFill>
                  <a:srgbClr val="414548"/>
                </a:solidFill>
                <a:latin typeface="Calibri"/>
                <a:ea typeface="Calibri"/>
                <a:cs typeface="Calibri"/>
              </a:rPr>
              <a:t>Réalisation et</a:t>
            </a:r>
          </a:p>
          <a:p>
            <a:pPr algn="l">
              <a:defRPr sz="5850" b="1">
                <a:solidFill>
                  <a:srgbClr val="414548"/>
                </a:solidFill>
                <a:latin typeface="Calibri"/>
                <a:ea typeface="Calibri"/>
                <a:cs typeface="Calibri"/>
              </a:defRPr>
            </a:pPr>
            <a:r>
              <a:rPr sz="5850" b="1">
                <a:solidFill>
                  <a:srgbClr val="414548"/>
                </a:solidFill>
                <a:latin typeface="Calibri"/>
                <a:ea typeface="Calibri"/>
                <a:cs typeface="Calibri"/>
              </a:rPr>
              <a:t>mise en œuvre</a:t>
            </a:r>
          </a:p>
        </p:txBody>
      </p:sp>
      <p:sp>
        <p:nvSpPr>
          <p:cNvPr id="6" name="Les fonctions développées&#10;et leurs résultats visibles">
            <a:extLst>
              <a:ext uri="{FF2B5EF4-FFF2-40B4-BE49-F238E27FC236}">
                <a16:creationId xmlns:a16="http://schemas.microsoft.com/office/drawing/2014/main" id="{2ECC37F0-567F-40A6-AB9A-5D690D1CA669}"/>
              </a:ext>
            </a:extLst>
          </p:cNvPr>
          <p:cNvSpPr>
            <a:spLocks noGrp="1"/>
          </p:cNvSpPr>
          <p:nvPr/>
        </p:nvSpPr>
        <p:spPr>
          <a:xfrm>
            <a:off x="1000125" y="5857875"/>
            <a:ext cx="9048750" cy="1428750"/>
          </a:xfrm>
          <a:prstGeom prst="rect">
            <a:avLst/>
          </a:prstGeom>
          <a:noFill/>
          <a:ln w="0">
            <a:noFill/>
          </a:ln>
        </p:spPr>
        <p:txBody>
          <a:bodyPr wrap="square" lIns="0" tIns="0" rIns="0" bIns="0" anchor="ctr">
            <a:noAutofit/>
          </a:bodyPr>
          <a:lstStyle/>
          <a:p>
            <a:pPr algn="l">
              <a:defRPr sz="2925" b="0">
                <a:solidFill>
                  <a:srgbClr val="414548"/>
                </a:solidFill>
                <a:latin typeface="Calibri"/>
                <a:ea typeface="Calibri"/>
                <a:cs typeface="Calibri"/>
              </a:defRPr>
            </a:pPr>
            <a:r>
              <a:rPr sz="2925" b="0">
                <a:solidFill>
                  <a:srgbClr val="414548"/>
                </a:solidFill>
                <a:latin typeface="Calibri"/>
                <a:ea typeface="Calibri"/>
                <a:cs typeface="Calibri"/>
              </a:rPr>
              <a:t>Les fonctions développées</a:t>
            </a:r>
          </a:p>
          <a:p>
            <a:pPr algn="l">
              <a:defRPr sz="2925" b="0">
                <a:solidFill>
                  <a:srgbClr val="414548"/>
                </a:solidFill>
                <a:latin typeface="Calibri"/>
                <a:ea typeface="Calibri"/>
                <a:cs typeface="Calibri"/>
              </a:defRPr>
            </a:pPr>
            <a:r>
              <a:rPr sz="2925" b="0">
                <a:solidFill>
                  <a:srgbClr val="414548"/>
                </a:solidFill>
                <a:latin typeface="Calibri"/>
                <a:ea typeface="Calibri"/>
                <a:cs typeface="Calibri"/>
              </a:rPr>
              <a:t>et leurs résultats visibles</a:t>
            </a:r>
          </a:p>
        </p:txBody>
      </p:sp>
    </p:spTree>
    <p:extLst>
      <p:ext uri="{BB962C8B-B14F-4D97-AF65-F5344CB8AC3E}">
        <p14:creationId xmlns:p14="http://schemas.microsoft.com/office/powerpoint/2010/main" val="1969996970"/>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4"/>
                                  </p:tgtEl>
                                  <p:attrNameLst>
                                    <p:attrName>style.visibility</p:attrName>
                                  </p:attrNameLst>
                                </p:cBhvr>
                                <p:to>
                                  <p:strVal val="visible"/>
                                </p:to>
                              </p:set>
                              <p:animEffect transition="in" filter="wipe(right)">
                                <p:cBhvr>
                                  <p:cTn id="6" dur="550" fill="hold"/>
                                  <p:tgtEl>
                                    <p:spTgt spid="4"/>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5"/>
                                  </p:tgtEl>
                                  <p:attrNameLst>
                                    <p:attrName>style.visibility</p:attrName>
                                  </p:attrNameLst>
                                </p:cBhvr>
                                <p:to>
                                  <p:strVal val="visible"/>
                                </p:to>
                              </p:set>
                              <p:animEffect transition="in" filter="wipe(right)">
                                <p:cBhvr>
                                  <p:cTn id="10" dur="550" fill="hold"/>
                                  <p:tgtEl>
                                    <p:spTgt spid="5"/>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6"/>
                                  </p:tgtEl>
                                  <p:attrNameLst>
                                    <p:attrName>style.visibility</p:attrName>
                                  </p:attrNameLst>
                                </p:cBhvr>
                                <p:to>
                                  <p:strVal val="visible"/>
                                </p:to>
                              </p:set>
                              <p:animEffect transition="in" filter="wipe(right)">
                                <p:cBhvr>
                                  <p:cTn id="14" dur="550" fill="hold"/>
                                  <p:tgtEl>
                                    <p:spTgt spid="6"/>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3F0E2"/>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ResearchBg"/>
          <a:srcRect l="0" t="27" r="0" b="27"/>
          <a:stretch>
            <a:fillRect l="0" t="0" r="0" b="0"/>
          </a:stretch>
        </p:blipFill>
        <p:spPr>
          <a:xfrm>
            <a:off x="0" y="0"/>
            <a:ext cx="18288000" cy="10287000"/>
          </a:xfrm>
          <a:prstGeom prst="rect">
            <a:avLst/>
          </a:prstGeom>
        </p:spPr>
      </p:pic>
      <p:sp>
        <p:nvSpPr>
          <p:cNvPr id="6" name="ADG-10  /  AUTOMATISATION DU CYCLE COMMERCIAL">
            <a:extLst>
              <a:ext uri="{FF2B5EF4-FFF2-40B4-BE49-F238E27FC236}">
                <a16:creationId xmlns:a16="http://schemas.microsoft.com/office/drawing/2014/main" id="{4BF77E62-F2BF-4EAC-BED3-C6D7ED40AA81}"/>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A65A43"/>
                </a:solidFill>
                <a:latin typeface="Calibri"/>
                <a:ea typeface="Calibri"/>
                <a:cs typeface="Calibri"/>
              </a:defRPr>
            </a:pPr>
            <a:r>
              <a:rPr sz="1800" b="1">
                <a:solidFill>
                  <a:srgbClr val="A65A43"/>
                </a:solidFill>
                <a:latin typeface="Calibri"/>
                <a:ea typeface="Calibri"/>
                <a:cs typeface="Calibri"/>
              </a:rPr>
              <a:t>ADG-10  /  AUTOMATISATION DU CYCLE COMMERCIAL</a:t>
            </a:r>
          </a:p>
        </p:txBody>
      </p:sp>
      <p:sp>
        <p:nvSpPr>
          <p:cNvPr id="2" name="17 / 22">
            <a:extLst>
              <a:ext uri="{FF2B5EF4-FFF2-40B4-BE49-F238E27FC236}">
                <a16:creationId xmlns:a16="http://schemas.microsoft.com/office/drawing/2014/main" id="{815FA912-8C19-4C5D-9BF8-D69EF5E1C4DA}"/>
              </a:ext>
            </a:extLst>
          </p:cNvPr>
          <p:cNvSpPr>
            <a:spLocks noGrp="1"/>
          </p:cNvSpPr>
          <p:nvPr/>
        </p:nvSpPr>
        <p:spPr>
          <a:xfrm>
            <a:off x="14382750" y="9696450"/>
            <a:ext cx="1333500" cy="323850"/>
          </a:xfrm>
          <a:prstGeom prst="rect">
            <a:avLst/>
          </a:prstGeom>
          <a:noFill/>
          <a:ln w="0">
            <a:noFill/>
          </a:ln>
        </p:spPr>
        <p:txBody>
          <a:bodyPr wrap="square" lIns="0" tIns="0" rIns="0" bIns="0" anchor="ctr">
            <a:noAutofit/>
          </a:bodyPr>
          <a:lstStyle/>
          <a:p>
            <a:pPr algn="ctr">
              <a:defRPr sz="1650" b="1">
                <a:solidFill>
                  <a:srgbClr val="414548"/>
                </a:solidFill>
                <a:latin typeface="Calibri"/>
                <a:ea typeface="Calibri"/>
                <a:cs typeface="Calibri"/>
              </a:defRPr>
            </a:pPr>
            <a:r>
              <a:rPr sz="1650" b="1">
                <a:solidFill>
                  <a:srgbClr val="414548"/>
                </a:solidFill>
                <a:latin typeface="Calibri"/>
                <a:ea typeface="Calibri"/>
                <a:cs typeface="Calibri"/>
              </a:rPr>
              <a:t>17 / 24</a:t>
            </a:r>
          </a:p>
        </p:txBody>
      </p:sp>
      <p:sp>
        <p:nvSpPr>
          <p:cNvPr id="3" name="Choix techniques">
            <a:extLst>
              <a:ext uri="{FF2B5EF4-FFF2-40B4-BE49-F238E27FC236}">
                <a16:creationId xmlns:a16="http://schemas.microsoft.com/office/drawing/2014/main" id="{C86F1865-5114-4D16-AC80-CD97BABE0DE8}"/>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414548"/>
                </a:solidFill>
                <a:latin typeface="Calibri"/>
                <a:ea typeface="Calibri"/>
                <a:cs typeface="Calibri"/>
              </a:defRPr>
            </a:pPr>
            <a:r>
              <a:rPr sz="4650" b="1">
                <a:solidFill>
                  <a:srgbClr val="414548"/>
                </a:solidFill>
                <a:latin typeface="Calibri"/>
                <a:ea typeface="Calibri"/>
                <a:cs typeface="Calibri"/>
              </a:rPr>
              <a:t>Choix techniques</a:t>
            </a:r>
          </a:p>
        </p:txBody>
      </p:sp>
      <p:graphicFrame>
        <p:nvGraphicFramePr>
          <p:cNvPr id="9" name="Tableau 8"/>
          <p:cNvGraphicFramePr/>
          <p:nvPr>
            <p:extLst>
              <p:ext uri="{D42A27DB-BD31-4B8C-83A1-F6EECF244321}">
                <p14:modId xmlns:p14="http://schemas.microsoft.com/office/powerpoint/2010/main" val="4125621963"/>
              </p:ext>
            </p:extLst>
          </p:nvPr>
        </p:nvGraphicFramePr>
        <p:xfrm>
          <a:off x="1571625" y="3238500"/>
          <a:ext cx="14478000" cy="5143500"/>
        </p:xfrm>
        <a:graphic>
          <a:graphicData uri="http://schemas.openxmlformats.org/drawingml/2006/table">
            <a:tbl>
              <a:tblPr/>
              <a:tblGrid>
                <a:gridCol w="2916432">
                  <a:extLst>
                    <a:ext uri="{9D8B030D-6E8A-4147-A177-3AD203B41FA5}">
                      <a16:colId xmlns:a16="http://schemas.microsoft.com/office/drawing/2014/main" val="20000"/>
                    </a:ext>
                  </a:extLst>
                </a:gridCol>
                <a:gridCol w="5780784">
                  <a:extLst>
                    <a:ext uri="{9D8B030D-6E8A-4147-A177-3AD203B41FA5}">
                      <a16:colId xmlns:a16="http://schemas.microsoft.com/office/drawing/2014/main" val="20001"/>
                    </a:ext>
                  </a:extLst>
                </a:gridCol>
                <a:gridCol w="5780784">
                  <a:extLst>
                    <a:ext uri="{9D8B030D-6E8A-4147-A177-3AD203B41FA5}">
                      <a16:colId xmlns:a16="http://schemas.microsoft.com/office/drawing/2014/main" val="20002"/>
                    </a:ext>
                  </a:extLst>
                </a:gridCol>
              </a:tblGrid>
              <a:tr h="857250">
                <a:tc>
                  <a:txBody>
                    <a:bodyPr/>
                    <a:lstStyle/>
                    <a:p>
                      <a:pPr algn="ctr"/>
                      <a:r>
                        <a:rPr sz="2625" b="1">
                          <a:solidFill>
                            <a:srgbClr val="F3F0E2"/>
                          </a:solidFill>
                          <a:latin typeface="Calibri"/>
                          <a:ea typeface="Calibri"/>
                          <a:cs typeface="Calibri"/>
                        </a:rPr>
                        <a:t>Technologie</a:t>
                      </a:r>
                    </a:p>
                  </a:txBody>
                  <a:tcPr anchor="ctr">
                    <a:solidFill>
                      <a:srgbClr val="5D818B"/>
                    </a:solidFill>
                  </a:tcPr>
                </a:tc>
                <a:tc>
                  <a:txBody>
                    <a:bodyPr/>
                    <a:lstStyle/>
                    <a:p>
                      <a:pPr algn="ctr"/>
                      <a:r>
                        <a:rPr sz="2625" b="1">
                          <a:solidFill>
                            <a:srgbClr val="F3F0E2"/>
                          </a:solidFill>
                          <a:latin typeface="Calibri"/>
                          <a:ea typeface="Calibri"/>
                          <a:cs typeface="Calibri"/>
                        </a:rPr>
                        <a:t>Rôle dans ADG-10</a:t>
                      </a:r>
                    </a:p>
                  </a:txBody>
                  <a:tcPr anchor="ctr">
                    <a:solidFill>
                      <a:srgbClr val="5D818B"/>
                    </a:solidFill>
                  </a:tcPr>
                </a:tc>
                <a:tc>
                  <a:txBody>
                    <a:bodyPr/>
                    <a:lstStyle/>
                    <a:p>
                      <a:pPr algn="ctr"/>
                      <a:r>
                        <a:rPr sz="2625" b="1">
                          <a:solidFill>
                            <a:srgbClr val="F3F0E2"/>
                          </a:solidFill>
                          <a:latin typeface="Calibri"/>
                          <a:ea typeface="Calibri"/>
                          <a:cs typeface="Calibri"/>
                        </a:rPr>
                        <a:t>Justification</a:t>
                      </a:r>
                    </a:p>
                  </a:txBody>
                  <a:tcPr anchor="ctr">
                    <a:solidFill>
                      <a:srgbClr val="5D818B"/>
                    </a:solidFill>
                  </a:tcPr>
                </a:tc>
                <a:extLst>
                  <a:ext uri="{0D108BD9-81ED-4DB2-BD59-A6C34878D82A}">
                    <a16:rowId xmlns:a16="http://schemas.microsoft.com/office/drawing/2014/main" val="10000"/>
                  </a:ext>
                </a:extLst>
              </a:tr>
              <a:tr h="857250">
                <a:tc>
                  <a:txBody>
                    <a:bodyPr/>
                    <a:lstStyle/>
                    <a:p>
                      <a:pPr algn="ctr"/>
                      <a:r>
                        <a:rPr sz="2625" b="0">
                          <a:solidFill>
                            <a:srgbClr val="414548"/>
                          </a:solidFill>
                          <a:latin typeface="Calibri"/>
                          <a:ea typeface="Calibri"/>
                          <a:cs typeface="Calibri"/>
                        </a:rPr>
                        <a:t>Python</a:t>
                      </a:r>
                    </a:p>
                  </a:txBody>
                  <a:tcPr anchor="ctr">
                    <a:solidFill>
                      <a:srgbClr val="E1E5DD"/>
                    </a:solidFill>
                  </a:tcPr>
                </a:tc>
                <a:tc>
                  <a:txBody>
                    <a:bodyPr/>
                    <a:lstStyle/>
                    <a:p>
                      <a:pPr algn="ctr"/>
                      <a:r>
                        <a:rPr sz="2625" b="0">
                          <a:solidFill>
                            <a:srgbClr val="414548"/>
                          </a:solidFill>
                          <a:latin typeface="Calibri"/>
                          <a:ea typeface="Calibri"/>
                          <a:cs typeface="Calibri"/>
                        </a:rPr>
                        <a:t>Scripts et règles métier</a:t>
                      </a:r>
                    </a:p>
                  </a:txBody>
                  <a:tcPr anchor="ctr">
                    <a:solidFill>
                      <a:srgbClr val="E1E5DD"/>
                    </a:solidFill>
                  </a:tcPr>
                </a:tc>
                <a:tc>
                  <a:txBody>
                    <a:bodyPr/>
                    <a:lstStyle/>
                    <a:p>
                      <a:pPr algn="ctr"/>
                      <a:r>
                        <a:rPr sz="2625" b="0">
                          <a:solidFill>
                            <a:srgbClr val="414548"/>
                          </a:solidFill>
                          <a:latin typeface="Calibri"/>
                          <a:ea typeface="Calibri"/>
                          <a:cs typeface="Calibri"/>
                        </a:rPr>
                        <a:t>Modules lisibles et testables</a:t>
                      </a:r>
                    </a:p>
                  </a:txBody>
                  <a:tcPr anchor="ctr">
                    <a:solidFill>
                      <a:srgbClr val="E1E5DD"/>
                    </a:solidFill>
                  </a:tcPr>
                </a:tc>
                <a:extLst>
                  <a:ext uri="{0D108BD9-81ED-4DB2-BD59-A6C34878D82A}">
                    <a16:rowId xmlns:a16="http://schemas.microsoft.com/office/drawing/2014/main" val="10001"/>
                  </a:ext>
                </a:extLst>
              </a:tr>
              <a:tr h="857250">
                <a:tc>
                  <a:txBody>
                    <a:bodyPr/>
                    <a:lstStyle/>
                    <a:p>
                      <a:pPr algn="ctr"/>
                      <a:r>
                        <a:rPr sz="2625" b="0">
                          <a:solidFill>
                            <a:srgbClr val="414548"/>
                          </a:solidFill>
                          <a:latin typeface="Calibri"/>
                          <a:ea typeface="Calibri"/>
                          <a:cs typeface="Calibri"/>
                        </a:rPr>
                        <a:t>Airtable</a:t>
                      </a:r>
                    </a:p>
                  </a:txBody>
                  <a:tcPr anchor="ctr">
                    <a:solidFill>
                      <a:srgbClr val="ECEBDD"/>
                    </a:solidFill>
                  </a:tcPr>
                </a:tc>
                <a:tc>
                  <a:txBody>
                    <a:bodyPr/>
                    <a:lstStyle/>
                    <a:p>
                      <a:pPr algn="ctr"/>
                      <a:r>
                        <a:rPr sz="2625" b="0">
                          <a:solidFill>
                            <a:srgbClr val="414548"/>
                          </a:solidFill>
                          <a:latin typeface="Calibri"/>
                          <a:ea typeface="Calibri"/>
                          <a:cs typeface="Calibri"/>
                        </a:rPr>
                        <a:t>Catalogue et prospects</a:t>
                      </a:r>
                    </a:p>
                  </a:txBody>
                  <a:tcPr anchor="ctr">
                    <a:solidFill>
                      <a:srgbClr val="ECEBDD"/>
                    </a:solidFill>
                  </a:tcPr>
                </a:tc>
                <a:tc>
                  <a:txBody>
                    <a:bodyPr/>
                    <a:lstStyle/>
                    <a:p>
                      <a:pPr algn="ctr"/>
                      <a:r>
                        <a:rPr sz="2625" b="0">
                          <a:solidFill>
                            <a:srgbClr val="414548"/>
                          </a:solidFill>
                          <a:latin typeface="Calibri"/>
                          <a:ea typeface="Calibri"/>
                          <a:cs typeface="Calibri"/>
                        </a:rPr>
                        <a:t>Données accessibles à l’équipe</a:t>
                      </a:r>
                    </a:p>
                  </a:txBody>
                  <a:tcPr anchor="ctr">
                    <a:solidFill>
                      <a:srgbClr val="ECEBDD"/>
                    </a:solidFill>
                  </a:tcPr>
                </a:tc>
                <a:extLst>
                  <a:ext uri="{0D108BD9-81ED-4DB2-BD59-A6C34878D82A}">
                    <a16:rowId xmlns:a16="http://schemas.microsoft.com/office/drawing/2014/main" val="10002"/>
                  </a:ext>
                </a:extLst>
              </a:tr>
              <a:tr h="857250">
                <a:tc>
                  <a:txBody>
                    <a:bodyPr/>
                    <a:lstStyle/>
                    <a:p>
                      <a:pPr algn="ctr"/>
                      <a:r>
                        <a:rPr sz="2625" b="0">
                          <a:solidFill>
                            <a:srgbClr val="414548"/>
                          </a:solidFill>
                          <a:latin typeface="Calibri"/>
                          <a:ea typeface="Calibri"/>
                          <a:cs typeface="Calibri"/>
                        </a:rPr>
                        <a:t>Groq</a:t>
                      </a:r>
                    </a:p>
                  </a:txBody>
                  <a:tcPr anchor="ctr">
                    <a:solidFill>
                      <a:srgbClr val="E1E5DD"/>
                    </a:solidFill>
                  </a:tcPr>
                </a:tc>
                <a:tc>
                  <a:txBody>
                    <a:bodyPr/>
                    <a:lstStyle/>
                    <a:p>
                      <a:pPr algn="ctr"/>
                      <a:r>
                        <a:rPr sz="2625" b="0">
                          <a:solidFill>
                            <a:srgbClr val="414548"/>
                          </a:solidFill>
                          <a:latin typeface="Calibri"/>
                          <a:ea typeface="Calibri"/>
                          <a:cs typeface="Calibri"/>
                        </a:rPr>
                        <a:t>Génération des contenus</a:t>
                      </a:r>
                    </a:p>
                  </a:txBody>
                  <a:tcPr anchor="ctr">
                    <a:solidFill>
                      <a:srgbClr val="E1E5DD"/>
                    </a:solidFill>
                  </a:tcPr>
                </a:tc>
                <a:tc>
                  <a:txBody>
                    <a:bodyPr/>
                    <a:lstStyle/>
                    <a:p>
                      <a:pPr algn="ctr"/>
                      <a:r>
                        <a:rPr sz="2625" b="0">
                          <a:solidFill>
                            <a:srgbClr val="414548"/>
                          </a:solidFill>
                          <a:latin typeface="Calibri"/>
                          <a:ea typeface="Calibri"/>
                          <a:cs typeface="Calibri"/>
                        </a:rPr>
                        <a:t>Réponse JSON contrôlée</a:t>
                      </a:r>
                    </a:p>
                  </a:txBody>
                  <a:tcPr anchor="ctr">
                    <a:solidFill>
                      <a:srgbClr val="E1E5DD"/>
                    </a:solidFill>
                  </a:tcPr>
                </a:tc>
                <a:extLst>
                  <a:ext uri="{0D108BD9-81ED-4DB2-BD59-A6C34878D82A}">
                    <a16:rowId xmlns:a16="http://schemas.microsoft.com/office/drawing/2014/main" val="10003"/>
                  </a:ext>
                </a:extLst>
              </a:tr>
              <a:tr h="857250">
                <a:tc>
                  <a:txBody>
                    <a:bodyPr/>
                    <a:lstStyle/>
                    <a:p>
                      <a:pPr algn="ctr"/>
                      <a:r>
                        <a:rPr sz="2625" b="0">
                          <a:solidFill>
                            <a:srgbClr val="414548"/>
                          </a:solidFill>
                          <a:latin typeface="Calibri"/>
                          <a:ea typeface="Calibri"/>
                          <a:cs typeface="Calibri"/>
                        </a:rPr>
                        <a:t>Streamlit</a:t>
                      </a:r>
                    </a:p>
                  </a:txBody>
                  <a:tcPr anchor="ctr">
                    <a:solidFill>
                      <a:srgbClr val="ECEBDD"/>
                    </a:solidFill>
                  </a:tcPr>
                </a:tc>
                <a:tc>
                  <a:txBody>
                    <a:bodyPr/>
                    <a:lstStyle/>
                    <a:p>
                      <a:pPr algn="ctr"/>
                      <a:r>
                        <a:rPr sz="2625" b="0">
                          <a:solidFill>
                            <a:srgbClr val="414548"/>
                          </a:solidFill>
                          <a:latin typeface="Calibri"/>
                          <a:ea typeface="Calibri"/>
                          <a:cs typeface="Calibri"/>
                        </a:rPr>
                        <a:t>Interface de pilotage</a:t>
                      </a:r>
                    </a:p>
                  </a:txBody>
                  <a:tcPr anchor="ctr">
                    <a:solidFill>
                      <a:srgbClr val="ECEBDD"/>
                    </a:solidFill>
                  </a:tcPr>
                </a:tc>
                <a:tc>
                  <a:txBody>
                    <a:bodyPr/>
                    <a:lstStyle/>
                    <a:p>
                      <a:pPr algn="ctr"/>
                      <a:r>
                        <a:rPr sz="2625" b="0">
                          <a:solidFill>
                            <a:srgbClr val="414548"/>
                          </a:solidFill>
                          <a:latin typeface="Calibri"/>
                          <a:ea typeface="Calibri"/>
                          <a:cs typeface="Calibri"/>
                        </a:rPr>
                        <a:t>Dashboard directement en Python</a:t>
                      </a:r>
                    </a:p>
                  </a:txBody>
                  <a:tcPr anchor="ctr">
                    <a:solidFill>
                      <a:srgbClr val="ECEBDD"/>
                    </a:solidFill>
                  </a:tcPr>
                </a:tc>
                <a:extLst>
                  <a:ext uri="{0D108BD9-81ED-4DB2-BD59-A6C34878D82A}">
                    <a16:rowId xmlns:a16="http://schemas.microsoft.com/office/drawing/2014/main" val="10004"/>
                  </a:ext>
                </a:extLst>
              </a:tr>
              <a:tr h="857250">
                <a:tc>
                  <a:txBody>
                    <a:bodyPr/>
                    <a:lstStyle/>
                    <a:p>
                      <a:pPr algn="ctr"/>
                      <a:r>
                        <a:rPr sz="2625" b="0">
                          <a:solidFill>
                            <a:srgbClr val="414548"/>
                          </a:solidFill>
                          <a:latin typeface="Calibri"/>
                          <a:ea typeface="Calibri"/>
                          <a:cs typeface="Calibri"/>
                        </a:rPr>
                        <a:t>ReportLab</a:t>
                      </a:r>
                    </a:p>
                  </a:txBody>
                  <a:tcPr anchor="ctr">
                    <a:solidFill>
                      <a:srgbClr val="E1E5DD"/>
                    </a:solidFill>
                  </a:tcPr>
                </a:tc>
                <a:tc>
                  <a:txBody>
                    <a:bodyPr/>
                    <a:lstStyle/>
                    <a:p>
                      <a:pPr algn="ctr"/>
                      <a:r>
                        <a:rPr sz="2625" b="0">
                          <a:solidFill>
                            <a:srgbClr val="414548"/>
                          </a:solidFill>
                          <a:latin typeface="Calibri"/>
                          <a:ea typeface="Calibri"/>
                          <a:cs typeface="Calibri"/>
                        </a:rPr>
                        <a:t>Offres, conventions et factures</a:t>
                      </a:r>
                    </a:p>
                  </a:txBody>
                  <a:tcPr anchor="ctr">
                    <a:solidFill>
                      <a:srgbClr val="E1E5DD"/>
                    </a:solidFill>
                  </a:tcPr>
                </a:tc>
                <a:tc>
                  <a:txBody>
                    <a:bodyPr/>
                    <a:lstStyle/>
                    <a:p>
                      <a:pPr algn="ctr"/>
                      <a:r>
                        <a:rPr sz="2625" b="0" dirty="0" err="1">
                          <a:solidFill>
                            <a:srgbClr val="414548"/>
                          </a:solidFill>
                          <a:latin typeface="Calibri"/>
                          <a:ea typeface="Calibri"/>
                          <a:cs typeface="Calibri"/>
                        </a:rPr>
                        <a:t>Thème</a:t>
                      </a:r>
                      <a:r>
                        <a:rPr sz="2625" b="0" dirty="0">
                          <a:solidFill>
                            <a:srgbClr val="414548"/>
                          </a:solidFill>
                          <a:latin typeface="Calibri"/>
                          <a:ea typeface="Calibri"/>
                          <a:cs typeface="Calibri"/>
                        </a:rPr>
                        <a:t> </a:t>
                      </a:r>
                      <a:r>
                        <a:rPr sz="2625" b="0" dirty="0" err="1">
                          <a:solidFill>
                            <a:srgbClr val="414548"/>
                          </a:solidFill>
                          <a:latin typeface="Calibri"/>
                          <a:ea typeface="Calibri"/>
                          <a:cs typeface="Calibri"/>
                        </a:rPr>
                        <a:t>documentaire</a:t>
                      </a:r>
                      <a:r>
                        <a:rPr sz="2625" b="0" dirty="0">
                          <a:solidFill>
                            <a:srgbClr val="414548"/>
                          </a:solidFill>
                          <a:latin typeface="Calibri"/>
                          <a:ea typeface="Calibri"/>
                          <a:cs typeface="Calibri"/>
                        </a:rPr>
                        <a:t> </a:t>
                      </a:r>
                      <a:r>
                        <a:rPr sz="2625" b="0" dirty="0" err="1">
                          <a:solidFill>
                            <a:srgbClr val="414548"/>
                          </a:solidFill>
                          <a:latin typeface="Calibri"/>
                          <a:ea typeface="Calibri"/>
                          <a:cs typeface="Calibri"/>
                        </a:rPr>
                        <a:t>partagé</a:t>
                      </a:r>
                      <a:endParaRPr sz="2625" b="0" dirty="0">
                        <a:solidFill>
                          <a:srgbClr val="414548"/>
                        </a:solidFill>
                        <a:latin typeface="Calibri"/>
                        <a:ea typeface="Calibri"/>
                        <a:cs typeface="Calibri"/>
                      </a:endParaRPr>
                    </a:p>
                  </a:txBody>
                  <a:tcPr anchor="ctr">
                    <a:solidFill>
                      <a:srgbClr val="E1E5DD"/>
                    </a:solidFill>
                  </a:tcPr>
                </a:tc>
                <a:extLst>
                  <a:ext uri="{0D108BD9-81ED-4DB2-BD59-A6C34878D82A}">
                    <a16:rowId xmlns:a16="http://schemas.microsoft.com/office/drawing/2014/main" val="10005"/>
                  </a:ext>
                </a:extLst>
              </a:tr>
            </a:tbl>
          </a:graphicData>
        </a:graphic>
      </p:graphicFrame>
      <p:sp>
        <p:nvSpPr>
          <p:cNvPr id="5" name="SMTP gère l’e-mail. WhatsApp repose sur l’automatisatio">
            <a:extLst>
              <a:ext uri="{FF2B5EF4-FFF2-40B4-BE49-F238E27FC236}">
                <a16:creationId xmlns:a16="http://schemas.microsoft.com/office/drawing/2014/main" id="{4D754F72-1A51-40F3-8639-FFE1D683FF43}"/>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686B67"/>
                </a:solidFill>
                <a:latin typeface="Calibri"/>
                <a:ea typeface="Calibri"/>
                <a:cs typeface="Calibri"/>
              </a:defRPr>
            </a:pPr>
            <a:r>
              <a:rPr sz="2025" b="0">
                <a:solidFill>
                  <a:srgbClr val="686B67"/>
                </a:solidFill>
                <a:latin typeface="Calibri"/>
                <a:ea typeface="Calibri"/>
                <a:cs typeface="Calibri"/>
              </a:rPr>
              <a:t>SMTP gère l’e-mail. WhatsApp repose sur l’automatisation du navigateur avec PyWhatKit.</a:t>
            </a:r>
          </a:p>
        </p:txBody>
      </p:sp>
    </p:spTree>
    <p:extLst>
      <p:ext uri="{BB962C8B-B14F-4D97-AF65-F5344CB8AC3E}">
        <p14:creationId xmlns:p14="http://schemas.microsoft.com/office/powerpoint/2010/main" val="1932529350"/>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3F0E2"/>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ResearchBg"/>
          <a:srcRect l="0" t="27" r="0" b="27"/>
          <a:stretch>
            <a:fillRect l="0" t="0" r="0" b="0"/>
          </a:stretch>
        </p:blipFill>
        <p:spPr>
          <a:xfrm>
            <a:off x="0" y="0"/>
            <a:ext cx="18288000" cy="10287000"/>
          </a:xfrm>
          <a:prstGeom prst="rect">
            <a:avLst/>
          </a:prstGeom>
        </p:spPr>
      </p:pic>
      <p:sp>
        <p:nvSpPr>
          <p:cNvPr id="7" name="ADG-10  /  AUTOMATISATION DU CYCLE COMMERCIAL">
            <a:extLst>
              <a:ext uri="{FF2B5EF4-FFF2-40B4-BE49-F238E27FC236}">
                <a16:creationId xmlns:a16="http://schemas.microsoft.com/office/drawing/2014/main" id="{241F4E59-1129-4819-AFC3-76128E03562E}"/>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A65A43"/>
                </a:solidFill>
                <a:latin typeface="Calibri"/>
                <a:ea typeface="Calibri"/>
                <a:cs typeface="Calibri"/>
              </a:defRPr>
            </a:pPr>
            <a:r>
              <a:rPr sz="1800" b="1">
                <a:solidFill>
                  <a:srgbClr val="A65A43"/>
                </a:solidFill>
                <a:latin typeface="Calibri"/>
                <a:ea typeface="Calibri"/>
                <a:cs typeface="Calibri"/>
              </a:rPr>
              <a:t>ADG-10  /  AUTOMATISATION DU CYCLE COMMERCIAL</a:t>
            </a:r>
          </a:p>
        </p:txBody>
      </p:sp>
      <p:sp>
        <p:nvSpPr>
          <p:cNvPr id="2" name="18 / 22">
            <a:extLst>
              <a:ext uri="{FF2B5EF4-FFF2-40B4-BE49-F238E27FC236}">
                <a16:creationId xmlns:a16="http://schemas.microsoft.com/office/drawing/2014/main" id="{754BE854-8865-4C2B-A0C1-0CC13651DB68}"/>
              </a:ext>
            </a:extLst>
          </p:cNvPr>
          <p:cNvSpPr>
            <a:spLocks noGrp="1"/>
          </p:cNvSpPr>
          <p:nvPr/>
        </p:nvSpPr>
        <p:spPr>
          <a:xfrm>
            <a:off x="14382750" y="9696450"/>
            <a:ext cx="1333500" cy="323850"/>
          </a:xfrm>
          <a:prstGeom prst="rect">
            <a:avLst/>
          </a:prstGeom>
          <a:noFill/>
          <a:ln w="0">
            <a:noFill/>
          </a:ln>
        </p:spPr>
        <p:txBody>
          <a:bodyPr wrap="square" lIns="0" tIns="0" rIns="0" bIns="0" anchor="ctr">
            <a:noAutofit/>
          </a:bodyPr>
          <a:lstStyle/>
          <a:p>
            <a:pPr algn="ctr">
              <a:defRPr sz="1650" b="1">
                <a:solidFill>
                  <a:srgbClr val="414548"/>
                </a:solidFill>
                <a:latin typeface="Calibri"/>
                <a:ea typeface="Calibri"/>
                <a:cs typeface="Calibri"/>
              </a:defRPr>
            </a:pPr>
            <a:r>
              <a:rPr sz="1650" b="1">
                <a:solidFill>
                  <a:srgbClr val="414548"/>
                </a:solidFill>
                <a:latin typeface="Calibri"/>
                <a:ea typeface="Calibri"/>
                <a:cs typeface="Calibri"/>
              </a:rPr>
              <a:t>18 / 24</a:t>
            </a:r>
          </a:p>
        </p:txBody>
      </p:sp>
      <p:sp>
        <p:nvSpPr>
          <p:cNvPr id="3" name="Démonstration du tableau de bord">
            <a:extLst>
              <a:ext uri="{FF2B5EF4-FFF2-40B4-BE49-F238E27FC236}">
                <a16:creationId xmlns:a16="http://schemas.microsoft.com/office/drawing/2014/main" id="{D563D389-C1D1-481E-B6AF-DD166C3866DB}"/>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414548"/>
                </a:solidFill>
                <a:latin typeface="Calibri"/>
                <a:ea typeface="Calibri"/>
                <a:cs typeface="Calibri"/>
              </a:defRPr>
            </a:pPr>
            <a:r>
              <a:rPr sz="4650" b="1">
                <a:solidFill>
                  <a:srgbClr val="414548"/>
                </a:solidFill>
                <a:latin typeface="Calibri"/>
                <a:ea typeface="Calibri"/>
                <a:cs typeface="Calibri"/>
              </a:rPr>
              <a:t>Démonstration du tableau de bord</a:t>
            </a:r>
          </a:p>
        </p:txBody>
      </p:sp>
      <p:pic>
        <p:nvPicPr>
          <p:cNvPr id="10" name="Image 9"/>
          <p:cNvPicPr>
            <a:picLocks noChangeAspect="1"/>
          </p:cNvPicPr>
          <p:nvPr/>
        </p:nvPicPr>
        <p:blipFill>
          <a:blip r:embed="rId3"/>
          <a:stretch/>
        </p:blipFill>
        <p:spPr>
          <a:xfrm>
            <a:off x="1428750" y="3124200"/>
            <a:ext cx="9906000" cy="5572125"/>
          </a:xfrm>
          <a:prstGeom prst="rect">
            <a:avLst/>
          </a:prstGeom>
        </p:spPr>
      </p:pic>
      <p:sp>
        <p:nvSpPr>
          <p:cNvPr id="5" name="1. Consulter les indicateurs&#10;&#10;2. Rechercher un prospect">
            <a:extLst>
              <a:ext uri="{FF2B5EF4-FFF2-40B4-BE49-F238E27FC236}">
                <a16:creationId xmlns:a16="http://schemas.microsoft.com/office/drawing/2014/main" id="{ABB61E85-F6AD-4D0F-84CC-F4FD571A8ED2}"/>
              </a:ext>
            </a:extLst>
          </p:cNvPr>
          <p:cNvSpPr>
            <a:spLocks noGrp="1"/>
          </p:cNvSpPr>
          <p:nvPr/>
        </p:nvSpPr>
        <p:spPr>
          <a:xfrm>
            <a:off x="11763375" y="3371850"/>
            <a:ext cx="4143375" cy="4686300"/>
          </a:xfrm>
          <a:prstGeom prst="rect">
            <a:avLst/>
          </a:prstGeom>
          <a:noFill/>
          <a:ln w="0">
            <a:noFill/>
          </a:ln>
        </p:spPr>
        <p:txBody>
          <a:bodyPr wrap="square" lIns="0" tIns="0" rIns="0" bIns="0" anchor="ctr">
            <a:noAutofit/>
          </a:bodyPr>
          <a:lstStyle/>
          <a:p>
            <a:pPr algn="l">
              <a:defRPr sz="2850" b="0">
                <a:solidFill>
                  <a:srgbClr val="414548"/>
                </a:solidFill>
                <a:latin typeface="Calibri"/>
                <a:ea typeface="Calibri"/>
                <a:cs typeface="Calibri"/>
              </a:defRPr>
            </a:pPr>
            <a:r>
              <a:rPr sz="2850" b="0">
                <a:solidFill>
                  <a:srgbClr val="414548"/>
                </a:solidFill>
                <a:latin typeface="Calibri"/>
                <a:ea typeface="Calibri"/>
                <a:cs typeface="Calibri"/>
              </a:rPr>
              <a:t>1. Consulter les indicateurs</a:t>
            </a:r>
          </a:p>
          <a:p>
            <a:endParaRPr sz="2850" b="0">
              <a:solidFill>
                <a:srgbClr val="414548"/>
              </a:solidFill>
              <a:latin typeface="Calibri"/>
              <a:ea typeface="Calibri"/>
              <a:cs typeface="Calibri"/>
            </a:endParaRPr>
          </a:p>
          <a:p>
            <a:pPr algn="l">
              <a:defRPr sz="2850" b="0">
                <a:solidFill>
                  <a:srgbClr val="414548"/>
                </a:solidFill>
                <a:latin typeface="Calibri"/>
                <a:ea typeface="Calibri"/>
                <a:cs typeface="Calibri"/>
              </a:defRPr>
            </a:pPr>
            <a:r>
              <a:rPr sz="2850" b="0">
                <a:solidFill>
                  <a:srgbClr val="414548"/>
                </a:solidFill>
                <a:latin typeface="Calibri"/>
                <a:ea typeface="Calibri"/>
                <a:cs typeface="Calibri"/>
              </a:rPr>
              <a:t>2. Rechercher un prospect</a:t>
            </a:r>
          </a:p>
          <a:p>
            <a:endParaRPr sz="2850" b="0">
              <a:solidFill>
                <a:srgbClr val="414548"/>
              </a:solidFill>
              <a:latin typeface="Calibri"/>
              <a:ea typeface="Calibri"/>
              <a:cs typeface="Calibri"/>
            </a:endParaRPr>
          </a:p>
          <a:p>
            <a:pPr algn="l">
              <a:defRPr sz="2850" b="0">
                <a:solidFill>
                  <a:srgbClr val="414548"/>
                </a:solidFill>
                <a:latin typeface="Calibri"/>
                <a:ea typeface="Calibri"/>
                <a:cs typeface="Calibri"/>
              </a:defRPr>
            </a:pPr>
            <a:r>
              <a:rPr sz="2850" b="0">
                <a:solidFill>
                  <a:srgbClr val="414548"/>
                </a:solidFill>
                <a:latin typeface="Calibri"/>
                <a:ea typeface="Calibri"/>
                <a:cs typeface="Calibri"/>
              </a:rPr>
              <a:t>3. Choisir la simulation</a:t>
            </a:r>
          </a:p>
          <a:p>
            <a:endParaRPr sz="2850" b="0">
              <a:solidFill>
                <a:srgbClr val="414548"/>
              </a:solidFill>
              <a:latin typeface="Calibri"/>
              <a:ea typeface="Calibri"/>
              <a:cs typeface="Calibri"/>
            </a:endParaRPr>
          </a:p>
          <a:p>
            <a:pPr algn="l">
              <a:defRPr sz="2850" b="0">
                <a:solidFill>
                  <a:srgbClr val="414548"/>
                </a:solidFill>
                <a:latin typeface="Calibri"/>
                <a:ea typeface="Calibri"/>
                <a:cs typeface="Calibri"/>
              </a:defRPr>
            </a:pPr>
            <a:r>
              <a:rPr sz="2850" b="0">
                <a:solidFill>
                  <a:srgbClr val="414548"/>
                </a:solidFill>
                <a:latin typeface="Calibri"/>
                <a:ea typeface="Calibri"/>
                <a:cs typeface="Calibri"/>
              </a:rPr>
              <a:t>4. Lancer et vérifier</a:t>
            </a:r>
          </a:p>
        </p:txBody>
      </p:sp>
      <p:sp>
        <p:nvSpPr>
          <p:cNvPr id="6" name="Capture de l’application réelle avec six prospects fict">
            <a:extLst>
              <a:ext uri="{FF2B5EF4-FFF2-40B4-BE49-F238E27FC236}">
                <a16:creationId xmlns:a16="http://schemas.microsoft.com/office/drawing/2014/main" id="{EA1E1DD9-2C31-4979-9A8C-63C9F6E3F38F}"/>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686B67"/>
                </a:solidFill>
                <a:latin typeface="Calibri"/>
                <a:ea typeface="Calibri"/>
                <a:cs typeface="Calibri"/>
              </a:defRPr>
            </a:pPr>
            <a:r>
              <a:rPr sz="2025" b="0">
                <a:solidFill>
                  <a:srgbClr val="686B67"/>
                </a:solidFill>
                <a:latin typeface="Calibri"/>
                <a:ea typeface="Calibri"/>
                <a:cs typeface="Calibri"/>
              </a:rPr>
              <a:t>Capture de l’application réelle avec six prospects fictifs. Aucun envoi réel dans cette démonstration.</a:t>
            </a:r>
          </a:p>
        </p:txBody>
      </p:sp>
    </p:spTree>
    <p:extLst>
      <p:ext uri="{BB962C8B-B14F-4D97-AF65-F5344CB8AC3E}">
        <p14:creationId xmlns:p14="http://schemas.microsoft.com/office/powerpoint/2010/main" val="1863461329"/>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5"/>
                                  </p:tgtEl>
                                  <p:attrNameLst>
                                    <p:attrName>style.visibility</p:attrName>
                                  </p:attrNameLst>
                                </p:cBhvr>
                                <p:to>
                                  <p:strVal val="visible"/>
                                </p:to>
                              </p:set>
                              <p:animEffect transition="in" filter="wipe(right)">
                                <p:cBhvr>
                                  <p:cTn id="10" dur="550" fill="hold"/>
                                  <p:tgtEl>
                                    <p:spTgt spid="5"/>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3F0E2"/>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ResearchBg"/>
          <a:srcRect l="0" t="27" r="0" b="27"/>
          <a:stretch>
            <a:fillRect l="0" t="0" r="0" b="0"/>
          </a:stretch>
        </p:blipFill>
        <p:spPr>
          <a:xfrm>
            <a:off x="0" y="0"/>
            <a:ext cx="18288000" cy="10287000"/>
          </a:xfrm>
          <a:prstGeom prst="rect">
            <a:avLst/>
          </a:prstGeom>
        </p:spPr>
      </p:pic>
      <p:sp>
        <p:nvSpPr>
          <p:cNvPr id="11" name="ADG-10  /  AUTOMATISATION DU CYCLE COMMERCIAL">
            <a:extLst>
              <a:ext uri="{FF2B5EF4-FFF2-40B4-BE49-F238E27FC236}">
                <a16:creationId xmlns:a16="http://schemas.microsoft.com/office/drawing/2014/main" id="{0D6C1508-124F-414A-B859-AE52CAC7234D}"/>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A65A43"/>
                </a:solidFill>
                <a:latin typeface="Calibri"/>
                <a:ea typeface="Calibri"/>
                <a:cs typeface="Calibri"/>
              </a:defRPr>
            </a:pPr>
            <a:r>
              <a:rPr sz="1800" b="1">
                <a:solidFill>
                  <a:srgbClr val="A65A43"/>
                </a:solidFill>
                <a:latin typeface="Calibri"/>
                <a:ea typeface="Calibri"/>
                <a:cs typeface="Calibri"/>
              </a:rPr>
              <a:t>ADG-10  /  AUTOMATISATION DU CYCLE COMMERCIAL</a:t>
            </a:r>
          </a:p>
        </p:txBody>
      </p:sp>
      <p:sp>
        <p:nvSpPr>
          <p:cNvPr id="2" name="19 / 22">
            <a:extLst>
              <a:ext uri="{FF2B5EF4-FFF2-40B4-BE49-F238E27FC236}">
                <a16:creationId xmlns:a16="http://schemas.microsoft.com/office/drawing/2014/main" id="{88CEF426-DCE5-490E-ABD5-86EE54A5D8A9}"/>
              </a:ext>
            </a:extLst>
          </p:cNvPr>
          <p:cNvSpPr>
            <a:spLocks noGrp="1"/>
          </p:cNvSpPr>
          <p:nvPr/>
        </p:nvSpPr>
        <p:spPr>
          <a:xfrm>
            <a:off x="14382750" y="9696450"/>
            <a:ext cx="1333500" cy="323850"/>
          </a:xfrm>
          <a:prstGeom prst="rect">
            <a:avLst/>
          </a:prstGeom>
          <a:noFill/>
          <a:ln w="0">
            <a:noFill/>
          </a:ln>
        </p:spPr>
        <p:txBody>
          <a:bodyPr wrap="square" lIns="0" tIns="0" rIns="0" bIns="0" anchor="ctr">
            <a:noAutofit/>
          </a:bodyPr>
          <a:lstStyle/>
          <a:p>
            <a:pPr algn="ctr">
              <a:defRPr sz="1650" b="1">
                <a:solidFill>
                  <a:srgbClr val="414548"/>
                </a:solidFill>
                <a:latin typeface="Calibri"/>
                <a:ea typeface="Calibri"/>
                <a:cs typeface="Calibri"/>
              </a:defRPr>
            </a:pPr>
            <a:r>
              <a:rPr sz="1650" b="1">
                <a:solidFill>
                  <a:srgbClr val="414548"/>
                </a:solidFill>
                <a:latin typeface="Calibri"/>
                <a:ea typeface="Calibri"/>
                <a:cs typeface="Calibri"/>
              </a:rPr>
              <a:t>19 / 24</a:t>
            </a:r>
          </a:p>
        </p:txBody>
      </p:sp>
      <p:sp>
        <p:nvSpPr>
          <p:cNvPr id="3" name="Documents et communications">
            <a:extLst>
              <a:ext uri="{FF2B5EF4-FFF2-40B4-BE49-F238E27FC236}">
                <a16:creationId xmlns:a16="http://schemas.microsoft.com/office/drawing/2014/main" id="{70222B31-E3AC-4107-9DC4-CBD6408FF474}"/>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414548"/>
                </a:solidFill>
                <a:latin typeface="Calibri"/>
                <a:ea typeface="Calibri"/>
                <a:cs typeface="Calibri"/>
              </a:defRPr>
            </a:pPr>
            <a:r>
              <a:rPr sz="4650" b="1">
                <a:solidFill>
                  <a:srgbClr val="414548"/>
                </a:solidFill>
                <a:latin typeface="Calibri"/>
                <a:ea typeface="Calibri"/>
                <a:cs typeface="Calibri"/>
              </a:rPr>
              <a:t>Documents et communications</a:t>
            </a:r>
          </a:p>
        </p:txBody>
      </p:sp>
      <p:pic>
        <p:nvPicPr>
          <p:cNvPr id="14" name="Image 13"/>
          <p:cNvPicPr>
            <a:picLocks noChangeAspect="1"/>
          </p:cNvPicPr>
          <p:nvPr/>
        </p:nvPicPr>
        <p:blipFill>
          <a:blip r:embed="rId3"/>
          <a:stretch/>
        </p:blipFill>
        <p:spPr>
          <a:xfrm>
            <a:off x="1719395" y="3067050"/>
            <a:ext cx="3704960" cy="5238750"/>
          </a:xfrm>
          <a:prstGeom prst="rect">
            <a:avLst/>
          </a:prstGeom>
        </p:spPr>
      </p:pic>
      <p:pic>
        <p:nvPicPr>
          <p:cNvPr id="15" name="Image 14"/>
          <p:cNvPicPr>
            <a:picLocks noChangeAspect="1"/>
          </p:cNvPicPr>
          <p:nvPr/>
        </p:nvPicPr>
        <p:blipFill>
          <a:blip r:embed="rId4"/>
          <a:stretch/>
        </p:blipFill>
        <p:spPr>
          <a:xfrm>
            <a:off x="6720020" y="3067050"/>
            <a:ext cx="3704960" cy="5238750"/>
          </a:xfrm>
          <a:prstGeom prst="rect">
            <a:avLst/>
          </a:prstGeom>
        </p:spPr>
      </p:pic>
      <p:pic>
        <p:nvPicPr>
          <p:cNvPr id="16" name="Image 15"/>
          <p:cNvPicPr>
            <a:picLocks noChangeAspect="1"/>
          </p:cNvPicPr>
          <p:nvPr/>
        </p:nvPicPr>
        <p:blipFill>
          <a:blip r:embed="rId5"/>
          <a:stretch/>
        </p:blipFill>
        <p:spPr>
          <a:xfrm>
            <a:off x="11720645" y="3067050"/>
            <a:ext cx="3704960" cy="5238750"/>
          </a:xfrm>
          <a:prstGeom prst="rect">
            <a:avLst/>
          </a:prstGeom>
        </p:spPr>
      </p:pic>
      <p:sp>
        <p:nvSpPr>
          <p:cNvPr id="7" name="Proposition">
            <a:extLst>
              <a:ext uri="{FF2B5EF4-FFF2-40B4-BE49-F238E27FC236}">
                <a16:creationId xmlns:a16="http://schemas.microsoft.com/office/drawing/2014/main" id="{14B681F6-3E5C-4BB0-A250-322572D50D6E}"/>
              </a:ext>
            </a:extLst>
          </p:cNvPr>
          <p:cNvSpPr>
            <a:spLocks noGrp="1"/>
          </p:cNvSpPr>
          <p:nvPr/>
        </p:nvSpPr>
        <p:spPr>
          <a:xfrm>
            <a:off x="1571625" y="8505825"/>
            <a:ext cx="4095750" cy="571500"/>
          </a:xfrm>
          <a:prstGeom prst="rect">
            <a:avLst/>
          </a:prstGeom>
          <a:noFill/>
          <a:ln w="0">
            <a:noFill/>
          </a:ln>
        </p:spPr>
        <p:txBody>
          <a:bodyPr wrap="square" lIns="0" tIns="0" rIns="0" bIns="0" anchor="ctr">
            <a:noAutofit/>
          </a:bodyPr>
          <a:lstStyle/>
          <a:p>
            <a:pPr algn="ctr">
              <a:defRPr sz="2700" b="1">
                <a:solidFill>
                  <a:srgbClr val="414548"/>
                </a:solidFill>
                <a:latin typeface="Calibri"/>
                <a:ea typeface="Calibri"/>
                <a:cs typeface="Calibri"/>
              </a:defRPr>
            </a:pPr>
            <a:r>
              <a:rPr sz="2700" b="1">
                <a:solidFill>
                  <a:srgbClr val="414548"/>
                </a:solidFill>
                <a:latin typeface="Calibri"/>
                <a:ea typeface="Calibri"/>
                <a:cs typeface="Calibri"/>
              </a:rPr>
              <a:t>Proposition</a:t>
            </a:r>
          </a:p>
        </p:txBody>
      </p:sp>
      <p:sp>
        <p:nvSpPr>
          <p:cNvPr id="8" name="Convention">
            <a:extLst>
              <a:ext uri="{FF2B5EF4-FFF2-40B4-BE49-F238E27FC236}">
                <a16:creationId xmlns:a16="http://schemas.microsoft.com/office/drawing/2014/main" id="{B3D72C91-909C-412D-B3B1-CDD5C979FED5}"/>
              </a:ext>
            </a:extLst>
          </p:cNvPr>
          <p:cNvSpPr>
            <a:spLocks noGrp="1"/>
          </p:cNvSpPr>
          <p:nvPr/>
        </p:nvSpPr>
        <p:spPr>
          <a:xfrm>
            <a:off x="6524625" y="8505825"/>
            <a:ext cx="4095750" cy="571500"/>
          </a:xfrm>
          <a:prstGeom prst="rect">
            <a:avLst/>
          </a:prstGeom>
          <a:noFill/>
          <a:ln w="0">
            <a:noFill/>
          </a:ln>
        </p:spPr>
        <p:txBody>
          <a:bodyPr wrap="square" lIns="0" tIns="0" rIns="0" bIns="0" anchor="ctr">
            <a:noAutofit/>
          </a:bodyPr>
          <a:lstStyle/>
          <a:p>
            <a:pPr algn="ctr">
              <a:defRPr sz="2700" b="1">
                <a:solidFill>
                  <a:srgbClr val="414548"/>
                </a:solidFill>
                <a:latin typeface="Calibri"/>
                <a:ea typeface="Calibri"/>
                <a:cs typeface="Calibri"/>
              </a:defRPr>
            </a:pPr>
            <a:r>
              <a:rPr sz="2700" b="1">
                <a:solidFill>
                  <a:srgbClr val="414548"/>
                </a:solidFill>
                <a:latin typeface="Calibri"/>
                <a:ea typeface="Calibri"/>
                <a:cs typeface="Calibri"/>
              </a:rPr>
              <a:t>Convention</a:t>
            </a:r>
          </a:p>
        </p:txBody>
      </p:sp>
      <p:sp>
        <p:nvSpPr>
          <p:cNvPr id="9" name="Facture">
            <a:extLst>
              <a:ext uri="{FF2B5EF4-FFF2-40B4-BE49-F238E27FC236}">
                <a16:creationId xmlns:a16="http://schemas.microsoft.com/office/drawing/2014/main" id="{00C56FBC-DF48-42D1-AED2-A20ACFFDCEA0}"/>
              </a:ext>
            </a:extLst>
          </p:cNvPr>
          <p:cNvSpPr>
            <a:spLocks noGrp="1"/>
          </p:cNvSpPr>
          <p:nvPr/>
        </p:nvSpPr>
        <p:spPr>
          <a:xfrm>
            <a:off x="11525250" y="8505825"/>
            <a:ext cx="4095750" cy="571500"/>
          </a:xfrm>
          <a:prstGeom prst="rect">
            <a:avLst/>
          </a:prstGeom>
          <a:noFill/>
          <a:ln w="0">
            <a:noFill/>
          </a:ln>
        </p:spPr>
        <p:txBody>
          <a:bodyPr wrap="square" lIns="0" tIns="0" rIns="0" bIns="0" anchor="ctr">
            <a:noAutofit/>
          </a:bodyPr>
          <a:lstStyle/>
          <a:p>
            <a:pPr algn="ctr">
              <a:defRPr sz="2700" b="1">
                <a:solidFill>
                  <a:srgbClr val="414548"/>
                </a:solidFill>
                <a:latin typeface="Calibri"/>
                <a:ea typeface="Calibri"/>
                <a:cs typeface="Calibri"/>
              </a:defRPr>
            </a:pPr>
            <a:r>
              <a:rPr sz="2700" b="1">
                <a:solidFill>
                  <a:srgbClr val="414548"/>
                </a:solidFill>
                <a:latin typeface="Calibri"/>
                <a:ea typeface="Calibri"/>
                <a:cs typeface="Calibri"/>
              </a:rPr>
              <a:t>Facture</a:t>
            </a:r>
          </a:p>
        </p:txBody>
      </p:sp>
      <p:sp>
        <p:nvSpPr>
          <p:cNvPr id="10" name="Exemples fictifs. L’équipe doit valider les données com">
            <a:extLst>
              <a:ext uri="{FF2B5EF4-FFF2-40B4-BE49-F238E27FC236}">
                <a16:creationId xmlns:a16="http://schemas.microsoft.com/office/drawing/2014/main" id="{0AA5AB77-CB2A-4138-AA65-138C4FADF0A4}"/>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686B67"/>
                </a:solidFill>
                <a:latin typeface="Calibri"/>
                <a:ea typeface="Calibri"/>
                <a:cs typeface="Calibri"/>
              </a:defRPr>
            </a:pPr>
            <a:r>
              <a:rPr sz="2025" b="0">
                <a:solidFill>
                  <a:srgbClr val="686B67"/>
                </a:solidFill>
                <a:latin typeface="Calibri"/>
                <a:ea typeface="Calibri"/>
                <a:cs typeface="Calibri"/>
              </a:rPr>
              <a:t>Exemples fictifs. L’équipe doit valider les données commerciales, contractuelles et fiscales avant émission.</a:t>
            </a:r>
          </a:p>
        </p:txBody>
      </p:sp>
    </p:spTree>
    <p:extLst>
      <p:ext uri="{BB962C8B-B14F-4D97-AF65-F5344CB8AC3E}">
        <p14:creationId xmlns:p14="http://schemas.microsoft.com/office/powerpoint/2010/main" val="1331428774"/>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7"/>
                                  </p:tgtEl>
                                  <p:attrNameLst>
                                    <p:attrName>style.visibility</p:attrName>
                                  </p:attrNameLst>
                                </p:cBhvr>
                                <p:to>
                                  <p:strVal val="visible"/>
                                </p:to>
                              </p:set>
                              <p:animEffect transition="in" filter="wipe(right)">
                                <p:cBhvr>
                                  <p:cTn id="10" dur="550" fill="hold"/>
                                  <p:tgtEl>
                                    <p:spTgt spid="7"/>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8"/>
                                  </p:tgtEl>
                                  <p:attrNameLst>
                                    <p:attrName>style.visibility</p:attrName>
                                  </p:attrNameLst>
                                </p:cBhvr>
                                <p:to>
                                  <p:strVal val="visible"/>
                                </p:to>
                              </p:set>
                              <p:animEffect transition="in" filter="wipe(right)">
                                <p:cBhvr>
                                  <p:cTn id="14" dur="550" fill="hold"/>
                                  <p:tgtEl>
                                    <p:spTgt spid="8"/>
                                  </p:tgtEl>
                                </p:cBhvr>
                              </p:animEffect>
                            </p:childTnLst>
                          </p:cTn>
                        </p:par>
                      </p:childTnLst>
                    </p:cTn>
                  </p:par>
                  <p:par>
                    <p:cTn id="15" fill="hold">
                      <p:stCondLst>
                        <p:cond delay="370"/>
                      </p:stCondLst>
                      <p:childTnLst>
                        <p:par>
                          <p:cTn id="16" presetID="22" presetClass="entr" presetSubtype="1" fill="hold" nodeType="withEffect">
                            <p:stCondLst>
                              <p:cond delay="0"/>
                            </p:stCondLst>
                            <p:childTnLst>
                              <p:set>
                                <p:cBhvr>
                                  <p:cTn id="17" dur="1" fill="hold"/>
                                  <p:tgtEl>
                                    <p:spTgt spid="9"/>
                                  </p:tgtEl>
                                  <p:attrNameLst>
                                    <p:attrName>style.visibility</p:attrName>
                                  </p:attrNameLst>
                                </p:cBhvr>
                                <p:to>
                                  <p:strVal val="visible"/>
                                </p:to>
                              </p:set>
                              <p:animEffect transition="in" filter="wipe(right)">
                                <p:cBhvr>
                                  <p:cTn id="18" dur="550" fill="hold"/>
                                  <p:tgtEl>
                                    <p:spTgt spid="9"/>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3F0E2"/>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ResearchBg"/>
          <a:srcRect l="0" t="27" r="0" b="27"/>
          <a:stretch>
            <a:fillRect l="0" t="0" r="0" b="0"/>
          </a:stretch>
        </p:blipFill>
        <p:spPr>
          <a:xfrm>
            <a:off x="0" y="0"/>
            <a:ext cx="18288000" cy="10287000"/>
          </a:xfrm>
          <a:prstGeom prst="rect">
            <a:avLst/>
          </a:prstGeom>
        </p:spPr>
      </p:pic>
      <p:sp>
        <p:nvSpPr>
          <p:cNvPr id="13" name="ADG-10  /  AUTOMATISATION DU CYCLE COMMERCIAL">
            <a:extLst>
              <a:ext uri="{FF2B5EF4-FFF2-40B4-BE49-F238E27FC236}">
                <a16:creationId xmlns:a16="http://schemas.microsoft.com/office/drawing/2014/main" id="{9445855B-A10D-42B2-87B2-195CB8B4BA3D}"/>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A65A43"/>
                </a:solidFill>
                <a:latin typeface="Calibri"/>
                <a:ea typeface="Calibri"/>
                <a:cs typeface="Calibri"/>
              </a:defRPr>
            </a:pPr>
            <a:r>
              <a:rPr sz="1800" b="1">
                <a:solidFill>
                  <a:srgbClr val="A65A43"/>
                </a:solidFill>
                <a:latin typeface="Calibri"/>
                <a:ea typeface="Calibri"/>
                <a:cs typeface="Calibri"/>
              </a:rPr>
              <a:t>ADG-10  /  AUTOMATISATION DU CYCLE COMMERCIAL</a:t>
            </a:r>
          </a:p>
        </p:txBody>
      </p:sp>
      <p:sp>
        <p:nvSpPr>
          <p:cNvPr id="2" name="20 / 22">
            <a:extLst>
              <a:ext uri="{FF2B5EF4-FFF2-40B4-BE49-F238E27FC236}">
                <a16:creationId xmlns:a16="http://schemas.microsoft.com/office/drawing/2014/main" id="{4C9594F2-6C73-4EDD-8F94-C36C50D718AB}"/>
              </a:ext>
            </a:extLst>
          </p:cNvPr>
          <p:cNvSpPr>
            <a:spLocks noGrp="1"/>
          </p:cNvSpPr>
          <p:nvPr/>
        </p:nvSpPr>
        <p:spPr>
          <a:xfrm>
            <a:off x="14382750" y="9696450"/>
            <a:ext cx="1333500" cy="323850"/>
          </a:xfrm>
          <a:prstGeom prst="rect">
            <a:avLst/>
          </a:prstGeom>
          <a:noFill/>
          <a:ln w="0">
            <a:noFill/>
          </a:ln>
        </p:spPr>
        <p:txBody>
          <a:bodyPr wrap="square" lIns="0" tIns="0" rIns="0" bIns="0" anchor="ctr">
            <a:noAutofit/>
          </a:bodyPr>
          <a:lstStyle/>
          <a:p>
            <a:pPr algn="ctr">
              <a:defRPr sz="1650" b="1">
                <a:solidFill>
                  <a:srgbClr val="414548"/>
                </a:solidFill>
                <a:latin typeface="Calibri"/>
                <a:ea typeface="Calibri"/>
                <a:cs typeface="Calibri"/>
              </a:defRPr>
            </a:pPr>
            <a:r>
              <a:rPr sz="1650" b="1">
                <a:solidFill>
                  <a:srgbClr val="414548"/>
                </a:solidFill>
                <a:latin typeface="Calibri"/>
                <a:ea typeface="Calibri"/>
                <a:cs typeface="Calibri"/>
              </a:rPr>
              <a:t>20 / 24</a:t>
            </a:r>
          </a:p>
        </p:txBody>
      </p:sp>
      <p:sp>
        <p:nvSpPr>
          <p:cNvPr id="3" name="Résultats et validation">
            <a:extLst>
              <a:ext uri="{FF2B5EF4-FFF2-40B4-BE49-F238E27FC236}">
                <a16:creationId xmlns:a16="http://schemas.microsoft.com/office/drawing/2014/main" id="{017008DE-FD5D-4396-81EA-4B05ADFC9DC2}"/>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414548"/>
                </a:solidFill>
                <a:latin typeface="Calibri"/>
                <a:ea typeface="Calibri"/>
                <a:cs typeface="Calibri"/>
              </a:defRPr>
            </a:pPr>
            <a:r>
              <a:rPr sz="4650" b="1">
                <a:solidFill>
                  <a:srgbClr val="414548"/>
                </a:solidFill>
                <a:latin typeface="Calibri"/>
                <a:ea typeface="Calibri"/>
                <a:cs typeface="Calibri"/>
              </a:rPr>
              <a:t>Résultats et validation</a:t>
            </a:r>
          </a:p>
        </p:txBody>
      </p:sp>
      <p:sp>
        <p:nvSpPr>
          <p:cNvPr id="4" name="11 tests métier réussis">
            <a:extLst>
              <a:ext uri="{FF2B5EF4-FFF2-40B4-BE49-F238E27FC236}">
                <a16:creationId xmlns:a16="http://schemas.microsoft.com/office/drawing/2014/main" id="{A1B254A8-13E9-49F6-B963-FE82B7BDA849}"/>
              </a:ext>
            </a:extLst>
          </p:cNvPr>
          <p:cNvSpPr>
            <a:spLocks noGrp="1"/>
          </p:cNvSpPr>
          <p:nvPr/>
        </p:nvSpPr>
        <p:spPr>
          <a:xfrm>
            <a:off x="1857375" y="3429000"/>
            <a:ext cx="12382500" cy="952500"/>
          </a:xfrm>
          <a:prstGeom prst="rect">
            <a:avLst/>
          </a:prstGeom>
          <a:noFill/>
          <a:ln w="0">
            <a:noFill/>
          </a:ln>
        </p:spPr>
        <p:txBody>
          <a:bodyPr wrap="square" lIns="0" tIns="0" rIns="0" bIns="0" anchor="ctr">
            <a:noAutofit/>
          </a:bodyPr>
          <a:lstStyle/>
          <a:p>
            <a:pPr algn="ctr">
              <a:defRPr sz="4800" b="1">
                <a:solidFill>
                  <a:srgbClr val="A65A43"/>
                </a:solidFill>
                <a:latin typeface="Calibri"/>
                <a:ea typeface="Calibri"/>
                <a:cs typeface="Calibri"/>
              </a:defRPr>
            </a:pPr>
            <a:r>
              <a:rPr sz="4800" b="1">
                <a:solidFill>
                  <a:srgbClr val="A65A43"/>
                </a:solidFill>
                <a:latin typeface="Calibri"/>
                <a:ea typeface="Calibri"/>
                <a:cs typeface="Calibri"/>
              </a:rPr>
              <a:t>11 tests métier réussis</a:t>
            </a:r>
          </a:p>
        </p:txBody>
      </p:sp>
      <p:sp>
        <p:nvSpPr>
          <p:cNvPr id="5" name="01">
            <a:extLst>
              <a:ext uri="{FF2B5EF4-FFF2-40B4-BE49-F238E27FC236}">
                <a16:creationId xmlns:a16="http://schemas.microsoft.com/office/drawing/2014/main" id="{B3656310-86C5-4A98-9E90-42BF3F1DC2DF}"/>
              </a:ext>
            </a:extLst>
          </p:cNvPr>
          <p:cNvSpPr>
            <a:spLocks noGrp="1"/>
          </p:cNvSpPr>
          <p:nvPr/>
        </p:nvSpPr>
        <p:spPr>
          <a:xfrm>
            <a:off x="1428750" y="4905375"/>
            <a:ext cx="714375" cy="714375"/>
          </a:xfrm>
          <a:prstGeom prst="ellipse">
            <a:avLst/>
          </a:prstGeom>
          <a:solidFill>
            <a:srgbClr val="5D818B"/>
          </a:solidFill>
          <a:ln w="19050">
            <a:solidFill>
              <a:srgbClr val="5D818B"/>
            </a:solidFill>
          </a:ln>
        </p:spPr>
        <p:txBody>
          <a:bodyPr wrap="square" lIns="0" tIns="0" rIns="0" bIns="0" anchor="ctr">
            <a:noAutofit/>
          </a:bodyPr>
          <a:lstStyle/>
          <a:p>
            <a:pPr algn="ctr">
              <a:defRPr sz="2250" b="1">
                <a:solidFill>
                  <a:srgbClr val="F3F0E2"/>
                </a:solidFill>
                <a:latin typeface="Calibri"/>
                <a:ea typeface="Calibri"/>
                <a:cs typeface="Calibri"/>
              </a:defRPr>
            </a:pPr>
            <a:r>
              <a:rPr sz="2250" b="1">
                <a:solidFill>
                  <a:srgbClr val="F3F0E2"/>
                </a:solidFill>
                <a:latin typeface="Calibri"/>
                <a:ea typeface="Calibri"/>
                <a:cs typeface="Calibri"/>
              </a:rPr>
              <a:t>01</a:t>
            </a:r>
          </a:p>
        </p:txBody>
      </p:sp>
      <p:sp>
        <p:nvSpPr>
          <p:cNvPr id="6" name="Scoring, routage et sélection de la formation.">
            <a:extLst>
              <a:ext uri="{FF2B5EF4-FFF2-40B4-BE49-F238E27FC236}">
                <a16:creationId xmlns:a16="http://schemas.microsoft.com/office/drawing/2014/main" id="{2CC16E97-4EE8-4401-9EC5-4206A99915A1}"/>
              </a:ext>
            </a:extLst>
          </p:cNvPr>
          <p:cNvSpPr>
            <a:spLocks noGrp="1"/>
          </p:cNvSpPr>
          <p:nvPr/>
        </p:nvSpPr>
        <p:spPr>
          <a:xfrm>
            <a:off x="2428875" y="4857750"/>
            <a:ext cx="12287250" cy="857250"/>
          </a:xfrm>
          <a:prstGeom prst="rect">
            <a:avLst/>
          </a:prstGeom>
          <a:noFill/>
          <a:ln w="0">
            <a:noFill/>
          </a:ln>
        </p:spPr>
        <p:txBody>
          <a:bodyPr wrap="square" lIns="0" tIns="0" rIns="0" bIns="0" anchor="ctr">
            <a:noAutofit/>
          </a:bodyPr>
          <a:lstStyle/>
          <a:p>
            <a:pPr algn="l">
              <a:defRPr sz="3075" b="0">
                <a:solidFill>
                  <a:srgbClr val="414548"/>
                </a:solidFill>
                <a:latin typeface="Calibri"/>
                <a:ea typeface="Calibri"/>
                <a:cs typeface="Calibri"/>
              </a:defRPr>
            </a:pPr>
            <a:r>
              <a:rPr sz="3075" b="0">
                <a:solidFill>
                  <a:srgbClr val="414548"/>
                </a:solidFill>
                <a:latin typeface="Calibri"/>
                <a:ea typeface="Calibri"/>
                <a:cs typeface="Calibri"/>
              </a:rPr>
              <a:t>Scoring, routage et sélection de la formation.</a:t>
            </a:r>
          </a:p>
        </p:txBody>
      </p:sp>
      <p:sp>
        <p:nvSpPr>
          <p:cNvPr id="7" name="02">
            <a:extLst>
              <a:ext uri="{FF2B5EF4-FFF2-40B4-BE49-F238E27FC236}">
                <a16:creationId xmlns:a16="http://schemas.microsoft.com/office/drawing/2014/main" id="{EBAFB8F8-BEE4-4F9C-9633-7D22D725211C}"/>
              </a:ext>
            </a:extLst>
          </p:cNvPr>
          <p:cNvSpPr>
            <a:spLocks noGrp="1"/>
          </p:cNvSpPr>
          <p:nvPr/>
        </p:nvSpPr>
        <p:spPr>
          <a:xfrm>
            <a:off x="1428750" y="5924550"/>
            <a:ext cx="714375" cy="714375"/>
          </a:xfrm>
          <a:prstGeom prst="ellipse">
            <a:avLst/>
          </a:prstGeom>
          <a:solidFill>
            <a:srgbClr val="A65A43"/>
          </a:solidFill>
          <a:ln w="19050">
            <a:solidFill>
              <a:srgbClr val="A65A43"/>
            </a:solidFill>
          </a:ln>
        </p:spPr>
        <p:txBody>
          <a:bodyPr wrap="square" lIns="0" tIns="0" rIns="0" bIns="0" anchor="ctr">
            <a:noAutofit/>
          </a:bodyPr>
          <a:lstStyle/>
          <a:p>
            <a:pPr algn="ctr">
              <a:defRPr sz="2250" b="1">
                <a:solidFill>
                  <a:srgbClr val="F3F0E2"/>
                </a:solidFill>
                <a:latin typeface="Calibri"/>
                <a:ea typeface="Calibri"/>
                <a:cs typeface="Calibri"/>
              </a:defRPr>
            </a:pPr>
            <a:r>
              <a:rPr sz="2250" b="1">
                <a:solidFill>
                  <a:srgbClr val="F3F0E2"/>
                </a:solidFill>
                <a:latin typeface="Calibri"/>
                <a:ea typeface="Calibri"/>
                <a:cs typeface="Calibri"/>
              </a:rPr>
              <a:t>02</a:t>
            </a:r>
          </a:p>
        </p:txBody>
      </p:sp>
      <p:sp>
        <p:nvSpPr>
          <p:cNvPr id="8" name="Prix, références et numérotation des documents.">
            <a:extLst>
              <a:ext uri="{FF2B5EF4-FFF2-40B4-BE49-F238E27FC236}">
                <a16:creationId xmlns:a16="http://schemas.microsoft.com/office/drawing/2014/main" id="{54D38DF0-DE1A-47BA-BB4E-066F93AEDDE0}"/>
              </a:ext>
            </a:extLst>
          </p:cNvPr>
          <p:cNvSpPr>
            <a:spLocks noGrp="1"/>
          </p:cNvSpPr>
          <p:nvPr/>
        </p:nvSpPr>
        <p:spPr>
          <a:xfrm>
            <a:off x="2428875" y="5876925"/>
            <a:ext cx="12287250" cy="857250"/>
          </a:xfrm>
          <a:prstGeom prst="rect">
            <a:avLst/>
          </a:prstGeom>
          <a:noFill/>
          <a:ln w="0">
            <a:noFill/>
          </a:ln>
        </p:spPr>
        <p:txBody>
          <a:bodyPr wrap="square" lIns="0" tIns="0" rIns="0" bIns="0" anchor="ctr">
            <a:noAutofit/>
          </a:bodyPr>
          <a:lstStyle/>
          <a:p>
            <a:pPr algn="l">
              <a:defRPr sz="3075" b="0">
                <a:solidFill>
                  <a:srgbClr val="414548"/>
                </a:solidFill>
                <a:latin typeface="Calibri"/>
                <a:ea typeface="Calibri"/>
                <a:cs typeface="Calibri"/>
              </a:defRPr>
            </a:pPr>
            <a:r>
              <a:rPr sz="3075" b="0">
                <a:solidFill>
                  <a:srgbClr val="414548"/>
                </a:solidFill>
                <a:latin typeface="Calibri"/>
                <a:ea typeface="Calibri"/>
                <a:cs typeface="Calibri"/>
              </a:rPr>
              <a:t>Prix, références et numérotation des documents.</a:t>
            </a:r>
          </a:p>
        </p:txBody>
      </p:sp>
      <p:sp>
        <p:nvSpPr>
          <p:cNvPr id="9" name="03">
            <a:extLst>
              <a:ext uri="{FF2B5EF4-FFF2-40B4-BE49-F238E27FC236}">
                <a16:creationId xmlns:a16="http://schemas.microsoft.com/office/drawing/2014/main" id="{0FFE963C-E447-4811-A160-C6B0FEA3542E}"/>
              </a:ext>
            </a:extLst>
          </p:cNvPr>
          <p:cNvSpPr>
            <a:spLocks noGrp="1"/>
          </p:cNvSpPr>
          <p:nvPr/>
        </p:nvSpPr>
        <p:spPr>
          <a:xfrm>
            <a:off x="1428750" y="6943725"/>
            <a:ext cx="714375" cy="714375"/>
          </a:xfrm>
          <a:prstGeom prst="ellipse">
            <a:avLst/>
          </a:prstGeom>
          <a:solidFill>
            <a:srgbClr val="414548"/>
          </a:solidFill>
          <a:ln w="19050">
            <a:solidFill>
              <a:srgbClr val="414548"/>
            </a:solidFill>
          </a:ln>
        </p:spPr>
        <p:txBody>
          <a:bodyPr wrap="square" lIns="0" tIns="0" rIns="0" bIns="0" anchor="ctr">
            <a:noAutofit/>
          </a:bodyPr>
          <a:lstStyle/>
          <a:p>
            <a:pPr algn="ctr">
              <a:defRPr sz="2250" b="1">
                <a:solidFill>
                  <a:srgbClr val="F3F0E2"/>
                </a:solidFill>
                <a:latin typeface="Calibri"/>
                <a:ea typeface="Calibri"/>
                <a:cs typeface="Calibri"/>
              </a:defRPr>
            </a:pPr>
            <a:r>
              <a:rPr sz="2250" b="1">
                <a:solidFill>
                  <a:srgbClr val="F3F0E2"/>
                </a:solidFill>
                <a:latin typeface="Calibri"/>
                <a:ea typeface="Calibri"/>
                <a:cs typeface="Calibri"/>
              </a:rPr>
              <a:t>03</a:t>
            </a:r>
          </a:p>
        </p:txBody>
      </p:sp>
      <p:sp>
        <p:nvSpPr>
          <p:cNvPr id="10" name="Journal d’envoi, reprise CRM et erreurs contrôlées.">
            <a:extLst>
              <a:ext uri="{FF2B5EF4-FFF2-40B4-BE49-F238E27FC236}">
                <a16:creationId xmlns:a16="http://schemas.microsoft.com/office/drawing/2014/main" id="{0073F5FC-E73E-4782-A9F9-87CDADB44213}"/>
              </a:ext>
            </a:extLst>
          </p:cNvPr>
          <p:cNvSpPr>
            <a:spLocks noGrp="1"/>
          </p:cNvSpPr>
          <p:nvPr/>
        </p:nvSpPr>
        <p:spPr>
          <a:xfrm>
            <a:off x="2428875" y="6896100"/>
            <a:ext cx="12287250" cy="857250"/>
          </a:xfrm>
          <a:prstGeom prst="rect">
            <a:avLst/>
          </a:prstGeom>
          <a:noFill/>
          <a:ln w="0">
            <a:noFill/>
          </a:ln>
        </p:spPr>
        <p:txBody>
          <a:bodyPr wrap="square" lIns="0" tIns="0" rIns="0" bIns="0" anchor="ctr">
            <a:noAutofit/>
          </a:bodyPr>
          <a:lstStyle/>
          <a:p>
            <a:pPr algn="l">
              <a:defRPr sz="3075" b="0">
                <a:solidFill>
                  <a:srgbClr val="414548"/>
                </a:solidFill>
                <a:latin typeface="Calibri"/>
                <a:ea typeface="Calibri"/>
                <a:cs typeface="Calibri"/>
              </a:defRPr>
            </a:pPr>
            <a:r>
              <a:rPr sz="3075" b="0">
                <a:solidFill>
                  <a:srgbClr val="414548"/>
                </a:solidFill>
                <a:latin typeface="Calibri"/>
                <a:ea typeface="Calibri"/>
                <a:cs typeface="Calibri"/>
              </a:rPr>
              <a:t>Journal d’envoi, reprise CRM et erreurs contrôlées.</a:t>
            </a:r>
          </a:p>
        </p:txBody>
      </p:sp>
      <p:sp>
        <p:nvSpPr>
          <p:cNvPr id="11" name="28 fichiers Python analysés. Aucun conflit de dépendanc">
            <a:extLst>
              <a:ext uri="{FF2B5EF4-FFF2-40B4-BE49-F238E27FC236}">
                <a16:creationId xmlns:a16="http://schemas.microsoft.com/office/drawing/2014/main" id="{9EB226D5-FB04-4A44-8B62-1C95D56B263C}"/>
              </a:ext>
            </a:extLst>
          </p:cNvPr>
          <p:cNvSpPr>
            <a:spLocks noGrp="1"/>
          </p:cNvSpPr>
          <p:nvPr/>
        </p:nvSpPr>
        <p:spPr>
          <a:xfrm>
            <a:off x="1857375" y="8048625"/>
            <a:ext cx="12573000" cy="666750"/>
          </a:xfrm>
          <a:prstGeom prst="rect">
            <a:avLst/>
          </a:prstGeom>
          <a:noFill/>
          <a:ln w="0">
            <a:noFill/>
          </a:ln>
        </p:spPr>
        <p:txBody>
          <a:bodyPr wrap="square" lIns="0" tIns="0" rIns="0" bIns="0" anchor="ctr">
            <a:noAutofit/>
          </a:bodyPr>
          <a:lstStyle/>
          <a:p>
            <a:pPr algn="ctr">
              <a:defRPr sz="2550" b="0">
                <a:solidFill>
                  <a:srgbClr val="414548"/>
                </a:solidFill>
                <a:latin typeface="Calibri"/>
                <a:ea typeface="Calibri"/>
                <a:cs typeface="Calibri"/>
              </a:defRPr>
            </a:pPr>
            <a:r>
              <a:rPr sz="2550" b="0">
                <a:solidFill>
                  <a:srgbClr val="414548"/>
                </a:solidFill>
                <a:latin typeface="Calibri"/>
                <a:ea typeface="Calibri"/>
                <a:cs typeface="Calibri"/>
              </a:rPr>
              <a:t>28 fichiers Python analysés. Aucun conflit de dépendances détecté.</a:t>
            </a:r>
          </a:p>
        </p:txBody>
      </p:sp>
      <p:sp>
        <p:nvSpPr>
          <p:cNvPr id="12" name="Vérifications locales du 17 septembre 2026. Les service">
            <a:extLst>
              <a:ext uri="{FF2B5EF4-FFF2-40B4-BE49-F238E27FC236}">
                <a16:creationId xmlns:a16="http://schemas.microsoft.com/office/drawing/2014/main" id="{9D39663E-4DCB-4D9D-8B3D-51FA0B16E62E}"/>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686B67"/>
                </a:solidFill>
                <a:latin typeface="Calibri"/>
                <a:ea typeface="Calibri"/>
                <a:cs typeface="Calibri"/>
              </a:defRPr>
            </a:pPr>
            <a:r>
              <a:rPr sz="2025" b="0">
                <a:solidFill>
                  <a:srgbClr val="686B67"/>
                </a:solidFill>
                <a:latin typeface="Calibri"/>
                <a:ea typeface="Calibri"/>
                <a:cs typeface="Calibri"/>
              </a:rPr>
              <a:t>Vérifications locales du 17 septembre 2026. Les services externes restent à valider en conditions réelles.</a:t>
            </a:r>
          </a:p>
        </p:txBody>
      </p:sp>
    </p:spTree>
    <p:extLst>
      <p:ext uri="{BB962C8B-B14F-4D97-AF65-F5344CB8AC3E}">
        <p14:creationId xmlns:p14="http://schemas.microsoft.com/office/powerpoint/2010/main" val="707714836"/>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4"/>
                                  </p:tgtEl>
                                  <p:attrNameLst>
                                    <p:attrName>style.visibility</p:attrName>
                                  </p:attrNameLst>
                                </p:cBhvr>
                                <p:to>
                                  <p:strVal val="visible"/>
                                </p:to>
                              </p:set>
                              <p:animEffect transition="in" filter="wipe(right)">
                                <p:cBhvr>
                                  <p:cTn id="10" dur="550" fill="hold"/>
                                  <p:tgtEl>
                                    <p:spTgt spid="4"/>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5"/>
                                  </p:tgtEl>
                                  <p:attrNameLst>
                                    <p:attrName>style.visibility</p:attrName>
                                  </p:attrNameLst>
                                </p:cBhvr>
                                <p:to>
                                  <p:strVal val="visible"/>
                                </p:to>
                              </p:set>
                              <p:animEffect transition="in" filter="wipe(right)">
                                <p:cBhvr>
                                  <p:cTn id="14" dur="550" fill="hold"/>
                                  <p:tgtEl>
                                    <p:spTgt spid="5"/>
                                  </p:tgtEl>
                                </p:cBhvr>
                              </p:animEffect>
                            </p:childTnLst>
                          </p:cTn>
                        </p:par>
                      </p:childTnLst>
                    </p:cTn>
                  </p:par>
                  <p:par>
                    <p:cTn id="15" fill="hold">
                      <p:stCondLst>
                        <p:cond delay="370"/>
                      </p:stCondLst>
                      <p:childTnLst>
                        <p:par>
                          <p:cTn id="16" presetID="22" presetClass="entr" presetSubtype="1" fill="hold" nodeType="withEffect">
                            <p:stCondLst>
                              <p:cond delay="0"/>
                            </p:stCondLst>
                            <p:childTnLst>
                              <p:set>
                                <p:cBhvr>
                                  <p:cTn id="17" dur="1" fill="hold"/>
                                  <p:tgtEl>
                                    <p:spTgt spid="6"/>
                                  </p:tgtEl>
                                  <p:attrNameLst>
                                    <p:attrName>style.visibility</p:attrName>
                                  </p:attrNameLst>
                                </p:cBhvr>
                                <p:to>
                                  <p:strVal val="visible"/>
                                </p:to>
                              </p:set>
                              <p:animEffect transition="in" filter="wipe(right)">
                                <p:cBhvr>
                                  <p:cTn id="18" dur="550" fill="hold"/>
                                  <p:tgtEl>
                                    <p:spTgt spid="6"/>
                                  </p:tgtEl>
                                </p:cBhvr>
                              </p:animEffect>
                            </p:childTnLst>
                          </p:cTn>
                        </p:par>
                      </p:childTnLst>
                    </p:cTn>
                  </p:par>
                  <p:par>
                    <p:cTn id="19" fill="hold">
                      <p:stCondLst>
                        <p:cond delay="460"/>
                      </p:stCondLst>
                      <p:childTnLst>
                        <p:par>
                          <p:cTn id="20" presetID="22" presetClass="entr" presetSubtype="1" fill="hold" nodeType="withEffect">
                            <p:stCondLst>
                              <p:cond delay="0"/>
                            </p:stCondLst>
                            <p:childTnLst>
                              <p:set>
                                <p:cBhvr>
                                  <p:cTn id="21" dur="1" fill="hold"/>
                                  <p:tgtEl>
                                    <p:spTgt spid="7"/>
                                  </p:tgtEl>
                                  <p:attrNameLst>
                                    <p:attrName>style.visibility</p:attrName>
                                  </p:attrNameLst>
                                </p:cBhvr>
                                <p:to>
                                  <p:strVal val="visible"/>
                                </p:to>
                              </p:set>
                              <p:animEffect transition="in" filter="wipe(right)">
                                <p:cBhvr>
                                  <p:cTn id="22" dur="550" fill="hold"/>
                                  <p:tgtEl>
                                    <p:spTgt spid="7"/>
                                  </p:tgtEl>
                                </p:cBhvr>
                              </p:animEffect>
                            </p:childTnLst>
                          </p:cTn>
                        </p:par>
                      </p:childTnLst>
                    </p:cTn>
                  </p:par>
                  <p:par>
                    <p:cTn id="23" fill="hold">
                      <p:stCondLst>
                        <p:cond delay="550"/>
                      </p:stCondLst>
                      <p:childTnLst>
                        <p:par>
                          <p:cTn id="24" presetID="22" presetClass="entr" presetSubtype="1" fill="hold" nodeType="withEffect">
                            <p:stCondLst>
                              <p:cond delay="0"/>
                            </p:stCondLst>
                            <p:childTnLst>
                              <p:set>
                                <p:cBhvr>
                                  <p:cTn id="25" dur="1" fill="hold"/>
                                  <p:tgtEl>
                                    <p:spTgt spid="8"/>
                                  </p:tgtEl>
                                  <p:attrNameLst>
                                    <p:attrName>style.visibility</p:attrName>
                                  </p:attrNameLst>
                                </p:cBhvr>
                                <p:to>
                                  <p:strVal val="visible"/>
                                </p:to>
                              </p:set>
                              <p:animEffect transition="in" filter="wipe(right)">
                                <p:cBhvr>
                                  <p:cTn id="26" dur="550" fill="hold"/>
                                  <p:tgtEl>
                                    <p:spTgt spid="8"/>
                                  </p:tgtEl>
                                </p:cBhvr>
                              </p:animEffect>
                            </p:childTnLst>
                          </p:cTn>
                        </p:par>
                      </p:childTnLst>
                    </p:cTn>
                  </p:par>
                  <p:par>
                    <p:cTn id="27" fill="hold">
                      <p:stCondLst>
                        <p:cond delay="640"/>
                      </p:stCondLst>
                      <p:childTnLst>
                        <p:par>
                          <p:cTn id="28" presetID="22" presetClass="entr" presetSubtype="1" fill="hold" nodeType="withEffect">
                            <p:stCondLst>
                              <p:cond delay="0"/>
                            </p:stCondLst>
                            <p:childTnLst>
                              <p:set>
                                <p:cBhvr>
                                  <p:cTn id="29" dur="1" fill="hold"/>
                                  <p:tgtEl>
                                    <p:spTgt spid="9"/>
                                  </p:tgtEl>
                                  <p:attrNameLst>
                                    <p:attrName>style.visibility</p:attrName>
                                  </p:attrNameLst>
                                </p:cBhvr>
                                <p:to>
                                  <p:strVal val="visible"/>
                                </p:to>
                              </p:set>
                              <p:animEffect transition="in" filter="wipe(right)">
                                <p:cBhvr>
                                  <p:cTn id="30" dur="550" fill="hold"/>
                                  <p:tgtEl>
                                    <p:spTgt spid="9"/>
                                  </p:tgtEl>
                                </p:cBhvr>
                              </p:animEffect>
                            </p:childTnLst>
                          </p:cTn>
                        </p:par>
                      </p:childTnLst>
                    </p:cTn>
                  </p:par>
                  <p:par>
                    <p:cTn id="31" fill="hold">
                      <p:stCondLst>
                        <p:cond delay="730"/>
                      </p:stCondLst>
                      <p:childTnLst>
                        <p:par>
                          <p:cTn id="32" presetID="22" presetClass="entr" presetSubtype="1" fill="hold" nodeType="withEffect">
                            <p:stCondLst>
                              <p:cond delay="0"/>
                            </p:stCondLst>
                            <p:childTnLst>
                              <p:set>
                                <p:cBhvr>
                                  <p:cTn id="33" dur="1" fill="hold"/>
                                  <p:tgtEl>
                                    <p:spTgt spid="10"/>
                                  </p:tgtEl>
                                  <p:attrNameLst>
                                    <p:attrName>style.visibility</p:attrName>
                                  </p:attrNameLst>
                                </p:cBhvr>
                                <p:to>
                                  <p:strVal val="visible"/>
                                </p:to>
                              </p:set>
                              <p:animEffect transition="in" filter="wipe(right)">
                                <p:cBhvr>
                                  <p:cTn id="34" dur="550" fill="hold"/>
                                  <p:tgtEl>
                                    <p:spTgt spid="10"/>
                                  </p:tgtEl>
                                </p:cBhvr>
                              </p:animEffect>
                            </p:childTnLst>
                          </p:cTn>
                        </p:par>
                      </p:childTnLst>
                    </p:cTn>
                  </p:par>
                  <p:par>
                    <p:cTn id="35" fill="hold">
                      <p:stCondLst>
                        <p:cond delay="730"/>
                      </p:stCondLst>
                      <p:childTnLst>
                        <p:par>
                          <p:cTn id="36" presetID="22" presetClass="entr" presetSubtype="1" fill="hold" nodeType="withEffect">
                            <p:stCondLst>
                              <p:cond delay="0"/>
                            </p:stCondLst>
                            <p:childTnLst>
                              <p:set>
                                <p:cBhvr>
                                  <p:cTn id="37" dur="1" fill="hold"/>
                                  <p:tgtEl>
                                    <p:spTgt spid="11"/>
                                  </p:tgtEl>
                                  <p:attrNameLst>
                                    <p:attrName>style.visibility</p:attrName>
                                  </p:attrNameLst>
                                </p:cBhvr>
                                <p:to>
                                  <p:strVal val="visible"/>
                                </p:to>
                              </p:set>
                              <p:animEffect transition="in" filter="wipe(right)">
                                <p:cBhvr>
                                  <p:cTn id="38" dur="550" fill="hold"/>
                                  <p:tgtEl>
                                    <p:spTgt spid="11"/>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3F0E2"/>
        </a:solidFill>
        <a:effectLst/>
      </p:bgPr>
    </p:bg>
    <p:spTree>
      <p:nvGrpSpPr>
        <p:cNvPr id="1" name=""/>
        <p:cNvGrpSpPr/>
        <p:nvPr/>
      </p:nvGrpSpPr>
      <p:grpSpPr>
        <a:xfrm>
          <a:off x="0" y="0"/>
          <a:ext cx="0" cy="0"/>
          <a:chOff x="0" y="0"/>
          <a:chExt cx="0" cy="0"/>
        </a:xfrm>
      </p:grpSpPr>
      <p:pic>
        <p:nvPicPr>
          <p:cNvPr id="2000" name=""/>
          <p:cNvPicPr>
            <a:picLocks noChangeAspect="1"/>
          </p:cNvPicPr>
          <p:nvPr/>
        </p:nvPicPr>
        <p:blipFill>
          <a:blip r:embed="rIdResearchBg"/>
          <a:srcRect l="0" t="27" r="0" b="27"/>
          <a:stretch>
            <a:fillRect l="0" t="0" r="0" b="0"/>
          </a:stretch>
        </p:blipFill>
        <p:spPr>
          <a:xfrm>
            <a:off x="0" y="0"/>
            <a:ext cx="18288000" cy="10287000"/>
          </a:xfrm>
          <a:prstGeom prst="rect">
            <a:avLst/>
          </a:prstGeom>
        </p:spPr>
      </p:pic>
      <p:sp>
        <p:nvSpPr>
          <p:cNvPr id="6" name="ADG-10  /  AUTOMATISATION DU CYCLE COMMERCIAL">
            <a:extLst>
              <a:ext uri="{FF2B5EF4-FFF2-40B4-BE49-F238E27FC236}">
                <a16:creationId xmlns:a16="http://schemas.microsoft.com/office/drawing/2014/main" id="{49F7E39F-1F49-4679-9914-81710ED0711C}"/>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A65A43"/>
                </a:solidFill>
                <a:latin typeface="Calibri"/>
                <a:ea typeface="Calibri"/>
                <a:cs typeface="Calibri"/>
              </a:defRPr>
            </a:pPr>
            <a:r>
              <a:rPr sz="1800" b="1">
                <a:solidFill>
                  <a:srgbClr val="A65A43"/>
                </a:solidFill>
                <a:latin typeface="Calibri"/>
                <a:ea typeface="Calibri"/>
                <a:cs typeface="Calibri"/>
              </a:rPr>
              <a:t>ADG-10  /  AUTOMATISATION DU CYCLE COMMERCIAL</a:t>
            </a:r>
          </a:p>
        </p:txBody>
      </p:sp>
      <p:sp>
        <p:nvSpPr>
          <p:cNvPr id="2" name="21 / 22">
            <a:extLst>
              <a:ext uri="{FF2B5EF4-FFF2-40B4-BE49-F238E27FC236}">
                <a16:creationId xmlns:a16="http://schemas.microsoft.com/office/drawing/2014/main" id="{607F9E9D-531F-4F8C-896F-2A17B4FB996C}"/>
              </a:ext>
            </a:extLst>
          </p:cNvPr>
          <p:cNvSpPr>
            <a:spLocks noGrp="1"/>
          </p:cNvSpPr>
          <p:nvPr/>
        </p:nvSpPr>
        <p:spPr>
          <a:xfrm>
            <a:off x="14382750" y="9696450"/>
            <a:ext cx="1333500" cy="323850"/>
          </a:xfrm>
          <a:prstGeom prst="rect">
            <a:avLst/>
          </a:prstGeom>
          <a:noFill/>
          <a:ln w="0">
            <a:noFill/>
          </a:ln>
        </p:spPr>
        <p:txBody>
          <a:bodyPr wrap="square" lIns="0" tIns="0" rIns="0" bIns="0" anchor="ctr">
            <a:noAutofit/>
          </a:bodyPr>
          <a:lstStyle/>
          <a:p>
            <a:pPr algn="ctr">
              <a:defRPr sz="1650" b="1">
                <a:solidFill>
                  <a:srgbClr val="414548"/>
                </a:solidFill>
                <a:latin typeface="Calibri"/>
                <a:ea typeface="Calibri"/>
                <a:cs typeface="Calibri"/>
              </a:defRPr>
            </a:pPr>
            <a:r>
              <a:rPr sz="1650" b="1">
                <a:solidFill>
                  <a:srgbClr val="414548"/>
                </a:solidFill>
                <a:latin typeface="Calibri"/>
                <a:ea typeface="Calibri"/>
                <a:cs typeface="Calibri"/>
              </a:rPr>
              <a:t>21 / 24</a:t>
            </a:r>
          </a:p>
        </p:txBody>
      </p:sp>
      <p:sp>
        <p:nvSpPr>
          <p:cNvPr id="3" name="Limites et perspectives">
            <a:extLst>
              <a:ext uri="{FF2B5EF4-FFF2-40B4-BE49-F238E27FC236}">
                <a16:creationId xmlns:a16="http://schemas.microsoft.com/office/drawing/2014/main" id="{66177D3D-105A-4A9A-824B-FFE227E923FF}"/>
              </a:ext>
            </a:extLst>
          </p:cNvPr>
          <p:cNvSpPr>
            <a:spLocks noGrp="1"/>
          </p:cNvSpPr>
          <p:nvPr/>
        </p:nvSpPr>
        <p:spPr>
          <a:xfrm>
            <a:off x="952500" y="1257300"/>
            <a:ext cx="15811500" cy="1047750"/>
          </a:xfrm>
          <a:prstGeom prst="rect">
            <a:avLst/>
          </a:prstGeom>
          <a:noFill/>
          <a:ln w="0">
            <a:noFill/>
          </a:ln>
        </p:spPr>
        <p:txBody>
          <a:bodyPr wrap="square" lIns="0" tIns="0" rIns="0" bIns="0" anchor="ctr">
            <a:noAutofit/>
          </a:bodyPr>
          <a:lstStyle/>
          <a:p>
            <a:pPr algn="l">
              <a:defRPr sz="4650" b="1">
                <a:solidFill>
                  <a:srgbClr val="414548"/>
                </a:solidFill>
                <a:latin typeface="Calibri"/>
                <a:ea typeface="Calibri"/>
                <a:cs typeface="Calibri"/>
              </a:defRPr>
            </a:pPr>
            <a:r>
              <a:rPr sz="4650" b="1">
                <a:solidFill>
                  <a:srgbClr val="414548"/>
                </a:solidFill>
                <a:latin typeface="Calibri"/>
                <a:ea typeface="Calibri"/>
                <a:cs typeface="Calibri"/>
              </a:rPr>
              <a:t>Limites et perspectives</a:t>
            </a:r>
          </a:p>
        </p:txBody>
      </p:sp>
      <p:graphicFrame>
        <p:nvGraphicFramePr>
          <p:cNvPr id="9" name="Tableau 8"/>
          <p:cNvGraphicFramePr/>
          <p:nvPr>
            <p:extLst>
              <p:ext uri="{D42A27DB-BD31-4B8C-83A1-F6EECF244321}">
                <p14:modId xmlns:p14="http://schemas.microsoft.com/office/powerpoint/2010/main" val="2068702888"/>
              </p:ext>
            </p:extLst>
          </p:nvPr>
        </p:nvGraphicFramePr>
        <p:xfrm>
          <a:off x="1571625" y="3333750"/>
          <a:ext cx="14478000" cy="4953000"/>
        </p:xfrm>
        <a:graphic>
          <a:graphicData uri="http://schemas.openxmlformats.org/drawingml/2006/table">
            <a:tbl>
              <a:tblPr/>
              <a:tblGrid>
                <a:gridCol w="3437223">
                  <a:extLst>
                    <a:ext uri="{9D8B030D-6E8A-4147-A177-3AD203B41FA5}">
                      <a16:colId xmlns:a16="http://schemas.microsoft.com/office/drawing/2014/main" val="20000"/>
                    </a:ext>
                  </a:extLst>
                </a:gridCol>
                <a:gridCol w="11040777">
                  <a:extLst>
                    <a:ext uri="{9D8B030D-6E8A-4147-A177-3AD203B41FA5}">
                      <a16:colId xmlns:a16="http://schemas.microsoft.com/office/drawing/2014/main" val="20001"/>
                    </a:ext>
                  </a:extLst>
                </a:gridCol>
              </a:tblGrid>
              <a:tr h="825500">
                <a:tc>
                  <a:txBody>
                    <a:bodyPr/>
                    <a:lstStyle/>
                    <a:p>
                      <a:pPr algn="ctr"/>
                      <a:r>
                        <a:rPr sz="2625" b="1">
                          <a:solidFill>
                            <a:srgbClr val="F3F0E2"/>
                          </a:solidFill>
                          <a:latin typeface="Calibri"/>
                          <a:ea typeface="Calibri"/>
                          <a:cs typeface="Calibri"/>
                        </a:rPr>
                        <a:t>Priorité</a:t>
                      </a:r>
                    </a:p>
                  </a:txBody>
                  <a:tcPr anchor="ctr">
                    <a:solidFill>
                      <a:srgbClr val="5D818B"/>
                    </a:solidFill>
                  </a:tcPr>
                </a:tc>
                <a:tc>
                  <a:txBody>
                    <a:bodyPr/>
                    <a:lstStyle/>
                    <a:p>
                      <a:pPr algn="ctr"/>
                      <a:r>
                        <a:rPr sz="2625" b="1">
                          <a:solidFill>
                            <a:srgbClr val="F3F0E2"/>
                          </a:solidFill>
                          <a:latin typeface="Calibri"/>
                          <a:ea typeface="Calibri"/>
                          <a:cs typeface="Calibri"/>
                        </a:rPr>
                        <a:t>Amélioration attendue</a:t>
                      </a:r>
                    </a:p>
                  </a:txBody>
                  <a:tcPr anchor="ctr">
                    <a:solidFill>
                      <a:srgbClr val="5D818B"/>
                    </a:solidFill>
                  </a:tcPr>
                </a:tc>
                <a:extLst>
                  <a:ext uri="{0D108BD9-81ED-4DB2-BD59-A6C34878D82A}">
                    <a16:rowId xmlns:a16="http://schemas.microsoft.com/office/drawing/2014/main" val="10000"/>
                  </a:ext>
                </a:extLst>
              </a:tr>
              <a:tr h="825500">
                <a:tc>
                  <a:txBody>
                    <a:bodyPr/>
                    <a:lstStyle/>
                    <a:p>
                      <a:pPr algn="ctr"/>
                      <a:r>
                        <a:rPr sz="2625" b="0">
                          <a:solidFill>
                            <a:srgbClr val="414548"/>
                          </a:solidFill>
                          <a:latin typeface="Calibri"/>
                          <a:ea typeface="Calibri"/>
                          <a:cs typeface="Calibri"/>
                        </a:rPr>
                        <a:t>Fiabilité métier</a:t>
                      </a:r>
                    </a:p>
                  </a:txBody>
                  <a:tcPr anchor="ctr">
                    <a:solidFill>
                      <a:srgbClr val="E1E5DD"/>
                    </a:solidFill>
                  </a:tcPr>
                </a:tc>
                <a:tc>
                  <a:txBody>
                    <a:bodyPr/>
                    <a:lstStyle/>
                    <a:p>
                      <a:pPr algn="ctr"/>
                      <a:r>
                        <a:rPr sz="2625" b="0">
                          <a:solidFill>
                            <a:srgbClr val="414548"/>
                          </a:solidFill>
                          <a:latin typeface="Calibri"/>
                          <a:ea typeface="Calibri"/>
                          <a:cs typeface="Calibri"/>
                        </a:rPr>
                        <a:t>Formation obligatoire, prix structurés, règles de TVA validées</a:t>
                      </a:r>
                    </a:p>
                  </a:txBody>
                  <a:tcPr anchor="ctr">
                    <a:solidFill>
                      <a:srgbClr val="E1E5DD"/>
                    </a:solidFill>
                  </a:tcPr>
                </a:tc>
                <a:extLst>
                  <a:ext uri="{0D108BD9-81ED-4DB2-BD59-A6C34878D82A}">
                    <a16:rowId xmlns:a16="http://schemas.microsoft.com/office/drawing/2014/main" val="10001"/>
                  </a:ext>
                </a:extLst>
              </a:tr>
              <a:tr h="825500">
                <a:tc>
                  <a:txBody>
                    <a:bodyPr/>
                    <a:lstStyle/>
                    <a:p>
                      <a:pPr algn="ctr"/>
                      <a:r>
                        <a:rPr sz="2625" b="0">
                          <a:solidFill>
                            <a:srgbClr val="414548"/>
                          </a:solidFill>
                          <a:latin typeface="Calibri"/>
                          <a:ea typeface="Calibri"/>
                          <a:cs typeface="Calibri"/>
                        </a:rPr>
                        <a:t>Exploitation</a:t>
                      </a:r>
                    </a:p>
                  </a:txBody>
                  <a:tcPr anchor="ctr">
                    <a:solidFill>
                      <a:srgbClr val="ECEBDD"/>
                    </a:solidFill>
                  </a:tcPr>
                </a:tc>
                <a:tc>
                  <a:txBody>
                    <a:bodyPr/>
                    <a:lstStyle/>
                    <a:p>
                      <a:pPr algn="ctr"/>
                      <a:r>
                        <a:rPr sz="2625" b="0">
                          <a:solidFill>
                            <a:srgbClr val="414548"/>
                          </a:solidFill>
                          <a:latin typeface="Calibri"/>
                          <a:ea typeface="Calibri"/>
                          <a:cs typeface="Calibri"/>
                        </a:rPr>
                        <a:t>Planification, rattrapage des échéances, suivi des réponses</a:t>
                      </a:r>
                    </a:p>
                  </a:txBody>
                  <a:tcPr anchor="ctr">
                    <a:solidFill>
                      <a:srgbClr val="ECEBDD"/>
                    </a:solidFill>
                  </a:tcPr>
                </a:tc>
                <a:extLst>
                  <a:ext uri="{0D108BD9-81ED-4DB2-BD59-A6C34878D82A}">
                    <a16:rowId xmlns:a16="http://schemas.microsoft.com/office/drawing/2014/main" val="10002"/>
                  </a:ext>
                </a:extLst>
              </a:tr>
              <a:tr h="825500">
                <a:tc>
                  <a:txBody>
                    <a:bodyPr/>
                    <a:lstStyle/>
                    <a:p>
                      <a:pPr algn="ctr"/>
                      <a:r>
                        <a:rPr sz="2625" b="0">
                          <a:solidFill>
                            <a:srgbClr val="414548"/>
                          </a:solidFill>
                          <a:latin typeface="Calibri"/>
                          <a:ea typeface="Calibri"/>
                          <a:cs typeface="Calibri"/>
                        </a:rPr>
                        <a:t>Sécurité</a:t>
                      </a:r>
                    </a:p>
                  </a:txBody>
                  <a:tcPr anchor="ctr">
                    <a:solidFill>
                      <a:srgbClr val="E1E5DD"/>
                    </a:solidFill>
                  </a:tcPr>
                </a:tc>
                <a:tc>
                  <a:txBody>
                    <a:bodyPr/>
                    <a:lstStyle/>
                    <a:p>
                      <a:pPr algn="ctr"/>
                      <a:r>
                        <a:rPr sz="2625" b="0">
                          <a:solidFill>
                            <a:srgbClr val="414548"/>
                          </a:solidFill>
                          <a:latin typeface="Calibri"/>
                          <a:ea typeface="Calibri"/>
                          <a:cs typeface="Calibri"/>
                        </a:rPr>
                        <a:t>Accès authentifié, gestion des secrets et des habilitations</a:t>
                      </a:r>
                    </a:p>
                  </a:txBody>
                  <a:tcPr anchor="ctr">
                    <a:solidFill>
                      <a:srgbClr val="E1E5DD"/>
                    </a:solidFill>
                  </a:tcPr>
                </a:tc>
                <a:extLst>
                  <a:ext uri="{0D108BD9-81ED-4DB2-BD59-A6C34878D82A}">
                    <a16:rowId xmlns:a16="http://schemas.microsoft.com/office/drawing/2014/main" val="10003"/>
                  </a:ext>
                </a:extLst>
              </a:tr>
              <a:tr h="825500">
                <a:tc>
                  <a:txBody>
                    <a:bodyPr/>
                    <a:lstStyle/>
                    <a:p>
                      <a:pPr algn="ctr"/>
                      <a:r>
                        <a:rPr sz="2625" b="0">
                          <a:solidFill>
                            <a:srgbClr val="414548"/>
                          </a:solidFill>
                          <a:latin typeface="Calibri"/>
                          <a:ea typeface="Calibri"/>
                          <a:cs typeface="Calibri"/>
                        </a:rPr>
                        <a:t>Montée en charge</a:t>
                      </a:r>
                    </a:p>
                  </a:txBody>
                  <a:tcPr anchor="ctr">
                    <a:solidFill>
                      <a:srgbClr val="ECEBDD"/>
                    </a:solidFill>
                  </a:tcPr>
                </a:tc>
                <a:tc>
                  <a:txBody>
                    <a:bodyPr/>
                    <a:lstStyle/>
                    <a:p>
                      <a:pPr algn="ctr"/>
                      <a:r>
                        <a:rPr sz="2625" b="0">
                          <a:solidFill>
                            <a:srgbClr val="414548"/>
                          </a:solidFill>
                          <a:latin typeface="Calibri"/>
                          <a:ea typeface="Calibri"/>
                          <a:cs typeface="Calibri"/>
                        </a:rPr>
                        <a:t>Journal central, verrouillage et tests de concurrence</a:t>
                      </a:r>
                    </a:p>
                  </a:txBody>
                  <a:tcPr anchor="ctr">
                    <a:solidFill>
                      <a:srgbClr val="ECEBDD"/>
                    </a:solidFill>
                  </a:tcPr>
                </a:tc>
                <a:extLst>
                  <a:ext uri="{0D108BD9-81ED-4DB2-BD59-A6C34878D82A}">
                    <a16:rowId xmlns:a16="http://schemas.microsoft.com/office/drawing/2014/main" val="10004"/>
                  </a:ext>
                </a:extLst>
              </a:tr>
              <a:tr h="825500">
                <a:tc>
                  <a:txBody>
                    <a:bodyPr/>
                    <a:lstStyle/>
                    <a:p>
                      <a:pPr algn="ctr"/>
                      <a:r>
                        <a:rPr sz="2625" b="0">
                          <a:solidFill>
                            <a:srgbClr val="414548"/>
                          </a:solidFill>
                          <a:latin typeface="Calibri"/>
                          <a:ea typeface="Calibri"/>
                          <a:cs typeface="Calibri"/>
                        </a:rPr>
                        <a:t>Périmètre</a:t>
                      </a:r>
                    </a:p>
                  </a:txBody>
                  <a:tcPr anchor="ctr">
                    <a:solidFill>
                      <a:srgbClr val="E1E5DD"/>
                    </a:solidFill>
                  </a:tcPr>
                </a:tc>
                <a:tc>
                  <a:txBody>
                    <a:bodyPr/>
                    <a:lstStyle/>
                    <a:p>
                      <a:pPr algn="ctr"/>
                      <a:r>
                        <a:rPr sz="2625" b="0" dirty="0">
                          <a:solidFill>
                            <a:srgbClr val="414548"/>
                          </a:solidFill>
                          <a:latin typeface="Calibri"/>
                          <a:ea typeface="Calibri"/>
                          <a:cs typeface="Calibri"/>
                        </a:rPr>
                        <a:t>Publication </a:t>
                      </a:r>
                      <a:r>
                        <a:rPr sz="2625" b="0" dirty="0" err="1">
                          <a:solidFill>
                            <a:srgbClr val="414548"/>
                          </a:solidFill>
                          <a:latin typeface="Calibri"/>
                          <a:ea typeface="Calibri"/>
                          <a:cs typeface="Calibri"/>
                        </a:rPr>
                        <a:t>sociale</a:t>
                      </a:r>
                      <a:r>
                        <a:rPr sz="2625" b="0" dirty="0">
                          <a:solidFill>
                            <a:srgbClr val="414548"/>
                          </a:solidFill>
                          <a:latin typeface="Calibri"/>
                          <a:ea typeface="Calibri"/>
                          <a:cs typeface="Calibri"/>
                        </a:rPr>
                        <a:t> E3 et </a:t>
                      </a:r>
                      <a:r>
                        <a:rPr sz="2625" b="0" dirty="0" err="1">
                          <a:solidFill>
                            <a:srgbClr val="414548"/>
                          </a:solidFill>
                          <a:latin typeface="Calibri"/>
                          <a:ea typeface="Calibri"/>
                          <a:cs typeface="Calibri"/>
                        </a:rPr>
                        <a:t>suivi</a:t>
                      </a:r>
                      <a:r>
                        <a:rPr sz="2625" b="0" dirty="0">
                          <a:solidFill>
                            <a:srgbClr val="414548"/>
                          </a:solidFill>
                          <a:latin typeface="Calibri"/>
                          <a:ea typeface="Calibri"/>
                          <a:cs typeface="Calibri"/>
                        </a:rPr>
                        <a:t> après-vente</a:t>
                      </a:r>
                    </a:p>
                  </a:txBody>
                  <a:tcPr anchor="ctr">
                    <a:solidFill>
                      <a:srgbClr val="E1E5DD"/>
                    </a:solidFill>
                  </a:tcPr>
                </a:tc>
                <a:extLst>
                  <a:ext uri="{0D108BD9-81ED-4DB2-BD59-A6C34878D82A}">
                    <a16:rowId xmlns:a16="http://schemas.microsoft.com/office/drawing/2014/main" val="10005"/>
                  </a:ext>
                </a:extLst>
              </a:tr>
            </a:tbl>
          </a:graphicData>
        </a:graphic>
      </p:graphicFrame>
      <p:sp>
        <p:nvSpPr>
          <p:cNvPr id="5" name="Priorité : fiabiliser les parcours existants avant d’aj">
            <a:extLst>
              <a:ext uri="{FF2B5EF4-FFF2-40B4-BE49-F238E27FC236}">
                <a16:creationId xmlns:a16="http://schemas.microsoft.com/office/drawing/2014/main" id="{26258BE2-5590-44AC-814E-A1879032C2EF}"/>
              </a:ext>
            </a:extLst>
          </p:cNvPr>
          <p:cNvSpPr>
            <a:spLocks noGrp="1"/>
          </p:cNvSpPr>
          <p:nvPr/>
        </p:nvSpPr>
        <p:spPr>
          <a:xfrm>
            <a:off x="1571625" y="8953500"/>
            <a:ext cx="14382750" cy="571500"/>
          </a:xfrm>
          <a:prstGeom prst="rect">
            <a:avLst/>
          </a:prstGeom>
          <a:noFill/>
          <a:ln w="0">
            <a:noFill/>
          </a:ln>
        </p:spPr>
        <p:txBody>
          <a:bodyPr wrap="square" lIns="0" tIns="0" rIns="0" bIns="0" anchor="ctr">
            <a:noAutofit/>
          </a:bodyPr>
          <a:lstStyle/>
          <a:p>
            <a:pPr algn="l">
              <a:defRPr sz="2025" b="0">
                <a:solidFill>
                  <a:srgbClr val="686B67"/>
                </a:solidFill>
                <a:latin typeface="Calibri"/>
                <a:ea typeface="Calibri"/>
                <a:cs typeface="Calibri"/>
              </a:defRPr>
            </a:pPr>
            <a:r>
              <a:rPr sz="2025" b="0">
                <a:solidFill>
                  <a:srgbClr val="686B67"/>
                </a:solidFill>
                <a:latin typeface="Calibri"/>
                <a:ea typeface="Calibri"/>
                <a:cs typeface="Calibri"/>
              </a:rPr>
              <a:t>Priorité : fiabiliser les parcours existants avant d’ajouter de nouveaux canaux.</a:t>
            </a:r>
          </a:p>
        </p:txBody>
      </p:sp>
    </p:spTree>
    <p:extLst>
      <p:ext uri="{BB962C8B-B14F-4D97-AF65-F5344CB8AC3E}">
        <p14:creationId xmlns:p14="http://schemas.microsoft.com/office/powerpoint/2010/main" val="621692032"/>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3"/>
                                  </p:tgtEl>
                                  <p:attrNameLst>
                                    <p:attrName>style.visibility</p:attrName>
                                  </p:attrNameLst>
                                </p:cBhvr>
                                <p:to>
                                  <p:strVal val="visible"/>
                                </p:to>
                              </p:set>
                              <p:animEffect transition="in" filter="wipe(right)">
                                <p:cBhvr>
                                  <p:cTn id="6" dur="550" fill="hold"/>
                                  <p:tgtEl>
                                    <p:spTgt spid="3"/>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3F0E2"/>
        </a:solidFill>
        <a:effectLst/>
      </p:bgPr>
    </p:bg>
    <p:spTree>
      <p:nvGrpSpPr>
        <p:cNvPr id="1" name=""/>
        <p:cNvGrpSpPr/>
        <p:nvPr/>
      </p:nvGrpSpPr>
      <p:grpSpPr>
        <a:xfrm>
          <a:off x="0" y="0"/>
          <a:ext cx="0" cy="0"/>
          <a:chOff x="0" y="0"/>
          <a:chExt cx="0" cy="0"/>
        </a:xfrm>
      </p:grpSpPr>
      <p:pic>
        <p:nvPicPr>
          <p:cNvPr id="2000" name="" descr="Illustration conceptuelle du suivi des prospects, des échanges et des documents commerciaux"/>
          <p:cNvPicPr>
            <a:picLocks noChangeAspect="1"/>
          </p:cNvPicPr>
          <p:nvPr/>
        </p:nvPicPr>
        <p:blipFill>
          <a:blip r:embed="rIdWorkflowBg"/>
          <a:srcRect l="0" t="27" r="0" b="27"/>
          <a:stretch>
            <a:fillRect l="0" t="0" r="0" b="0"/>
          </a:stretch>
        </p:blipFill>
        <p:spPr>
          <a:xfrm>
            <a:off x="0" y="0"/>
            <a:ext cx="18288000" cy="10287000"/>
          </a:xfrm>
          <a:prstGeom prst="rect">
            <a:avLst/>
          </a:prstGeom>
        </p:spPr>
      </p:pic>
      <p:sp>
        <p:nvSpPr>
          <p:cNvPr id="2" name="ADG-10  /  AUTOMATISATION DU CYCLE COMMERCIAL">
            <a:extLst>
              <a:ext uri="{FF2B5EF4-FFF2-40B4-BE49-F238E27FC236}">
                <a16:creationId xmlns:a16="http://schemas.microsoft.com/office/drawing/2014/main" id="{07500B12-2945-4644-85D0-2ED529260F24}"/>
              </a:ext>
            </a:extLst>
          </p:cNvPr>
          <p:cNvSpPr>
            <a:spLocks noGrp="1"/>
          </p:cNvSpPr>
          <p:nvPr/>
        </p:nvSpPr>
        <p:spPr>
          <a:xfrm>
            <a:off x="952500" y="400050"/>
            <a:ext cx="14954250" cy="428625"/>
          </a:xfrm>
          <a:prstGeom prst="rect">
            <a:avLst/>
          </a:prstGeom>
          <a:noFill/>
          <a:ln w="0">
            <a:noFill/>
          </a:ln>
        </p:spPr>
        <p:txBody>
          <a:bodyPr wrap="square" lIns="0" tIns="0" rIns="0" bIns="0" anchor="ctr">
            <a:noAutofit/>
          </a:bodyPr>
          <a:lstStyle/>
          <a:p>
            <a:pPr algn="l">
              <a:defRPr sz="1800" b="1">
                <a:solidFill>
                  <a:srgbClr val="A65A43"/>
                </a:solidFill>
                <a:latin typeface="Calibri"/>
                <a:ea typeface="Calibri"/>
                <a:cs typeface="Calibri"/>
              </a:defRPr>
            </a:pPr>
            <a:r>
              <a:rPr sz="1800" b="1">
                <a:solidFill>
                  <a:srgbClr val="A65A43"/>
                </a:solidFill>
                <a:latin typeface="Calibri"/>
                <a:ea typeface="Calibri"/>
                <a:cs typeface="Calibri"/>
              </a:rPr>
              <a:t>ADG-10  /  AUTOMATISATION DU CYCLE COMMERCIAL</a:t>
            </a:r>
          </a:p>
        </p:txBody>
      </p:sp>
      <p:sp>
        <p:nvSpPr>
          <p:cNvPr id="3" name="22 / 22">
            <a:extLst>
              <a:ext uri="{FF2B5EF4-FFF2-40B4-BE49-F238E27FC236}">
                <a16:creationId xmlns:a16="http://schemas.microsoft.com/office/drawing/2014/main" id="{5A987653-DA01-415B-9AED-1379733AAFE5}"/>
              </a:ext>
            </a:extLst>
          </p:cNvPr>
          <p:cNvSpPr>
            <a:spLocks noGrp="1"/>
          </p:cNvSpPr>
          <p:nvPr/>
        </p:nvSpPr>
        <p:spPr>
          <a:xfrm>
            <a:off x="14382750" y="9696450"/>
            <a:ext cx="1333500" cy="323850"/>
          </a:xfrm>
          <a:prstGeom prst="rect">
            <a:avLst/>
          </a:prstGeom>
          <a:noFill/>
          <a:ln w="0">
            <a:noFill/>
          </a:ln>
        </p:spPr>
        <p:txBody>
          <a:bodyPr wrap="square" lIns="0" tIns="0" rIns="0" bIns="0" anchor="ctr">
            <a:noAutofit/>
          </a:bodyPr>
          <a:lstStyle/>
          <a:p>
            <a:pPr algn="ctr">
              <a:defRPr sz="1650" b="1">
                <a:solidFill>
                  <a:srgbClr val="414548"/>
                </a:solidFill>
                <a:latin typeface="Calibri"/>
                <a:ea typeface="Calibri"/>
                <a:cs typeface="Calibri"/>
              </a:defRPr>
            </a:pPr>
            <a:r>
              <a:rPr sz="1650" b="1">
                <a:solidFill>
                  <a:srgbClr val="414548"/>
                </a:solidFill>
                <a:latin typeface="Calibri"/>
                <a:ea typeface="Calibri"/>
                <a:cs typeface="Calibri"/>
              </a:rPr>
              <a:t>22 / 24</a:t>
            </a:r>
          </a:p>
        </p:txBody>
      </p:sp>
      <p:sp>
        <p:nvSpPr>
          <p:cNvPr id="4" name="05">
            <a:extLst>
              <a:ext uri="{FF2B5EF4-FFF2-40B4-BE49-F238E27FC236}">
                <a16:creationId xmlns:a16="http://schemas.microsoft.com/office/drawing/2014/main" id="{12AAF49B-B5F5-4ADE-8522-7FE4FE76B94C}"/>
              </a:ext>
            </a:extLst>
          </p:cNvPr>
          <p:cNvSpPr>
            <a:spLocks noGrp="1"/>
          </p:cNvSpPr>
          <p:nvPr/>
        </p:nvSpPr>
        <p:spPr>
          <a:xfrm>
            <a:off x="857250" y="1428750"/>
            <a:ext cx="6667500" cy="1857375"/>
          </a:xfrm>
          <a:prstGeom prst="rect">
            <a:avLst/>
          </a:prstGeom>
          <a:noFill/>
          <a:ln w="0">
            <a:noFill/>
          </a:ln>
        </p:spPr>
        <p:txBody>
          <a:bodyPr wrap="square" lIns="0" tIns="0" rIns="0" bIns="0" anchor="ctr">
            <a:noAutofit/>
          </a:bodyPr>
          <a:lstStyle/>
          <a:p>
            <a:pPr algn="l">
              <a:defRPr sz="11850" b="1">
                <a:solidFill>
                  <a:srgbClr val="A65A43"/>
                </a:solidFill>
                <a:latin typeface="Calibri"/>
                <a:ea typeface="Calibri"/>
                <a:cs typeface="Calibri"/>
              </a:defRPr>
            </a:pPr>
            <a:r>
              <a:rPr sz="11850" b="1">
                <a:solidFill>
                  <a:srgbClr val="A65A43"/>
                </a:solidFill>
                <a:latin typeface="Calibri"/>
                <a:ea typeface="Calibri"/>
                <a:cs typeface="Calibri"/>
              </a:rPr>
              <a:t>05</a:t>
            </a:r>
          </a:p>
        </p:txBody>
      </p:sp>
      <p:sp>
        <p:nvSpPr>
          <p:cNvPr id="5" name="Conclusion">
            <a:extLst>
              <a:ext uri="{FF2B5EF4-FFF2-40B4-BE49-F238E27FC236}">
                <a16:creationId xmlns:a16="http://schemas.microsoft.com/office/drawing/2014/main" id="{191B3D87-75DA-4E2C-BB07-5453B79C9580}"/>
              </a:ext>
            </a:extLst>
          </p:cNvPr>
          <p:cNvSpPr>
            <a:spLocks noGrp="1"/>
          </p:cNvSpPr>
          <p:nvPr/>
        </p:nvSpPr>
        <p:spPr>
          <a:xfrm>
            <a:off x="952500" y="3524250"/>
            <a:ext cx="9810750" cy="2000250"/>
          </a:xfrm>
          <a:prstGeom prst="rect">
            <a:avLst/>
          </a:prstGeom>
          <a:noFill/>
          <a:ln w="0">
            <a:noFill/>
          </a:ln>
        </p:spPr>
        <p:txBody>
          <a:bodyPr wrap="square" lIns="0" tIns="0" rIns="0" bIns="0" anchor="ctr">
            <a:noAutofit/>
          </a:bodyPr>
          <a:lstStyle/>
          <a:p>
            <a:pPr algn="l">
              <a:defRPr sz="5850" b="1">
                <a:solidFill>
                  <a:srgbClr val="414548"/>
                </a:solidFill>
                <a:latin typeface="Calibri"/>
                <a:ea typeface="Calibri"/>
                <a:cs typeface="Calibri"/>
              </a:defRPr>
            </a:pPr>
            <a:r>
              <a:rPr sz="5850" b="1">
                <a:solidFill>
                  <a:srgbClr val="414548"/>
                </a:solidFill>
                <a:latin typeface="Calibri"/>
                <a:ea typeface="Calibri"/>
                <a:cs typeface="Calibri"/>
              </a:rPr>
              <a:t>Conclusion</a:t>
            </a:r>
          </a:p>
        </p:txBody>
      </p:sp>
      <p:sp>
        <p:nvSpPr>
          <p:cNvPr id="6" name="Un prototype qui relie la qualification du prospect&#10;aux">
            <a:extLst>
              <a:ext uri="{FF2B5EF4-FFF2-40B4-BE49-F238E27FC236}">
                <a16:creationId xmlns:a16="http://schemas.microsoft.com/office/drawing/2014/main" id="{4E835F1E-7F34-4E18-87C0-7B92D5A2B6AB}"/>
              </a:ext>
            </a:extLst>
          </p:cNvPr>
          <p:cNvSpPr>
            <a:spLocks noGrp="1"/>
          </p:cNvSpPr>
          <p:nvPr/>
        </p:nvSpPr>
        <p:spPr>
          <a:xfrm>
            <a:off x="1000125" y="5857875"/>
            <a:ext cx="9048750" cy="1428750"/>
          </a:xfrm>
          <a:prstGeom prst="rect">
            <a:avLst/>
          </a:prstGeom>
          <a:noFill/>
          <a:ln w="0">
            <a:noFill/>
          </a:ln>
        </p:spPr>
        <p:txBody>
          <a:bodyPr wrap="square" lIns="0" tIns="0" rIns="0" bIns="0" anchor="ctr">
            <a:noAutofit/>
          </a:bodyPr>
          <a:lstStyle/>
          <a:p>
            <a:pPr algn="l">
              <a:defRPr sz="2925" b="0">
                <a:solidFill>
                  <a:srgbClr val="414548"/>
                </a:solidFill>
                <a:latin typeface="Calibri"/>
                <a:ea typeface="Calibri"/>
                <a:cs typeface="Calibri"/>
              </a:defRPr>
            </a:pPr>
            <a:r>
              <a:rPr sz="2925" b="0">
                <a:solidFill>
                  <a:srgbClr val="414548"/>
                </a:solidFill>
                <a:latin typeface="Calibri"/>
                <a:ea typeface="Calibri"/>
                <a:cs typeface="Calibri"/>
              </a:rPr>
              <a:t>Un prototype qui relie la qualification du prospect</a:t>
            </a:r>
          </a:p>
          <a:p>
            <a:pPr algn="l">
              <a:defRPr sz="2925" b="0">
                <a:solidFill>
                  <a:srgbClr val="414548"/>
                </a:solidFill>
                <a:latin typeface="Calibri"/>
                <a:ea typeface="Calibri"/>
                <a:cs typeface="Calibri"/>
              </a:defRPr>
            </a:pPr>
            <a:r>
              <a:rPr sz="2925" b="0">
                <a:solidFill>
                  <a:srgbClr val="414548"/>
                </a:solidFill>
                <a:latin typeface="Calibri"/>
                <a:ea typeface="Calibri"/>
                <a:cs typeface="Calibri"/>
              </a:rPr>
              <a:t>aux communications et aux documents commerciaux</a:t>
            </a:r>
          </a:p>
        </p:txBody>
      </p:sp>
      <p:sp>
        <p:nvSpPr>
          <p:cNvPr id="7" name="Merci pour votre attention">
            <a:extLst>
              <a:ext uri="{FF2B5EF4-FFF2-40B4-BE49-F238E27FC236}">
                <a16:creationId xmlns:a16="http://schemas.microsoft.com/office/drawing/2014/main" id="{39E3D2F8-BEB3-4C72-A2BA-A8283251AF0E}"/>
              </a:ext>
            </a:extLst>
          </p:cNvPr>
          <p:cNvSpPr>
            <a:spLocks noGrp="1"/>
          </p:cNvSpPr>
          <p:nvPr/>
        </p:nvSpPr>
        <p:spPr>
          <a:xfrm>
            <a:off x="1000125" y="7667625"/>
            <a:ext cx="9525000" cy="809625"/>
          </a:xfrm>
          <a:prstGeom prst="rect">
            <a:avLst/>
          </a:prstGeom>
          <a:noFill/>
          <a:ln w="0">
            <a:noFill/>
          </a:ln>
        </p:spPr>
        <p:txBody>
          <a:bodyPr wrap="square" lIns="0" tIns="0" rIns="0" bIns="0" anchor="ctr">
            <a:noAutofit/>
          </a:bodyPr>
          <a:lstStyle/>
          <a:p>
            <a:pPr algn="l">
              <a:defRPr sz="3300" b="1">
                <a:solidFill>
                  <a:srgbClr val="A65A43"/>
                </a:solidFill>
                <a:latin typeface="Calibri"/>
                <a:ea typeface="Calibri"/>
                <a:cs typeface="Calibri"/>
              </a:defRPr>
            </a:pPr>
            <a:r>
              <a:rPr sz="3300" b="1">
                <a:solidFill>
                  <a:srgbClr val="A65A43"/>
                </a:solidFill>
                <a:latin typeface="Calibri"/>
                <a:ea typeface="Calibri"/>
                <a:cs typeface="Calibri"/>
              </a:rPr>
              <a:t>Merci pour votre attention</a:t>
            </a:r>
          </a:p>
        </p:txBody>
      </p:sp>
      <p:sp>
        <p:nvSpPr>
          <p:cNvPr id="8" name="Questions et échanges">
            <a:extLst>
              <a:ext uri="{FF2B5EF4-FFF2-40B4-BE49-F238E27FC236}">
                <a16:creationId xmlns:a16="http://schemas.microsoft.com/office/drawing/2014/main" id="{4871E3D6-3840-4EBF-9D40-F382634FE432}"/>
              </a:ext>
            </a:extLst>
          </p:cNvPr>
          <p:cNvSpPr>
            <a:spLocks noGrp="1"/>
          </p:cNvSpPr>
          <p:nvPr/>
        </p:nvSpPr>
        <p:spPr>
          <a:xfrm>
            <a:off x="1000125" y="8572500"/>
            <a:ext cx="8572500" cy="571500"/>
          </a:xfrm>
          <a:prstGeom prst="rect">
            <a:avLst/>
          </a:prstGeom>
          <a:noFill/>
          <a:ln w="0">
            <a:noFill/>
          </a:ln>
        </p:spPr>
        <p:txBody>
          <a:bodyPr wrap="square" lIns="0" tIns="0" rIns="0" bIns="0" anchor="ctr">
            <a:noAutofit/>
          </a:bodyPr>
          <a:lstStyle/>
          <a:p>
            <a:pPr algn="l">
              <a:defRPr sz="2400" b="0">
                <a:solidFill>
                  <a:srgbClr val="414548"/>
                </a:solidFill>
                <a:latin typeface="Calibri"/>
                <a:ea typeface="Calibri"/>
                <a:cs typeface="Calibri"/>
              </a:defRPr>
            </a:pPr>
            <a:r>
              <a:rPr sz="2400" b="0">
                <a:solidFill>
                  <a:srgbClr val="414548"/>
                </a:solidFill>
                <a:latin typeface="Calibri"/>
                <a:ea typeface="Calibri"/>
                <a:cs typeface="Calibri"/>
              </a:rPr>
              <a:t>Questions et échanges</a:t>
            </a:r>
          </a:p>
        </p:txBody>
      </p:sp>
    </p:spTree>
    <p:extLst>
      <p:ext uri="{BB962C8B-B14F-4D97-AF65-F5344CB8AC3E}">
        <p14:creationId xmlns:p14="http://schemas.microsoft.com/office/powerpoint/2010/main" val="230520837"/>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100"/>
                      </p:stCondLst>
                      <p:childTnLst>
                        <p:par>
                          <p:cTn id="4" presetID="22" presetClass="entr" presetSubtype="1" fill="hold" nodeType="withEffect">
                            <p:stCondLst>
                              <p:cond delay="0"/>
                            </p:stCondLst>
                            <p:childTnLst>
                              <p:set>
                                <p:cBhvr>
                                  <p:cTn id="5" dur="1" fill="hold"/>
                                  <p:tgtEl>
                                    <p:spTgt spid="4"/>
                                  </p:tgtEl>
                                  <p:attrNameLst>
                                    <p:attrName>style.visibility</p:attrName>
                                  </p:attrNameLst>
                                </p:cBhvr>
                                <p:to>
                                  <p:strVal val="visible"/>
                                </p:to>
                              </p:set>
                              <p:animEffect transition="in" filter="wipe(right)">
                                <p:cBhvr>
                                  <p:cTn id="6" dur="550" fill="hold"/>
                                  <p:tgtEl>
                                    <p:spTgt spid="4"/>
                                  </p:tgtEl>
                                </p:cBhvr>
                              </p:animEffect>
                            </p:childTnLst>
                          </p:cTn>
                        </p:par>
                      </p:childTnLst>
                    </p:cTn>
                  </p:par>
                  <p:par>
                    <p:cTn id="7" fill="hold">
                      <p:stCondLst>
                        <p:cond delay="190"/>
                      </p:stCondLst>
                      <p:childTnLst>
                        <p:par>
                          <p:cTn id="8" presetID="22" presetClass="entr" presetSubtype="1" fill="hold" nodeType="withEffect">
                            <p:stCondLst>
                              <p:cond delay="0"/>
                            </p:stCondLst>
                            <p:childTnLst>
                              <p:set>
                                <p:cBhvr>
                                  <p:cTn id="9" dur="1" fill="hold"/>
                                  <p:tgtEl>
                                    <p:spTgt spid="5"/>
                                  </p:tgtEl>
                                  <p:attrNameLst>
                                    <p:attrName>style.visibility</p:attrName>
                                  </p:attrNameLst>
                                </p:cBhvr>
                                <p:to>
                                  <p:strVal val="visible"/>
                                </p:to>
                              </p:set>
                              <p:animEffect transition="in" filter="wipe(right)">
                                <p:cBhvr>
                                  <p:cTn id="10" dur="550" fill="hold"/>
                                  <p:tgtEl>
                                    <p:spTgt spid="5"/>
                                  </p:tgtEl>
                                </p:cBhvr>
                              </p:animEffect>
                            </p:childTnLst>
                          </p:cTn>
                        </p:par>
                      </p:childTnLst>
                    </p:cTn>
                  </p:par>
                  <p:par>
                    <p:cTn id="11" fill="hold">
                      <p:stCondLst>
                        <p:cond delay="280"/>
                      </p:stCondLst>
                      <p:childTnLst>
                        <p:par>
                          <p:cTn id="12" presetID="22" presetClass="entr" presetSubtype="1" fill="hold" nodeType="withEffect">
                            <p:stCondLst>
                              <p:cond delay="0"/>
                            </p:stCondLst>
                            <p:childTnLst>
                              <p:set>
                                <p:cBhvr>
                                  <p:cTn id="13" dur="1" fill="hold"/>
                                  <p:tgtEl>
                                    <p:spTgt spid="6"/>
                                  </p:tgtEl>
                                  <p:attrNameLst>
                                    <p:attrName>style.visibility</p:attrName>
                                  </p:attrNameLst>
                                </p:cBhvr>
                                <p:to>
                                  <p:strVal val="visible"/>
                                </p:to>
                              </p:set>
                              <p:animEffect transition="in" filter="wipe(right)">
                                <p:cBhvr>
                                  <p:cTn id="14" dur="550" fill="hold"/>
                                  <p:tgtEl>
                                    <p:spTgt spid="6"/>
                                  </p:tgtEl>
                                </p:cBhvr>
                              </p:animEffect>
                            </p:childTnLst>
                          </p:cTn>
                        </p:par>
                      </p:childTnLst>
                    </p:cTn>
                  </p:par>
                  <p:par>
                    <p:cTn id="15" fill="hold">
                      <p:stCondLst>
                        <p:cond delay="370"/>
                      </p:stCondLst>
                      <p:childTnLst>
                        <p:par>
                          <p:cTn id="16" presetID="22" presetClass="entr" presetSubtype="1" fill="hold" nodeType="withEffect">
                            <p:stCondLst>
                              <p:cond delay="0"/>
                            </p:stCondLst>
                            <p:childTnLst>
                              <p:set>
                                <p:cBhvr>
                                  <p:cTn id="17" dur="1" fill="hold"/>
                                  <p:tgtEl>
                                    <p:spTgt spid="7"/>
                                  </p:tgtEl>
                                  <p:attrNameLst>
                                    <p:attrName>style.visibility</p:attrName>
                                  </p:attrNameLst>
                                </p:cBhvr>
                                <p:to>
                                  <p:strVal val="visible"/>
                                </p:to>
                              </p:set>
                              <p:animEffect transition="in" filter="wipe(right)">
                                <p:cBhvr>
                                  <p:cTn id="18" dur="550" fill="hold"/>
                                  <p:tgtEl>
                                    <p:spTgt spid="7"/>
                                  </p:tgtEl>
                                </p:cBhvr>
                              </p:animEffect>
                            </p:childTnLst>
                          </p:cTn>
                        </p:par>
                      </p:childTnLst>
                    </p:cTn>
                  </p:par>
                  <p:par>
                    <p:cTn id="19" fill="hold">
                      <p:stCondLst>
                        <p:cond delay="460"/>
                      </p:stCondLst>
                      <p:childTnLst>
                        <p:par>
                          <p:cTn id="20" presetID="22" presetClass="entr" presetSubtype="1" fill="hold" nodeType="withEffect">
                            <p:stCondLst>
                              <p:cond delay="0"/>
                            </p:stCondLst>
                            <p:childTnLst>
                              <p:set>
                                <p:cBhvr>
                                  <p:cTn id="21" dur="1" fill="hold"/>
                                  <p:tgtEl>
                                    <p:spTgt spid="8"/>
                                  </p:tgtEl>
                                  <p:attrNameLst>
                                    <p:attrName>style.visibility</p:attrName>
                                  </p:attrNameLst>
                                </p:cBhvr>
                                <p:to>
                                  <p:strVal val="visible"/>
                                </p:to>
                              </p:set>
                              <p:animEffect transition="in" filter="wipe(right)">
                                <p:cBhvr>
                                  <p:cTn id="22" dur="550" fill="hold"/>
                                  <p:tgtEl>
                                    <p:spTgt spid="8"/>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p="http://schemas.openxmlformats.org/presentationml/2006/main">
  <p:cSld>
    <p:bg>
      <p:bgPr>
        <a:solidFill xmlns:a="http://schemas.openxmlformats.org/drawingml/2006/main">
          <a:srgbClr val="F3F0E2"/>
        </a:solidFill>
      </p:bgPr>
    </p:bg>
    <p:spTree>
      <p:nvGrpSpPr>
        <p:cNvPr id="1" name=""/>
        <p:cNvGrpSpPr/>
        <p:nvPr/>
      </p:nvGrpSpPr>
      <p:grpSpPr>
        <a:xfrm xmlns:a="http://schemas.openxmlformats.org/drawingml/2006/main"/>
      </p:grpSpPr>
      <p:pic>
        <p:nvPicPr>
          <p:cNvPr id="2000" name=""/>
          <p:cNvPicPr>
            <a:picLocks xmlns:a="http://schemas.openxmlformats.org/drawingml/2006/main" noChangeAspect="1"/>
          </p:cNvPicPr>
          <p:nvPr/>
        </p:nvPicPr>
        <p:blipFill>
          <a:blip xmlns:r="http://schemas.openxmlformats.org/officeDocument/2006/relationships" xmlns:a="http://schemas.openxmlformats.org/drawingml/2006/main" r:embed="rIdResearchBg"/>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C2FE0F32-18BE-481E-8327-C18A169BD868}"/>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1800" b="1">
                <a:solidFill>
                  <a:srgbClr val="A65A43"/>
                </a:solidFill>
                <a:latin typeface="Calibri"/>
                <a:ea typeface="Calibri"/>
                <a:cs typeface="Calibri"/>
              </a:defRPr>
            </a:pPr>
            <a:r>
              <a:rPr sz="1800" b="1">
                <a:solidFill>
                  <a:srgbClr val="A65A43"/>
                </a:solidFill>
                <a:latin typeface="Calibri"/>
                <a:ea typeface="Calibri"/>
                <a:cs typeface="Calibri"/>
              </a:rPr>
              <a:t>ADG-10  /  AUTOMATISATION DU CYCLE COMMERCIAL</a:t>
            </a:r>
          </a:p>
        </p:txBody>
      </p:sp>
      <p:sp>
        <p:nvSpPr>
          <p:cNvPr id="2" name="">
            <a:extLst xmlns:a="http://schemas.openxmlformats.org/drawingml/2006/main">
              <a:ext uri="{FF2B5EF4-FFF2-40B4-BE49-F238E27FC236}">
                <a16:creationId xmlns:a16="http://schemas.microsoft.com/office/drawing/2014/main" id="{9E10320E-4601-4785-B55B-321602556D73}"/>
              </a:ext>
            </a:extLst>
          </p:cNvPr>
          <p:cNvSpPr>
            <a:spLocks xmlns:a="http://schemas.openxmlformats.org/drawingml/2006/main" noGrp="1"/>
          </p:cNvSpPr>
          <p:nvPr/>
        </p:nvSpPr>
        <p:spPr>
          <a:xfrm xmlns:a="http://schemas.openxmlformats.org/drawingml/2006/main">
            <a:off x="14382750" y="9696450"/>
            <a:ext cx="133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650" b="1">
                <a:solidFill>
                  <a:srgbClr val="414548"/>
                </a:solidFill>
                <a:latin typeface="Calibri"/>
                <a:ea typeface="Calibri"/>
                <a:cs typeface="Calibri"/>
              </a:defRPr>
            </a:pPr>
            <a:r>
              <a:rPr sz="1650" b="1">
                <a:solidFill>
                  <a:srgbClr val="414548"/>
                </a:solidFill>
                <a:latin typeface="Calibri"/>
                <a:ea typeface="Calibri"/>
                <a:cs typeface="Calibri"/>
              </a:rPr>
              <a:t>23 / 24</a:t>
            </a:r>
          </a:p>
        </p:txBody>
      </p:sp>
      <p:sp>
        <p:nvSpPr>
          <p:cNvPr id="3" name="">
            <a:extLst xmlns:a="http://schemas.openxmlformats.org/drawingml/2006/main">
              <a:ext uri="{FF2B5EF4-FFF2-40B4-BE49-F238E27FC236}">
                <a16:creationId xmlns:a16="http://schemas.microsoft.com/office/drawing/2014/main" id="{631FAAD9-B158-4F04-B8A5-1E181418B5F6}"/>
              </a:ext>
            </a:extLst>
          </p:cNvPr>
          <p:cNvSpPr>
            <a:spLocks xmlns:a="http://schemas.openxmlformats.org/drawingml/2006/main" noGrp="1"/>
          </p:cNvSpPr>
          <p:nvPr/>
        </p:nvSpPr>
        <p:spPr>
          <a:xfrm xmlns:a="http://schemas.openxmlformats.org/drawingml/2006/main">
            <a:off x="952500" y="1257300"/>
            <a:ext cx="1581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4650" b="1">
                <a:solidFill>
                  <a:srgbClr val="414548"/>
                </a:solidFill>
                <a:latin typeface="Calibri"/>
                <a:ea typeface="Calibri"/>
                <a:cs typeface="Calibri"/>
              </a:defRPr>
            </a:pPr>
            <a:r>
              <a:rPr sz="4650" b="1">
                <a:solidFill>
                  <a:srgbClr val="414548"/>
                </a:solidFill>
                <a:latin typeface="Calibri"/>
                <a:ea typeface="Calibri"/>
                <a:cs typeface="Calibri"/>
              </a:rPr>
              <a:t>Références</a:t>
            </a:r>
          </a:p>
        </p:txBody>
      </p:sp>
      <p:sp>
        <p:nvSpPr>
          <p:cNvPr id="4" name="">
            <a:extLst xmlns:a="http://schemas.openxmlformats.org/drawingml/2006/main">
              <a:ext uri="{FF2B5EF4-FFF2-40B4-BE49-F238E27FC236}">
                <a16:creationId xmlns:a16="http://schemas.microsoft.com/office/drawing/2014/main" id="{7D0F4F9A-9C3F-43B1-BFBF-D06ACF778BD7}"/>
              </a:ext>
            </a:extLst>
          </p:cNvPr>
          <p:cNvSpPr>
            <a:spLocks xmlns:a="http://schemas.openxmlformats.org/drawingml/2006/main" noGrp="1"/>
          </p:cNvSpPr>
          <p:nvPr/>
        </p:nvSpPr>
        <p:spPr>
          <a:xfrm xmlns:a="http://schemas.openxmlformats.org/drawingml/2006/main">
            <a:off x="1381125" y="2952750"/>
            <a:ext cx="4191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2700" b="1">
                <a:solidFill>
                  <a:srgbClr val="A65A43"/>
                </a:solidFill>
                <a:latin typeface="Calibri"/>
                <a:ea typeface="Calibri"/>
                <a:cs typeface="Calibri"/>
              </a:defRPr>
            </a:pPr>
            <a:r>
              <a:rPr sz="2700" b="1">
                <a:solidFill>
                  <a:srgbClr val="A65A43"/>
                </a:solidFill>
                <a:latin typeface="Calibri"/>
                <a:ea typeface="Calibri"/>
                <a:cs typeface="Calibri"/>
              </a:rPr>
              <a:t>Python</a:t>
            </a:r>
          </a:p>
        </p:txBody>
      </p:sp>
      <p:sp>
        <p:nvSpPr>
          <p:cNvPr id="5" name="">
            <a:extLst xmlns:a="http://schemas.openxmlformats.org/drawingml/2006/main">
              <a:ext uri="{FF2B5EF4-FFF2-40B4-BE49-F238E27FC236}">
                <a16:creationId xmlns:a16="http://schemas.microsoft.com/office/drawing/2014/main" id="{B0085EF2-D8B6-4739-A282-61745FF517B9}"/>
              </a:ext>
            </a:extLst>
          </p:cNvPr>
          <p:cNvSpPr>
            <a:spLocks xmlns:a="http://schemas.openxmlformats.org/drawingml/2006/main" noGrp="1"/>
          </p:cNvSpPr>
          <p:nvPr/>
        </p:nvSpPr>
        <p:spPr>
          <a:xfrm xmlns:a="http://schemas.openxmlformats.org/drawingml/2006/main">
            <a:off x="5572125" y="2952750"/>
            <a:ext cx="11144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2400" b="0">
                <a:solidFill>
                  <a:srgbClr val="414548"/>
                </a:solidFill>
                <a:latin typeface="Calibri"/>
                <a:ea typeface="Calibri"/>
                <a:cs typeface="Calibri"/>
              </a:defRPr>
            </a:pPr>
            <a:r>
              <a:rPr sz="2400" b="0">
                <a:solidFill>
                  <a:srgbClr val="414548"/>
                </a:solidFill>
                <a:latin typeface="Calibri"/>
                <a:ea typeface="Calibri"/>
                <a:cs typeface="Calibri"/>
              </a:rPr>
              <a:t>https://docs.python.org/3/</a:t>
            </a:r>
          </a:p>
        </p:txBody>
      </p:sp>
      <p:sp>
        <p:nvSpPr>
          <p:cNvPr id="6" name="">
            <a:extLst xmlns:a="http://schemas.openxmlformats.org/drawingml/2006/main">
              <a:ext uri="{FF2B5EF4-FFF2-40B4-BE49-F238E27FC236}">
                <a16:creationId xmlns:a16="http://schemas.microsoft.com/office/drawing/2014/main" id="{A98C533E-05B3-428A-8B5F-9D2C228AF5BA}"/>
              </a:ext>
            </a:extLst>
          </p:cNvPr>
          <p:cNvSpPr>
            <a:spLocks xmlns:a="http://schemas.openxmlformats.org/drawingml/2006/main" noGrp="1"/>
          </p:cNvSpPr>
          <p:nvPr/>
        </p:nvSpPr>
        <p:spPr>
          <a:xfrm xmlns:a="http://schemas.openxmlformats.org/drawingml/2006/main">
            <a:off x="1381125" y="3933825"/>
            <a:ext cx="4191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2700" b="1">
                <a:solidFill>
                  <a:srgbClr val="A65A43"/>
                </a:solidFill>
                <a:latin typeface="Calibri"/>
                <a:ea typeface="Calibri"/>
                <a:cs typeface="Calibri"/>
              </a:defRPr>
            </a:pPr>
            <a:r>
              <a:rPr sz="2700" b="1">
                <a:solidFill>
                  <a:srgbClr val="A65A43"/>
                </a:solidFill>
                <a:latin typeface="Calibri"/>
                <a:ea typeface="Calibri"/>
                <a:cs typeface="Calibri"/>
              </a:rPr>
              <a:t>Airtable Web API</a:t>
            </a:r>
          </a:p>
        </p:txBody>
      </p:sp>
      <p:sp>
        <p:nvSpPr>
          <p:cNvPr id="7" name="">
            <a:extLst xmlns:a="http://schemas.openxmlformats.org/drawingml/2006/main">
              <a:ext uri="{FF2B5EF4-FFF2-40B4-BE49-F238E27FC236}">
                <a16:creationId xmlns:a16="http://schemas.microsoft.com/office/drawing/2014/main" id="{9D9D4059-F486-41FF-A9F6-C8808220BD70}"/>
              </a:ext>
            </a:extLst>
          </p:cNvPr>
          <p:cNvSpPr>
            <a:spLocks xmlns:a="http://schemas.openxmlformats.org/drawingml/2006/main" noGrp="1"/>
          </p:cNvSpPr>
          <p:nvPr/>
        </p:nvSpPr>
        <p:spPr>
          <a:xfrm xmlns:a="http://schemas.openxmlformats.org/drawingml/2006/main">
            <a:off x="5572125" y="3933825"/>
            <a:ext cx="11144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2400" b="0">
                <a:solidFill>
                  <a:srgbClr val="414548"/>
                </a:solidFill>
                <a:latin typeface="Calibri"/>
                <a:ea typeface="Calibri"/>
                <a:cs typeface="Calibri"/>
              </a:defRPr>
            </a:pPr>
            <a:r>
              <a:rPr sz="2400" b="0">
                <a:solidFill>
                  <a:srgbClr val="414548"/>
                </a:solidFill>
                <a:latin typeface="Calibri"/>
                <a:ea typeface="Calibri"/>
                <a:cs typeface="Calibri"/>
              </a:rPr>
              <a:t>https://airtable.com/developers/web/api/introduction</a:t>
            </a:r>
          </a:p>
        </p:txBody>
      </p:sp>
      <p:sp>
        <p:nvSpPr>
          <p:cNvPr id="8" name="">
            <a:extLst xmlns:a="http://schemas.openxmlformats.org/drawingml/2006/main">
              <a:ext uri="{FF2B5EF4-FFF2-40B4-BE49-F238E27FC236}">
                <a16:creationId xmlns:a16="http://schemas.microsoft.com/office/drawing/2014/main" id="{EC8D1B8B-9CBE-4F1F-8266-33ECAC4E5250}"/>
              </a:ext>
            </a:extLst>
          </p:cNvPr>
          <p:cNvSpPr>
            <a:spLocks xmlns:a="http://schemas.openxmlformats.org/drawingml/2006/main" noGrp="1"/>
          </p:cNvSpPr>
          <p:nvPr/>
        </p:nvSpPr>
        <p:spPr>
          <a:xfrm xmlns:a="http://schemas.openxmlformats.org/drawingml/2006/main">
            <a:off x="1381125" y="4914900"/>
            <a:ext cx="4191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2700" b="1">
                <a:solidFill>
                  <a:srgbClr val="A65A43"/>
                </a:solidFill>
                <a:latin typeface="Calibri"/>
                <a:ea typeface="Calibri"/>
                <a:cs typeface="Calibri"/>
              </a:defRPr>
            </a:pPr>
            <a:r>
              <a:rPr sz="2700" b="1">
                <a:solidFill>
                  <a:srgbClr val="A65A43"/>
                </a:solidFill>
                <a:latin typeface="Calibri"/>
                <a:ea typeface="Calibri"/>
                <a:cs typeface="Calibri"/>
              </a:rPr>
              <a:t>Groq</a:t>
            </a:r>
          </a:p>
        </p:txBody>
      </p:sp>
      <p:sp>
        <p:nvSpPr>
          <p:cNvPr id="9" name="">
            <a:extLst xmlns:a="http://schemas.openxmlformats.org/drawingml/2006/main">
              <a:ext uri="{FF2B5EF4-FFF2-40B4-BE49-F238E27FC236}">
                <a16:creationId xmlns:a16="http://schemas.microsoft.com/office/drawing/2014/main" id="{5B6FF680-7121-41E9-BB67-4BC2D25939A5}"/>
              </a:ext>
            </a:extLst>
          </p:cNvPr>
          <p:cNvSpPr>
            <a:spLocks xmlns:a="http://schemas.openxmlformats.org/drawingml/2006/main" noGrp="1"/>
          </p:cNvSpPr>
          <p:nvPr/>
        </p:nvSpPr>
        <p:spPr>
          <a:xfrm xmlns:a="http://schemas.openxmlformats.org/drawingml/2006/main">
            <a:off x="5572125" y="4914900"/>
            <a:ext cx="11144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2400" b="0">
                <a:solidFill>
                  <a:srgbClr val="414548"/>
                </a:solidFill>
                <a:latin typeface="Calibri"/>
                <a:ea typeface="Calibri"/>
                <a:cs typeface="Calibri"/>
              </a:defRPr>
            </a:pPr>
            <a:r>
              <a:rPr sz="2400" b="0">
                <a:solidFill>
                  <a:srgbClr val="414548"/>
                </a:solidFill>
                <a:latin typeface="Calibri"/>
                <a:ea typeface="Calibri"/>
                <a:cs typeface="Calibri"/>
              </a:rPr>
              <a:t>https://console.groq.com/docs/overview</a:t>
            </a:r>
          </a:p>
        </p:txBody>
      </p:sp>
      <p:sp>
        <p:nvSpPr>
          <p:cNvPr id="10" name="">
            <a:extLst xmlns:a="http://schemas.openxmlformats.org/drawingml/2006/main">
              <a:ext uri="{FF2B5EF4-FFF2-40B4-BE49-F238E27FC236}">
                <a16:creationId xmlns:a16="http://schemas.microsoft.com/office/drawing/2014/main" id="{20F2ACB5-F930-46CA-92D6-F56AEED5BA13}"/>
              </a:ext>
            </a:extLst>
          </p:cNvPr>
          <p:cNvSpPr>
            <a:spLocks xmlns:a="http://schemas.openxmlformats.org/drawingml/2006/main" noGrp="1"/>
          </p:cNvSpPr>
          <p:nvPr/>
        </p:nvSpPr>
        <p:spPr>
          <a:xfrm xmlns:a="http://schemas.openxmlformats.org/drawingml/2006/main">
            <a:off x="1381125" y="5895975"/>
            <a:ext cx="4191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2700" b="1">
                <a:solidFill>
                  <a:srgbClr val="A65A43"/>
                </a:solidFill>
                <a:latin typeface="Calibri"/>
                <a:ea typeface="Calibri"/>
                <a:cs typeface="Calibri"/>
              </a:defRPr>
            </a:pPr>
            <a:r>
              <a:rPr sz="2700" b="1">
                <a:solidFill>
                  <a:srgbClr val="A65A43"/>
                </a:solidFill>
                <a:latin typeface="Calibri"/>
                <a:ea typeface="Calibri"/>
                <a:cs typeface="Calibri"/>
              </a:rPr>
              <a:t>Streamlit</a:t>
            </a:r>
          </a:p>
        </p:txBody>
      </p:sp>
      <p:sp>
        <p:nvSpPr>
          <p:cNvPr id="11" name="">
            <a:extLst xmlns:a="http://schemas.openxmlformats.org/drawingml/2006/main">
              <a:ext uri="{FF2B5EF4-FFF2-40B4-BE49-F238E27FC236}">
                <a16:creationId xmlns:a16="http://schemas.microsoft.com/office/drawing/2014/main" id="{4DA247B4-E521-4585-9653-6FD52F51CEFA}"/>
              </a:ext>
            </a:extLst>
          </p:cNvPr>
          <p:cNvSpPr>
            <a:spLocks xmlns:a="http://schemas.openxmlformats.org/drawingml/2006/main" noGrp="1"/>
          </p:cNvSpPr>
          <p:nvPr/>
        </p:nvSpPr>
        <p:spPr>
          <a:xfrm xmlns:a="http://schemas.openxmlformats.org/drawingml/2006/main">
            <a:off x="5572125" y="5895975"/>
            <a:ext cx="11144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2400" b="0">
                <a:solidFill>
                  <a:srgbClr val="414548"/>
                </a:solidFill>
                <a:latin typeface="Calibri"/>
                <a:ea typeface="Calibri"/>
                <a:cs typeface="Calibri"/>
              </a:defRPr>
            </a:pPr>
            <a:r>
              <a:rPr sz="2400" b="0">
                <a:solidFill>
                  <a:srgbClr val="414548"/>
                </a:solidFill>
                <a:latin typeface="Calibri"/>
                <a:ea typeface="Calibri"/>
                <a:cs typeface="Calibri"/>
              </a:rPr>
              <a:t>https://docs.streamlit.io/</a:t>
            </a:r>
          </a:p>
        </p:txBody>
      </p:sp>
      <p:sp>
        <p:nvSpPr>
          <p:cNvPr id="12" name="">
            <a:extLst xmlns:a="http://schemas.openxmlformats.org/drawingml/2006/main">
              <a:ext uri="{FF2B5EF4-FFF2-40B4-BE49-F238E27FC236}">
                <a16:creationId xmlns:a16="http://schemas.microsoft.com/office/drawing/2014/main" id="{2E5526A7-42DE-4353-A24F-607770C2716F}"/>
              </a:ext>
            </a:extLst>
          </p:cNvPr>
          <p:cNvSpPr>
            <a:spLocks xmlns:a="http://schemas.openxmlformats.org/drawingml/2006/main" noGrp="1"/>
          </p:cNvSpPr>
          <p:nvPr/>
        </p:nvSpPr>
        <p:spPr>
          <a:xfrm xmlns:a="http://schemas.openxmlformats.org/drawingml/2006/main">
            <a:off x="1381125" y="6877050"/>
            <a:ext cx="4191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2700" b="1">
                <a:solidFill>
                  <a:srgbClr val="A65A43"/>
                </a:solidFill>
                <a:latin typeface="Calibri"/>
                <a:ea typeface="Calibri"/>
                <a:cs typeface="Calibri"/>
              </a:defRPr>
            </a:pPr>
            <a:r>
              <a:rPr sz="2700" b="1">
                <a:solidFill>
                  <a:srgbClr val="A65A43"/>
                </a:solidFill>
                <a:latin typeface="Calibri"/>
                <a:ea typeface="Calibri"/>
                <a:cs typeface="Calibri"/>
              </a:rPr>
              <a:t>ReportLab</a:t>
            </a:r>
          </a:p>
        </p:txBody>
      </p:sp>
      <p:sp>
        <p:nvSpPr>
          <p:cNvPr id="13" name="">
            <a:extLst xmlns:a="http://schemas.openxmlformats.org/drawingml/2006/main">
              <a:ext uri="{FF2B5EF4-FFF2-40B4-BE49-F238E27FC236}">
                <a16:creationId xmlns:a16="http://schemas.microsoft.com/office/drawing/2014/main" id="{5E62DFF3-3F65-48B3-BB55-84F2375743A2}"/>
              </a:ext>
            </a:extLst>
          </p:cNvPr>
          <p:cNvSpPr>
            <a:spLocks xmlns:a="http://schemas.openxmlformats.org/drawingml/2006/main" noGrp="1"/>
          </p:cNvSpPr>
          <p:nvPr/>
        </p:nvSpPr>
        <p:spPr>
          <a:xfrm xmlns:a="http://schemas.openxmlformats.org/drawingml/2006/main">
            <a:off x="5572125" y="6877050"/>
            <a:ext cx="11144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2400" b="0">
                <a:solidFill>
                  <a:srgbClr val="414548"/>
                </a:solidFill>
                <a:latin typeface="Calibri"/>
                <a:ea typeface="Calibri"/>
                <a:cs typeface="Calibri"/>
              </a:defRPr>
            </a:pPr>
            <a:r>
              <a:rPr sz="2400" b="0">
                <a:solidFill>
                  <a:srgbClr val="414548"/>
                </a:solidFill>
                <a:latin typeface="Calibri"/>
                <a:ea typeface="Calibri"/>
                <a:cs typeface="Calibri"/>
              </a:rPr>
              <a:t>https://docs.reportlab.com/</a:t>
            </a:r>
          </a:p>
        </p:txBody>
      </p:sp>
      <p:sp>
        <p:nvSpPr>
          <p:cNvPr id="14" name="">
            <a:extLst xmlns:a="http://schemas.openxmlformats.org/drawingml/2006/main">
              <a:ext uri="{FF2B5EF4-FFF2-40B4-BE49-F238E27FC236}">
                <a16:creationId xmlns:a16="http://schemas.microsoft.com/office/drawing/2014/main" id="{E6F1B851-FC2C-4933-B31B-CD3591BA8074}"/>
              </a:ext>
            </a:extLst>
          </p:cNvPr>
          <p:cNvSpPr>
            <a:spLocks xmlns:a="http://schemas.openxmlformats.org/drawingml/2006/main" noGrp="1"/>
          </p:cNvSpPr>
          <p:nvPr/>
        </p:nvSpPr>
        <p:spPr>
          <a:xfrm xmlns:a="http://schemas.openxmlformats.org/drawingml/2006/main">
            <a:off x="1381125" y="8239125"/>
            <a:ext cx="1543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2400" b="0">
                <a:solidFill>
                  <a:srgbClr val="414548"/>
                </a:solidFill>
                <a:latin typeface="Calibri"/>
                <a:ea typeface="Calibri"/>
                <a:cs typeface="Calibri"/>
              </a:defRPr>
            </a:pPr>
            <a:r>
              <a:rPr sz="2400" b="0">
                <a:solidFill>
                  <a:srgbClr val="414548"/>
                </a:solidFill>
                <a:latin typeface="Calibri"/>
                <a:ea typeface="Calibri"/>
                <a:cs typeface="Calibri"/>
              </a:rPr>
              <a:t>Documentation interne : rapport de stage et code source du projet ADG-10.</a:t>
            </a:r>
          </a:p>
        </p:txBody>
      </p:sp>
    </p:spTree>
    <p:extLst>
      <p:ext uri="{BB962C8B-B14F-4D97-AF65-F5344CB8AC3E}">
        <p14:creationId xmlns:p14="http://schemas.microsoft.com/office/powerpoint/2010/main" val="1531569876"/>
      </p:ext>
    </p:extLst>
  </p:cSld>
  <p:transition spd="med" advClick="1">
    <p:push dir="l"/>
  </p:transition>
</p:sld>
</file>

<file path=ppt/slides/slide24.xml><?xml version="1.0" encoding="utf-8"?>
<p:sld xmlns:p="http://schemas.openxmlformats.org/presentationml/2006/main">
  <p:cSld>
    <p:bg>
      <p:bgPr>
        <a:solidFill xmlns:a="http://schemas.openxmlformats.org/drawingml/2006/main">
          <a:srgbClr val="F3F0E2"/>
        </a:solidFill>
      </p:bgPr>
    </p:bg>
    <p:spTree>
      <p:nvGrpSpPr>
        <p:cNvPr id="1" name=""/>
        <p:cNvGrpSpPr/>
        <p:nvPr/>
      </p:nvGrpSpPr>
      <p:grpSpPr>
        <a:xfrm xmlns:a="http://schemas.openxmlformats.org/drawingml/2006/main"/>
      </p:grpSpPr>
      <p:pic>
        <p:nvPicPr>
          <p:cNvPr id="2000" name="" descr="Illustration conceptuelle du suivi des prospects, des échanges et des documents commerciaux"/>
          <p:cNvPicPr>
            <a:picLocks xmlns:a="http://schemas.openxmlformats.org/drawingml/2006/main" noChangeAspect="1"/>
          </p:cNvPicPr>
          <p:nvPr/>
        </p:nvPicPr>
        <p:blipFill>
          <a:blip xmlns:r="http://schemas.openxmlformats.org/officeDocument/2006/relationships" xmlns:a="http://schemas.openxmlformats.org/drawingml/2006/main" r:embed="rIdWorkflowBg"/>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46F27DC-3E25-405C-9002-AEB54EA16A25}"/>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1800" b="1">
                <a:solidFill>
                  <a:srgbClr val="A65A43"/>
                </a:solidFill>
                <a:latin typeface="Calibri"/>
                <a:ea typeface="Calibri"/>
                <a:cs typeface="Calibri"/>
              </a:defRPr>
            </a:pPr>
            <a:r>
              <a:rPr sz="1800" b="1">
                <a:solidFill>
                  <a:srgbClr val="A65A43"/>
                </a:solidFill>
                <a:latin typeface="Calibri"/>
                <a:ea typeface="Calibri"/>
                <a:cs typeface="Calibri"/>
              </a:rPr>
              <a:t>ADG-10  /  AUTOMATISATION DU CYCLE COMMERCIAL</a:t>
            </a:r>
          </a:p>
        </p:txBody>
      </p:sp>
      <p:sp>
        <p:nvSpPr>
          <p:cNvPr id="2" name="">
            <a:extLst xmlns:a="http://schemas.openxmlformats.org/drawingml/2006/main">
              <a:ext uri="{FF2B5EF4-FFF2-40B4-BE49-F238E27FC236}">
                <a16:creationId xmlns:a16="http://schemas.microsoft.com/office/drawing/2014/main" id="{5BFC45D1-55DA-4B7A-A77F-8EB7106797AE}"/>
              </a:ext>
            </a:extLst>
          </p:cNvPr>
          <p:cNvSpPr>
            <a:spLocks xmlns:a="http://schemas.openxmlformats.org/drawingml/2006/main" noGrp="1"/>
          </p:cNvSpPr>
          <p:nvPr/>
        </p:nvSpPr>
        <p:spPr>
          <a:xfrm xmlns:a="http://schemas.openxmlformats.org/drawingml/2006/main">
            <a:off x="14382750" y="9696450"/>
            <a:ext cx="133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650" b="1">
                <a:solidFill>
                  <a:srgbClr val="414548"/>
                </a:solidFill>
                <a:latin typeface="Calibri"/>
                <a:ea typeface="Calibri"/>
                <a:cs typeface="Calibri"/>
              </a:defRPr>
            </a:pPr>
            <a:r>
              <a:rPr sz="1650" b="1">
                <a:solidFill>
                  <a:srgbClr val="414548"/>
                </a:solidFill>
                <a:latin typeface="Calibri"/>
                <a:ea typeface="Calibri"/>
                <a:cs typeface="Calibri"/>
              </a:rPr>
              <a:t>24 / 24</a:t>
            </a:r>
          </a:p>
        </p:txBody>
      </p:sp>
      <p:sp>
        <p:nvSpPr>
          <p:cNvPr id="3" name="">
            <a:extLst xmlns:a="http://schemas.openxmlformats.org/drawingml/2006/main">
              <a:ext uri="{FF2B5EF4-FFF2-40B4-BE49-F238E27FC236}">
                <a16:creationId xmlns:a16="http://schemas.microsoft.com/office/drawing/2014/main" id="{FCAFFE07-67AE-40F0-A956-2928045D4FA1}"/>
              </a:ext>
            </a:extLst>
          </p:cNvPr>
          <p:cNvSpPr>
            <a:spLocks xmlns:a="http://schemas.openxmlformats.org/drawingml/2006/main" noGrp="1"/>
          </p:cNvSpPr>
          <p:nvPr/>
        </p:nvSpPr>
        <p:spPr>
          <a:xfrm xmlns:a="http://schemas.openxmlformats.org/drawingml/2006/main">
            <a:off x="952500" y="3429000"/>
            <a:ext cx="1066800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7200" b="1">
                <a:solidFill>
                  <a:srgbClr val="414548"/>
                </a:solidFill>
                <a:latin typeface="Calibri"/>
                <a:ea typeface="Calibri"/>
                <a:cs typeface="Calibri"/>
              </a:defRPr>
            </a:pPr>
            <a:r>
              <a:rPr sz="7200" b="1">
                <a:solidFill>
                  <a:srgbClr val="414548"/>
                </a:solidFill>
                <a:latin typeface="Calibri"/>
                <a:ea typeface="Calibri"/>
                <a:cs typeface="Calibri"/>
              </a:rPr>
              <a:t>Merci pour</a:t>
            </a:r>
          </a:p>
          <a:p xmlns:a="http://schemas.openxmlformats.org/drawingml/2006/main">
            <a:pPr>
              <a:defRPr sz="7200" b="1">
                <a:solidFill>
                  <a:srgbClr val="414548"/>
                </a:solidFill>
                <a:latin typeface="Calibri"/>
                <a:ea typeface="Calibri"/>
                <a:cs typeface="Calibri"/>
              </a:defRPr>
            </a:pPr>
            <a:r>
              <a:rPr sz="7200" b="1">
                <a:solidFill>
                  <a:srgbClr val="414548"/>
                </a:solidFill>
                <a:latin typeface="Calibri"/>
                <a:ea typeface="Calibri"/>
                <a:cs typeface="Calibri"/>
              </a:rPr>
              <a:t>votre attention</a:t>
            </a:r>
          </a:p>
        </p:txBody>
      </p:sp>
      <p:sp>
        <p:nvSpPr>
          <p:cNvPr id="4" name="">
            <a:extLst xmlns:a="http://schemas.openxmlformats.org/drawingml/2006/main">
              <a:ext uri="{FF2B5EF4-FFF2-40B4-BE49-F238E27FC236}">
                <a16:creationId xmlns:a16="http://schemas.microsoft.com/office/drawing/2014/main" id="{A4163291-65F3-4611-9C24-C8E0A3CFE4FE}"/>
              </a:ext>
            </a:extLst>
          </p:cNvPr>
          <p:cNvSpPr>
            <a:spLocks xmlns:a="http://schemas.openxmlformats.org/drawingml/2006/main" noGrp="1"/>
          </p:cNvSpPr>
          <p:nvPr/>
        </p:nvSpPr>
        <p:spPr>
          <a:xfrm xmlns:a="http://schemas.openxmlformats.org/drawingml/2006/main">
            <a:off x="1000125" y="6334125"/>
            <a:ext cx="9525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defRPr sz="3300" b="0">
                <a:solidFill>
                  <a:srgbClr val="A65A43"/>
                </a:solidFill>
                <a:latin typeface="Calibri"/>
                <a:ea typeface="Calibri"/>
                <a:cs typeface="Calibri"/>
              </a:defRPr>
            </a:pPr>
            <a:r>
              <a:rPr sz="3300" b="0">
                <a:solidFill>
                  <a:srgbClr val="A65A43"/>
                </a:solidFill>
                <a:latin typeface="Calibri"/>
                <a:ea typeface="Calibri"/>
                <a:cs typeface="Calibri"/>
              </a:rPr>
              <a:t>Questions et échanges</a:t>
            </a:r>
          </a:p>
        </p:txBody>
      </p:sp>
    </p:spTree>
    <p:extLst>
      <p:ext uri="{BB962C8B-B14F-4D97-AF65-F5344CB8AC3E}">
        <p14:creationId xmlns:p14="http://schemas.microsoft.com/office/powerpoint/2010/main" val="1914626176"/>
      </p:ext>
    </p:extLst>
  </p:cSld>
  <p:transition spd="med" advClick="1">
    <p:push dir="l"/>
  </p:transition>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3528</Words>
  <Application>Microsoft Office PowerPoint</Application>
  <DocSecurity>0</DocSecurity>
  <PresentationFormat>Personnalisé</PresentationFormat>
  <Paragraphs>415</Paragraphs>
  <Slides>24</Slides>
  <Notes>22</Notes>
  <HiddenSlides>0</HiddenSlides>
  <MMClips>0</MMClips>
  <ScaleCrop>false</ScaleCrop>
  <HeadingPairs>
    <vt:vector size="6" baseType="variant">
      <vt:variant>
        <vt:lpstr>Polices utilisées</vt:lpstr>
      </vt:variant>
      <vt:variant>
        <vt:i4>1</vt:i4>
      </vt:variant>
      <vt:variant>
        <vt:lpstr>Thème</vt:lpstr>
      </vt:variant>
      <vt:variant>
        <vt:i4>1</vt:i4>
      </vt:variant>
      <vt:variant>
        <vt:lpstr>Titres des diapositives</vt:lpstr>
      </vt:variant>
      <vt:variant>
        <vt:i4>22</vt:i4>
      </vt:variant>
    </vt:vector>
  </HeadingPairs>
  <TitlesOfParts>
    <vt:vector size="24" baseType="lpstr">
      <vt:lpstr>Calibri</vt:lpstr>
      <vt:lpstr>ChatGPT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yassine fa</cp:lastModifiedBy>
  <cp:revision>5</cp:revision>
  <dcterms:created xsi:type="dcterms:W3CDTF">2026-09-23T20:34:58Z</dcterms:created>
  <dcterms:modified xsi:type="dcterms:W3CDTF">2026-09-26T18:59:09Z</dcterms:modified>
</cp:coreProperties>
</file>