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81df2c7a824a7b" /><Relationship Type="http://schemas.openxmlformats.org/officeDocument/2006/relationships/extended-properties" Target="/docProps/app.xml" Id="Rdf8c5a79b2ac4c2a" /><Relationship Type="http://schemas.openxmlformats.org/officeDocument/2006/relationships/officeDocument" Target="/ppt/presentation.xml" Id="R9eb10b96bc3d491d" /></Relationships>
</file>

<file path=ppt/presentation.xml><?xml version="1.0" encoding="utf-8"?>
<p:presentation xmlns:p="http://schemas.openxmlformats.org/presentationml/2006/main">
  <p:sldMasterIdLst>
    <p:sldMasterId xmlns:r="http://schemas.openxmlformats.org/officeDocument/2006/relationships" id="2147483648" r:id="Rc082c50f3a844909"/>
  </p:sldMasterIdLst>
  <p:notesMasterIdLst>
    <p:notesMasterId xmlns:r="http://schemas.openxmlformats.org/officeDocument/2006/relationships" r:id="R6f56bdf71dbf4b70"/>
  </p:notesMasterIdLst>
  <p:sldIdLst>
    <p:sldId xmlns:r="http://schemas.openxmlformats.org/officeDocument/2006/relationships" id="256" r:id="R6017ece1e6034764"/>
    <p:sldId xmlns:r="http://schemas.openxmlformats.org/officeDocument/2006/relationships" id="257" r:id="R8748e653f7654989"/>
    <p:sldId xmlns:r="http://schemas.openxmlformats.org/officeDocument/2006/relationships" id="258" r:id="R3b84320dc70f4bb0"/>
    <p:sldId xmlns:r="http://schemas.openxmlformats.org/officeDocument/2006/relationships" id="259" r:id="Ree149c6718024864"/>
    <p:sldId xmlns:r="http://schemas.openxmlformats.org/officeDocument/2006/relationships" id="260" r:id="Rc7f22e491d0c41f4"/>
    <p:sldId xmlns:r="http://schemas.openxmlformats.org/officeDocument/2006/relationships" id="261" r:id="R590b0b0a09a54a69"/>
    <p:sldId xmlns:r="http://schemas.openxmlformats.org/officeDocument/2006/relationships" id="262" r:id="Rdc6f126e15cd4d5a"/>
    <p:sldId xmlns:r="http://schemas.openxmlformats.org/officeDocument/2006/relationships" id="263" r:id="Rf8eaf83839534e8b"/>
    <p:sldId xmlns:r="http://schemas.openxmlformats.org/officeDocument/2006/relationships" id="264" r:id="Rad90ddf477484317"/>
    <p:sldId xmlns:r="http://schemas.openxmlformats.org/officeDocument/2006/relationships" id="265" r:id="R902566e9401742f3"/>
    <p:sldId xmlns:r="http://schemas.openxmlformats.org/officeDocument/2006/relationships" id="266" r:id="R6273f31440214986"/>
    <p:sldId xmlns:r="http://schemas.openxmlformats.org/officeDocument/2006/relationships" id="267" r:id="R01606206fcaf4b24"/>
    <p:sldId xmlns:r="http://schemas.openxmlformats.org/officeDocument/2006/relationships" id="268" r:id="Reecf8d5c49544a17"/>
    <p:sldId xmlns:r="http://schemas.openxmlformats.org/officeDocument/2006/relationships" id="269" r:id="Rb27ef3e33e954582"/>
    <p:sldId xmlns:r="http://schemas.openxmlformats.org/officeDocument/2006/relationships" id="270" r:id="R75809184d2df4e79"/>
    <p:sldId xmlns:r="http://schemas.openxmlformats.org/officeDocument/2006/relationships" id="271" r:id="Re822be1f9d0f460f"/>
    <p:sldId xmlns:r="http://schemas.openxmlformats.org/officeDocument/2006/relationships" id="272" r:id="R5e958f758d1244a2"/>
    <p:sldId xmlns:r="http://schemas.openxmlformats.org/officeDocument/2006/relationships" id="273" r:id="Ra0b9e5b6a8944def"/>
    <p:sldId xmlns:r="http://schemas.openxmlformats.org/officeDocument/2006/relationships" id="274" r:id="R056760cd8f2d4c3e"/>
    <p:sldId xmlns:r="http://schemas.openxmlformats.org/officeDocument/2006/relationships" id="275" r:id="Rf8eb1759a14b48e9"/>
    <p:sldId xmlns:r="http://schemas.openxmlformats.org/officeDocument/2006/relationships" id="276" r:id="Reb3c2177529d4c01"/>
    <p:sldId xmlns:r="http://schemas.openxmlformats.org/officeDocument/2006/relationships" id="277" r:id="R78d90cd7fc974e9e"/>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fc4fb139a034acd" /><Relationship Type="http://schemas.openxmlformats.org/officeDocument/2006/relationships/slideMaster" Target="/ppt/slideMasters/slideMaster1.xml" Id="Rc082c50f3a844909" /><Relationship Type="http://schemas.openxmlformats.org/officeDocument/2006/relationships/notesMaster" Target="/ppt/notesMasters/notesMaster1.xml" Id="R6f56bdf71dbf4b70" /><Relationship Type="http://schemas.openxmlformats.org/officeDocument/2006/relationships/presProps" Target="/ppt/presProps.xml" Id="Rc824eb8093f04057" /><Relationship Type="http://schemas.openxmlformats.org/officeDocument/2006/relationships/tableStyles" Target="/ppt/tableStyles.xml" Id="Re5a262851ee3437b" /><Relationship Type="http://schemas.openxmlformats.org/officeDocument/2006/relationships/slide" Target="/ppt/slides/slide1.xml" Id="R6017ece1e6034764" /><Relationship Type="http://schemas.openxmlformats.org/officeDocument/2006/relationships/slide" Target="/ppt/slides/slide2.xml" Id="R8748e653f7654989" /><Relationship Type="http://schemas.openxmlformats.org/officeDocument/2006/relationships/slide" Target="/ppt/slides/slide3.xml" Id="R3b84320dc70f4bb0" /><Relationship Type="http://schemas.openxmlformats.org/officeDocument/2006/relationships/slide" Target="/ppt/slides/slide4.xml" Id="Ree149c6718024864" /><Relationship Type="http://schemas.openxmlformats.org/officeDocument/2006/relationships/slide" Target="/ppt/slides/slide5.xml" Id="Rc7f22e491d0c41f4" /><Relationship Type="http://schemas.openxmlformats.org/officeDocument/2006/relationships/slide" Target="/ppt/slides/slide6.xml" Id="R590b0b0a09a54a69" /><Relationship Type="http://schemas.openxmlformats.org/officeDocument/2006/relationships/slide" Target="/ppt/slides/slide7.xml" Id="Rdc6f126e15cd4d5a" /><Relationship Type="http://schemas.openxmlformats.org/officeDocument/2006/relationships/slide" Target="/ppt/slides/slide8.xml" Id="Rf8eaf83839534e8b" /><Relationship Type="http://schemas.openxmlformats.org/officeDocument/2006/relationships/slide" Target="/ppt/slides/slide9.xml" Id="Rad90ddf477484317" /><Relationship Type="http://schemas.openxmlformats.org/officeDocument/2006/relationships/slide" Target="/ppt/slides/slide10.xml" Id="R902566e9401742f3" /><Relationship Type="http://schemas.openxmlformats.org/officeDocument/2006/relationships/slide" Target="/ppt/slides/slide11.xml" Id="R6273f31440214986" /><Relationship Type="http://schemas.openxmlformats.org/officeDocument/2006/relationships/slide" Target="/ppt/slides/slide12.xml" Id="R01606206fcaf4b24" /><Relationship Type="http://schemas.openxmlformats.org/officeDocument/2006/relationships/slide" Target="/ppt/slides/slide13.xml" Id="Reecf8d5c49544a17" /><Relationship Type="http://schemas.openxmlformats.org/officeDocument/2006/relationships/slide" Target="/ppt/slides/slide14.xml" Id="Rb27ef3e33e954582" /><Relationship Type="http://schemas.openxmlformats.org/officeDocument/2006/relationships/slide" Target="/ppt/slides/slide15.xml" Id="R75809184d2df4e79" /><Relationship Type="http://schemas.openxmlformats.org/officeDocument/2006/relationships/slide" Target="/ppt/slides/slide16.xml" Id="Re822be1f9d0f460f" /><Relationship Type="http://schemas.openxmlformats.org/officeDocument/2006/relationships/slide" Target="/ppt/slides/slide17.xml" Id="R5e958f758d1244a2" /><Relationship Type="http://schemas.openxmlformats.org/officeDocument/2006/relationships/slide" Target="/ppt/slides/slide18.xml" Id="Ra0b9e5b6a8944def" /><Relationship Type="http://schemas.openxmlformats.org/officeDocument/2006/relationships/slide" Target="/ppt/slides/slide19.xml" Id="R056760cd8f2d4c3e" /><Relationship Type="http://schemas.openxmlformats.org/officeDocument/2006/relationships/slide" Target="/ppt/slides/slide20.xml" Id="Rf8eb1759a14b48e9" /><Relationship Type="http://schemas.openxmlformats.org/officeDocument/2006/relationships/slide" Target="/ppt/slides/slide21.xml" Id="Reb3c2177529d4c01" /><Relationship Type="http://schemas.openxmlformats.org/officeDocument/2006/relationships/slide" Target="/ppt/slides/slide22.xml" Id="R78d90cd7fc974e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b564e1169e4e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20fa4b3eb3a41f8" /><Relationship Type="http://schemas.openxmlformats.org/officeDocument/2006/relationships/notesMaster" Target="/ppt/notesMasters/notesMaster1.xml" Id="R43a432d0d91f47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6712893f5644d1" /><Relationship Type="http://schemas.openxmlformats.org/officeDocument/2006/relationships/notesMaster" Target="/ppt/notesMasters/notesMaster1.xml" Id="Radaee2cb40c841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3a4ae9385743ff" /><Relationship Type="http://schemas.openxmlformats.org/officeDocument/2006/relationships/notesMaster" Target="/ppt/notesMasters/notesMaster1.xml" Id="Rc666bac807b740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6be5e96c114e1b" /><Relationship Type="http://schemas.openxmlformats.org/officeDocument/2006/relationships/notesMaster" Target="/ppt/notesMasters/notesMaster1.xml" Id="R75e6fd645f5644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9abd5b25a94c7b" /><Relationship Type="http://schemas.openxmlformats.org/officeDocument/2006/relationships/notesMaster" Target="/ppt/notesMasters/notesMaster1.xml" Id="R0995dced119341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b977e7afdc4c36" /><Relationship Type="http://schemas.openxmlformats.org/officeDocument/2006/relationships/notesMaster" Target="/ppt/notesMasters/notesMaster1.xml" Id="Ra5976eb9d6c145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76a9a51a8c84d60" /><Relationship Type="http://schemas.openxmlformats.org/officeDocument/2006/relationships/notesMaster" Target="/ppt/notesMasters/notesMaster1.xml" Id="R8d2455aa099b4c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a42e64f8644807" /><Relationship Type="http://schemas.openxmlformats.org/officeDocument/2006/relationships/notesMaster" Target="/ppt/notesMasters/notesMaster1.xml" Id="R0c5a60e930e847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fb9ee732144b1d" /><Relationship Type="http://schemas.openxmlformats.org/officeDocument/2006/relationships/notesMaster" Target="/ppt/notesMasters/notesMaster1.xml" Id="R5c6852a670e143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66cd9873778485c" /><Relationship Type="http://schemas.openxmlformats.org/officeDocument/2006/relationships/notesMaster" Target="/ppt/notesMasters/notesMaster1.xml" Id="R77bbd629f860406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f7026283e647e1" /><Relationship Type="http://schemas.openxmlformats.org/officeDocument/2006/relationships/notesMaster" Target="/ppt/notesMasters/notesMaster1.xml" Id="R0a14948ae12f453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458baf71324351" /><Relationship Type="http://schemas.openxmlformats.org/officeDocument/2006/relationships/notesMaster" Target="/ppt/notesMasters/notesMaster1.xml" Id="Rfedc69ad1e4448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90f4270a724760" /><Relationship Type="http://schemas.openxmlformats.org/officeDocument/2006/relationships/notesMaster" Target="/ppt/notesMasters/notesMaster1.xml" Id="R9e698966b4064ac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c5aa31ea9f04841" /><Relationship Type="http://schemas.openxmlformats.org/officeDocument/2006/relationships/notesMaster" Target="/ppt/notesMasters/notesMaster1.xml" Id="R1e6112cb4030467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afb49380eae44a0" /><Relationship Type="http://schemas.openxmlformats.org/officeDocument/2006/relationships/notesMaster" Target="/ppt/notesMasters/notesMaster1.xml" Id="R28c0052e1293448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9809ab33a72414e" /><Relationship Type="http://schemas.openxmlformats.org/officeDocument/2006/relationships/notesMaster" Target="/ppt/notesMasters/notesMaster1.xml" Id="R7af81a670a794bf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330ee6e91e41ff" /><Relationship Type="http://schemas.openxmlformats.org/officeDocument/2006/relationships/notesMaster" Target="/ppt/notesMasters/notesMaster1.xml" Id="Rb39eeba4993140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a4a2616b73749f4" /><Relationship Type="http://schemas.openxmlformats.org/officeDocument/2006/relationships/notesMaster" Target="/ppt/notesMasters/notesMaster1.xml" Id="Rfcc4f518495d44f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9fd868cb5ad4f4d" /><Relationship Type="http://schemas.openxmlformats.org/officeDocument/2006/relationships/notesMaster" Target="/ppt/notesMasters/notesMaster1.xml" Id="Rb1f88dd54fff470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916141757734b84" /><Relationship Type="http://schemas.openxmlformats.org/officeDocument/2006/relationships/notesMaster" Target="/ppt/notesMasters/notesMaster1.xml" Id="R1551a55d9cd0451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feb7707988d4eca" /><Relationship Type="http://schemas.openxmlformats.org/officeDocument/2006/relationships/notesMaster" Target="/ppt/notesMasters/notesMaster1.xml" Id="R80882abaaf554ea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81454575b4a43af" /><Relationship Type="http://schemas.openxmlformats.org/officeDocument/2006/relationships/notesMaster" Target="/ppt/notesMasters/notesMaster1.xml" Id="R8617e6b5b92346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25 secondes.</a:t>
            </a:r>
          </a:p>
          <a:p xmlns:a="http://schemas.openxmlformats.org/drawingml/2006/main">
            <a:r>
              <a:t/>
            </a:r>
          </a:p>
          <a:p xmlns:a="http://schemas.openxmlformats.org/drawingml/2006/main">
            <a:r>
              <a:t>Bonjour, je suis Yassine Fatnaoui. Je vous présente ADG-10, un projet consacré à l’automatisation du parcours commercial des formations. L’objectif est d’aider une équipe à qualifier ses prospects, préparer ses offres et suivre ses dossiers, tout en conservant la validation humaine.</a:t>
            </a:r>
          </a:p>
          <a:p xmlns:a="http://schemas.openxmlformats.org/drawingml/2006/main">
            <a:r>
              <a:t/>
            </a:r>
          </a:p>
          <a:p xmlns:a="http://schemas.openxmlformats.org/drawingml/2006/main">
            <a:r>
              <a:t>Sources : Rapport, couverture et introduction générale.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20 secondes.</a:t>
            </a:r>
          </a:p>
          <a:p xmlns:a="http://schemas.openxmlformats.org/drawingml/2006/main">
            <a:r>
              <a:t/>
            </a:r>
          </a:p>
          <a:p xmlns:a="http://schemas.openxmlformats.org/drawingml/2006/main">
            <a:r>
              <a:t>La présentation suit cinq parties. Après le contexte et les besoins, je présenterai le fonctionnement du système, puis ses choix techniques et une démonstration. Je terminerai par les résultats et les limites à traiter.</a:t>
            </a:r>
          </a:p>
          <a:p xmlns:a="http://schemas.openxmlformats.org/drawingml/2006/main">
            <a:r>
              <a:t/>
            </a:r>
          </a:p>
          <a:p xmlns:a="http://schemas.openxmlformats.org/drawingml/2006/main">
            <a:r>
              <a:t>Sources : Structure du modèle de présentation fourni.</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15 secondes.</a:t>
            </a:r>
          </a:p>
          <a:p xmlns:a="http://schemas.openxmlformats.org/drawingml/2006/main">
            <a:r>
              <a:t/>
            </a:r>
          </a:p>
          <a:p xmlns:a="http://schemas.openxmlformats.org/drawingml/2006/main">
            <a:r>
              <a:t>La question de départ est simple : comment assurer la continuité du suivi lorsqu’un dossier traverse plusieurs étapes et plusieurs outils ?</a:t>
            </a:r>
          </a:p>
          <a:p xmlns:a="http://schemas.openxmlformats.org/drawingml/2006/main">
            <a:r>
              <a:t/>
            </a:r>
          </a:p>
          <a:p xmlns:a="http://schemas.openxmlformats.org/drawingml/2006/main">
            <a:r>
              <a:t>Sources : Rapport, introduction et problématique.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contexte métier est celui de la commercialisation de formations. Un catalogue rassemble les titres, les publics, les durées et les tarifs. L’équipe doit ensuite faire correspondre une offre à un besoin réel. Le dossier commercial évolue au fil des échanges, et la perte d’une information peut affecter les relances ou les documents. Le projet porte sur cette continuité. La description de l’organisme reprend le cadrage fourni, sans inventer de données sur ses effectifs ou ses résultats.</a:t>
            </a:r>
          </a:p>
          <a:p xmlns:a="http://schemas.openxmlformats.org/drawingml/2006/main">
            <a:r>
              <a:t/>
            </a:r>
          </a:p>
          <a:p xmlns:a="http://schemas.openxmlformats.org/drawingml/2006/main">
            <a:r>
              <a:t>Sources : Rapport, sections 1.1 et 1.2.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Le projet doit automatiser les opérations répétitives tout en laissant les décisions et la négociation au commercial.</a:t>
            </a:r>
          </a:p>
          <a:p xmlns:a="http://schemas.openxmlformats.org/drawingml/2006/main">
            <a:r>
              <a:t/>
            </a:r>
          </a:p>
          <a:p xmlns:a="http://schemas.openxmlformats.org/drawingml/2006/main">
            <a:r>
              <a:t>Sources : Rapport, section 1.2.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problème ne se résume pas à envoyer plus de messages. Il faut savoir quel prospect contacter, quelle formation proposer et quelle action a déjà été réalisée. Une interruption entre l’envoi d’un message et la mise à jour du CRM peut provoquer un doublon. La solution doit donc coordonner le contenu et les états du dossier. Le prototype apporte une première réponse, avec des limites que je préciserai.</a:t>
            </a:r>
          </a:p>
          <a:p xmlns:a="http://schemas.openxmlformats.org/drawingml/2006/main">
            <a:r>
              <a:t/>
            </a:r>
          </a:p>
          <a:p xmlns:a="http://schemas.openxmlformats.org/drawingml/2006/main">
            <a:r>
              <a:t>Sources : Rapport, sections 1.2.3 et 3.2.2.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Les objectifs sont opérationnels. Airtable sert de référentiel, les règles de scoring déterminent une priorité, et les modèles partagés harmonisent les communications. Le dashboard permet de consulter les données et de lancer les scripts. Le périmètre ne comprend pas une signature électronique ni un suivi automatique des paiements. Le nom d’agent commercial désigne ici un prototype supervisé, pas un système autonome de bout en bout.</a:t>
            </a:r>
          </a:p>
          <a:p xmlns:a="http://schemas.openxmlformats.org/drawingml/2006/main">
            <a:r>
              <a:t/>
            </a:r>
          </a:p>
          <a:p xmlns:a="http://schemas.openxmlformats.org/drawingml/2006/main">
            <a:r>
              <a:t>Sources : README.md, app.py, run_pipeline.py et run_e8_contract.py.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35 secondes.</a:t>
            </a:r>
          </a:p>
          <a:p xmlns:a="http://schemas.openxmlformats.org/drawingml/2006/main">
            <a:r>
              <a:t/>
            </a:r>
          </a:p>
          <a:p xmlns:a="http://schemas.openxmlformats.org/drawingml/2006/main">
            <a:r>
              <a:t>J’ai organisé la présentation du travail par phases. Le cadrage précède la conception des données et des règles, puis les modules sont intégrés progressivement. Les vérifications servent à identifier les limites et à ajuster la solution. La démarche s’inspire d’un fonctionnement itératif. Je ne présente pas un historique de réunions ou un calendrier précis qui ne serait pas documenté.</a:t>
            </a:r>
          </a:p>
          <a:p xmlns:a="http://schemas.openxmlformats.org/drawingml/2006/main">
            <a:r>
              <a:t/>
            </a:r>
          </a:p>
          <a:p xmlns:a="http://schemas.openxmlformats.org/drawingml/2006/main">
            <a:r>
              <a:t>Sources : Rapport, section 1.3.</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La conception traduit les besoins métier en étapes, en données et en interactions entre les composants.</a:t>
            </a:r>
          </a:p>
          <a:p xmlns:a="http://schemas.openxmlformats.org/drawingml/2006/main">
            <a:r>
              <a:t/>
            </a:r>
          </a:p>
          <a:p xmlns:a="http://schemas.openxmlformats.org/drawingml/2006/main">
            <a:r>
              <a:t>Sources : Rapport, chapitre 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 pipeline se décompose en huit étapes. E1 génère les contenus à partir du catalogue. E2 les décline pour certains canaux, mais E3 ne publie pas automatiquement. E4 qualifie les prospects, puis E5 entretient le contact. E6 prépare la proposition et E7 organise le suivi. Enfin, E8 produit la convention et la facture pour les dossiers marqués signés. Le pipeline principal relie surtout E4 à E7. E1 et E8 disposent de commandes séparées.</a:t>
            </a:r>
          </a:p>
          <a:p xmlns:a="http://schemas.openxmlformats.org/drawingml/2006/main">
            <a:r>
              <a:t/>
            </a:r>
          </a:p>
          <a:p xmlns:a="http://schemas.openxmlformats.org/drawingml/2006/main">
            <a:r>
              <a:t>Sources : run_e1_content.py, run_e2_multichannel.py, run_pipeline.py, run_e8_contract.py.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Le principal utilisateur est le commercial. Il consulte les prospects, choisit le mode d’exécution, lance une commande et contrôle son résultat. La configuration relève d’un rôle d’administration. Ces rôles décrivent les responsabilités du processus, mais ils ne correspondent pas encore à une gestion d’utilisateurs dans le dashboard. Les services techniques comme Airtable et Groq agissent en support.</a:t>
            </a:r>
          </a:p>
          <a:p xmlns:a="http://schemas.openxmlformats.org/drawingml/2006/main">
            <a:r>
              <a:t/>
            </a:r>
          </a:p>
          <a:p xmlns:a="http://schemas.openxmlformats.org/drawingml/2006/main">
            <a:r>
              <a:t>Sources : app.py, config.py. Rapport, sections 2.1.3 et 2.2.</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 modèle repose sur les formations et les leads. Un lead doit être rattaché à la bonne formation pour obtenir une offre cohérente. Les documents restent des fichiers locaux et le journal mémorise les actions envoyées. Le schéma est conceptuel : le code manipule des dictionnaires Airtable, sans ORM ni classes persistées correspondantes. Aujourd’hui, le repli sur la première formation en cas de lien invalide constitue une limite importante à supprimer avant exploitation.</a:t>
            </a:r>
          </a:p>
          <a:p xmlns:a="http://schemas.openxmlformats.org/drawingml/2006/main">
            <a:r>
              <a:t/>
            </a:r>
          </a:p>
          <a:p xmlns:a="http://schemas.openxmlformats.org/drawingml/2006/main">
            <a:r>
              <a:t>Sources : airtable_client.py, pipeline_utils.py, state_store.py.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65 secondes.</a:t>
            </a:r>
          </a:p>
          <a:p xmlns:a="http://schemas.openxmlformats.org/drawingml/2006/main">
            <a:r>
              <a:t/>
            </a:r>
          </a:p>
          <a:p xmlns:a="http://schemas.openxmlformats.org/drawingml/2006/main">
            <a:r>
              <a:t>Le scoring reste déterministe et explicable. Il combine cinq sous-notes sur dix avec les pondérations affichées. Le budget et l’urgence pèsent le plus. Les valeurs sont normalisées, puis le résultat est arrondi à une décimale. Dans l’exemple fictif, les contributions donnent 3 plus 2,5 plus 2 plus 1,5 plus 0,5, soit 9,5. Le lead passe en priorité. Un score intermédiaire entre dans une qualification courte, et les scores plus faibles dans une séquence de nurturing. Ces seuils sont des règles du prototype, pas des résultats statistiques de conversion.</a:t>
            </a:r>
          </a:p>
          <a:p xmlns:a="http://schemas.openxmlformats.org/drawingml/2006/main">
            <a:r>
              <a:t/>
            </a:r>
          </a:p>
          <a:p xmlns:a="http://schemas.openxmlformats.org/drawingml/2006/main">
            <a:r>
              <a:t>Sources : scoring.py, tests/test_business_rules.py.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Le scénario montre l’ordre des opérations. Le programme lit les données, vérifie le journal, prépare le PDF puis appelle la messagerie. Il enregistre le succès avant de mettre à jour le CRM. Si l’écriture CRM échoue, la reprise peut retrouver l’action et réconcilier le dossier. Cette protection réduit certains doublons. Elle ne garantit pas une exécution exactement une fois : une interruption entre l’envoi et l’écriture du journal reste possible, et le fichier JSON ne verrouille pas les exécutions simultanées.</a:t>
            </a:r>
          </a:p>
          <a:p xmlns:a="http://schemas.openxmlformats.org/drawingml/2006/main">
            <a:r>
              <a:t/>
            </a:r>
          </a:p>
          <a:p xmlns:a="http://schemas.openxmlformats.org/drawingml/2006/main">
            <a:r>
              <a:t>Sources : run_pipeline.py, run_e6_proposal.py, state_store.py.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L’interface lit les données et déclenche les commandes dans des processus distincts. Le cœur métier applique les règles de score et construit les séquences. Les adaptateurs relient le programme aux services externes, tandis que ReportLab produit les PDF. La configuration est centralisée. Cette séparation facilite les tests locaux et la lecture du code. Le choix reste adapté à un prototype supervisé sur un poste. Une utilisation multi-utilisateur demande un service d’exécution, une base transactionnelle et une protection des accès.</a:t>
            </a:r>
          </a:p>
          <a:p xmlns:a="http://schemas.openxmlformats.org/drawingml/2006/main">
            <a:r>
              <a:t/>
            </a:r>
          </a:p>
          <a:p xmlns:a="http://schemas.openxmlformats.org/drawingml/2006/main">
            <a:r>
              <a:t>Sources : app.py, config.py, run_pipeline.py, email_sender.py, whatsapp_sender.py, pdf_theme.py.</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10 secondes.</a:t>
            </a:r>
          </a:p>
          <a:p xmlns:a="http://schemas.openxmlformats.org/drawingml/2006/main">
            <a:r>
              <a:t/>
            </a:r>
          </a:p>
          <a:p xmlns:a="http://schemas.openxmlformats.org/drawingml/2006/main">
            <a:r>
              <a:t>Je passe maintenant aux choix de réalisation et aux résultats concrets du projet.</a:t>
            </a:r>
          </a:p>
          <a:p xmlns:a="http://schemas.openxmlformats.org/drawingml/2006/main">
            <a:r>
              <a:t/>
            </a:r>
          </a:p>
          <a:p xmlns:a="http://schemas.openxmlformats.org/drawingml/2006/main">
            <a:r>
              <a:t>Sources : Rapport, chapitre 4.</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45 secondes.</a:t>
            </a:r>
          </a:p>
          <a:p xmlns:a="http://schemas.openxmlformats.org/drawingml/2006/main">
            <a:r>
              <a:t/>
            </a:r>
          </a:p>
          <a:p xmlns:a="http://schemas.openxmlformats.org/drawingml/2006/main">
            <a:r>
              <a:t>Les technologies répondent à des responsabilités précises. Python porte les fonctions métier, Airtable le référentiel, et Groq la génération. Les quatre champs de contenu attendus sont contrôlés, même si la validation doit encore devenir plus stricte. Streamlit permet de regrouper les commandes sans développer un frontend séparé. ReportLab remplace l’ancienne génération documentaire. WhatsApp dépend d’une session navigateur disponible et ne fournit pas une preuve de réception.</a:t>
            </a:r>
          </a:p>
          <a:p xmlns:a="http://schemas.openxmlformats.org/drawingml/2006/main">
            <a:r>
              <a:t/>
            </a:r>
          </a:p>
          <a:p xmlns:a="http://schemas.openxmlformats.org/drawingml/2006/main">
            <a:r>
              <a:t>Sources : requirements.txt, generation_contenu.py, app.py, pdf_theme.py et adaptateurs d’envoi.</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80 secondes.</a:t>
            </a:r>
          </a:p>
          <a:p xmlns:a="http://schemas.openxmlformats.org/drawingml/2006/main">
            <a:r>
              <a:t/>
            </a:r>
          </a:p>
          <a:p xmlns:a="http://schemas.openxmlformats.org/drawingml/2006/main">
            <a:r>
              <a:t>La démonstration suit un parcours court. Je présente les indicateurs : nombre de leads, score moyen, priorités et clients signés. Je montre ensuite la vue Leads, la recherche et le filtrage, puis je reviens aux commandes. Le mode simulation est sélectionné par défaut. Le passage en mode réel nécessite une confirmation. Les quatre onglets donnent accès à la vue d’ensemble, aux leads, aux formations et à l’activité. Dans la capture, les six contacts sont fictifs, le score moyen est 7,4 et quatre scores atteignent huit. Les mentions de configuration attestent la présence de paramètres, pas la réussite d’un appel externe. Si la démonstration en direct est indisponible, cette capture permet de présenter les mêmes étapes sans exposer de données réelles.</a:t>
            </a:r>
          </a:p>
          <a:p xmlns:a="http://schemas.openxmlformats.org/drawingml/2006/main">
            <a:r>
              <a:t/>
            </a:r>
          </a:p>
          <a:p xmlns:a="http://schemas.openxmlformats.org/drawingml/2006/main">
            <a:r>
              <a:t>Sources : app.py. Capture locale dashboard.png, données de démonstration.</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65 secondes.</a:t>
            </a:r>
          </a:p>
          <a:p xmlns:a="http://schemas.openxmlformats.org/drawingml/2006/main">
            <a:r>
              <a:t/>
            </a:r>
          </a:p>
          <a:p xmlns:a="http://schemas.openxmlformats.org/drawingml/2006/main">
            <a:r>
              <a:t>La version actuelle produit trois documents avec un thème commun. La proposition reprend la formation, ses bénéfices, sa validité et les informations du prospect. La convention structure les engagements, les conditions et les signatures. La facture utilise une référence annuelle et affiche les montants. Les messages associent un objet clair, une personnalisation et une prochaine action. E8 traite les leads marqués signés et peut envoyer la convention et la facture ensemble. Cela ne remplace ni la signature électronique ni le rapprochement du paiement. Les règles de TVA, les prix textuels et les champs incomplets doivent encore être fiabilisés.</a:t>
            </a:r>
          </a:p>
          <a:p xmlns:a="http://schemas.openxmlformats.org/drawingml/2006/main">
            <a:r>
              <a:t/>
            </a:r>
          </a:p>
          <a:p xmlns:a="http://schemas.openxmlformats.org/drawingml/2006/main">
            <a:r>
              <a:t>Sources : proposal_generator.py, contract_generator.py, commercial_templates.py, run_e8_contract.py. Exemples locaux sans valeur commerciale.</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55 secondes.</a:t>
            </a:r>
          </a:p>
          <a:p xmlns:a="http://schemas.openxmlformats.org/drawingml/2006/main">
            <a:r>
              <a:t/>
            </a:r>
          </a:p>
          <a:p xmlns:a="http://schemas.openxmlformats.org/drawingml/2006/main">
            <a:r>
              <a:t>Les résultats vérifiés sont onze tests métier réussis, une analyse syntaxique de vingt-huit fichiers propres au projet et un contrôle de cohérence des dépendances. Les tests portent sur des règles ciblées, notamment les scores, les références et le journal. Ils ne constituent pas une recette complète des intégrations. Je ne présente pas de taux de conversion ou de gain de temps mesuré : ces indicateurs nécessitent une collecte en exploitation et une comparaison avec une situation de référence.</a:t>
            </a:r>
          </a:p>
          <a:p xmlns:a="http://schemas.openxmlformats.org/drawingml/2006/main">
            <a:r>
              <a:t/>
            </a:r>
          </a:p>
          <a:p xmlns:a="http://schemas.openxmlformats.org/drawingml/2006/main">
            <a:r>
              <a:t>Sources : tests/test_business_rules.py. Vérifications locales réalisées pour le rapport le 17 septembre 2026.</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60 secondes.</a:t>
            </a:r>
          </a:p>
          <a:p xmlns:a="http://schemas.openxmlformats.org/drawingml/2006/main">
            <a:r>
              <a:t/>
            </a:r>
          </a:p>
          <a:p xmlns:a="http://schemas.openxmlformats.org/drawingml/2006/main">
            <a:r>
              <a:t>La première priorité est la cohérence des dossiers : une formation clairement identifiée et des montants non ambigus. Ensuite, un planificateur doit gérer les échéances manquées et l’arrêt des relances après réponse. La sécurité concerne l’accès au dashboard, les secrets et la protection des données. Pour plusieurs utilisateurs, le journal doit devenir central et transactionnel. Enfin, la publication sociale et le suivi après-vente étendent le périmètre. L’ordre proposé consolide les parcours existants avant d’ajouter des canaux.</a:t>
            </a:r>
          </a:p>
          <a:p xmlns:a="http://schemas.openxmlformats.org/drawingml/2006/main">
            <a:r>
              <a:t/>
            </a:r>
          </a:p>
          <a:p xmlns:a="http://schemas.openxmlformats.org/drawingml/2006/main">
            <a:r>
              <a:t>Sources : Rapport, sections 3.2.4 et 4.3.2. État du code analysé.</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indicative : 40 secondes.</a:t>
            </a:r>
          </a:p>
          <a:p xmlns:a="http://schemas.openxmlformats.org/drawingml/2006/main">
            <a:r>
              <a:t/>
            </a:r>
          </a:p>
          <a:p xmlns:a="http://schemas.openxmlformats.org/drawingml/2006/main">
            <a:r>
              <a:t>Pour conclure, ADG-10 réunit les principales fonctions du parcours commercial dans un prototype supervisé. Le travail combine analyse métier, intégration de services, génération documentaire et conception d’une interface. La suite consiste à renforcer la fiabilité et à conduire une recette sur un périmètre réel contrôlé. Ce projet m’a permis d’articuler les choix techniques avec les exigences du suivi commercial. Je vous remercie pour votre attention et je suis prêt à répondre à vos questions.</a:t>
            </a:r>
          </a:p>
          <a:p xmlns:a="http://schemas.openxmlformats.org/drawingml/2006/main">
            <a:r>
              <a:t/>
            </a:r>
          </a:p>
          <a:p xmlns:a="http://schemas.openxmlformats.org/drawingml/2006/main">
            <a:r>
              <a:t>Sources : Rapport, conclusion générale et perspectives.</a:t>
            </a:r>
          </a:p>
          <a:p xmlns:a="http://schemas.openxmlformats.org/drawingml/2006/main">
            <a:r>
              <a:t>Référence documentaire : Rapport de stage ADG-10, version du 17 septembre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7ea21f3ba940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ef0642a6604115" /><Relationship Type="http://schemas.openxmlformats.org/officeDocument/2006/relationships/slideLayout" Target="/ppt/slideLayouts/slideLayout1.xml" Id="R9f55b50be2454c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55b50be2454c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6cd0a0d12b148c2" /><Relationship Type="http://schemas.openxmlformats.org/officeDocument/2006/relationships/image" Target="/ppt/media/image.png" Id="R2d91b73922544b8f" /><Relationship Type="http://schemas.openxmlformats.org/officeDocument/2006/relationships/notesSlide" Target="/ppt/notesSlides/notesSlide1.xml" Id="Rb136dbcbb09340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6b89b42505841b2" /><Relationship Type="http://schemas.openxmlformats.org/officeDocument/2006/relationships/image" Target="/ppt/media/image2.png" Id="R009255d0d75542c8" /><Relationship Type="http://schemas.openxmlformats.org/officeDocument/2006/relationships/notesSlide" Target="/ppt/notesSlides/notesSlide2.xml" Id="Rfb7acafe804243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c40e6fbc5a42e9" /><Relationship Type="http://schemas.openxmlformats.org/officeDocument/2006/relationships/image" Target="/ppt/media/image3.png" Id="R27b57ca6820d4cea" /><Relationship Type="http://schemas.openxmlformats.org/officeDocument/2006/relationships/notesSlide" Target="/ppt/notesSlides/notesSlide3.xml" Id="R83d3e9dcc98846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11180a8a3224388" /><Relationship Type="http://schemas.openxmlformats.org/officeDocument/2006/relationships/notesSlide" Target="/ppt/notesSlides/notesSlide4.xml" Id="Rc8801d01d24648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1bd03e9f5c4223" /><Relationship Type="http://schemas.openxmlformats.org/officeDocument/2006/relationships/image" Target="/ppt/media/image4.png" Id="R7c433c81da504c41" /><Relationship Type="http://schemas.openxmlformats.org/officeDocument/2006/relationships/notesSlide" Target="/ppt/notesSlides/notesSlide5.xml" Id="Rf11c8c1dc59b4e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0d1303b70474356" /><Relationship Type="http://schemas.openxmlformats.org/officeDocument/2006/relationships/notesSlide" Target="/ppt/notesSlides/notesSlide6.xml" Id="R7c7d9c95816d49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8770439bcd74471" /><Relationship Type="http://schemas.openxmlformats.org/officeDocument/2006/relationships/notesSlide" Target="/ppt/notesSlides/notesSlide7.xml" Id="Ra48fa46f71e642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2ac4cdd7b8f4365" /><Relationship Type="http://schemas.openxmlformats.org/officeDocument/2006/relationships/notesSlide" Target="/ppt/notesSlides/notesSlide8.xml" Id="R3da354dcba6d42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d206a0102284333" /><Relationship Type="http://schemas.openxmlformats.org/officeDocument/2006/relationships/image" Target="/ppt/media/image5.png" Id="R8793e0a695b0476e" /><Relationship Type="http://schemas.openxmlformats.org/officeDocument/2006/relationships/notesSlide" Target="/ppt/notesSlides/notesSlide9.xml" Id="R1592f87417f9471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7c83529c23e430b" /><Relationship Type="http://schemas.openxmlformats.org/officeDocument/2006/relationships/notesSlide" Target="/ppt/notesSlides/notesSlide10.xml" Id="Rc2682f5af52940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757e7c922a34a4e" /><Relationship Type="http://schemas.openxmlformats.org/officeDocument/2006/relationships/notesSlide" Target="/ppt/notesSlides/notesSlide11.xml" Id="R79596ed47901485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84019117dae4aaa" /><Relationship Type="http://schemas.openxmlformats.org/officeDocument/2006/relationships/notesSlide" Target="/ppt/notesSlides/notesSlide12.xml" Id="R4fb2cfc085fb4b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79836995b534d3c" /><Relationship Type="http://schemas.openxmlformats.org/officeDocument/2006/relationships/chart" Target="/ppt/slides/charts/chart1.xml" Id="R483e1aea795c46c6" /><Relationship Type="http://schemas.openxmlformats.org/officeDocument/2006/relationships/notesSlide" Target="/ppt/notesSlides/notesSlide13.xml" Id="R5ebcc26d9fd644d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1edb617233944ef" /><Relationship Type="http://schemas.openxmlformats.org/officeDocument/2006/relationships/notesSlide" Target="/ppt/notesSlides/notesSlide14.xml" Id="R16d3c0370e27472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7b3a68546344a4d" /><Relationship Type="http://schemas.openxmlformats.org/officeDocument/2006/relationships/notesSlide" Target="/ppt/notesSlides/notesSlide15.xml" Id="R16afcb07f41c4a8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2a6ddc48a3d4576" /><Relationship Type="http://schemas.openxmlformats.org/officeDocument/2006/relationships/image" Target="/ppt/media/image6.png" Id="Rb12bfa016315496d" /><Relationship Type="http://schemas.openxmlformats.org/officeDocument/2006/relationships/notesSlide" Target="/ppt/notesSlides/notesSlide16.xml" Id="Ref0d0409ee1042e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1a6a634cf574f6f" /><Relationship Type="http://schemas.openxmlformats.org/officeDocument/2006/relationships/notesSlide" Target="/ppt/notesSlides/notesSlide17.xml" Id="Ra9a144095b56408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e2f757de2ed4780" /><Relationship Type="http://schemas.openxmlformats.org/officeDocument/2006/relationships/image" Target="/ppt/media/image.jpeg" Id="R825b2a0c2adf4b6e" /><Relationship Type="http://schemas.openxmlformats.org/officeDocument/2006/relationships/notesSlide" Target="/ppt/notesSlides/notesSlide18.xml" Id="R0e2cca0d74db45f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2a5f716633e4fd8" /><Relationship Type="http://schemas.openxmlformats.org/officeDocument/2006/relationships/image" Target="/ppt/media/image7.png" Id="Re96dea1daff34f41" /><Relationship Type="http://schemas.openxmlformats.org/officeDocument/2006/relationships/image" Target="/ppt/media/image8.png" Id="R6da5069a60254102" /><Relationship Type="http://schemas.openxmlformats.org/officeDocument/2006/relationships/image" Target="/ppt/media/image9.png" Id="Rd0fb07d56c784c97" /><Relationship Type="http://schemas.openxmlformats.org/officeDocument/2006/relationships/notesSlide" Target="/ppt/notesSlides/notesSlide19.xml" Id="Re260e8fab7ee456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9bac028712044bc" /><Relationship Type="http://schemas.openxmlformats.org/officeDocument/2006/relationships/notesSlide" Target="/ppt/notesSlides/notesSlide20.xml" Id="Rceea391ebfe3434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ce9e68233864a72" /><Relationship Type="http://schemas.openxmlformats.org/officeDocument/2006/relationships/notesSlide" Target="/ppt/notesSlides/notesSlide21.xml" Id="R4766985c9280494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37fb775c0c24efd" /><Relationship Type="http://schemas.openxmlformats.org/officeDocument/2006/relationships/image" Target="/ppt/media/image10.png" Id="R3c263822ca83434e" /><Relationship Type="http://schemas.openxmlformats.org/officeDocument/2006/relationships/notesSlide" Target="/ppt/notesSlides/notesSlide22.xml" Id="Re2be6c74556c4e28" /></Relationships>
</file>

<file path=ppt/slides/charts/chart1.xml><?xml version="1.0" encoding="utf-8"?>
<c:chartSpace xmlns:c="http://schemas.openxmlformats.org/drawingml/2006/chart">
  <c:lang val="en-US"/>
  <c:chart>
    <c:plotArea>
      <c:barChart>
        <c:barDir val="bar"/>
        <c:grouping val="clustered"/>
        <c:varyColors val="0"/>
        <c:ser>
          <c:idx val="0"/>
          <c:order val="0"/>
          <c:tx>
            <c:v>Poids dans le score (%)</c:v>
          </c:tx>
          <c:spPr>
            <a:solidFill xmlns:a="http://schemas.openxmlformats.org/drawingml/2006/main">
              <a:srgbClr val="D2AB7D"/>
            </a:solidFill>
          </c:spPr>
          <c:cat>
            <c:strLit>
              <c:ptCount val="5"/>
              <c:pt idx="0">
                <c:v>Budget</c:v>
              </c:pt>
              <c:pt idx="1">
                <c:v>Urgence</c:v>
              </c:pt>
              <c:pt idx="2">
                <c:v>Décideur</c:v>
              </c:pt>
              <c:pt idx="3">
                <c:v>Taille</c:v>
              </c:pt>
              <c:pt idx="4">
                <c:v>Canal</c:v>
              </c:pt>
            </c:strLit>
          </c:cat>
          <c:val>
            <c:numLit>
              <c:formatCode>General</c:formatCode>
              <c:ptCount val="5"/>
              <c:pt idx="0">
                <c:v>30</c:v>
              </c:pt>
              <c:pt idx="1">
                <c:v>25</c:v>
              </c:pt>
              <c:pt idx="2">
                <c:v>20</c:v>
              </c:pt>
              <c:pt idx="3">
                <c:v>15</c:v>
              </c:pt>
              <c:pt idx="4">
                <c:v>10</c:v>
              </c:pt>
            </c:numLit>
          </c:val>
        </c:ser>
        <c:dLbls>
          <c:txPr>
            <a:bodyPr xmlns:a="http://schemas.openxmlformats.org/drawingml/2006/main" anchorCtr="1"/>
            <a:lstStyle xmlns:a="http://schemas.openxmlformats.org/drawingml/2006/main"/>
            <a:p xmlns:a="http://schemas.openxmlformats.org/drawingml/2006/main">
              <a:pPr>
                <a:defRPr sz="2250">
                  <a:solidFill>
                    <a:srgbClr val="F1EBDD"/>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617888"/>
              </a:solidFill>
            </a:ln>
          </c:spPr>
        </c:majorGridlines>
        <c:numFmt formatCode="0&quot; %&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950">
                <a:solidFill>
                  <a:srgbClr val="F1EBDD"/>
                </a:solidFill>
                <a:latin typeface="Calibri"/>
                <a:ea typeface="Calibri"/>
                <a:cs typeface="Calibr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400">
                <a:solidFill>
                  <a:srgbClr val="F1EBDD"/>
                </a:solidFill>
                <a:latin typeface="Calibri"/>
                <a:ea typeface="Calibri"/>
                <a:cs typeface="Calibri"/>
              </a:defRPr>
            </a:pPr>
          </a:p>
        </c:txPr>
        <c:crossAx val="48650112"/>
        <c:crossBetween val="between"/>
      </c:valAx>
    </c:plotArea>
    <c:plotVisOnly val="1"/>
  </c:chart>
  <c:spPr>
    <a:solidFill xmlns:a="http://schemas.openxmlformats.org/drawingml/2006/main">
      <a:srgbClr val="293B4B"/>
    </a:solidFill>
  </c:spPr>
</c:chartSpace>
</file>

<file path=ppt/slides/slide1.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d91b73922544b8f"/>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887EA485-80C5-47D5-AA92-EEFB76FC1A5E}"/>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1 / 22">
            <a:extLst xmlns:a="http://schemas.openxmlformats.org/drawingml/2006/main">
              <a:ext uri="{FF2B5EF4-FFF2-40B4-BE49-F238E27FC236}">
                <a16:creationId xmlns:a16="http://schemas.microsoft.com/office/drawing/2014/main" id="{30E52ED9-F7BE-4B50-B58E-BF204F419FB3}"/>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01 / 22</a:t>
            </a:r>
          </a:p>
        </p:txBody>
      </p:sp>
      <p:sp>
        <p:nvSpPr>
          <p:cNvPr id="4" name="SOUTENANCE DU PROJET DE FIN D’ANNÉE">
            <a:extLst xmlns:a="http://schemas.openxmlformats.org/drawingml/2006/main">
              <a:ext uri="{FF2B5EF4-FFF2-40B4-BE49-F238E27FC236}">
                <a16:creationId xmlns:a16="http://schemas.microsoft.com/office/drawing/2014/main" id="{DD2445C9-5F6E-4EB8-822B-7DC4CA2F94EF}"/>
              </a:ext>
            </a:extLst>
          </p:cNvPr>
          <p:cNvSpPr>
            <a:spLocks xmlns:a="http://schemas.openxmlformats.org/drawingml/2006/main" noGrp="1"/>
          </p:cNvSpPr>
          <p:nvPr/>
        </p:nvSpPr>
        <p:spPr>
          <a:xfrm xmlns:a="http://schemas.openxmlformats.org/drawingml/2006/main">
            <a:off x="1000125" y="20955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B6D4DF"/>
                </a:solidFill>
                <a:latin typeface="Calibri"/>
                <a:ea typeface="Calibri"/>
                <a:cs typeface="Calibri"/>
              </a:defRPr>
            </a:pPr>
            <a:r>
              <a:rPr sz="2250" b="1">
                <a:solidFill>
                  <a:srgbClr val="B6D4DF"/>
                </a:solidFill>
                <a:latin typeface="Calibri"/>
                <a:ea typeface="Calibri"/>
                <a:cs typeface="Calibri"/>
              </a:rPr>
              <a:t>SOUTENANCE DU PROJET DE FIN D’ANNÉE</a:t>
            </a:r>
          </a:p>
        </p:txBody>
      </p:sp>
      <p:sp>
        <p:nvSpPr>
          <p:cNvPr id="5" name="ADG-10">
            <a:extLst xmlns:a="http://schemas.openxmlformats.org/drawingml/2006/main">
              <a:ext uri="{FF2B5EF4-FFF2-40B4-BE49-F238E27FC236}">
                <a16:creationId xmlns:a16="http://schemas.microsoft.com/office/drawing/2014/main" id="{15CA442D-5484-41C3-AFC4-0E0BFCB7FC37}"/>
              </a:ext>
            </a:extLst>
          </p:cNvPr>
          <p:cNvSpPr>
            <a:spLocks xmlns:a="http://schemas.openxmlformats.org/drawingml/2006/main" noGrp="1"/>
          </p:cNvSpPr>
          <p:nvPr/>
        </p:nvSpPr>
        <p:spPr>
          <a:xfrm xmlns:a="http://schemas.openxmlformats.org/drawingml/2006/main">
            <a:off x="904875" y="3190875"/>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0200" b="1">
                <a:solidFill>
                  <a:srgbClr val="FFFFFF"/>
                </a:solidFill>
                <a:latin typeface="Calibri"/>
                <a:ea typeface="Calibri"/>
                <a:cs typeface="Calibri"/>
              </a:defRPr>
            </a:pPr>
            <a:r>
              <a:rPr sz="10200" b="1">
                <a:solidFill>
                  <a:srgbClr val="FFFFFF"/>
                </a:solidFill>
                <a:latin typeface="Calibri"/>
                <a:ea typeface="Calibri"/>
                <a:cs typeface="Calibri"/>
              </a:rPr>
              <a:t>ADG-10</a:t>
            </a:r>
          </a:p>
        </p:txBody>
      </p:sp>
      <p:sp>
        <p:nvSpPr>
          <p:cNvPr id="6" name="Automatisation du cycle&#10;commercial des formations">
            <a:extLst xmlns:a="http://schemas.openxmlformats.org/drawingml/2006/main">
              <a:ext uri="{FF2B5EF4-FFF2-40B4-BE49-F238E27FC236}">
                <a16:creationId xmlns:a16="http://schemas.microsoft.com/office/drawing/2014/main" id="{7C9F7A50-9BFA-4681-A8DE-11489AEE6EB3}"/>
              </a:ext>
            </a:extLst>
          </p:cNvPr>
          <p:cNvSpPr>
            <a:spLocks xmlns:a="http://schemas.openxmlformats.org/drawingml/2006/main" noGrp="1"/>
          </p:cNvSpPr>
          <p:nvPr/>
        </p:nvSpPr>
        <p:spPr>
          <a:xfrm xmlns:a="http://schemas.openxmlformats.org/drawingml/2006/main">
            <a:off x="1000125" y="495300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500" b="1">
                <a:solidFill>
                  <a:srgbClr val="FFFFFF"/>
                </a:solidFill>
                <a:latin typeface="Calibri"/>
                <a:ea typeface="Calibri"/>
                <a:cs typeface="Calibri"/>
              </a:defRPr>
            </a:pPr>
            <a:r>
              <a:rPr sz="4500" b="1">
                <a:solidFill>
                  <a:srgbClr val="FFFFFF"/>
                </a:solidFill>
                <a:latin typeface="Calibri"/>
                <a:ea typeface="Calibri"/>
                <a:cs typeface="Calibri"/>
              </a:rPr>
              <a:t>Automatisation du cycle</a:t>
            </a:r>
          </a:p>
          <a:p xmlns:a="http://schemas.openxmlformats.org/drawingml/2006/main">
            <a:pPr algn="l">
              <a:defRPr sz="4500" b="1">
                <a:solidFill>
                  <a:srgbClr val="FFFFFF"/>
                </a:solidFill>
                <a:latin typeface="Calibri"/>
                <a:ea typeface="Calibri"/>
                <a:cs typeface="Calibri"/>
              </a:defRPr>
            </a:pPr>
            <a:r>
              <a:rPr sz="4500" b="1">
                <a:solidFill>
                  <a:srgbClr val="FFFFFF"/>
                </a:solidFill>
                <a:latin typeface="Calibri"/>
                <a:ea typeface="Calibri"/>
                <a:cs typeface="Calibri"/>
              </a:rPr>
              <a:t>commercial des formations</a:t>
            </a:r>
          </a:p>
        </p:txBody>
      </p:sp>
      <p:sp>
        <p:nvSpPr>
          <p:cNvPr id="7" name="Présenté par Yassine FATNAOUI">
            <a:extLst xmlns:a="http://schemas.openxmlformats.org/drawingml/2006/main">
              <a:ext uri="{FF2B5EF4-FFF2-40B4-BE49-F238E27FC236}">
                <a16:creationId xmlns:a16="http://schemas.microsoft.com/office/drawing/2014/main" id="{E0BF7BE9-4700-4AED-9FEA-AB7B5E52CD39}"/>
              </a:ext>
            </a:extLst>
          </p:cNvPr>
          <p:cNvSpPr>
            <a:spLocks xmlns:a="http://schemas.openxmlformats.org/drawingml/2006/main" noGrp="1"/>
          </p:cNvSpPr>
          <p:nvPr/>
        </p:nvSpPr>
        <p:spPr>
          <a:xfrm xmlns:a="http://schemas.openxmlformats.org/drawingml/2006/main">
            <a:off x="1000125" y="7429500"/>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75" b="0">
                <a:solidFill>
                  <a:srgbClr val="FFFFFF"/>
                </a:solidFill>
                <a:latin typeface="Calibri"/>
                <a:ea typeface="Calibri"/>
                <a:cs typeface="Calibri"/>
              </a:defRPr>
            </a:pPr>
            <a:r>
              <a:rPr sz="2475" b="0">
                <a:solidFill>
                  <a:srgbClr val="FFFFFF"/>
                </a:solidFill>
                <a:latin typeface="Calibri"/>
                <a:ea typeface="Calibri"/>
                <a:cs typeface="Calibri"/>
              </a:rPr>
              <a:t>Présenté par Yassine FATNAOUI</a:t>
            </a:r>
          </a:p>
        </p:txBody>
      </p:sp>
      <p:sp>
        <p:nvSpPr>
          <p:cNvPr id="8" name="Encadrants&#10;AZOUGUIGH El Houssaine&#10;BAILOUL Charaf Eddine">
            <a:extLst xmlns:a="http://schemas.openxmlformats.org/drawingml/2006/main">
              <a:ext uri="{FF2B5EF4-FFF2-40B4-BE49-F238E27FC236}">
                <a16:creationId xmlns:a16="http://schemas.microsoft.com/office/drawing/2014/main" id="{7262D268-E27D-484B-B427-EE6FC6BD2DF1}"/>
              </a:ext>
            </a:extLst>
          </p:cNvPr>
          <p:cNvSpPr>
            <a:spLocks xmlns:a="http://schemas.openxmlformats.org/drawingml/2006/main" noGrp="1"/>
          </p:cNvSpPr>
          <p:nvPr/>
        </p:nvSpPr>
        <p:spPr>
          <a:xfrm xmlns:a="http://schemas.openxmlformats.org/drawingml/2006/main">
            <a:off x="1000125" y="8048625"/>
            <a:ext cx="10382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Encadrants</a:t>
            </a:r>
          </a:p>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AZOUGUIGH El Houssaine</a:t>
            </a:r>
          </a:p>
          <a:p xmlns:a="http://schemas.openxmlformats.org/drawingml/2006/main">
            <a:pPr algn="l">
              <a:defRPr sz="2175" b="0">
                <a:solidFill>
                  <a:srgbClr val="FFFFFF"/>
                </a:solidFill>
                <a:latin typeface="Calibri"/>
                <a:ea typeface="Calibri"/>
                <a:cs typeface="Calibri"/>
              </a:defRPr>
            </a:pPr>
            <a:r>
              <a:rPr sz="2175" b="0">
                <a:solidFill>
                  <a:srgbClr val="FFFFFF"/>
                </a:solidFill>
                <a:latin typeface="Calibri"/>
                <a:ea typeface="Calibri"/>
                <a:cs typeface="Calibri"/>
              </a:rPr>
              <a:t>BAILOUL Charaf Eddine</a:t>
            </a:r>
          </a:p>
        </p:txBody>
      </p:sp>
      <p:sp>
        <p:nvSpPr>
          <p:cNvPr id="9" name="Année universitaire 2025-2026">
            <a:extLst xmlns:a="http://schemas.openxmlformats.org/drawingml/2006/main">
              <a:ext uri="{FF2B5EF4-FFF2-40B4-BE49-F238E27FC236}">
                <a16:creationId xmlns:a16="http://schemas.microsoft.com/office/drawing/2014/main" id="{EDD42237-F092-4BAD-933E-0FDBB3584F14}"/>
              </a:ext>
            </a:extLst>
          </p:cNvPr>
          <p:cNvSpPr>
            <a:spLocks xmlns:a="http://schemas.openxmlformats.org/drawingml/2006/main" noGrp="1"/>
          </p:cNvSpPr>
          <p:nvPr/>
        </p:nvSpPr>
        <p:spPr>
          <a:xfrm xmlns:a="http://schemas.openxmlformats.org/drawingml/2006/main">
            <a:off x="1000125" y="959167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B6D4DF"/>
                </a:solidFill>
                <a:latin typeface="Calibri"/>
                <a:ea typeface="Calibri"/>
                <a:cs typeface="Calibri"/>
              </a:defRPr>
            </a:pPr>
            <a:r>
              <a:rPr sz="1950" b="0">
                <a:solidFill>
                  <a:srgbClr val="B6D4DF"/>
                </a:solidFill>
                <a:latin typeface="Calibri"/>
                <a:ea typeface="Calibri"/>
                <a:cs typeface="Calibri"/>
              </a:rPr>
              <a:t>Année universitaire 2025-2026</a:t>
            </a:r>
          </a:p>
        </p:txBody>
      </p:sp>
    </p:spTree>
    <p:extLst>
      <p:ext uri="{BB962C8B-B14F-4D97-AF65-F5344CB8AC3E}">
        <p14:creationId xmlns:p14="http://schemas.microsoft.com/office/powerpoint/2010/main" val="2037748842"/>
      </p:ext>
    </p:extLst>
  </p:cSld>
</p:sld>
</file>

<file path=ppt/slides/slide2.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09255d0d75542c8"/>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F0BA57D4-733B-469A-AA2D-38F084FEE16B}"/>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2 / 22">
            <a:extLst xmlns:a="http://schemas.openxmlformats.org/drawingml/2006/main">
              <a:ext uri="{FF2B5EF4-FFF2-40B4-BE49-F238E27FC236}">
                <a16:creationId xmlns:a16="http://schemas.microsoft.com/office/drawing/2014/main" id="{48525BA6-DD23-4FF3-8D38-6735F026CE93}"/>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02 / 22</a:t>
            </a:r>
          </a:p>
        </p:txBody>
      </p:sp>
      <p:sp>
        <p:nvSpPr>
          <p:cNvPr id="4" name="Plan de la présentation">
            <a:extLst xmlns:a="http://schemas.openxmlformats.org/drawingml/2006/main">
              <a:ext uri="{FF2B5EF4-FFF2-40B4-BE49-F238E27FC236}">
                <a16:creationId xmlns:a16="http://schemas.microsoft.com/office/drawing/2014/main" id="{A7ADE222-B49D-4FF2-A317-0E34F1D5413B}"/>
              </a:ext>
            </a:extLst>
          </p:cNvPr>
          <p:cNvSpPr>
            <a:spLocks xmlns:a="http://schemas.openxmlformats.org/drawingml/2006/main" noGrp="1"/>
          </p:cNvSpPr>
          <p:nvPr/>
        </p:nvSpPr>
        <p:spPr>
          <a:xfrm xmlns:a="http://schemas.openxmlformats.org/drawingml/2006/main">
            <a:off x="952500" y="1905000"/>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250" b="1">
                <a:solidFill>
                  <a:srgbClr val="FFFFFF"/>
                </a:solidFill>
                <a:latin typeface="Calibri"/>
                <a:ea typeface="Calibri"/>
                <a:cs typeface="Calibri"/>
              </a:defRPr>
            </a:pPr>
            <a:r>
              <a:rPr sz="5250" b="1">
                <a:solidFill>
                  <a:srgbClr val="FFFFFF"/>
                </a:solidFill>
                <a:latin typeface="Calibri"/>
                <a:ea typeface="Calibri"/>
                <a:cs typeface="Calibri"/>
              </a:rPr>
              <a:t>Plan de la présentation</a:t>
            </a:r>
          </a:p>
        </p:txBody>
      </p:sp>
      <p:sp>
        <p:nvSpPr>
          <p:cNvPr id="5" name="01">
            <a:extLst xmlns:a="http://schemas.openxmlformats.org/drawingml/2006/main">
              <a:ext uri="{FF2B5EF4-FFF2-40B4-BE49-F238E27FC236}">
                <a16:creationId xmlns:a16="http://schemas.microsoft.com/office/drawing/2014/main" id="{B78EFDFF-61CE-404E-810F-EA182E886008}"/>
              </a:ext>
            </a:extLst>
          </p:cNvPr>
          <p:cNvSpPr>
            <a:spLocks xmlns:a="http://schemas.openxmlformats.org/drawingml/2006/main" noGrp="1"/>
          </p:cNvSpPr>
          <p:nvPr/>
        </p:nvSpPr>
        <p:spPr>
          <a:xfrm xmlns:a="http://schemas.openxmlformats.org/drawingml/2006/main">
            <a:off x="1000125" y="33813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01</a:t>
            </a:r>
          </a:p>
        </p:txBody>
      </p:sp>
      <p:sp>
        <p:nvSpPr>
          <p:cNvPr id="6" name="Introduction">
            <a:extLst xmlns:a="http://schemas.openxmlformats.org/drawingml/2006/main">
              <a:ext uri="{FF2B5EF4-FFF2-40B4-BE49-F238E27FC236}">
                <a16:creationId xmlns:a16="http://schemas.microsoft.com/office/drawing/2014/main" id="{B737BD06-C11F-48DB-B4C9-3BB103F1313C}"/>
              </a:ext>
            </a:extLst>
          </p:cNvPr>
          <p:cNvSpPr>
            <a:spLocks xmlns:a="http://schemas.openxmlformats.org/drawingml/2006/main" noGrp="1"/>
          </p:cNvSpPr>
          <p:nvPr/>
        </p:nvSpPr>
        <p:spPr>
          <a:xfrm xmlns:a="http://schemas.openxmlformats.org/drawingml/2006/main">
            <a:off x="2095500" y="33813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Introduction</a:t>
            </a:r>
          </a:p>
        </p:txBody>
      </p:sp>
      <p:sp>
        <p:nvSpPr>
          <p:cNvPr id="7" name="02">
            <a:extLst xmlns:a="http://schemas.openxmlformats.org/drawingml/2006/main">
              <a:ext uri="{FF2B5EF4-FFF2-40B4-BE49-F238E27FC236}">
                <a16:creationId xmlns:a16="http://schemas.microsoft.com/office/drawing/2014/main" id="{150B5261-2C79-4177-B3A2-EB7BC79A5D3F}"/>
              </a:ext>
            </a:extLst>
          </p:cNvPr>
          <p:cNvSpPr>
            <a:spLocks xmlns:a="http://schemas.openxmlformats.org/drawingml/2006/main" noGrp="1"/>
          </p:cNvSpPr>
          <p:nvPr/>
        </p:nvSpPr>
        <p:spPr>
          <a:xfrm xmlns:a="http://schemas.openxmlformats.org/drawingml/2006/main">
            <a:off x="1000125" y="442912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02</a:t>
            </a:r>
          </a:p>
        </p:txBody>
      </p:sp>
      <p:sp>
        <p:nvSpPr>
          <p:cNvPr id="8" name="Contexte général du projet">
            <a:extLst xmlns:a="http://schemas.openxmlformats.org/drawingml/2006/main">
              <a:ext uri="{FF2B5EF4-FFF2-40B4-BE49-F238E27FC236}">
                <a16:creationId xmlns:a16="http://schemas.microsoft.com/office/drawing/2014/main" id="{8B1424FE-BE87-4D78-B433-C4D2F167E7B1}"/>
              </a:ext>
            </a:extLst>
          </p:cNvPr>
          <p:cNvSpPr>
            <a:spLocks xmlns:a="http://schemas.openxmlformats.org/drawingml/2006/main" noGrp="1"/>
          </p:cNvSpPr>
          <p:nvPr/>
        </p:nvSpPr>
        <p:spPr>
          <a:xfrm xmlns:a="http://schemas.openxmlformats.org/drawingml/2006/main">
            <a:off x="2095500" y="442912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Contexte général du projet</a:t>
            </a:r>
          </a:p>
        </p:txBody>
      </p:sp>
      <p:sp>
        <p:nvSpPr>
          <p:cNvPr id="9" name="03">
            <a:extLst xmlns:a="http://schemas.openxmlformats.org/drawingml/2006/main">
              <a:ext uri="{FF2B5EF4-FFF2-40B4-BE49-F238E27FC236}">
                <a16:creationId xmlns:a16="http://schemas.microsoft.com/office/drawing/2014/main" id="{2872803B-BDFC-458F-8008-CF2B32CCAB1B}"/>
              </a:ext>
            </a:extLst>
          </p:cNvPr>
          <p:cNvSpPr>
            <a:spLocks xmlns:a="http://schemas.openxmlformats.org/drawingml/2006/main" noGrp="1"/>
          </p:cNvSpPr>
          <p:nvPr/>
        </p:nvSpPr>
        <p:spPr>
          <a:xfrm xmlns:a="http://schemas.openxmlformats.org/drawingml/2006/main">
            <a:off x="1000125" y="54768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03</a:t>
            </a:r>
          </a:p>
        </p:txBody>
      </p:sp>
      <p:sp>
        <p:nvSpPr>
          <p:cNvPr id="10" name="Étude conceptuelle de la solution">
            <a:extLst xmlns:a="http://schemas.openxmlformats.org/drawingml/2006/main">
              <a:ext uri="{FF2B5EF4-FFF2-40B4-BE49-F238E27FC236}">
                <a16:creationId xmlns:a16="http://schemas.microsoft.com/office/drawing/2014/main" id="{826E5F3B-A08A-4F3C-8D39-56822F19B519}"/>
              </a:ext>
            </a:extLst>
          </p:cNvPr>
          <p:cNvSpPr>
            <a:spLocks xmlns:a="http://schemas.openxmlformats.org/drawingml/2006/main" noGrp="1"/>
          </p:cNvSpPr>
          <p:nvPr/>
        </p:nvSpPr>
        <p:spPr>
          <a:xfrm xmlns:a="http://schemas.openxmlformats.org/drawingml/2006/main">
            <a:off x="2095500" y="54768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Étude conceptuelle de la solution</a:t>
            </a:r>
          </a:p>
        </p:txBody>
      </p:sp>
      <p:sp>
        <p:nvSpPr>
          <p:cNvPr id="11" name="04">
            <a:extLst xmlns:a="http://schemas.openxmlformats.org/drawingml/2006/main">
              <a:ext uri="{FF2B5EF4-FFF2-40B4-BE49-F238E27FC236}">
                <a16:creationId xmlns:a16="http://schemas.microsoft.com/office/drawing/2014/main" id="{2F7F8C8B-E381-4331-B023-721115F478B8}"/>
              </a:ext>
            </a:extLst>
          </p:cNvPr>
          <p:cNvSpPr>
            <a:spLocks xmlns:a="http://schemas.openxmlformats.org/drawingml/2006/main" noGrp="1"/>
          </p:cNvSpPr>
          <p:nvPr/>
        </p:nvSpPr>
        <p:spPr>
          <a:xfrm xmlns:a="http://schemas.openxmlformats.org/drawingml/2006/main">
            <a:off x="1000125" y="652462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04</a:t>
            </a:r>
          </a:p>
        </p:txBody>
      </p:sp>
      <p:sp>
        <p:nvSpPr>
          <p:cNvPr id="12" name="Réalisation et mise en œuvre">
            <a:extLst xmlns:a="http://schemas.openxmlformats.org/drawingml/2006/main">
              <a:ext uri="{FF2B5EF4-FFF2-40B4-BE49-F238E27FC236}">
                <a16:creationId xmlns:a16="http://schemas.microsoft.com/office/drawing/2014/main" id="{AD943877-95CD-4D11-940B-F21E5E33461E}"/>
              </a:ext>
            </a:extLst>
          </p:cNvPr>
          <p:cNvSpPr>
            <a:spLocks xmlns:a="http://schemas.openxmlformats.org/drawingml/2006/main" noGrp="1"/>
          </p:cNvSpPr>
          <p:nvPr/>
        </p:nvSpPr>
        <p:spPr>
          <a:xfrm xmlns:a="http://schemas.openxmlformats.org/drawingml/2006/main">
            <a:off x="2095500" y="652462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Réalisation et mise en œuvre</a:t>
            </a:r>
          </a:p>
        </p:txBody>
      </p:sp>
      <p:sp>
        <p:nvSpPr>
          <p:cNvPr id="13" name="05">
            <a:extLst xmlns:a="http://schemas.openxmlformats.org/drawingml/2006/main">
              <a:ext uri="{FF2B5EF4-FFF2-40B4-BE49-F238E27FC236}">
                <a16:creationId xmlns:a16="http://schemas.microsoft.com/office/drawing/2014/main" id="{DEEA94F9-1C7A-4F7D-A1D0-329B14E0B8D9}"/>
              </a:ext>
            </a:extLst>
          </p:cNvPr>
          <p:cNvSpPr>
            <a:spLocks xmlns:a="http://schemas.openxmlformats.org/drawingml/2006/main" noGrp="1"/>
          </p:cNvSpPr>
          <p:nvPr/>
        </p:nvSpPr>
        <p:spPr>
          <a:xfrm xmlns:a="http://schemas.openxmlformats.org/drawingml/2006/main">
            <a:off x="1000125" y="7572375"/>
            <a:ext cx="857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D2AB7D"/>
                </a:solidFill>
                <a:latin typeface="Calibri"/>
                <a:ea typeface="Calibri"/>
                <a:cs typeface="Calibri"/>
              </a:defRPr>
            </a:pPr>
            <a:r>
              <a:rPr sz="2700" b="1">
                <a:solidFill>
                  <a:srgbClr val="D2AB7D"/>
                </a:solidFill>
                <a:latin typeface="Calibri"/>
                <a:ea typeface="Calibri"/>
                <a:cs typeface="Calibri"/>
              </a:rPr>
              <a:t>05</a:t>
            </a:r>
          </a:p>
        </p:txBody>
      </p:sp>
      <p:sp>
        <p:nvSpPr>
          <p:cNvPr id="14" name="Conclusion et perspectives">
            <a:extLst xmlns:a="http://schemas.openxmlformats.org/drawingml/2006/main">
              <a:ext uri="{FF2B5EF4-FFF2-40B4-BE49-F238E27FC236}">
                <a16:creationId xmlns:a16="http://schemas.microsoft.com/office/drawing/2014/main" id="{7BF643A9-C9D8-40A0-8FA1-E5E3D8EB65BD}"/>
              </a:ext>
            </a:extLst>
          </p:cNvPr>
          <p:cNvSpPr>
            <a:spLocks xmlns:a="http://schemas.openxmlformats.org/drawingml/2006/main" noGrp="1"/>
          </p:cNvSpPr>
          <p:nvPr/>
        </p:nvSpPr>
        <p:spPr>
          <a:xfrm xmlns:a="http://schemas.openxmlformats.org/drawingml/2006/main">
            <a:off x="2095500" y="7572375"/>
            <a:ext cx="8572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FFFFF"/>
                </a:solidFill>
                <a:latin typeface="Calibri"/>
                <a:ea typeface="Calibri"/>
                <a:cs typeface="Calibri"/>
              </a:defRPr>
            </a:pPr>
            <a:r>
              <a:rPr sz="3150" b="0">
                <a:solidFill>
                  <a:srgbClr val="FFFFFF"/>
                </a:solidFill>
                <a:latin typeface="Calibri"/>
                <a:ea typeface="Calibri"/>
                <a:cs typeface="Calibri"/>
              </a:rPr>
              <a:t>Conclusion et perspectives</a:t>
            </a:r>
          </a:p>
        </p:txBody>
      </p:sp>
    </p:spTree>
    <p:extLst>
      <p:ext uri="{BB962C8B-B14F-4D97-AF65-F5344CB8AC3E}">
        <p14:creationId xmlns:p14="http://schemas.microsoft.com/office/powerpoint/2010/main" val="2102233010"/>
      </p:ext>
    </p:extLst>
  </p:cSld>
</p:sld>
</file>

<file path=ppt/slides/slide3.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7b57ca6820d4cea"/>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E0D36443-73E0-4CEC-9265-1F7C3FCFD332}"/>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3 / 22">
            <a:extLst xmlns:a="http://schemas.openxmlformats.org/drawingml/2006/main">
              <a:ext uri="{FF2B5EF4-FFF2-40B4-BE49-F238E27FC236}">
                <a16:creationId xmlns:a16="http://schemas.microsoft.com/office/drawing/2014/main" id="{B5FDC392-5BB7-47CC-86B4-E2674F499E18}"/>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03 / 22</a:t>
            </a:r>
          </a:p>
        </p:txBody>
      </p:sp>
      <p:sp>
        <p:nvSpPr>
          <p:cNvPr id="4" name="01">
            <a:extLst xmlns:a="http://schemas.openxmlformats.org/drawingml/2006/main">
              <a:ext uri="{FF2B5EF4-FFF2-40B4-BE49-F238E27FC236}">
                <a16:creationId xmlns:a16="http://schemas.microsoft.com/office/drawing/2014/main" id="{BB110E47-A026-47DE-A4B9-2CCFC64F0017}"/>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01</a:t>
            </a:r>
          </a:p>
        </p:txBody>
      </p:sp>
      <p:sp>
        <p:nvSpPr>
          <p:cNvPr id="5" name="Introduction">
            <a:extLst xmlns:a="http://schemas.openxmlformats.org/drawingml/2006/main">
              <a:ext uri="{FF2B5EF4-FFF2-40B4-BE49-F238E27FC236}">
                <a16:creationId xmlns:a16="http://schemas.microsoft.com/office/drawing/2014/main" id="{42D5856E-6045-414A-9D38-D911A6497315}"/>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Introduction</a:t>
            </a:r>
          </a:p>
        </p:txBody>
      </p:sp>
      <p:sp>
        <p:nvSpPr>
          <p:cNvPr id="6" name="Comment assurer un suivi cohérent&#10;du premier contact au">
            <a:extLst xmlns:a="http://schemas.openxmlformats.org/drawingml/2006/main">
              <a:ext uri="{FF2B5EF4-FFF2-40B4-BE49-F238E27FC236}">
                <a16:creationId xmlns:a16="http://schemas.microsoft.com/office/drawing/2014/main" id="{FC7088DC-C15C-4082-B8F8-044551F70609}"/>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Comment assurer un suivi cohérent</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du premier contact aux documents commerciaux ?</a:t>
            </a:r>
          </a:p>
        </p:txBody>
      </p:sp>
    </p:spTree>
    <p:extLst>
      <p:ext uri="{BB962C8B-B14F-4D97-AF65-F5344CB8AC3E}">
        <p14:creationId xmlns:p14="http://schemas.microsoft.com/office/powerpoint/2010/main" val="463045951"/>
      </p:ext>
    </p:extLst>
  </p:cSld>
</p:sld>
</file>

<file path=ppt/slides/slide4.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0" name="ADG-10  /  AUTOMATISATION DU CYCLE COMMERCIAL">
            <a:extLst xmlns:a="http://schemas.openxmlformats.org/drawingml/2006/main">
              <a:ext uri="{FF2B5EF4-FFF2-40B4-BE49-F238E27FC236}">
                <a16:creationId xmlns:a16="http://schemas.microsoft.com/office/drawing/2014/main" id="{AC5C1262-9406-4773-997C-1DA6F4FA4E55}"/>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4 / 22">
            <a:extLst xmlns:a="http://schemas.openxmlformats.org/drawingml/2006/main">
              <a:ext uri="{FF2B5EF4-FFF2-40B4-BE49-F238E27FC236}">
                <a16:creationId xmlns:a16="http://schemas.microsoft.com/office/drawing/2014/main" id="{B2BA3B6A-28A8-4561-BD34-798B9B054262}"/>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04 / 22</a:t>
            </a:r>
          </a:p>
        </p:txBody>
      </p:sp>
      <p:sp>
        <p:nvSpPr>
          <p:cNvPr id="3" name="Organisme d’accueil et besoin métier">
            <a:extLst xmlns:a="http://schemas.openxmlformats.org/drawingml/2006/main">
              <a:ext uri="{FF2B5EF4-FFF2-40B4-BE49-F238E27FC236}">
                <a16:creationId xmlns:a16="http://schemas.microsoft.com/office/drawing/2014/main" id="{B003754D-28E4-4C52-98EF-B7122EC1BEDA}"/>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Organisme d’accueil et besoin métier</a:t>
            </a:r>
          </a:p>
        </p:txBody>
      </p:sp>
      <p:sp>
        <p:nvSpPr>
          <p:cNvPr id="4" name="01">
            <a:extLst xmlns:a="http://schemas.openxmlformats.org/drawingml/2006/main">
              <a:ext uri="{FF2B5EF4-FFF2-40B4-BE49-F238E27FC236}">
                <a16:creationId xmlns:a16="http://schemas.microsoft.com/office/drawing/2014/main" id="{569C914D-3078-43DD-88FD-DE4A19E0C0E0}"/>
              </a:ext>
            </a:extLst>
          </p:cNvPr>
          <p:cNvSpPr>
            <a:spLocks xmlns:a="http://schemas.openxmlformats.org/drawingml/2006/main" noGrp="1"/>
          </p:cNvSpPr>
          <p:nvPr/>
        </p:nvSpPr>
        <p:spPr>
          <a:xfrm xmlns:a="http://schemas.openxmlformats.org/drawingml/2006/main">
            <a:off x="1190625" y="3190875"/>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5" name="ADBCENTER LOGISPLAN, dans l’environnement&#10;Adaoui Busine">
            <a:extLst xmlns:a="http://schemas.openxmlformats.org/drawingml/2006/main">
              <a:ext uri="{FF2B5EF4-FFF2-40B4-BE49-F238E27FC236}">
                <a16:creationId xmlns:a16="http://schemas.microsoft.com/office/drawing/2014/main" id="{8D4B318D-4AC8-4032-97AC-321D21049B0B}"/>
              </a:ext>
            </a:extLst>
          </p:cNvPr>
          <p:cNvSpPr>
            <a:spLocks xmlns:a="http://schemas.openxmlformats.org/drawingml/2006/main" noGrp="1"/>
          </p:cNvSpPr>
          <p:nvPr/>
        </p:nvSpPr>
        <p:spPr>
          <a:xfrm xmlns:a="http://schemas.openxmlformats.org/drawingml/2006/main">
            <a:off x="1857375" y="3190875"/>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ADBCENTER LOGISPLAN, dans l’environnement</a:t>
            </a:r>
          </a:p>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Adaoui Business Centre à Agadir.</a:t>
            </a:r>
          </a:p>
        </p:txBody>
      </p:sp>
      <p:sp>
        <p:nvSpPr>
          <p:cNvPr id="6" name="02">
            <a:extLst xmlns:a="http://schemas.openxmlformats.org/drawingml/2006/main">
              <a:ext uri="{FF2B5EF4-FFF2-40B4-BE49-F238E27FC236}">
                <a16:creationId xmlns:a16="http://schemas.microsoft.com/office/drawing/2014/main" id="{EEF82423-C1B5-40B9-9268-460114B84A1D}"/>
              </a:ext>
            </a:extLst>
          </p:cNvPr>
          <p:cNvSpPr>
            <a:spLocks xmlns:a="http://schemas.openxmlformats.org/drawingml/2006/main" noGrp="1"/>
          </p:cNvSpPr>
          <p:nvPr/>
        </p:nvSpPr>
        <p:spPr>
          <a:xfrm xmlns:a="http://schemas.openxmlformats.org/drawingml/2006/main">
            <a:off x="1190625" y="4933950"/>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7" name="Activité : formation et accompagnement professionnel&#10;po">
            <a:extLst xmlns:a="http://schemas.openxmlformats.org/drawingml/2006/main">
              <a:ext uri="{FF2B5EF4-FFF2-40B4-BE49-F238E27FC236}">
                <a16:creationId xmlns:a16="http://schemas.microsoft.com/office/drawing/2014/main" id="{AFBBF94D-7790-47A6-A8BE-FC6C90B7C014}"/>
              </a:ext>
            </a:extLst>
          </p:cNvPr>
          <p:cNvSpPr>
            <a:spLocks xmlns:a="http://schemas.openxmlformats.org/drawingml/2006/main" noGrp="1"/>
          </p:cNvSpPr>
          <p:nvPr/>
        </p:nvSpPr>
        <p:spPr>
          <a:xfrm xmlns:a="http://schemas.openxmlformats.org/drawingml/2006/main">
            <a:off x="1857375" y="4933950"/>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Activité : formation et accompagnement professionnel</a:t>
            </a:r>
          </a:p>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pour les salariés, les cadres et les entreprises.</a:t>
            </a:r>
          </a:p>
        </p:txBody>
      </p:sp>
      <p:sp>
        <p:nvSpPr>
          <p:cNvPr id="8" name="03">
            <a:extLst xmlns:a="http://schemas.openxmlformats.org/drawingml/2006/main">
              <a:ext uri="{FF2B5EF4-FFF2-40B4-BE49-F238E27FC236}">
                <a16:creationId xmlns:a16="http://schemas.microsoft.com/office/drawing/2014/main" id="{5491DC93-0A29-4A9B-8173-93CD0689E9FC}"/>
              </a:ext>
            </a:extLst>
          </p:cNvPr>
          <p:cNvSpPr>
            <a:spLocks xmlns:a="http://schemas.openxmlformats.org/drawingml/2006/main" noGrp="1"/>
          </p:cNvSpPr>
          <p:nvPr/>
        </p:nvSpPr>
        <p:spPr>
          <a:xfrm xmlns:a="http://schemas.openxmlformats.org/drawingml/2006/main">
            <a:off x="1190625" y="6677025"/>
            <a:ext cx="571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9" name="Besoin : retrouver les informations du prospect et&#10;prép">
            <a:extLst xmlns:a="http://schemas.openxmlformats.org/drawingml/2006/main">
              <a:ext uri="{FF2B5EF4-FFF2-40B4-BE49-F238E27FC236}">
                <a16:creationId xmlns:a16="http://schemas.microsoft.com/office/drawing/2014/main" id="{E20FA405-5A9E-4752-AEEA-B55D60E6E4BA}"/>
              </a:ext>
            </a:extLst>
          </p:cNvPr>
          <p:cNvSpPr>
            <a:spLocks xmlns:a="http://schemas.openxmlformats.org/drawingml/2006/main" noGrp="1"/>
          </p:cNvSpPr>
          <p:nvPr/>
        </p:nvSpPr>
        <p:spPr>
          <a:xfrm xmlns:a="http://schemas.openxmlformats.org/drawingml/2006/main">
            <a:off x="1857375" y="6677025"/>
            <a:ext cx="1228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Besoin : retrouver les informations du prospect et</a:t>
            </a:r>
          </a:p>
          <a:p xmlns:a="http://schemas.openxmlformats.org/drawingml/2006/main">
            <a:pPr algn="l">
              <a:defRPr sz="3225" b="0">
                <a:solidFill>
                  <a:srgbClr val="F1EBDD"/>
                </a:solidFill>
                <a:latin typeface="Calibri"/>
                <a:ea typeface="Calibri"/>
                <a:cs typeface="Calibri"/>
              </a:defRPr>
            </a:pPr>
            <a:r>
              <a:rPr sz="3225" b="0">
                <a:solidFill>
                  <a:srgbClr val="F1EBDD"/>
                </a:solidFill>
                <a:latin typeface="Calibri"/>
                <a:ea typeface="Calibri"/>
                <a:cs typeface="Calibri"/>
              </a:rPr>
              <a:t>préparer la prochaine action sans refaire tout le dossier.</a:t>
            </a:r>
          </a:p>
        </p:txBody>
      </p:sp>
    </p:spTree>
    <p:extLst>
      <p:ext uri="{BB962C8B-B14F-4D97-AF65-F5344CB8AC3E}">
        <p14:creationId xmlns:p14="http://schemas.microsoft.com/office/powerpoint/2010/main" val="594166667"/>
      </p:ext>
    </p:extLst>
  </p:cSld>
</p:sld>
</file>

<file path=ppt/slides/slide5.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c433c81da504c41"/>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BF49F745-02CD-4220-A4F1-627E8B35FEF0}"/>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5 / 22">
            <a:extLst xmlns:a="http://schemas.openxmlformats.org/drawingml/2006/main">
              <a:ext uri="{FF2B5EF4-FFF2-40B4-BE49-F238E27FC236}">
                <a16:creationId xmlns:a16="http://schemas.microsoft.com/office/drawing/2014/main" id="{7E90C017-EDE6-459A-BA3C-7AECEE8275DB}"/>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05 / 22</a:t>
            </a:r>
          </a:p>
        </p:txBody>
      </p:sp>
      <p:sp>
        <p:nvSpPr>
          <p:cNvPr id="4" name="02">
            <a:extLst xmlns:a="http://schemas.openxmlformats.org/drawingml/2006/main">
              <a:ext uri="{FF2B5EF4-FFF2-40B4-BE49-F238E27FC236}">
                <a16:creationId xmlns:a16="http://schemas.microsoft.com/office/drawing/2014/main" id="{C8C550E1-4F6A-47E8-A6B8-4C35C010F09A}"/>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02</a:t>
            </a:r>
          </a:p>
        </p:txBody>
      </p:sp>
      <p:sp>
        <p:nvSpPr>
          <p:cNvPr id="5" name="Contexte général&#10;du projet">
            <a:extLst xmlns:a="http://schemas.openxmlformats.org/drawingml/2006/main">
              <a:ext uri="{FF2B5EF4-FFF2-40B4-BE49-F238E27FC236}">
                <a16:creationId xmlns:a16="http://schemas.microsoft.com/office/drawing/2014/main" id="{6F091077-6F2B-42E0-93FE-FD98CE9C86CB}"/>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Contexte général</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du projet</a:t>
            </a:r>
          </a:p>
        </p:txBody>
      </p:sp>
      <p:sp>
        <p:nvSpPr>
          <p:cNvPr id="6" name="Des tâches répétitives à structurer&#10;et des décisions co">
            <a:extLst xmlns:a="http://schemas.openxmlformats.org/drawingml/2006/main">
              <a:ext uri="{FF2B5EF4-FFF2-40B4-BE49-F238E27FC236}">
                <a16:creationId xmlns:a16="http://schemas.microsoft.com/office/drawing/2014/main" id="{A3BC02F0-4A06-4220-8BE8-ED9A004B6874}"/>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Des tâches répétitives à structurer</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des décisions commerciales à conserver</a:t>
            </a:r>
          </a:p>
        </p:txBody>
      </p:sp>
    </p:spTree>
    <p:extLst>
      <p:ext uri="{BB962C8B-B14F-4D97-AF65-F5344CB8AC3E}">
        <p14:creationId xmlns:p14="http://schemas.microsoft.com/office/powerpoint/2010/main" val="71927161"/>
      </p:ext>
    </p:extLst>
  </p:cSld>
</p:sld>
</file>

<file path=ppt/slides/slide6.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0" name="ADG-10  /  AUTOMATISATION DU CYCLE COMMERCIAL">
            <a:extLst xmlns:a="http://schemas.openxmlformats.org/drawingml/2006/main">
              <a:ext uri="{FF2B5EF4-FFF2-40B4-BE49-F238E27FC236}">
                <a16:creationId xmlns:a16="http://schemas.microsoft.com/office/drawing/2014/main" id="{8D4D711F-8825-4416-A6BB-AB9C6AC6D1A6}"/>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6 / 22">
            <a:extLst xmlns:a="http://schemas.openxmlformats.org/drawingml/2006/main">
              <a:ext uri="{FF2B5EF4-FFF2-40B4-BE49-F238E27FC236}">
                <a16:creationId xmlns:a16="http://schemas.microsoft.com/office/drawing/2014/main" id="{6AA6CA0C-860F-40DF-BFB5-B0A9DA31C89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06 / 22</a:t>
            </a:r>
          </a:p>
        </p:txBody>
      </p:sp>
      <p:sp>
        <p:nvSpPr>
          <p:cNvPr id="3" name="Problématique">
            <a:extLst xmlns:a="http://schemas.openxmlformats.org/drawingml/2006/main">
              <a:ext uri="{FF2B5EF4-FFF2-40B4-BE49-F238E27FC236}">
                <a16:creationId xmlns:a16="http://schemas.microsoft.com/office/drawing/2014/main" id="{1293AEE6-0D94-4122-AA1B-2DB6C321BB33}"/>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Problématique</a:t>
            </a:r>
          </a:p>
        </p:txBody>
      </p:sp>
      <p:sp>
        <p:nvSpPr>
          <p:cNvPr id="4" name="01">
            <a:extLst xmlns:a="http://schemas.openxmlformats.org/drawingml/2006/main">
              <a:ext uri="{FF2B5EF4-FFF2-40B4-BE49-F238E27FC236}">
                <a16:creationId xmlns:a16="http://schemas.microsoft.com/office/drawing/2014/main" id="{78627291-AB38-43FE-9BB3-003E574B9993}"/>
              </a:ext>
            </a:extLst>
          </p:cNvPr>
          <p:cNvSpPr>
            <a:spLocks xmlns:a="http://schemas.openxmlformats.org/drawingml/2006/main" noGrp="1"/>
          </p:cNvSpPr>
          <p:nvPr/>
        </p:nvSpPr>
        <p:spPr>
          <a:xfrm xmlns:a="http://schemas.openxmlformats.org/drawingml/2006/main">
            <a:off x="1190625" y="36671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5" name="Des informations réparties entre le CRM,&#10;les messages e">
            <a:extLst xmlns:a="http://schemas.openxmlformats.org/drawingml/2006/main">
              <a:ext uri="{FF2B5EF4-FFF2-40B4-BE49-F238E27FC236}">
                <a16:creationId xmlns:a16="http://schemas.microsoft.com/office/drawing/2014/main" id="{0A6B8BFC-FB4D-46BB-A191-6C396A0132F0}"/>
              </a:ext>
            </a:extLst>
          </p:cNvPr>
          <p:cNvSpPr>
            <a:spLocks xmlns:a="http://schemas.openxmlformats.org/drawingml/2006/main" noGrp="1"/>
          </p:cNvSpPr>
          <p:nvPr/>
        </p:nvSpPr>
        <p:spPr>
          <a:xfrm xmlns:a="http://schemas.openxmlformats.org/drawingml/2006/main">
            <a:off x="1857375" y="36671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Des informations réparties entre le CRM,</a:t>
            </a:r>
          </a:p>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les messages et les fichiers.</a:t>
            </a:r>
          </a:p>
        </p:txBody>
      </p:sp>
      <p:sp>
        <p:nvSpPr>
          <p:cNvPr id="6" name="02">
            <a:extLst xmlns:a="http://schemas.openxmlformats.org/drawingml/2006/main">
              <a:ext uri="{FF2B5EF4-FFF2-40B4-BE49-F238E27FC236}">
                <a16:creationId xmlns:a16="http://schemas.microsoft.com/office/drawing/2014/main" id="{13D58998-A738-411A-855C-05A537AD976D}"/>
              </a:ext>
            </a:extLst>
          </p:cNvPr>
          <p:cNvSpPr>
            <a:spLocks xmlns:a="http://schemas.openxmlformats.org/drawingml/2006/main" noGrp="1"/>
          </p:cNvSpPr>
          <p:nvPr/>
        </p:nvSpPr>
        <p:spPr>
          <a:xfrm xmlns:a="http://schemas.openxmlformats.org/drawingml/2006/main">
            <a:off x="1190625" y="52292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7" name="Des relances difficiles à suivre et un risque&#10;de renvoy">
            <a:extLst xmlns:a="http://schemas.openxmlformats.org/drawingml/2006/main">
              <a:ext uri="{FF2B5EF4-FFF2-40B4-BE49-F238E27FC236}">
                <a16:creationId xmlns:a16="http://schemas.microsoft.com/office/drawing/2014/main" id="{A0672CAB-ACC3-4363-B1EF-4FAC3C1B6D0D}"/>
              </a:ext>
            </a:extLst>
          </p:cNvPr>
          <p:cNvSpPr>
            <a:spLocks xmlns:a="http://schemas.openxmlformats.org/drawingml/2006/main" noGrp="1"/>
          </p:cNvSpPr>
          <p:nvPr/>
        </p:nvSpPr>
        <p:spPr>
          <a:xfrm xmlns:a="http://schemas.openxmlformats.org/drawingml/2006/main">
            <a:off x="1857375" y="52292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Des relances difficiles à suivre et un risque</a:t>
            </a:r>
          </a:p>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de renvoyer une action déjà effectuée.</a:t>
            </a:r>
          </a:p>
        </p:txBody>
      </p:sp>
      <p:sp>
        <p:nvSpPr>
          <p:cNvPr id="8" name="03">
            <a:extLst xmlns:a="http://schemas.openxmlformats.org/drawingml/2006/main">
              <a:ext uri="{FF2B5EF4-FFF2-40B4-BE49-F238E27FC236}">
                <a16:creationId xmlns:a16="http://schemas.microsoft.com/office/drawing/2014/main" id="{C00CC557-53C8-4661-B570-110AB10BBBF4}"/>
              </a:ext>
            </a:extLst>
          </p:cNvPr>
          <p:cNvSpPr>
            <a:spLocks xmlns:a="http://schemas.openxmlformats.org/drawingml/2006/main" noGrp="1"/>
          </p:cNvSpPr>
          <p:nvPr/>
        </p:nvSpPr>
        <p:spPr>
          <a:xfrm xmlns:a="http://schemas.openxmlformats.org/drawingml/2006/main">
            <a:off x="1190625" y="6791325"/>
            <a:ext cx="5715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9" name="Comment fiabiliser le parcours sans perdre&#10;la personnal">
            <a:extLst xmlns:a="http://schemas.openxmlformats.org/drawingml/2006/main">
              <a:ext uri="{FF2B5EF4-FFF2-40B4-BE49-F238E27FC236}">
                <a16:creationId xmlns:a16="http://schemas.microsoft.com/office/drawing/2014/main" id="{FFCB4928-F3CC-4F2C-BCF7-FB32F225F477}"/>
              </a:ext>
            </a:extLst>
          </p:cNvPr>
          <p:cNvSpPr>
            <a:spLocks xmlns:a="http://schemas.openxmlformats.org/drawingml/2006/main" noGrp="1"/>
          </p:cNvSpPr>
          <p:nvPr/>
        </p:nvSpPr>
        <p:spPr>
          <a:xfrm xmlns:a="http://schemas.openxmlformats.org/drawingml/2006/main">
            <a:off x="1857375" y="6791325"/>
            <a:ext cx="1228725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Comment fiabiliser le parcours sans perdre</a:t>
            </a:r>
          </a:p>
          <a:p xmlns:a="http://schemas.openxmlformats.org/drawingml/2006/main">
            <a:pPr algn="l">
              <a:defRPr sz="3375" b="0">
                <a:solidFill>
                  <a:srgbClr val="F1EBDD"/>
                </a:solidFill>
                <a:latin typeface="Calibri"/>
                <a:ea typeface="Calibri"/>
                <a:cs typeface="Calibri"/>
              </a:defRPr>
            </a:pPr>
            <a:r>
              <a:rPr sz="3375" b="0">
                <a:solidFill>
                  <a:srgbClr val="F1EBDD"/>
                </a:solidFill>
                <a:latin typeface="Calibri"/>
                <a:ea typeface="Calibri"/>
                <a:cs typeface="Calibri"/>
              </a:rPr>
              <a:t>la personnalisation de la relation commerciale ?</a:t>
            </a:r>
          </a:p>
        </p:txBody>
      </p:sp>
    </p:spTree>
    <p:extLst>
      <p:ext uri="{BB962C8B-B14F-4D97-AF65-F5344CB8AC3E}">
        <p14:creationId xmlns:p14="http://schemas.microsoft.com/office/powerpoint/2010/main" val="1950044325"/>
      </p:ext>
    </p:extLst>
  </p:cSld>
</p:sld>
</file>

<file path=ppt/slides/slide7.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3" name="ADG-10  /  AUTOMATISATION DU CYCLE COMMERCIAL">
            <a:extLst xmlns:a="http://schemas.openxmlformats.org/drawingml/2006/main">
              <a:ext uri="{FF2B5EF4-FFF2-40B4-BE49-F238E27FC236}">
                <a16:creationId xmlns:a16="http://schemas.microsoft.com/office/drawing/2014/main" id="{98C650FA-4110-433C-BB1D-76F4A51F6E5A}"/>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7 / 22">
            <a:extLst xmlns:a="http://schemas.openxmlformats.org/drawingml/2006/main">
              <a:ext uri="{FF2B5EF4-FFF2-40B4-BE49-F238E27FC236}">
                <a16:creationId xmlns:a16="http://schemas.microsoft.com/office/drawing/2014/main" id="{D680F7D8-CE82-4514-8A8C-7A673E278350}"/>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07 / 22</a:t>
            </a:r>
          </a:p>
        </p:txBody>
      </p:sp>
      <p:sp>
        <p:nvSpPr>
          <p:cNvPr id="3" name="Objectifs et périmètre">
            <a:extLst xmlns:a="http://schemas.openxmlformats.org/drawingml/2006/main">
              <a:ext uri="{FF2B5EF4-FFF2-40B4-BE49-F238E27FC236}">
                <a16:creationId xmlns:a16="http://schemas.microsoft.com/office/drawing/2014/main" id="{B9332EFF-6FEC-4F63-A14D-0B4C8CC2BCA6}"/>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Objectifs et périmètre</a:t>
            </a:r>
          </a:p>
        </p:txBody>
      </p:sp>
      <p:sp>
        <p:nvSpPr>
          <p:cNvPr id="4" name="01">
            <a:extLst xmlns:a="http://schemas.openxmlformats.org/drawingml/2006/main">
              <a:ext uri="{FF2B5EF4-FFF2-40B4-BE49-F238E27FC236}">
                <a16:creationId xmlns:a16="http://schemas.microsoft.com/office/drawing/2014/main" id="{C3E2EBEE-6D13-4717-81F8-CC0D48036DBD}"/>
              </a:ext>
            </a:extLst>
          </p:cNvPr>
          <p:cNvSpPr>
            <a:spLocks xmlns:a="http://schemas.openxmlformats.org/drawingml/2006/main" noGrp="1"/>
          </p:cNvSpPr>
          <p:nvPr/>
        </p:nvSpPr>
        <p:spPr>
          <a:xfrm xmlns:a="http://schemas.openxmlformats.org/drawingml/2006/main">
            <a:off x="1190625" y="3514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5" name="Centraliser les formations et les prospects dans Airtab">
            <a:extLst xmlns:a="http://schemas.openxmlformats.org/drawingml/2006/main">
              <a:ext uri="{FF2B5EF4-FFF2-40B4-BE49-F238E27FC236}">
                <a16:creationId xmlns:a16="http://schemas.microsoft.com/office/drawing/2014/main" id="{A0F80644-3CAE-42FD-B811-D4799D4A08E7}"/>
              </a:ext>
            </a:extLst>
          </p:cNvPr>
          <p:cNvSpPr>
            <a:spLocks xmlns:a="http://schemas.openxmlformats.org/drawingml/2006/main" noGrp="1"/>
          </p:cNvSpPr>
          <p:nvPr/>
        </p:nvSpPr>
        <p:spPr>
          <a:xfrm xmlns:a="http://schemas.openxmlformats.org/drawingml/2006/main">
            <a:off x="1857375" y="3514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1EBDD"/>
                </a:solidFill>
                <a:latin typeface="Calibri"/>
                <a:ea typeface="Calibri"/>
                <a:cs typeface="Calibri"/>
              </a:defRPr>
            </a:pPr>
            <a:r>
              <a:rPr sz="3150" b="0">
                <a:solidFill>
                  <a:srgbClr val="F1EBDD"/>
                </a:solidFill>
                <a:latin typeface="Calibri"/>
                <a:ea typeface="Calibri"/>
                <a:cs typeface="Calibri"/>
              </a:rPr>
              <a:t>Centraliser les formations et les prospects dans Airtable.</a:t>
            </a:r>
          </a:p>
        </p:txBody>
      </p:sp>
      <p:sp>
        <p:nvSpPr>
          <p:cNvPr id="6" name="02">
            <a:extLst xmlns:a="http://schemas.openxmlformats.org/drawingml/2006/main">
              <a:ext uri="{FF2B5EF4-FFF2-40B4-BE49-F238E27FC236}">
                <a16:creationId xmlns:a16="http://schemas.microsoft.com/office/drawing/2014/main" id="{2C7B01C7-B126-438C-8A19-B4B2B9722BFE}"/>
              </a:ext>
            </a:extLst>
          </p:cNvPr>
          <p:cNvSpPr>
            <a:spLocks xmlns:a="http://schemas.openxmlformats.org/drawingml/2006/main" noGrp="1"/>
          </p:cNvSpPr>
          <p:nvPr/>
        </p:nvSpPr>
        <p:spPr>
          <a:xfrm xmlns:a="http://schemas.openxmlformats.org/drawingml/2006/main">
            <a:off x="1190625" y="4657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7" name="Prioriser les leads avec un score explicable.">
            <a:extLst xmlns:a="http://schemas.openxmlformats.org/drawingml/2006/main">
              <a:ext uri="{FF2B5EF4-FFF2-40B4-BE49-F238E27FC236}">
                <a16:creationId xmlns:a16="http://schemas.microsoft.com/office/drawing/2014/main" id="{B76A270F-6588-441B-9D12-3F261818D064}"/>
              </a:ext>
            </a:extLst>
          </p:cNvPr>
          <p:cNvSpPr>
            <a:spLocks xmlns:a="http://schemas.openxmlformats.org/drawingml/2006/main" noGrp="1"/>
          </p:cNvSpPr>
          <p:nvPr/>
        </p:nvSpPr>
        <p:spPr>
          <a:xfrm xmlns:a="http://schemas.openxmlformats.org/drawingml/2006/main">
            <a:off x="1857375" y="4657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1EBDD"/>
                </a:solidFill>
                <a:latin typeface="Calibri"/>
                <a:ea typeface="Calibri"/>
                <a:cs typeface="Calibri"/>
              </a:defRPr>
            </a:pPr>
            <a:r>
              <a:rPr sz="3150" b="0">
                <a:solidFill>
                  <a:srgbClr val="F1EBDD"/>
                </a:solidFill>
                <a:latin typeface="Calibri"/>
                <a:ea typeface="Calibri"/>
                <a:cs typeface="Calibri"/>
              </a:rPr>
              <a:t>Prioriser les leads avec un score explicable.</a:t>
            </a:r>
          </a:p>
        </p:txBody>
      </p:sp>
      <p:sp>
        <p:nvSpPr>
          <p:cNvPr id="8" name="03">
            <a:extLst xmlns:a="http://schemas.openxmlformats.org/drawingml/2006/main">
              <a:ext uri="{FF2B5EF4-FFF2-40B4-BE49-F238E27FC236}">
                <a16:creationId xmlns:a16="http://schemas.microsoft.com/office/drawing/2014/main" id="{BC915E0A-3574-4147-B4AA-0C1E6B662A87}"/>
              </a:ext>
            </a:extLst>
          </p:cNvPr>
          <p:cNvSpPr>
            <a:spLocks xmlns:a="http://schemas.openxmlformats.org/drawingml/2006/main" noGrp="1"/>
          </p:cNvSpPr>
          <p:nvPr/>
        </p:nvSpPr>
        <p:spPr>
          <a:xfrm xmlns:a="http://schemas.openxmlformats.org/drawingml/2006/main">
            <a:off x="1190625" y="5800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9" name="Préparer des messages et des documents cohérents.">
            <a:extLst xmlns:a="http://schemas.openxmlformats.org/drawingml/2006/main">
              <a:ext uri="{FF2B5EF4-FFF2-40B4-BE49-F238E27FC236}">
                <a16:creationId xmlns:a16="http://schemas.microsoft.com/office/drawing/2014/main" id="{0112C2FD-9BA8-4CBF-8608-2C3476F7DD56}"/>
              </a:ext>
            </a:extLst>
          </p:cNvPr>
          <p:cNvSpPr>
            <a:spLocks xmlns:a="http://schemas.openxmlformats.org/drawingml/2006/main" noGrp="1"/>
          </p:cNvSpPr>
          <p:nvPr/>
        </p:nvSpPr>
        <p:spPr>
          <a:xfrm xmlns:a="http://schemas.openxmlformats.org/drawingml/2006/main">
            <a:off x="1857375" y="5800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1EBDD"/>
                </a:solidFill>
                <a:latin typeface="Calibri"/>
                <a:ea typeface="Calibri"/>
                <a:cs typeface="Calibri"/>
              </a:defRPr>
            </a:pPr>
            <a:r>
              <a:rPr sz="3150" b="0">
                <a:solidFill>
                  <a:srgbClr val="F1EBDD"/>
                </a:solidFill>
                <a:latin typeface="Calibri"/>
                <a:ea typeface="Calibri"/>
                <a:cs typeface="Calibri"/>
              </a:rPr>
              <a:t>Préparer des messages et des documents cohérents.</a:t>
            </a:r>
          </a:p>
        </p:txBody>
      </p:sp>
      <p:sp>
        <p:nvSpPr>
          <p:cNvPr id="10" name="04">
            <a:extLst xmlns:a="http://schemas.openxmlformats.org/drawingml/2006/main">
              <a:ext uri="{FF2B5EF4-FFF2-40B4-BE49-F238E27FC236}">
                <a16:creationId xmlns:a16="http://schemas.microsoft.com/office/drawing/2014/main" id="{2E598C1C-ACBE-4212-BC38-CCDC5A7CF78B}"/>
              </a:ext>
            </a:extLst>
          </p:cNvPr>
          <p:cNvSpPr>
            <a:spLocks xmlns:a="http://schemas.openxmlformats.org/drawingml/2006/main" noGrp="1"/>
          </p:cNvSpPr>
          <p:nvPr/>
        </p:nvSpPr>
        <p:spPr>
          <a:xfrm xmlns:a="http://schemas.openxmlformats.org/drawingml/2006/main">
            <a:off x="1190625" y="6943725"/>
            <a:ext cx="571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04</a:t>
            </a:r>
          </a:p>
        </p:txBody>
      </p:sp>
      <p:sp>
        <p:nvSpPr>
          <p:cNvPr id="11" name="Piloter les traitements depuis un tableau de bord.">
            <a:extLst xmlns:a="http://schemas.openxmlformats.org/drawingml/2006/main">
              <a:ext uri="{FF2B5EF4-FFF2-40B4-BE49-F238E27FC236}">
                <a16:creationId xmlns:a16="http://schemas.microsoft.com/office/drawing/2014/main" id="{8A899A94-22CA-4671-AE90-81E2A1359A69}"/>
              </a:ext>
            </a:extLst>
          </p:cNvPr>
          <p:cNvSpPr>
            <a:spLocks xmlns:a="http://schemas.openxmlformats.org/drawingml/2006/main" noGrp="1"/>
          </p:cNvSpPr>
          <p:nvPr/>
        </p:nvSpPr>
        <p:spPr>
          <a:xfrm xmlns:a="http://schemas.openxmlformats.org/drawingml/2006/main">
            <a:off x="1857375" y="6943725"/>
            <a:ext cx="1228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0">
                <a:solidFill>
                  <a:srgbClr val="F1EBDD"/>
                </a:solidFill>
                <a:latin typeface="Calibri"/>
                <a:ea typeface="Calibri"/>
                <a:cs typeface="Calibri"/>
              </a:defRPr>
            </a:pPr>
            <a:r>
              <a:rPr sz="3150" b="0">
                <a:solidFill>
                  <a:srgbClr val="F1EBDD"/>
                </a:solidFill>
                <a:latin typeface="Calibri"/>
                <a:ea typeface="Calibri"/>
                <a:cs typeface="Calibri"/>
              </a:rPr>
              <a:t>Piloter les traitements depuis un tableau de bord.</a:t>
            </a:r>
          </a:p>
        </p:txBody>
      </p:sp>
      <p:sp>
        <p:nvSpPr>
          <p:cNvPr id="12" name="La validation commerciale, la signature et le paiement ">
            <a:extLst xmlns:a="http://schemas.openxmlformats.org/drawingml/2006/main">
              <a:ext uri="{FF2B5EF4-FFF2-40B4-BE49-F238E27FC236}">
                <a16:creationId xmlns:a16="http://schemas.microsoft.com/office/drawing/2014/main" id="{6360745C-A5CB-409D-9442-2AAFDF5B50D2}"/>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La validation commerciale, la signature et le paiement restent hors automatisation complète.</a:t>
            </a:r>
          </a:p>
        </p:txBody>
      </p:sp>
    </p:spTree>
    <p:extLst>
      <p:ext uri="{BB962C8B-B14F-4D97-AF65-F5344CB8AC3E}">
        <p14:creationId xmlns:p14="http://schemas.microsoft.com/office/powerpoint/2010/main" val="1549927255"/>
      </p:ext>
    </p:extLst>
  </p:cSld>
</p:sld>
</file>

<file path=ppt/slides/slide8.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6" name="ADG-10  /  AUTOMATISATION DU CYCLE COMMERCIAL">
            <a:extLst xmlns:a="http://schemas.openxmlformats.org/drawingml/2006/main">
              <a:ext uri="{FF2B5EF4-FFF2-40B4-BE49-F238E27FC236}">
                <a16:creationId xmlns:a16="http://schemas.microsoft.com/office/drawing/2014/main" id="{22F8F30A-EC13-4D7B-BF33-B3FD594FE7C4}"/>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08 / 22">
            <a:extLst xmlns:a="http://schemas.openxmlformats.org/drawingml/2006/main">
              <a:ext uri="{FF2B5EF4-FFF2-40B4-BE49-F238E27FC236}">
                <a16:creationId xmlns:a16="http://schemas.microsoft.com/office/drawing/2014/main" id="{DE0A2C61-F87F-4DF5-A2AF-A23342B1C9B5}"/>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08 / 22</a:t>
            </a:r>
          </a:p>
        </p:txBody>
      </p:sp>
      <p:sp>
        <p:nvSpPr>
          <p:cNvPr id="3" name="Conduite du projet">
            <a:extLst xmlns:a="http://schemas.openxmlformats.org/drawingml/2006/main">
              <a:ext uri="{FF2B5EF4-FFF2-40B4-BE49-F238E27FC236}">
                <a16:creationId xmlns:a16="http://schemas.microsoft.com/office/drawing/2014/main" id="{E459E387-BDA8-460A-8616-B401E62C7253}"/>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Conduite du projet</a:t>
            </a:r>
          </a:p>
        </p:txBody>
      </p:sp>
      <p:graphicFrame>
        <p:nvGraphicFramePr>
          <p:cNvPr id="9" name=""/>
          <p:cNvGraphicFramePr/>
          <p:nvPr/>
        </p:nvGraphicFramePr>
        <p:xfrm>
          <a:off xmlns:a="http://schemas.openxmlformats.org/drawingml/2006/main" x="1571625" y="3286125"/>
          <a:ext xmlns:a="http://schemas.openxmlformats.org/drawingml/2006/main" cx="14478000" cy="4476750"/>
        </p:xfrm>
        <a:graphic xmlns:a="http://schemas.openxmlformats.org/drawingml/2006/main">
          <a:graphicData uri="http://schemas.openxmlformats.org/drawingml/2006/table">
            <a:tbl>
              <a:tblPr/>
              <a:tblGrid>
                <a:gridCol w="2968511"/>
                <a:gridCol w="5989101"/>
                <a:gridCol w="5520388"/>
              </a:tblGrid>
              <a:tr h="895350">
                <a:tc>
                  <a:txBody>
                    <a:bodyPr lIns="190500" tIns="114300" rIns="190500" bIns="114300"/>
                    <a:lstStyle/>
                    <a:p>
                      <a:r>
                        <a:rPr sz="2700" b="1">
                          <a:solidFill>
                            <a:srgbClr val="D2AB7D"/>
                          </a:solidFill>
                          <a:latin typeface="Calibri"/>
                          <a:ea typeface="Calibri"/>
                          <a:cs typeface="Calibri"/>
                        </a:rPr>
                        <a:t>Phase</a:t>
                      </a:r>
                    </a:p>
                  </a:txBody>
                  <a:tcPr marL="91440" marR="91440" marT="45720" marB="45720" anchor="ctr">
                    <a:solidFill>
                      <a:srgbClr val="1F303E"/>
                    </a:solidFill>
                  </a:tcPr>
                </a:tc>
                <a:tc>
                  <a:txBody>
                    <a:bodyPr lIns="190500" tIns="114300" rIns="190500" bIns="114300"/>
                    <a:lstStyle/>
                    <a:p>
                      <a:r>
                        <a:rPr sz="2700" b="1">
                          <a:solidFill>
                            <a:srgbClr val="D2AB7D"/>
                          </a:solidFill>
                          <a:latin typeface="Calibri"/>
                          <a:ea typeface="Calibri"/>
                          <a:cs typeface="Calibri"/>
                        </a:rPr>
                        <a:t>Travaux</a:t>
                      </a:r>
                    </a:p>
                  </a:txBody>
                  <a:tcPr marL="91440" marR="91440" marT="45720" marB="45720" anchor="ctr">
                    <a:solidFill>
                      <a:srgbClr val="1F303E"/>
                    </a:solidFill>
                  </a:tcPr>
                </a:tc>
                <a:tc>
                  <a:txBody>
                    <a:bodyPr lIns="190500" tIns="114300" rIns="190500" bIns="114300"/>
                    <a:lstStyle/>
                    <a:p>
                      <a:r>
                        <a:rPr sz="2700" b="1">
                          <a:solidFill>
                            <a:srgbClr val="D2AB7D"/>
                          </a:solidFill>
                          <a:latin typeface="Calibri"/>
                          <a:ea typeface="Calibri"/>
                          <a:cs typeface="Calibri"/>
                        </a:rPr>
                        <a:t>Livrable</a:t>
                      </a:r>
                    </a:p>
                  </a:txBody>
                  <a:tcPr marL="91440" marR="91440" marT="45720" marB="45720" anchor="ctr">
                    <a:solidFill>
                      <a:srgbClr val="1F303E"/>
                    </a:solidFill>
                  </a:tcPr>
                </a:tc>
              </a:tr>
              <a:tr h="895350">
                <a:tc>
                  <a:txBody>
                    <a:bodyPr lIns="190500" tIns="114300" rIns="190500" bIns="114300"/>
                    <a:lstStyle/>
                    <a:p>
                      <a:r>
                        <a:rPr sz="2700" b="0">
                          <a:solidFill>
                            <a:srgbClr val="F1EBDD"/>
                          </a:solidFill>
                          <a:latin typeface="Calibri"/>
                          <a:ea typeface="Calibri"/>
                          <a:cs typeface="Calibri"/>
                        </a:rPr>
                        <a:t>Cadrage</a:t>
                      </a:r>
                    </a:p>
                  </a:txBody>
                  <a:tcPr marL="91440" marR="91440" marT="45720" marB="45720" anchor="ctr">
                    <a:solidFill>
                      <a:srgbClr val="344B5E"/>
                    </a:solidFill>
                  </a:tcPr>
                </a:tc>
                <a:tc>
                  <a:txBody>
                    <a:bodyPr lIns="190500" tIns="114300" rIns="190500" bIns="114300"/>
                    <a:lstStyle/>
                    <a:p>
                      <a:r>
                        <a:rPr sz="2700" b="0">
                          <a:solidFill>
                            <a:srgbClr val="F1EBDD"/>
                          </a:solidFill>
                          <a:latin typeface="Calibri"/>
                          <a:ea typeface="Calibri"/>
                          <a:cs typeface="Calibri"/>
                        </a:rPr>
                        <a:t>Parcours commercial et besoins</a:t>
                      </a:r>
                    </a:p>
                  </a:txBody>
                  <a:tcPr marL="91440" marR="91440" marT="45720" marB="45720" anchor="ctr">
                    <a:solidFill>
                      <a:srgbClr val="344B5E"/>
                    </a:solidFill>
                  </a:tcPr>
                </a:tc>
                <a:tc>
                  <a:txBody>
                    <a:bodyPr lIns="190500" tIns="114300" rIns="190500" bIns="114300"/>
                    <a:lstStyle/>
                    <a:p>
                      <a:r>
                        <a:rPr sz="2700" b="0">
                          <a:solidFill>
                            <a:srgbClr val="F1EBDD"/>
                          </a:solidFill>
                          <a:latin typeface="Calibri"/>
                          <a:ea typeface="Calibri"/>
                          <a:cs typeface="Calibri"/>
                        </a:rPr>
                        <a:t>Périmètre E1 à E8</a:t>
                      </a:r>
                    </a:p>
                  </a:txBody>
                  <a:tcPr marL="91440" marR="91440" marT="45720" marB="45720" anchor="ctr">
                    <a:solidFill>
                      <a:srgbClr val="344B5E"/>
                    </a:solidFill>
                  </a:tcPr>
                </a:tc>
              </a:tr>
              <a:tr h="895350">
                <a:tc>
                  <a:txBody>
                    <a:bodyPr lIns="190500" tIns="114300" rIns="190500" bIns="114300"/>
                    <a:lstStyle/>
                    <a:p>
                      <a:r>
                        <a:rPr sz="2700" b="0">
                          <a:solidFill>
                            <a:srgbClr val="F1EBDD"/>
                          </a:solidFill>
                          <a:latin typeface="Calibri"/>
                          <a:ea typeface="Calibri"/>
                          <a:cs typeface="Calibri"/>
                        </a:rPr>
                        <a:t>Conception</a:t>
                      </a:r>
                    </a:p>
                  </a:txBody>
                  <a:tcPr marL="91440" marR="91440" marT="45720" marB="45720" anchor="ctr">
                    <a:solidFill>
                      <a:srgbClr val="3C5364"/>
                    </a:solidFill>
                  </a:tcPr>
                </a:tc>
                <a:tc>
                  <a:txBody>
                    <a:bodyPr lIns="190500" tIns="114300" rIns="190500" bIns="114300"/>
                    <a:lstStyle/>
                    <a:p>
                      <a:r>
                        <a:rPr sz="2700" b="0">
                          <a:solidFill>
                            <a:srgbClr val="F1EBDD"/>
                          </a:solidFill>
                          <a:latin typeface="Calibri"/>
                          <a:ea typeface="Calibri"/>
                          <a:cs typeface="Calibri"/>
                        </a:rPr>
                        <a:t>Données, règles et interactions</a:t>
                      </a:r>
                    </a:p>
                  </a:txBody>
                  <a:tcPr marL="91440" marR="91440" marT="45720" marB="45720" anchor="ctr">
                    <a:solidFill>
                      <a:srgbClr val="3C5364"/>
                    </a:solidFill>
                  </a:tcPr>
                </a:tc>
                <a:tc>
                  <a:txBody>
                    <a:bodyPr lIns="190500" tIns="114300" rIns="190500" bIns="114300"/>
                    <a:lstStyle/>
                    <a:p>
                      <a:r>
                        <a:rPr sz="2700" b="0">
                          <a:solidFill>
                            <a:srgbClr val="F1EBDD"/>
                          </a:solidFill>
                          <a:latin typeface="Calibri"/>
                          <a:ea typeface="Calibri"/>
                          <a:cs typeface="Calibri"/>
                        </a:rPr>
                        <a:t>Modèles et scénarios</a:t>
                      </a:r>
                    </a:p>
                  </a:txBody>
                  <a:tcPr marL="91440" marR="91440" marT="45720" marB="45720" anchor="ctr">
                    <a:solidFill>
                      <a:srgbClr val="3C5364"/>
                    </a:solidFill>
                  </a:tcPr>
                </a:tc>
              </a:tr>
              <a:tr h="895350">
                <a:tc>
                  <a:txBody>
                    <a:bodyPr lIns="190500" tIns="114300" rIns="190500" bIns="114300"/>
                    <a:lstStyle/>
                    <a:p>
                      <a:r>
                        <a:rPr sz="2700" b="0">
                          <a:solidFill>
                            <a:srgbClr val="F1EBDD"/>
                          </a:solidFill>
                          <a:latin typeface="Calibri"/>
                          <a:ea typeface="Calibri"/>
                          <a:cs typeface="Calibri"/>
                        </a:rPr>
                        <a:t>Réalisation</a:t>
                      </a:r>
                    </a:p>
                  </a:txBody>
                  <a:tcPr marL="91440" marR="91440" marT="45720" marB="45720" anchor="ctr">
                    <a:solidFill>
                      <a:srgbClr val="344B5E"/>
                    </a:solidFill>
                  </a:tcPr>
                </a:tc>
                <a:tc>
                  <a:txBody>
                    <a:bodyPr lIns="190500" tIns="114300" rIns="190500" bIns="114300"/>
                    <a:lstStyle/>
                    <a:p>
                      <a:r>
                        <a:rPr sz="2700" b="0">
                          <a:solidFill>
                            <a:srgbClr val="F1EBDD"/>
                          </a:solidFill>
                          <a:latin typeface="Calibri"/>
                          <a:ea typeface="Calibri"/>
                          <a:cs typeface="Calibri"/>
                        </a:rPr>
                        <a:t>Scripts, documents et interface</a:t>
                      </a:r>
                    </a:p>
                  </a:txBody>
                  <a:tcPr marL="91440" marR="91440" marT="45720" marB="45720" anchor="ctr">
                    <a:solidFill>
                      <a:srgbClr val="344B5E"/>
                    </a:solidFill>
                  </a:tcPr>
                </a:tc>
                <a:tc>
                  <a:txBody>
                    <a:bodyPr lIns="190500" tIns="114300" rIns="190500" bIns="114300"/>
                    <a:lstStyle/>
                    <a:p>
                      <a:r>
                        <a:rPr sz="2700" b="0">
                          <a:solidFill>
                            <a:srgbClr val="F1EBDD"/>
                          </a:solidFill>
                          <a:latin typeface="Calibri"/>
                          <a:ea typeface="Calibri"/>
                          <a:cs typeface="Calibri"/>
                        </a:rPr>
                        <a:t>Prototype intégré</a:t>
                      </a:r>
                    </a:p>
                  </a:txBody>
                  <a:tcPr marL="91440" marR="91440" marT="45720" marB="45720" anchor="ctr">
                    <a:solidFill>
                      <a:srgbClr val="344B5E"/>
                    </a:solidFill>
                  </a:tcPr>
                </a:tc>
              </a:tr>
              <a:tr h="895350">
                <a:tc>
                  <a:txBody>
                    <a:bodyPr lIns="190500" tIns="114300" rIns="190500" bIns="114300"/>
                    <a:lstStyle/>
                    <a:p>
                      <a:r>
                        <a:rPr sz="2700" b="0">
                          <a:solidFill>
                            <a:srgbClr val="F1EBDD"/>
                          </a:solidFill>
                          <a:latin typeface="Calibri"/>
                          <a:ea typeface="Calibri"/>
                          <a:cs typeface="Calibri"/>
                        </a:rPr>
                        <a:t>Validation</a:t>
                      </a:r>
                    </a:p>
                  </a:txBody>
                  <a:tcPr marL="91440" marR="91440" marT="45720" marB="45720" anchor="ctr">
                    <a:solidFill>
                      <a:srgbClr val="3C5364"/>
                    </a:solidFill>
                  </a:tcPr>
                </a:tc>
                <a:tc>
                  <a:txBody>
                    <a:bodyPr lIns="190500" tIns="114300" rIns="190500" bIns="114300"/>
                    <a:lstStyle/>
                    <a:p>
                      <a:r>
                        <a:rPr sz="2700" b="0">
                          <a:solidFill>
                            <a:srgbClr val="F1EBDD"/>
                          </a:solidFill>
                          <a:latin typeface="Calibri"/>
                          <a:ea typeface="Calibri"/>
                          <a:cs typeface="Calibri"/>
                        </a:rPr>
                        <a:t>Tests locaux et démonstration</a:t>
                      </a:r>
                    </a:p>
                  </a:txBody>
                  <a:tcPr marL="91440" marR="91440" marT="45720" marB="45720" anchor="ctr">
                    <a:solidFill>
                      <a:srgbClr val="3C5364"/>
                    </a:solidFill>
                  </a:tcPr>
                </a:tc>
                <a:tc>
                  <a:txBody>
                    <a:bodyPr lIns="190500" tIns="114300" rIns="190500" bIns="114300"/>
                    <a:lstStyle/>
                    <a:p>
                      <a:r>
                        <a:rPr sz="2700" b="0">
                          <a:solidFill>
                            <a:srgbClr val="F1EBDD"/>
                          </a:solidFill>
                          <a:latin typeface="Calibri"/>
                          <a:ea typeface="Calibri"/>
                          <a:cs typeface="Calibri"/>
                        </a:rPr>
                        <a:t>Résultats et limites</a:t>
                      </a:r>
                    </a:p>
                  </a:txBody>
                  <a:tcPr marL="91440" marR="91440" marT="45720" marB="45720" anchor="ctr">
                    <a:solidFill>
                      <a:srgbClr val="3C5364"/>
                    </a:solidFill>
                  </a:tcPr>
                </a:tc>
              </a:tr>
            </a:tbl>
          </a:graphicData>
        </a:graphic>
      </p:graphicFrame>
      <p:sp>
        <p:nvSpPr>
          <p:cNvPr id="5" name="Démarche itérative, avec validation des données et des ">
            <a:extLst xmlns:a="http://schemas.openxmlformats.org/drawingml/2006/main">
              <a:ext uri="{FF2B5EF4-FFF2-40B4-BE49-F238E27FC236}">
                <a16:creationId xmlns:a16="http://schemas.microsoft.com/office/drawing/2014/main" id="{4D7E6B12-1B98-4132-A830-AEB96F7EABDB}"/>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Démarche itérative, avec validation des données et des fonctions à chaque phase.</a:t>
            </a:r>
          </a:p>
        </p:txBody>
      </p:sp>
    </p:spTree>
    <p:extLst>
      <p:ext uri="{BB962C8B-B14F-4D97-AF65-F5344CB8AC3E}">
        <p14:creationId xmlns:p14="http://schemas.microsoft.com/office/powerpoint/2010/main" val="2039938466"/>
      </p:ext>
    </p:extLst>
  </p:cSld>
</p:sld>
</file>

<file path=ppt/slides/slide9.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793e0a695b0476e"/>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4A957DE3-6E9C-4172-BB74-D557F7590D2C}"/>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09 / 22">
            <a:extLst xmlns:a="http://schemas.openxmlformats.org/drawingml/2006/main">
              <a:ext uri="{FF2B5EF4-FFF2-40B4-BE49-F238E27FC236}">
                <a16:creationId xmlns:a16="http://schemas.microsoft.com/office/drawing/2014/main" id="{D5E5ABD7-0C3C-4A8F-80A9-888E0393561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09 / 22</a:t>
            </a:r>
          </a:p>
        </p:txBody>
      </p:sp>
      <p:sp>
        <p:nvSpPr>
          <p:cNvPr id="4" name="03">
            <a:extLst xmlns:a="http://schemas.openxmlformats.org/drawingml/2006/main">
              <a:ext uri="{FF2B5EF4-FFF2-40B4-BE49-F238E27FC236}">
                <a16:creationId xmlns:a16="http://schemas.microsoft.com/office/drawing/2014/main" id="{AE83EBCB-855F-49C7-9CDC-4B9BD3BAD3DE}"/>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03</a:t>
            </a:r>
          </a:p>
        </p:txBody>
      </p:sp>
      <p:sp>
        <p:nvSpPr>
          <p:cNvPr id="5" name="Étude conceptuelle&#10;de la solution">
            <a:extLst xmlns:a="http://schemas.openxmlformats.org/drawingml/2006/main">
              <a:ext uri="{FF2B5EF4-FFF2-40B4-BE49-F238E27FC236}">
                <a16:creationId xmlns:a16="http://schemas.microsoft.com/office/drawing/2014/main" id="{F84DE238-96CE-4284-ABB4-FA4ADC2034F5}"/>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Étude conceptuelle</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de la solution</a:t>
            </a:r>
          </a:p>
        </p:txBody>
      </p:sp>
      <p:sp>
        <p:nvSpPr>
          <p:cNvPr id="6" name="Le parcours commercial, les acteurs&#10;et la circulation d">
            <a:extLst xmlns:a="http://schemas.openxmlformats.org/drawingml/2006/main">
              <a:ext uri="{FF2B5EF4-FFF2-40B4-BE49-F238E27FC236}">
                <a16:creationId xmlns:a16="http://schemas.microsoft.com/office/drawing/2014/main" id="{EE1E6EFC-A685-47BE-A06E-49C38A1B2B8A}"/>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Le parcours commercial, les acteurs</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la circulation des données</a:t>
            </a:r>
          </a:p>
        </p:txBody>
      </p:sp>
    </p:spTree>
    <p:extLst>
      <p:ext uri="{BB962C8B-B14F-4D97-AF65-F5344CB8AC3E}">
        <p14:creationId xmlns:p14="http://schemas.microsoft.com/office/powerpoint/2010/main" val="1730994308"/>
      </p:ext>
    </p:extLst>
  </p:cSld>
</p:sld>
</file>

<file path=ppt/slides/slide10.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6" name="ADG-10  /  AUTOMATISATION DU CYCLE COMMERCIAL">
            <a:extLst xmlns:a="http://schemas.openxmlformats.org/drawingml/2006/main">
              <a:ext uri="{FF2B5EF4-FFF2-40B4-BE49-F238E27FC236}">
                <a16:creationId xmlns:a16="http://schemas.microsoft.com/office/drawing/2014/main" id="{57203F84-405B-4675-9299-1C7F0D52FE40}"/>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0 / 22">
            <a:extLst xmlns:a="http://schemas.openxmlformats.org/drawingml/2006/main">
              <a:ext uri="{FF2B5EF4-FFF2-40B4-BE49-F238E27FC236}">
                <a16:creationId xmlns:a16="http://schemas.microsoft.com/office/drawing/2014/main" id="{67E1ACE6-1AFA-4F7A-BF23-529302F1E254}"/>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10 / 22</a:t>
            </a:r>
          </a:p>
        </p:txBody>
      </p:sp>
      <p:sp>
        <p:nvSpPr>
          <p:cNvPr id="3" name="Le parcours ADG-10">
            <a:extLst xmlns:a="http://schemas.openxmlformats.org/drawingml/2006/main">
              <a:ext uri="{FF2B5EF4-FFF2-40B4-BE49-F238E27FC236}">
                <a16:creationId xmlns:a16="http://schemas.microsoft.com/office/drawing/2014/main" id="{3674D012-0452-4CE5-B293-71C5225EA410}"/>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Le parcours ADG-10</a:t>
            </a:r>
          </a:p>
        </p:txBody>
      </p:sp>
      <p:graphicFrame>
        <p:nvGraphicFramePr>
          <p:cNvPr id="9" name=""/>
          <p:cNvGraphicFramePr/>
          <p:nvPr/>
        </p:nvGraphicFramePr>
        <p:xfrm>
          <a:off xmlns:a="http://schemas.openxmlformats.org/drawingml/2006/main" x="1571625" y="3238500"/>
          <a:ext xmlns:a="http://schemas.openxmlformats.org/drawingml/2006/main" cx="14478000" cy="5000625"/>
        </p:xfrm>
        <a:graphic xmlns:a="http://schemas.openxmlformats.org/drawingml/2006/main">
          <a:graphicData uri="http://schemas.openxmlformats.org/drawingml/2006/table">
            <a:tbl>
              <a:tblPr/>
              <a:tblGrid>
                <a:gridCol w="2499799"/>
                <a:gridCol w="6614050"/>
                <a:gridCol w="5364151"/>
              </a:tblGrid>
              <a:tr h="833438">
                <a:tc>
                  <a:txBody>
                    <a:bodyPr lIns="190500" tIns="114300" rIns="190500" bIns="114300"/>
                    <a:lstStyle/>
                    <a:p>
                      <a:r>
                        <a:rPr sz="2550" b="1">
                          <a:solidFill>
                            <a:srgbClr val="D2AB7D"/>
                          </a:solidFill>
                          <a:latin typeface="Calibri"/>
                          <a:ea typeface="Calibri"/>
                          <a:cs typeface="Calibri"/>
                        </a:rPr>
                        <a:t>Étape</a:t>
                      </a:r>
                    </a:p>
                  </a:txBody>
                  <a:tcPr marL="91440" marR="91440" marT="45720" marB="45720" anchor="ctr">
                    <a:solidFill>
                      <a:srgbClr val="1F303E"/>
                    </a:solidFill>
                  </a:tcPr>
                </a:tc>
                <a:tc>
                  <a:txBody>
                    <a:bodyPr lIns="190500" tIns="114300" rIns="190500" bIns="114300"/>
                    <a:lstStyle/>
                    <a:p>
                      <a:r>
                        <a:rPr sz="2550" b="1">
                          <a:solidFill>
                            <a:srgbClr val="D2AB7D"/>
                          </a:solidFill>
                          <a:latin typeface="Calibri"/>
                          <a:ea typeface="Calibri"/>
                          <a:cs typeface="Calibri"/>
                        </a:rPr>
                        <a:t>Fonction</a:t>
                      </a:r>
                    </a:p>
                  </a:txBody>
                  <a:tcPr marL="91440" marR="91440" marT="45720" marB="45720" anchor="ctr">
                    <a:solidFill>
                      <a:srgbClr val="1F303E"/>
                    </a:solidFill>
                  </a:tcPr>
                </a:tc>
                <a:tc>
                  <a:txBody>
                    <a:bodyPr lIns="190500" tIns="114300" rIns="190500" bIns="114300"/>
                    <a:lstStyle/>
                    <a:p>
                      <a:r>
                        <a:rPr sz="2550" b="1">
                          <a:solidFill>
                            <a:srgbClr val="D2AB7D"/>
                          </a:solidFill>
                          <a:latin typeface="Calibri"/>
                          <a:ea typeface="Calibri"/>
                          <a:cs typeface="Calibri"/>
                        </a:rPr>
                        <a:t>État dans le prototype</a:t>
                      </a:r>
                    </a:p>
                  </a:txBody>
                  <a:tcPr marL="91440" marR="91440" marT="45720" marB="45720" anchor="ctr">
                    <a:solidFill>
                      <a:srgbClr val="1F303E"/>
                    </a:solidFill>
                  </a:tcPr>
                </a:tc>
              </a:tr>
              <a:tr h="833438">
                <a:tc>
                  <a:txBody>
                    <a:bodyPr lIns="190500" tIns="114300" rIns="190500" bIns="114300"/>
                    <a:lstStyle/>
                    <a:p>
                      <a:r>
                        <a:rPr sz="2550" b="0">
                          <a:solidFill>
                            <a:srgbClr val="F1EBDD"/>
                          </a:solidFill>
                          <a:latin typeface="Calibri"/>
                          <a:ea typeface="Calibri"/>
                          <a:cs typeface="Calibri"/>
                        </a:rPr>
                        <a:t>E1 / E2</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Contenu IA et textes LinkedIn / WhatsApp</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Génération disponible</a:t>
                      </a:r>
                    </a:p>
                  </a:txBody>
                  <a:tcPr marL="91440" marR="91440" marT="45720" marB="45720" anchor="ctr">
                    <a:solidFill>
                      <a:srgbClr val="344B5E"/>
                    </a:solidFill>
                  </a:tcPr>
                </a:tc>
              </a:tr>
              <a:tr h="833438">
                <a:tc>
                  <a:txBody>
                    <a:bodyPr lIns="190500" tIns="114300" rIns="190500" bIns="114300"/>
                    <a:lstStyle/>
                    <a:p>
                      <a:r>
                        <a:rPr sz="2550" b="0">
                          <a:solidFill>
                            <a:srgbClr val="F1EBDD"/>
                          </a:solidFill>
                          <a:latin typeface="Calibri"/>
                          <a:ea typeface="Calibri"/>
                          <a:cs typeface="Calibri"/>
                        </a:rPr>
                        <a:t>E3</a:t>
                      </a:r>
                    </a:p>
                  </a:txBody>
                  <a:tcPr marL="91440" marR="91440" marT="45720" marB="45720" anchor="ctr">
                    <a:solidFill>
                      <a:srgbClr val="3C5364"/>
                    </a:solidFill>
                  </a:tcPr>
                </a:tc>
                <a:tc>
                  <a:txBody>
                    <a:bodyPr lIns="190500" tIns="114300" rIns="190500" bIns="114300"/>
                    <a:lstStyle/>
                    <a:p>
                      <a:r>
                        <a:rPr sz="2550" b="0">
                          <a:solidFill>
                            <a:srgbClr val="F1EBDD"/>
                          </a:solidFill>
                          <a:latin typeface="Calibri"/>
                          <a:ea typeface="Calibri"/>
                          <a:cs typeface="Calibri"/>
                        </a:rPr>
                        <a:t>Publication sociale</a:t>
                      </a:r>
                    </a:p>
                  </a:txBody>
                  <a:tcPr marL="91440" marR="91440" marT="45720" marB="45720" anchor="ctr">
                    <a:solidFill>
                      <a:srgbClr val="3C5364"/>
                    </a:solidFill>
                  </a:tcPr>
                </a:tc>
                <a:tc>
                  <a:txBody>
                    <a:bodyPr lIns="190500" tIns="114300" rIns="190500" bIns="114300"/>
                    <a:lstStyle/>
                    <a:p>
                      <a:r>
                        <a:rPr sz="2550" b="0">
                          <a:solidFill>
                            <a:srgbClr val="F1EBDD"/>
                          </a:solidFill>
                          <a:latin typeface="Calibri"/>
                          <a:ea typeface="Calibri"/>
                          <a:cs typeface="Calibri"/>
                        </a:rPr>
                        <a:t>À développer</a:t>
                      </a:r>
                    </a:p>
                  </a:txBody>
                  <a:tcPr marL="91440" marR="91440" marT="45720" marB="45720" anchor="ctr">
                    <a:solidFill>
                      <a:srgbClr val="3C5364"/>
                    </a:solidFill>
                  </a:tcPr>
                </a:tc>
              </a:tr>
              <a:tr h="833438">
                <a:tc>
                  <a:txBody>
                    <a:bodyPr lIns="190500" tIns="114300" rIns="190500" bIns="114300"/>
                    <a:lstStyle/>
                    <a:p>
                      <a:r>
                        <a:rPr sz="2550" b="0">
                          <a:solidFill>
                            <a:srgbClr val="F1EBDD"/>
                          </a:solidFill>
                          <a:latin typeface="Calibri"/>
                          <a:ea typeface="Calibri"/>
                          <a:cs typeface="Calibri"/>
                        </a:rPr>
                        <a:t>E4 / E5</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Scoring et entretien du contact</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Règles et séquences disponibles</a:t>
                      </a:r>
                    </a:p>
                  </a:txBody>
                  <a:tcPr marL="91440" marR="91440" marT="45720" marB="45720" anchor="ctr">
                    <a:solidFill>
                      <a:srgbClr val="344B5E"/>
                    </a:solidFill>
                  </a:tcPr>
                </a:tc>
              </a:tr>
              <a:tr h="833438">
                <a:tc>
                  <a:txBody>
                    <a:bodyPr lIns="190500" tIns="114300" rIns="190500" bIns="114300"/>
                    <a:lstStyle/>
                    <a:p>
                      <a:r>
                        <a:rPr sz="2550" b="0">
                          <a:solidFill>
                            <a:srgbClr val="F1EBDD"/>
                          </a:solidFill>
                          <a:latin typeface="Calibri"/>
                          <a:ea typeface="Calibri"/>
                          <a:cs typeface="Calibri"/>
                        </a:rPr>
                        <a:t>E6 / E7</a:t>
                      </a:r>
                    </a:p>
                  </a:txBody>
                  <a:tcPr marL="91440" marR="91440" marT="45720" marB="45720" anchor="ctr">
                    <a:solidFill>
                      <a:srgbClr val="3C5364"/>
                    </a:solidFill>
                  </a:tcPr>
                </a:tc>
                <a:tc>
                  <a:txBody>
                    <a:bodyPr lIns="190500" tIns="114300" rIns="190500" bIns="114300"/>
                    <a:lstStyle/>
                    <a:p>
                      <a:r>
                        <a:rPr sz="2550" b="0">
                          <a:solidFill>
                            <a:srgbClr val="F1EBDD"/>
                          </a:solidFill>
                          <a:latin typeface="Calibri"/>
                          <a:ea typeface="Calibri"/>
                          <a:cs typeface="Calibri"/>
                        </a:rPr>
                        <a:t>Proposition et relances de closing</a:t>
                      </a:r>
                    </a:p>
                  </a:txBody>
                  <a:tcPr marL="91440" marR="91440" marT="45720" marB="45720" anchor="ctr">
                    <a:solidFill>
                      <a:srgbClr val="3C5364"/>
                    </a:solidFill>
                  </a:tcPr>
                </a:tc>
                <a:tc>
                  <a:txBody>
                    <a:bodyPr lIns="190500" tIns="114300" rIns="190500" bIns="114300"/>
                    <a:lstStyle/>
                    <a:p>
                      <a:r>
                        <a:rPr sz="2550" b="0">
                          <a:solidFill>
                            <a:srgbClr val="F1EBDD"/>
                          </a:solidFill>
                          <a:latin typeface="Calibri"/>
                          <a:ea typeface="Calibri"/>
                          <a:cs typeface="Calibri"/>
                        </a:rPr>
                        <a:t>PDF, e-mail et jalons disponibles</a:t>
                      </a:r>
                    </a:p>
                  </a:txBody>
                  <a:tcPr marL="91440" marR="91440" marT="45720" marB="45720" anchor="ctr">
                    <a:solidFill>
                      <a:srgbClr val="3C5364"/>
                    </a:solidFill>
                  </a:tcPr>
                </a:tc>
              </a:tr>
              <a:tr h="833438">
                <a:tc>
                  <a:txBody>
                    <a:bodyPr lIns="190500" tIns="114300" rIns="190500" bIns="114300"/>
                    <a:lstStyle/>
                    <a:p>
                      <a:r>
                        <a:rPr sz="2550" b="0">
                          <a:solidFill>
                            <a:srgbClr val="F1EBDD"/>
                          </a:solidFill>
                          <a:latin typeface="Calibri"/>
                          <a:ea typeface="Calibri"/>
                          <a:cs typeface="Calibri"/>
                        </a:rPr>
                        <a:t>E8</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Convention et facture</a:t>
                      </a:r>
                    </a:p>
                  </a:txBody>
                  <a:tcPr marL="91440" marR="91440" marT="45720" marB="45720" anchor="ctr">
                    <a:solidFill>
                      <a:srgbClr val="344B5E"/>
                    </a:solidFill>
                  </a:tcPr>
                </a:tc>
                <a:tc>
                  <a:txBody>
                    <a:bodyPr lIns="190500" tIns="114300" rIns="190500" bIns="114300"/>
                    <a:lstStyle/>
                    <a:p>
                      <a:r>
                        <a:rPr sz="2550" b="0">
                          <a:solidFill>
                            <a:srgbClr val="F1EBDD"/>
                          </a:solidFill>
                          <a:latin typeface="Calibri"/>
                          <a:ea typeface="Calibri"/>
                          <a:cs typeface="Calibri"/>
                        </a:rPr>
                        <a:t>Génération et envoi disponibles</a:t>
                      </a:r>
                    </a:p>
                  </a:txBody>
                  <a:tcPr marL="91440" marR="91440" marT="45720" marB="45720" anchor="ctr">
                    <a:solidFill>
                      <a:srgbClr val="344B5E"/>
                    </a:solidFill>
                  </a:tcPr>
                </a:tc>
              </a:tr>
            </a:tbl>
          </a:graphicData>
        </a:graphic>
      </p:graphicFrame>
      <p:sp>
        <p:nvSpPr>
          <p:cNvPr id="5" name="Les scripts doivent s’exécuter aux échéances prévues. L">
            <a:extLst xmlns:a="http://schemas.openxmlformats.org/drawingml/2006/main">
              <a:ext uri="{FF2B5EF4-FFF2-40B4-BE49-F238E27FC236}">
                <a16:creationId xmlns:a16="http://schemas.microsoft.com/office/drawing/2014/main" id="{8189A8CD-655C-4023-A797-6820F9DE5A45}"/>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Les scripts doivent s’exécuter aux échéances prévues. Les réponses du prospect nécessitent un suivi humain.</a:t>
            </a:r>
          </a:p>
        </p:txBody>
      </p:sp>
    </p:spTree>
    <p:extLst>
      <p:ext uri="{BB962C8B-B14F-4D97-AF65-F5344CB8AC3E}">
        <p14:creationId xmlns:p14="http://schemas.microsoft.com/office/powerpoint/2010/main" val="70238261"/>
      </p:ext>
    </p:extLst>
  </p:cSld>
</p:sld>
</file>

<file path=ppt/slides/slide11.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25" name="ADG-10  /  AUTOMATISATION DU CYCLE COMMERCIAL">
            <a:extLst xmlns:a="http://schemas.openxmlformats.org/drawingml/2006/main">
              <a:ext uri="{FF2B5EF4-FFF2-40B4-BE49-F238E27FC236}">
                <a16:creationId xmlns:a16="http://schemas.microsoft.com/office/drawing/2014/main" id="{F09C6A24-E824-4535-BF97-6F53D719D066}"/>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1 / 22">
            <a:extLst xmlns:a="http://schemas.openxmlformats.org/drawingml/2006/main">
              <a:ext uri="{FF2B5EF4-FFF2-40B4-BE49-F238E27FC236}">
                <a16:creationId xmlns:a16="http://schemas.microsoft.com/office/drawing/2014/main" id="{330C0FB9-0B11-49B2-9E65-1E0277990D8C}"/>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11 / 22</a:t>
            </a:r>
          </a:p>
        </p:txBody>
      </p:sp>
      <p:sp>
        <p:nvSpPr>
          <p:cNvPr id="3" name="Cas d’utilisation">
            <a:extLst xmlns:a="http://schemas.openxmlformats.org/drawingml/2006/main">
              <a:ext uri="{FF2B5EF4-FFF2-40B4-BE49-F238E27FC236}">
                <a16:creationId xmlns:a16="http://schemas.microsoft.com/office/drawing/2014/main" id="{C05BF9AA-92C6-417B-95A1-9ED1238F7AF1}"/>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Cas d’utilisation</a:t>
            </a:r>
          </a:p>
        </p:txBody>
      </p:sp>
      <p:sp>
        <p:nvSpPr>
          <p:cNvPr id="4" name="Système ADG-10">
            <a:extLst xmlns:a="http://schemas.openxmlformats.org/drawingml/2006/main">
              <a:ext uri="{FF2B5EF4-FFF2-40B4-BE49-F238E27FC236}">
                <a16:creationId xmlns:a16="http://schemas.microsoft.com/office/drawing/2014/main" id="{18F063F2-39E3-4B43-88DB-A8AA3B15D1EA}"/>
              </a:ext>
            </a:extLst>
          </p:cNvPr>
          <p:cNvSpPr>
            <a:spLocks xmlns:a="http://schemas.openxmlformats.org/drawingml/2006/main" noGrp="1"/>
          </p:cNvSpPr>
          <p:nvPr/>
        </p:nvSpPr>
        <p:spPr>
          <a:xfrm xmlns:a="http://schemas.openxmlformats.org/drawingml/2006/main">
            <a:off x="4857750" y="3067050"/>
            <a:ext cx="8286750" cy="5600700"/>
          </a:xfrm>
          <a:prstGeom xmlns:a="http://schemas.openxmlformats.org/drawingml/2006/main" prst="rect">
            <a:avLst/>
          </a:prstGeom>
          <a:noFill xmlns:a="http://schemas.openxmlformats.org/drawingml/2006/main"/>
          <a:ln xmlns:a="http://schemas.openxmlformats.org/drawingml/2006/main" w="19050">
            <a:solidFill>
              <a:srgbClr val="A9C1CC"/>
            </a:solidFill>
          </a:ln>
        </p:spPr>
      </p:sp>
      <p:sp>
        <p:nvSpPr>
          <p:cNvPr id="5" name="Système ADG-10">
            <a:extLst xmlns:a="http://schemas.openxmlformats.org/drawingml/2006/main">
              <a:ext uri="{FF2B5EF4-FFF2-40B4-BE49-F238E27FC236}">
                <a16:creationId xmlns:a16="http://schemas.microsoft.com/office/drawing/2014/main" id="{2412B456-AD09-4C7A-AD0E-A83AA995129E}"/>
              </a:ext>
            </a:extLst>
          </p:cNvPr>
          <p:cNvSpPr>
            <a:spLocks xmlns:a="http://schemas.openxmlformats.org/drawingml/2006/main" noGrp="1"/>
          </p:cNvSpPr>
          <p:nvPr/>
        </p:nvSpPr>
        <p:spPr>
          <a:xfrm xmlns:a="http://schemas.openxmlformats.org/drawingml/2006/main">
            <a:off x="5334000" y="3124200"/>
            <a:ext cx="733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1">
                <a:solidFill>
                  <a:srgbClr val="F1EBDD"/>
                </a:solidFill>
                <a:latin typeface="Calibri"/>
                <a:ea typeface="Calibri"/>
                <a:cs typeface="Calibri"/>
              </a:defRPr>
            </a:pPr>
            <a:r>
              <a:rPr sz="2250" b="1">
                <a:solidFill>
                  <a:srgbClr val="F1EBDD"/>
                </a:solidFill>
                <a:latin typeface="Calibri"/>
                <a:ea typeface="Calibri"/>
                <a:cs typeface="Calibri"/>
              </a:rPr>
              <a:t>Système ADG-10</a:t>
            </a:r>
          </a:p>
        </p:txBody>
      </p:sp>
      <p:sp>
        <p:nvSpPr>
          <p:cNvPr id="6" name="Commercial">
            <a:extLst xmlns:a="http://schemas.openxmlformats.org/drawingml/2006/main">
              <a:ext uri="{FF2B5EF4-FFF2-40B4-BE49-F238E27FC236}">
                <a16:creationId xmlns:a16="http://schemas.microsoft.com/office/drawing/2014/main" id="{75C97B73-7C31-448D-B133-E153CA423498}"/>
              </a:ext>
            </a:extLst>
          </p:cNvPr>
          <p:cNvSpPr>
            <a:spLocks xmlns:a="http://schemas.openxmlformats.org/drawingml/2006/main" noGrp="1"/>
          </p:cNvSpPr>
          <p:nvPr/>
        </p:nvSpPr>
        <p:spPr>
          <a:xfrm xmlns:a="http://schemas.openxmlformats.org/drawingml/2006/main">
            <a:off x="1095375" y="4191000"/>
            <a:ext cx="2857500" cy="857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Commercial</a:t>
            </a:r>
          </a:p>
        </p:txBody>
      </p:sp>
      <p:sp>
        <p:nvSpPr>
          <p:cNvPr id="7" name="Administrateur">
            <a:extLst xmlns:a="http://schemas.openxmlformats.org/drawingml/2006/main">
              <a:ext uri="{FF2B5EF4-FFF2-40B4-BE49-F238E27FC236}">
                <a16:creationId xmlns:a16="http://schemas.microsoft.com/office/drawing/2014/main" id="{8A3CEE8D-DB7C-447E-896A-6BD80872E30F}"/>
              </a:ext>
            </a:extLst>
          </p:cNvPr>
          <p:cNvSpPr>
            <a:spLocks xmlns:a="http://schemas.openxmlformats.org/drawingml/2006/main" noGrp="1"/>
          </p:cNvSpPr>
          <p:nvPr/>
        </p:nvSpPr>
        <p:spPr>
          <a:xfrm xmlns:a="http://schemas.openxmlformats.org/drawingml/2006/main">
            <a:off x="1095375" y="7067550"/>
            <a:ext cx="2857500" cy="857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550">
                <a:solidFill>
                  <a:srgbClr val="F1EBDD"/>
                </a:solidFill>
                <a:latin typeface="Calibri"/>
                <a:ea typeface="Calibri"/>
                <a:cs typeface="Calibri"/>
              </a:defRPr>
            </a:pPr>
            <a:r>
              <a:rPr sz="2550">
                <a:solidFill>
                  <a:srgbClr val="F1EBDD"/>
                </a:solidFill>
                <a:latin typeface="Calibri"/>
                <a:ea typeface="Calibri"/>
                <a:cs typeface="Calibri"/>
              </a:rPr>
              <a:t>Administrateur</a:t>
            </a:r>
          </a:p>
        </p:txBody>
      </p:sp>
      <p:sp>
        <p:nvSpPr>
          <p:cNvPr id="8" name="Consulter et filtrer les leads">
            <a:extLst xmlns:a="http://schemas.openxmlformats.org/drawingml/2006/main">
              <a:ext uri="{FF2B5EF4-FFF2-40B4-BE49-F238E27FC236}">
                <a16:creationId xmlns:a16="http://schemas.microsoft.com/office/drawing/2014/main" id="{02330CB0-39B6-44FE-AE14-9B343204DC48}"/>
              </a:ext>
            </a:extLst>
          </p:cNvPr>
          <p:cNvSpPr>
            <a:spLocks xmlns:a="http://schemas.openxmlformats.org/drawingml/2006/main" noGrp="1"/>
          </p:cNvSpPr>
          <p:nvPr/>
        </p:nvSpPr>
        <p:spPr>
          <a:xfrm xmlns:a="http://schemas.openxmlformats.org/drawingml/2006/main">
            <a:off x="5381625" y="366712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Consulter et filtrer les leads</a:t>
            </a:r>
          </a:p>
        </p:txBody>
      </p:sp>
      <p:sp>
        <p:nvSpPr>
          <p:cNvPr id="9" name="Exécuter en simulation / réel">
            <a:extLst xmlns:a="http://schemas.openxmlformats.org/drawingml/2006/main">
              <a:ext uri="{FF2B5EF4-FFF2-40B4-BE49-F238E27FC236}">
                <a16:creationId xmlns:a16="http://schemas.microsoft.com/office/drawing/2014/main" id="{C84B67F7-86ED-4BE6-AFF2-E1BD05065A1F}"/>
              </a:ext>
            </a:extLst>
          </p:cNvPr>
          <p:cNvSpPr>
            <a:spLocks xmlns:a="http://schemas.openxmlformats.org/drawingml/2006/main" noGrp="1"/>
          </p:cNvSpPr>
          <p:nvPr/>
        </p:nvSpPr>
        <p:spPr>
          <a:xfrm xmlns:a="http://schemas.openxmlformats.org/drawingml/2006/main">
            <a:off x="5381625" y="463867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Exécuter en simulation / réel</a:t>
            </a:r>
          </a:p>
        </p:txBody>
      </p:sp>
      <p:sp>
        <p:nvSpPr>
          <p:cNvPr id="10" name="Générer contenus et documents">
            <a:extLst xmlns:a="http://schemas.openxmlformats.org/drawingml/2006/main">
              <a:ext uri="{FF2B5EF4-FFF2-40B4-BE49-F238E27FC236}">
                <a16:creationId xmlns:a16="http://schemas.microsoft.com/office/drawing/2014/main" id="{AD2EA097-42A1-4BDB-99F3-2EB1AD1EC216}"/>
              </a:ext>
            </a:extLst>
          </p:cNvPr>
          <p:cNvSpPr>
            <a:spLocks xmlns:a="http://schemas.openxmlformats.org/drawingml/2006/main" noGrp="1"/>
          </p:cNvSpPr>
          <p:nvPr/>
        </p:nvSpPr>
        <p:spPr>
          <a:xfrm xmlns:a="http://schemas.openxmlformats.org/drawingml/2006/main">
            <a:off x="5381625" y="561022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Générer contenus et documents</a:t>
            </a:r>
          </a:p>
        </p:txBody>
      </p:sp>
      <p:sp>
        <p:nvSpPr>
          <p:cNvPr id="11" name="Déclencher les relances">
            <a:extLst xmlns:a="http://schemas.openxmlformats.org/drawingml/2006/main">
              <a:ext uri="{FF2B5EF4-FFF2-40B4-BE49-F238E27FC236}">
                <a16:creationId xmlns:a16="http://schemas.microsoft.com/office/drawing/2014/main" id="{01F65050-ED2A-4BE3-A4E5-4F3E08727764}"/>
              </a:ext>
            </a:extLst>
          </p:cNvPr>
          <p:cNvSpPr>
            <a:spLocks xmlns:a="http://schemas.openxmlformats.org/drawingml/2006/main" noGrp="1"/>
          </p:cNvSpPr>
          <p:nvPr/>
        </p:nvSpPr>
        <p:spPr>
          <a:xfrm xmlns:a="http://schemas.openxmlformats.org/drawingml/2006/main">
            <a:off x="5381625" y="658177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Déclencher les relances</a:t>
            </a:r>
          </a:p>
        </p:txBody>
      </p:sp>
      <p:sp>
        <p:nvSpPr>
          <p:cNvPr id="12" name="Configurer et contrôler les journaux">
            <a:extLst xmlns:a="http://schemas.openxmlformats.org/drawingml/2006/main">
              <a:ext uri="{FF2B5EF4-FFF2-40B4-BE49-F238E27FC236}">
                <a16:creationId xmlns:a16="http://schemas.microsoft.com/office/drawing/2014/main" id="{B03C7272-823F-42FD-B619-A17D0A34751C}"/>
              </a:ext>
            </a:extLst>
          </p:cNvPr>
          <p:cNvSpPr>
            <a:spLocks xmlns:a="http://schemas.openxmlformats.org/drawingml/2006/main" noGrp="1"/>
          </p:cNvSpPr>
          <p:nvPr/>
        </p:nvSpPr>
        <p:spPr>
          <a:xfrm xmlns:a="http://schemas.openxmlformats.org/drawingml/2006/main">
            <a:off x="5381625" y="7553325"/>
            <a:ext cx="7239000" cy="762000"/>
          </a:xfrm>
          <a:prstGeom xmlns:a="http://schemas.openxmlformats.org/drawingml/2006/main" prst="ellipse">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Configurer et contrôler les journaux</a:t>
            </a:r>
          </a:p>
        </p:txBody>
      </p:sp>
      <p:cxnSp>
        <p:nvCxnSpPr>
          <p:cNvPr id="37" name=""/>
          <p:cNvCxnSpPr>
            <a:stCxn xmlns:a="http://schemas.openxmlformats.org/drawingml/2006/main" id="6" idx="3"/>
            <a:endCxn xmlns:a="http://schemas.openxmlformats.org/drawingml/2006/main" id="8" idx="2"/>
          </p:cNvCxnSpPr>
          <p:nvPr/>
        </p:nvCxnSpPr>
        <p:spPr>
          <a:xfrm xmlns:a="http://schemas.openxmlformats.org/drawingml/2006/main" flipV="1">
            <a:off x="3952875" y="4048125"/>
            <a:ext cx="1428750" cy="57150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38" name=""/>
          <p:cNvCxnSpPr>
            <a:stCxn xmlns:a="http://schemas.openxmlformats.org/drawingml/2006/main" id="6" idx="3"/>
            <a:endCxn xmlns:a="http://schemas.openxmlformats.org/drawingml/2006/main" id="9" idx="2"/>
          </p:cNvCxnSpPr>
          <p:nvPr/>
        </p:nvCxnSpPr>
        <p:spPr>
          <a:xfrm xmlns:a="http://schemas.openxmlformats.org/drawingml/2006/main">
            <a:off x="3952875" y="4619625"/>
            <a:ext cx="1428750" cy="40005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39" name=""/>
          <p:cNvCxnSpPr>
            <a:stCxn xmlns:a="http://schemas.openxmlformats.org/drawingml/2006/main" id="6" idx="3"/>
            <a:endCxn xmlns:a="http://schemas.openxmlformats.org/drawingml/2006/main" id="10" idx="2"/>
          </p:cNvCxnSpPr>
          <p:nvPr/>
        </p:nvCxnSpPr>
        <p:spPr>
          <a:xfrm xmlns:a="http://schemas.openxmlformats.org/drawingml/2006/main">
            <a:off x="3952875" y="4619625"/>
            <a:ext cx="1428750" cy="137160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40" name=""/>
          <p:cNvCxnSpPr>
            <a:stCxn xmlns:a="http://schemas.openxmlformats.org/drawingml/2006/main" id="6" idx="3"/>
            <a:endCxn xmlns:a="http://schemas.openxmlformats.org/drawingml/2006/main" id="11" idx="2"/>
          </p:cNvCxnSpPr>
          <p:nvPr/>
        </p:nvCxnSpPr>
        <p:spPr>
          <a:xfrm xmlns:a="http://schemas.openxmlformats.org/drawingml/2006/main">
            <a:off x="3952875" y="4619625"/>
            <a:ext cx="1428750" cy="234315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41" name=""/>
          <p:cNvCxnSpPr>
            <a:stCxn xmlns:a="http://schemas.openxmlformats.org/drawingml/2006/main" id="7" idx="3"/>
            <a:endCxn xmlns:a="http://schemas.openxmlformats.org/drawingml/2006/main" id="12" idx="2"/>
          </p:cNvCxnSpPr>
          <p:nvPr/>
        </p:nvCxnSpPr>
        <p:spPr>
          <a:xfrm xmlns:a="http://schemas.openxmlformats.org/drawingml/2006/main">
            <a:off x="3952875" y="7496175"/>
            <a:ext cx="1428750" cy="43815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18" name="Airtable&#10;Données CRM">
            <a:extLst xmlns:a="http://schemas.openxmlformats.org/drawingml/2006/main">
              <a:ext uri="{FF2B5EF4-FFF2-40B4-BE49-F238E27FC236}">
                <a16:creationId xmlns:a16="http://schemas.microsoft.com/office/drawing/2014/main" id="{9B898FE9-1FEA-496D-A278-4D76F4F899AE}"/>
              </a:ext>
            </a:extLst>
          </p:cNvPr>
          <p:cNvSpPr>
            <a:spLocks xmlns:a="http://schemas.openxmlformats.org/drawingml/2006/main" noGrp="1"/>
          </p:cNvSpPr>
          <p:nvPr/>
        </p:nvSpPr>
        <p:spPr>
          <a:xfrm xmlns:a="http://schemas.openxmlformats.org/drawingml/2006/main">
            <a:off x="14097000" y="3810000"/>
            <a:ext cx="3048000" cy="9048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Airtable</a:t>
            </a:r>
          </a:p>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Données CRM</a:t>
            </a:r>
          </a:p>
        </p:txBody>
      </p:sp>
      <p:sp>
        <p:nvSpPr>
          <p:cNvPr id="19" name="Groq&#10;Génération IA">
            <a:extLst xmlns:a="http://schemas.openxmlformats.org/drawingml/2006/main">
              <a:ext uri="{FF2B5EF4-FFF2-40B4-BE49-F238E27FC236}">
                <a16:creationId xmlns:a16="http://schemas.microsoft.com/office/drawing/2014/main" id="{F9719F44-3A99-4B71-9BA9-547FE4848521}"/>
              </a:ext>
            </a:extLst>
          </p:cNvPr>
          <p:cNvSpPr>
            <a:spLocks xmlns:a="http://schemas.openxmlformats.org/drawingml/2006/main" noGrp="1"/>
          </p:cNvSpPr>
          <p:nvPr/>
        </p:nvSpPr>
        <p:spPr>
          <a:xfrm xmlns:a="http://schemas.openxmlformats.org/drawingml/2006/main">
            <a:off x="14097000" y="5657850"/>
            <a:ext cx="3048000" cy="9048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Groq</a:t>
            </a:r>
          </a:p>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Génération IA</a:t>
            </a:r>
          </a:p>
        </p:txBody>
      </p:sp>
      <p:sp>
        <p:nvSpPr>
          <p:cNvPr id="20" name="SMTP / navigateur&#10;Communication">
            <a:extLst xmlns:a="http://schemas.openxmlformats.org/drawingml/2006/main">
              <a:ext uri="{FF2B5EF4-FFF2-40B4-BE49-F238E27FC236}">
                <a16:creationId xmlns:a16="http://schemas.microsoft.com/office/drawing/2014/main" id="{DCD4AD3A-0215-4C4B-8748-16312AF016D2}"/>
              </a:ext>
            </a:extLst>
          </p:cNvPr>
          <p:cNvSpPr>
            <a:spLocks xmlns:a="http://schemas.openxmlformats.org/drawingml/2006/main" noGrp="1"/>
          </p:cNvSpPr>
          <p:nvPr/>
        </p:nvSpPr>
        <p:spPr>
          <a:xfrm xmlns:a="http://schemas.openxmlformats.org/drawingml/2006/main">
            <a:off x="14097000" y="7524750"/>
            <a:ext cx="3048000" cy="9048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SMTP / navigateur</a:t>
            </a:r>
          </a:p>
          <a:p xmlns:a="http://schemas.openxmlformats.org/drawingml/2006/main">
            <a:pPr algn="ctr">
              <a:defRPr sz="2400">
                <a:solidFill>
                  <a:srgbClr val="F1EBDD"/>
                </a:solidFill>
                <a:latin typeface="Calibri"/>
                <a:ea typeface="Calibri"/>
                <a:cs typeface="Calibri"/>
              </a:defRPr>
            </a:pPr>
            <a:r>
              <a:rPr sz="2400">
                <a:solidFill>
                  <a:srgbClr val="F1EBDD"/>
                </a:solidFill>
                <a:latin typeface="Calibri"/>
                <a:ea typeface="Calibri"/>
                <a:cs typeface="Calibri"/>
              </a:rPr>
              <a:t>Communication</a:t>
            </a:r>
          </a:p>
        </p:txBody>
      </p:sp>
      <p:cxnSp>
        <p:nvCxnSpPr>
          <p:cNvPr id="45" name=""/>
          <p:cNvCxnSpPr>
            <a:stCxn xmlns:a="http://schemas.openxmlformats.org/drawingml/2006/main" id="8" idx="6"/>
            <a:endCxn xmlns:a="http://schemas.openxmlformats.org/drawingml/2006/main" id="18" idx="1"/>
          </p:cNvCxnSpPr>
          <p:nvPr/>
        </p:nvCxnSpPr>
        <p:spPr>
          <a:xfrm xmlns:a="http://schemas.openxmlformats.org/drawingml/2006/main">
            <a:off x="12620625" y="4048125"/>
            <a:ext cx="1476375" cy="214313"/>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46" name=""/>
          <p:cNvCxnSpPr>
            <a:stCxn xmlns:a="http://schemas.openxmlformats.org/drawingml/2006/main" id="10" idx="6"/>
            <a:endCxn xmlns:a="http://schemas.openxmlformats.org/drawingml/2006/main" id="19" idx="1"/>
          </p:cNvCxnSpPr>
          <p:nvPr/>
        </p:nvCxnSpPr>
        <p:spPr>
          <a:xfrm xmlns:a="http://schemas.openxmlformats.org/drawingml/2006/main">
            <a:off x="12620625" y="5991225"/>
            <a:ext cx="1476375" cy="119063"/>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47" name=""/>
          <p:cNvCxnSpPr>
            <a:stCxn xmlns:a="http://schemas.openxmlformats.org/drawingml/2006/main" id="11" idx="6"/>
            <a:endCxn xmlns:a="http://schemas.openxmlformats.org/drawingml/2006/main" id="20" idx="1"/>
          </p:cNvCxnSpPr>
          <p:nvPr/>
        </p:nvCxnSpPr>
        <p:spPr>
          <a:xfrm xmlns:a="http://schemas.openxmlformats.org/drawingml/2006/main">
            <a:off x="12620625" y="6962775"/>
            <a:ext cx="1476375" cy="1014413"/>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24" name="Rôles métier du rapport. Le prototype ne dispose pas en">
            <a:extLst xmlns:a="http://schemas.openxmlformats.org/drawingml/2006/main">
              <a:ext uri="{FF2B5EF4-FFF2-40B4-BE49-F238E27FC236}">
                <a16:creationId xmlns:a16="http://schemas.microsoft.com/office/drawing/2014/main" id="{E48DBD49-3BF5-45A8-8FB9-6299B886511E}"/>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Rôles métier du rapport. Le prototype ne dispose pas encore de comptes applicatifs distincts.</a:t>
            </a:r>
          </a:p>
        </p:txBody>
      </p:sp>
    </p:spTree>
    <p:extLst>
      <p:ext uri="{BB962C8B-B14F-4D97-AF65-F5344CB8AC3E}">
        <p14:creationId xmlns:p14="http://schemas.microsoft.com/office/powerpoint/2010/main" val="497720317"/>
      </p:ext>
    </p:extLst>
  </p:cSld>
</p:sld>
</file>

<file path=ppt/slides/slide12.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5" name="ADG-10  /  AUTOMATISATION DU CYCLE COMMERCIAL">
            <a:extLst xmlns:a="http://schemas.openxmlformats.org/drawingml/2006/main">
              <a:ext uri="{FF2B5EF4-FFF2-40B4-BE49-F238E27FC236}">
                <a16:creationId xmlns:a16="http://schemas.microsoft.com/office/drawing/2014/main" id="{626983C6-B4DD-4720-8A01-FBAAB18AA006}"/>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2 / 22">
            <a:extLst xmlns:a="http://schemas.openxmlformats.org/drawingml/2006/main">
              <a:ext uri="{FF2B5EF4-FFF2-40B4-BE49-F238E27FC236}">
                <a16:creationId xmlns:a16="http://schemas.microsoft.com/office/drawing/2014/main" id="{227C477A-3077-443E-9214-C277BB687032}"/>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12 / 22</a:t>
            </a:r>
          </a:p>
        </p:txBody>
      </p:sp>
      <p:sp>
        <p:nvSpPr>
          <p:cNvPr id="3" name="Modèle conceptuel des données">
            <a:extLst xmlns:a="http://schemas.openxmlformats.org/drawingml/2006/main">
              <a:ext uri="{FF2B5EF4-FFF2-40B4-BE49-F238E27FC236}">
                <a16:creationId xmlns:a16="http://schemas.microsoft.com/office/drawing/2014/main" id="{1BAE3176-20C2-474C-A96E-88DCEA2FC66F}"/>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Modèle conceptuel des données</a:t>
            </a:r>
          </a:p>
        </p:txBody>
      </p:sp>
      <p:sp>
        <p:nvSpPr>
          <p:cNvPr id="4" name="Formation&#10;id, titre, durée&#10;prix, pitch, objectifs">
            <a:extLst xmlns:a="http://schemas.openxmlformats.org/drawingml/2006/main">
              <a:ext uri="{FF2B5EF4-FFF2-40B4-BE49-F238E27FC236}">
                <a16:creationId xmlns:a16="http://schemas.microsoft.com/office/drawing/2014/main" id="{16C30720-F76C-418C-8D4A-EF63654A0660}"/>
              </a:ext>
            </a:extLst>
          </p:cNvPr>
          <p:cNvSpPr>
            <a:spLocks xmlns:a="http://schemas.openxmlformats.org/drawingml/2006/main" noGrp="1"/>
          </p:cNvSpPr>
          <p:nvPr/>
        </p:nvSpPr>
        <p:spPr>
          <a:xfrm xmlns:a="http://schemas.openxmlformats.org/drawingml/2006/main">
            <a:off x="1381125" y="3333750"/>
            <a:ext cx="5810250" cy="19050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Formation</a:t>
            </a:r>
          </a:p>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id, titre, durée</a:t>
            </a:r>
          </a:p>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prix, pitch, objectifs</a:t>
            </a:r>
          </a:p>
        </p:txBody>
      </p:sp>
      <p:sp>
        <p:nvSpPr>
          <p:cNvPr id="5" name="Lead&#10;id, coordonnées, score&#10;statut, formation, dates">
            <a:extLst xmlns:a="http://schemas.openxmlformats.org/drawingml/2006/main">
              <a:ext uri="{FF2B5EF4-FFF2-40B4-BE49-F238E27FC236}">
                <a16:creationId xmlns:a16="http://schemas.microsoft.com/office/drawing/2014/main" id="{22EE74DF-43B6-4FFF-9006-E542B27BB480}"/>
              </a:ext>
            </a:extLst>
          </p:cNvPr>
          <p:cNvSpPr>
            <a:spLocks xmlns:a="http://schemas.openxmlformats.org/drawingml/2006/main" noGrp="1"/>
          </p:cNvSpPr>
          <p:nvPr/>
        </p:nvSpPr>
        <p:spPr>
          <a:xfrm xmlns:a="http://schemas.openxmlformats.org/drawingml/2006/main">
            <a:off x="10810875" y="3333750"/>
            <a:ext cx="5810250" cy="19050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Lead</a:t>
            </a:r>
          </a:p>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id, coordonnées, score</a:t>
            </a:r>
          </a:p>
          <a:p xmlns:a="http://schemas.openxmlformats.org/drawingml/2006/main">
            <a:pPr algn="ctr">
              <a:defRPr sz="3000">
                <a:solidFill>
                  <a:srgbClr val="F1EBDD"/>
                </a:solidFill>
                <a:latin typeface="Calibri"/>
                <a:ea typeface="Calibri"/>
                <a:cs typeface="Calibri"/>
              </a:defRPr>
            </a:pPr>
            <a:r>
              <a:rPr sz="3000">
                <a:solidFill>
                  <a:srgbClr val="F1EBDD"/>
                </a:solidFill>
                <a:latin typeface="Calibri"/>
                <a:ea typeface="Calibri"/>
                <a:cs typeface="Calibri"/>
              </a:rPr>
              <a:t>statut, formation, dates</a:t>
            </a:r>
          </a:p>
        </p:txBody>
      </p: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a:off x="7191375" y="4286250"/>
            <a:ext cx="3619500"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7" name="1                         0..*">
            <a:extLst xmlns:a="http://schemas.openxmlformats.org/drawingml/2006/main">
              <a:ext uri="{FF2B5EF4-FFF2-40B4-BE49-F238E27FC236}">
                <a16:creationId xmlns:a16="http://schemas.microsoft.com/office/drawing/2014/main" id="{583E667E-D5AF-4D7A-8518-67C9DBA87CD5}"/>
              </a:ext>
            </a:extLst>
          </p:cNvPr>
          <p:cNvSpPr>
            <a:spLocks xmlns:a="http://schemas.openxmlformats.org/drawingml/2006/main" noGrp="1"/>
          </p:cNvSpPr>
          <p:nvPr/>
        </p:nvSpPr>
        <p:spPr>
          <a:xfrm xmlns:a="http://schemas.openxmlformats.org/drawingml/2006/main">
            <a:off x="7477125" y="381000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325" b="0">
                <a:solidFill>
                  <a:srgbClr val="F1EBDD"/>
                </a:solidFill>
                <a:latin typeface="Calibri"/>
                <a:ea typeface="Calibri"/>
                <a:cs typeface="Calibri"/>
              </a:defRPr>
            </a:pPr>
            <a:r>
              <a:rPr sz="2325" b="0">
                <a:solidFill>
                  <a:srgbClr val="F1EBDD"/>
                </a:solidFill>
                <a:latin typeface="Calibri"/>
                <a:ea typeface="Calibri"/>
                <a:cs typeface="Calibri"/>
              </a:rPr>
              <a:t>1                         0..*</a:t>
            </a:r>
          </a:p>
        </p:txBody>
      </p:sp>
      <p:sp>
        <p:nvSpPr>
          <p:cNvPr id="8" name="Proposition&#10;référence, date&#10;PDF local">
            <a:extLst xmlns:a="http://schemas.openxmlformats.org/drawingml/2006/main">
              <a:ext uri="{FF2B5EF4-FFF2-40B4-BE49-F238E27FC236}">
                <a16:creationId xmlns:a16="http://schemas.microsoft.com/office/drawing/2014/main" id="{57B2DDA3-F37D-4C1D-B608-BFD8598C8FC6}"/>
              </a:ext>
            </a:extLst>
          </p:cNvPr>
          <p:cNvSpPr>
            <a:spLocks xmlns:a="http://schemas.openxmlformats.org/drawingml/2006/main" noGrp="1"/>
          </p:cNvSpPr>
          <p:nvPr/>
        </p:nvSpPr>
        <p:spPr>
          <a:xfrm xmlns:a="http://schemas.openxmlformats.org/drawingml/2006/main">
            <a:off x="1381125" y="6715125"/>
            <a:ext cx="4572000" cy="1619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Proposition</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référence, date</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PDF local</a:t>
            </a:r>
          </a:p>
        </p:txBody>
      </p:sp>
      <p:sp>
        <p:nvSpPr>
          <p:cNvPr id="9" name="Convention / Facture&#10;numéro, montants&#10;PDF local">
            <a:extLst xmlns:a="http://schemas.openxmlformats.org/drawingml/2006/main">
              <a:ext uri="{FF2B5EF4-FFF2-40B4-BE49-F238E27FC236}">
                <a16:creationId xmlns:a16="http://schemas.microsoft.com/office/drawing/2014/main" id="{3EFD0C55-4428-4B73-BCDB-30727D83ACFB}"/>
              </a:ext>
            </a:extLst>
          </p:cNvPr>
          <p:cNvSpPr>
            <a:spLocks xmlns:a="http://schemas.openxmlformats.org/drawingml/2006/main" noGrp="1"/>
          </p:cNvSpPr>
          <p:nvPr/>
        </p:nvSpPr>
        <p:spPr>
          <a:xfrm xmlns:a="http://schemas.openxmlformats.org/drawingml/2006/main">
            <a:off x="6715125" y="6715125"/>
            <a:ext cx="4762500" cy="1619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Convention / Facture</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numéro, montants</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PDF local</a:t>
            </a:r>
          </a:p>
        </p:txBody>
      </p:sp>
      <p:sp>
        <p:nvSpPr>
          <p:cNvPr id="10" name="ActionEnvoi&#10;clé, canal, date UTC&#10;journal JSON">
            <a:extLst xmlns:a="http://schemas.openxmlformats.org/drawingml/2006/main">
              <a:ext uri="{FF2B5EF4-FFF2-40B4-BE49-F238E27FC236}">
                <a16:creationId xmlns:a16="http://schemas.microsoft.com/office/drawing/2014/main" id="{070EE47D-F187-4540-8D63-E526BB18E146}"/>
              </a:ext>
            </a:extLst>
          </p:cNvPr>
          <p:cNvSpPr>
            <a:spLocks xmlns:a="http://schemas.openxmlformats.org/drawingml/2006/main" noGrp="1"/>
          </p:cNvSpPr>
          <p:nvPr/>
        </p:nvSpPr>
        <p:spPr>
          <a:xfrm xmlns:a="http://schemas.openxmlformats.org/drawingml/2006/main">
            <a:off x="12239625" y="6715125"/>
            <a:ext cx="4381500" cy="161925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ActionEnvoi</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clé, canal, date UTC</a:t>
            </a:r>
          </a:p>
          <a:p xmlns:a="http://schemas.openxmlformats.org/drawingml/2006/main">
            <a:pPr algn="ctr">
              <a:defRPr sz="2700">
                <a:solidFill>
                  <a:srgbClr val="F1EBDD"/>
                </a:solidFill>
                <a:latin typeface="Calibri"/>
                <a:ea typeface="Calibri"/>
                <a:cs typeface="Calibri"/>
              </a:defRPr>
            </a:pPr>
            <a:r>
              <a:rPr sz="2700">
                <a:solidFill>
                  <a:srgbClr val="F1EBDD"/>
                </a:solidFill>
                <a:latin typeface="Calibri"/>
                <a:ea typeface="Calibri"/>
                <a:cs typeface="Calibri"/>
              </a:rPr>
              <a:t>journal JSON</a:t>
            </a:r>
          </a:p>
        </p:txBody>
      </p:sp>
      <p:cxnSp>
        <p:nvCxnSpPr>
          <p:cNvPr id="25" name=""/>
          <p:cNvCxnSpPr>
            <a:stCxn xmlns:a="http://schemas.openxmlformats.org/drawingml/2006/main" id="5" idx="2"/>
            <a:endCxn xmlns:a="http://schemas.openxmlformats.org/drawingml/2006/main" id="8" idx="0"/>
          </p:cNvCxnSpPr>
          <p:nvPr/>
        </p:nvCxnSpPr>
        <p:spPr>
          <a:xfrm xmlns:a="http://schemas.openxmlformats.org/drawingml/2006/main" flipH="1">
            <a:off x="3667125" y="5238750"/>
            <a:ext cx="10048875" cy="1476375"/>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6" name=""/>
          <p:cNvCxnSpPr>
            <a:stCxn xmlns:a="http://schemas.openxmlformats.org/drawingml/2006/main" id="5" idx="2"/>
            <a:endCxn xmlns:a="http://schemas.openxmlformats.org/drawingml/2006/main" id="9" idx="0"/>
          </p:cNvCxnSpPr>
          <p:nvPr/>
        </p:nvCxnSpPr>
        <p:spPr>
          <a:xfrm xmlns:a="http://schemas.openxmlformats.org/drawingml/2006/main" flipH="1">
            <a:off x="9096375" y="5238750"/>
            <a:ext cx="4619625" cy="1476375"/>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7" name=""/>
          <p:cNvCxnSpPr>
            <a:stCxn xmlns:a="http://schemas.openxmlformats.org/drawingml/2006/main" id="5" idx="2"/>
            <a:endCxn xmlns:a="http://schemas.openxmlformats.org/drawingml/2006/main" id="10" idx="0"/>
          </p:cNvCxnSpPr>
          <p:nvPr/>
        </p:nvCxnSpPr>
        <p:spPr>
          <a:xfrm xmlns:a="http://schemas.openxmlformats.org/drawingml/2006/main">
            <a:off x="13716000" y="5238750"/>
            <a:ext cx="714375" cy="1476375"/>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14" name="Modèle conceptuel, non classes Python persistées. Donné">
            <a:extLst xmlns:a="http://schemas.openxmlformats.org/drawingml/2006/main">
              <a:ext uri="{FF2B5EF4-FFF2-40B4-BE49-F238E27FC236}">
                <a16:creationId xmlns:a16="http://schemas.microsoft.com/office/drawing/2014/main" id="{F40D82F4-07A9-46E5-BB01-34EFDEC1FDD0}"/>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Modèle conceptuel, non classes Python persistées. Données métier dans Airtable, PDF et journal locaux.</a:t>
            </a:r>
          </a:p>
        </p:txBody>
      </p:sp>
    </p:spTree>
    <p:extLst>
      <p:ext uri="{BB962C8B-B14F-4D97-AF65-F5344CB8AC3E}">
        <p14:creationId xmlns:p14="http://schemas.microsoft.com/office/powerpoint/2010/main" val="1526210438"/>
      </p:ext>
    </p:extLst>
  </p:cSld>
</p:sld>
</file>

<file path=ppt/slides/slide13.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9" name="ADG-10  /  AUTOMATISATION DU CYCLE COMMERCIAL">
            <a:extLst xmlns:a="http://schemas.openxmlformats.org/drawingml/2006/main">
              <a:ext uri="{FF2B5EF4-FFF2-40B4-BE49-F238E27FC236}">
                <a16:creationId xmlns:a16="http://schemas.microsoft.com/office/drawing/2014/main" id="{72D45A61-1243-428D-A878-AB139FFC90A4}"/>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3 / 22">
            <a:extLst xmlns:a="http://schemas.openxmlformats.org/drawingml/2006/main">
              <a:ext uri="{FF2B5EF4-FFF2-40B4-BE49-F238E27FC236}">
                <a16:creationId xmlns:a16="http://schemas.microsoft.com/office/drawing/2014/main" id="{A1817F75-449A-4E86-99E4-F72B88DA358E}"/>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13 / 22</a:t>
            </a:r>
          </a:p>
        </p:txBody>
      </p:sp>
      <p:sp>
        <p:nvSpPr>
          <p:cNvPr id="3" name="Scoring et routage des prospects">
            <a:extLst xmlns:a="http://schemas.openxmlformats.org/drawingml/2006/main">
              <a:ext uri="{FF2B5EF4-FFF2-40B4-BE49-F238E27FC236}">
                <a16:creationId xmlns:a16="http://schemas.microsoft.com/office/drawing/2014/main" id="{6ED037B6-D90B-4318-8784-3E7444E021A2}"/>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Scoring et routage des prospects</a:t>
            </a:r>
          </a:p>
        </p:txBody>
      </p:sp>
      <p:sp>
        <p:nvSpPr>
          <p:cNvPr id="4" name="Pondération des critères (%)">
            <a:extLst xmlns:a="http://schemas.openxmlformats.org/drawingml/2006/main">
              <a:ext uri="{FF2B5EF4-FFF2-40B4-BE49-F238E27FC236}">
                <a16:creationId xmlns:a16="http://schemas.microsoft.com/office/drawing/2014/main" id="{19253C5E-C696-42E0-8FA0-13A515E60C5A}"/>
              </a:ext>
            </a:extLst>
          </p:cNvPr>
          <p:cNvSpPr>
            <a:spLocks xmlns:a="http://schemas.openxmlformats.org/drawingml/2006/main" noGrp="1"/>
          </p:cNvSpPr>
          <p:nvPr/>
        </p:nvSpPr>
        <p:spPr>
          <a:xfrm xmlns:a="http://schemas.openxmlformats.org/drawingml/2006/main">
            <a:off x="1905000" y="2952750"/>
            <a:ext cx="685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250" b="0">
                <a:solidFill>
                  <a:srgbClr val="F1EBDD"/>
                </a:solidFill>
                <a:latin typeface="Calibri"/>
                <a:ea typeface="Calibri"/>
                <a:cs typeface="Calibri"/>
              </a:defRPr>
            </a:pPr>
            <a:r>
              <a:rPr sz="2250" b="0">
                <a:solidFill>
                  <a:srgbClr val="F1EBDD"/>
                </a:solidFill>
                <a:latin typeface="Calibri"/>
                <a:ea typeface="Calibri"/>
                <a:cs typeface="Calibri"/>
              </a:rPr>
              <a:t>Pondération des critères (%)</a:t>
            </a:r>
          </a:p>
        </p:txBody>
      </p:sp>
      <p:graphicFrame>
        <p:nvGraphicFramePr>
          <p:cNvPr id="13" name="Chart"/>
          <p:cNvGraphicFramePr/>
          <p:nvPr/>
        </p:nvGraphicFramePr>
        <p:xfrm>
          <a:off xmlns:a="http://schemas.openxmlformats.org/drawingml/2006/main" x="1381125" y="3333750"/>
          <a:ext xmlns:a="http://schemas.openxmlformats.org/drawingml/2006/main" cx="7715250" cy="4714875"/>
        </p:xfrm>
        <a:graphic xmlns:a="http://schemas.openxmlformats.org/drawingml/2006/main">
          <a:graphicData uri="http://schemas.openxmlformats.org/drawingml/2006/chart">
            <c:chart xmlns:r="http://schemas.openxmlformats.org/officeDocument/2006/relationships" xmlns:c="http://schemas.openxmlformats.org/drawingml/2006/chart" r:id="R483e1aea795c46c6"/>
          </a:graphicData>
        </a:graphic>
      </p:graphicFrame>
      <p:sp>
        <p:nvSpPr>
          <p:cNvPr id="6" name="Score ≥ 8 : priorité commerciale&#10;&#10;5 ≤ score &lt; 8 : quali">
            <a:extLst xmlns:a="http://schemas.openxmlformats.org/drawingml/2006/main">
              <a:ext uri="{FF2B5EF4-FFF2-40B4-BE49-F238E27FC236}">
                <a16:creationId xmlns:a16="http://schemas.microsoft.com/office/drawing/2014/main" id="{9B9412A8-C6F2-4C9E-9CE8-D8D2AD8F77F7}"/>
              </a:ext>
            </a:extLst>
          </p:cNvPr>
          <p:cNvSpPr>
            <a:spLocks xmlns:a="http://schemas.openxmlformats.org/drawingml/2006/main" noGrp="1"/>
          </p:cNvSpPr>
          <p:nvPr/>
        </p:nvSpPr>
        <p:spPr>
          <a:xfrm xmlns:a="http://schemas.openxmlformats.org/drawingml/2006/main">
            <a:off x="9810750" y="3476625"/>
            <a:ext cx="571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0">
                <a:solidFill>
                  <a:srgbClr val="F1EBDD"/>
                </a:solidFill>
                <a:latin typeface="Calibri"/>
                <a:ea typeface="Calibri"/>
                <a:cs typeface="Calibri"/>
              </a:defRPr>
            </a:pPr>
            <a:r>
              <a:rPr sz="3000" b="0">
                <a:solidFill>
                  <a:srgbClr val="F1EBDD"/>
                </a:solidFill>
                <a:latin typeface="Calibri"/>
                <a:ea typeface="Calibri"/>
                <a:cs typeface="Calibri"/>
              </a:rPr>
              <a:t>Score ≥ 8 : priorité commerciale</a:t>
            </a:r>
          </a:p>
          <a:p xmlns:a="http://schemas.openxmlformats.org/drawingml/2006/main">
            <a:r>
              <a:t/>
            </a:r>
          </a:p>
          <a:p xmlns:a="http://schemas.openxmlformats.org/drawingml/2006/main">
            <a:pPr algn="l">
              <a:defRPr sz="3000" b="0">
                <a:solidFill>
                  <a:srgbClr val="F1EBDD"/>
                </a:solidFill>
                <a:latin typeface="Calibri"/>
                <a:ea typeface="Calibri"/>
                <a:cs typeface="Calibri"/>
              </a:defRPr>
            </a:pPr>
            <a:r>
              <a:rPr sz="3000" b="0">
                <a:solidFill>
                  <a:srgbClr val="F1EBDD"/>
                </a:solidFill>
                <a:latin typeface="Calibri"/>
                <a:ea typeface="Calibri"/>
                <a:cs typeface="Calibri"/>
              </a:rPr>
              <a:t>5 ≤ score &lt; 8 : qualification</a:t>
            </a:r>
          </a:p>
          <a:p xmlns:a="http://schemas.openxmlformats.org/drawingml/2006/main">
            <a:r>
              <a:t/>
            </a:r>
          </a:p>
          <a:p xmlns:a="http://schemas.openxmlformats.org/drawingml/2006/main">
            <a:pPr algn="l">
              <a:defRPr sz="3000" b="0">
                <a:solidFill>
                  <a:srgbClr val="F1EBDD"/>
                </a:solidFill>
                <a:latin typeface="Calibri"/>
                <a:ea typeface="Calibri"/>
                <a:cs typeface="Calibri"/>
              </a:defRPr>
            </a:pPr>
            <a:r>
              <a:rPr sz="3000" b="0">
                <a:solidFill>
                  <a:srgbClr val="F1EBDD"/>
                </a:solidFill>
                <a:latin typeface="Calibri"/>
                <a:ea typeface="Calibri"/>
                <a:cs typeface="Calibri"/>
              </a:rPr>
              <a:t>Score &lt; 5 : nurturing</a:t>
            </a:r>
          </a:p>
        </p:txBody>
      </p:sp>
      <p:sp>
        <p:nvSpPr>
          <p:cNvPr id="7" name="Exemple fictif : 9,5 / 10&#10;Budget 6 000 MAD, besoin urge">
            <a:extLst xmlns:a="http://schemas.openxmlformats.org/drawingml/2006/main">
              <a:ext uri="{FF2B5EF4-FFF2-40B4-BE49-F238E27FC236}">
                <a16:creationId xmlns:a16="http://schemas.microsoft.com/office/drawing/2014/main" id="{42B5F1C5-AFCA-4101-A714-AFBFD145B9FD}"/>
              </a:ext>
            </a:extLst>
          </p:cNvPr>
          <p:cNvSpPr>
            <a:spLocks xmlns:a="http://schemas.openxmlformats.org/drawingml/2006/main" noGrp="1"/>
          </p:cNvSpPr>
          <p:nvPr/>
        </p:nvSpPr>
        <p:spPr>
          <a:xfrm xmlns:a="http://schemas.openxmlformats.org/drawingml/2006/main">
            <a:off x="9810750" y="6858000"/>
            <a:ext cx="5619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625" b="0">
                <a:solidFill>
                  <a:srgbClr val="F1EBDD"/>
                </a:solidFill>
                <a:latin typeface="Calibri"/>
                <a:ea typeface="Calibri"/>
                <a:cs typeface="Calibri"/>
              </a:defRPr>
            </a:pPr>
            <a:r>
              <a:rPr sz="2625" b="0">
                <a:solidFill>
                  <a:srgbClr val="F1EBDD"/>
                </a:solidFill>
                <a:latin typeface="Calibri"/>
                <a:ea typeface="Calibri"/>
                <a:cs typeface="Calibri"/>
              </a:rPr>
              <a:t>Exemple fictif : 9,5 / 10</a:t>
            </a:r>
          </a:p>
          <a:p xmlns:a="http://schemas.openxmlformats.org/drawingml/2006/main">
            <a:pPr algn="l">
              <a:defRPr sz="2625" b="0">
                <a:solidFill>
                  <a:srgbClr val="F1EBDD"/>
                </a:solidFill>
                <a:latin typeface="Calibri"/>
                <a:ea typeface="Calibri"/>
                <a:cs typeface="Calibri"/>
              </a:defRPr>
            </a:pPr>
            <a:r>
              <a:rPr sz="2625" b="0">
                <a:solidFill>
                  <a:srgbClr val="F1EBDD"/>
                </a:solidFill>
                <a:latin typeface="Calibri"/>
                <a:ea typeface="Calibri"/>
                <a:cs typeface="Calibri"/>
              </a:rPr>
              <a:t>Budget 6 000 MAD, besoin urgent, DRH, PME, e-mail direct.</a:t>
            </a:r>
          </a:p>
        </p:txBody>
      </p:sp>
      <p:sp>
        <p:nvSpPr>
          <p:cNvPr id="8" name="Le score exprime une priorité de traitement. Il ne mesu">
            <a:extLst xmlns:a="http://schemas.openxmlformats.org/drawingml/2006/main">
              <a:ext uri="{FF2B5EF4-FFF2-40B4-BE49-F238E27FC236}">
                <a16:creationId xmlns:a16="http://schemas.microsoft.com/office/drawing/2014/main" id="{6890BEF0-7B15-45A6-9949-AA49259ABC50}"/>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Le score exprime une priorité de traitement. Il ne mesure pas une probabilité de vente.</a:t>
            </a:r>
          </a:p>
        </p:txBody>
      </p:sp>
    </p:spTree>
    <p:extLst>
      <p:ext uri="{BB962C8B-B14F-4D97-AF65-F5344CB8AC3E}">
        <p14:creationId xmlns:p14="http://schemas.microsoft.com/office/powerpoint/2010/main" val="1989637986"/>
      </p:ext>
    </p:extLst>
  </p:cSld>
</p:sld>
</file>

<file path=ppt/slides/slide14.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44" name="ADG-10  /  AUTOMATISATION DU CYCLE COMMERCIAL">
            <a:extLst xmlns:a="http://schemas.openxmlformats.org/drawingml/2006/main">
              <a:ext uri="{FF2B5EF4-FFF2-40B4-BE49-F238E27FC236}">
                <a16:creationId xmlns:a16="http://schemas.microsoft.com/office/drawing/2014/main" id="{277C9535-55E6-495B-82D0-8D1124C47FA3}"/>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4 / 22">
            <a:extLst xmlns:a="http://schemas.openxmlformats.org/drawingml/2006/main">
              <a:ext uri="{FF2B5EF4-FFF2-40B4-BE49-F238E27FC236}">
                <a16:creationId xmlns:a16="http://schemas.microsoft.com/office/drawing/2014/main" id="{2A6F9CDB-6654-440E-BD3A-89D103F955A3}"/>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14 / 22</a:t>
            </a:r>
          </a:p>
        </p:txBody>
      </p:sp>
      <p:sp>
        <p:nvSpPr>
          <p:cNvPr id="3" name="Séquence d’envoi d’une proposition">
            <a:extLst xmlns:a="http://schemas.openxmlformats.org/drawingml/2006/main">
              <a:ext uri="{FF2B5EF4-FFF2-40B4-BE49-F238E27FC236}">
                <a16:creationId xmlns:a16="http://schemas.microsoft.com/office/drawing/2014/main" id="{AE402DBD-ADF5-471A-83EE-6C45B5DF8AD2}"/>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Séquence d’envoi d’une proposition</a:t>
            </a:r>
          </a:p>
        </p:txBody>
      </p:sp>
      <p:sp>
        <p:nvSpPr>
          <p:cNvPr id="4" name="Script E6">
            <a:extLst xmlns:a="http://schemas.openxmlformats.org/drawingml/2006/main">
              <a:ext uri="{FF2B5EF4-FFF2-40B4-BE49-F238E27FC236}">
                <a16:creationId xmlns:a16="http://schemas.microsoft.com/office/drawing/2014/main" id="{D9692FE9-97A5-421D-AF60-36616819ACD2}"/>
              </a:ext>
            </a:extLst>
          </p:cNvPr>
          <p:cNvSpPr>
            <a:spLocks xmlns:a="http://schemas.openxmlformats.org/drawingml/2006/main" noGrp="1"/>
          </p:cNvSpPr>
          <p:nvPr/>
        </p:nvSpPr>
        <p:spPr>
          <a:xfrm xmlns:a="http://schemas.openxmlformats.org/drawingml/2006/main">
            <a:off x="952500"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Script E6</a:t>
            </a:r>
          </a:p>
        </p:txBody>
      </p:sp>
      <p:sp>
        <p:nvSpPr>
          <p:cNvPr id="5" name="Airtable">
            <a:extLst xmlns:a="http://schemas.openxmlformats.org/drawingml/2006/main">
              <a:ext uri="{FF2B5EF4-FFF2-40B4-BE49-F238E27FC236}">
                <a16:creationId xmlns:a16="http://schemas.microsoft.com/office/drawing/2014/main" id="{122CDEF6-9393-4440-8FD1-FE5F3D9ABCD9}"/>
              </a:ext>
            </a:extLst>
          </p:cNvPr>
          <p:cNvSpPr>
            <a:spLocks xmlns:a="http://schemas.openxmlformats.org/drawingml/2006/main" noGrp="1"/>
          </p:cNvSpPr>
          <p:nvPr/>
        </p:nvSpPr>
        <p:spPr>
          <a:xfrm xmlns:a="http://schemas.openxmlformats.org/drawingml/2006/main">
            <a:off x="4333875"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Airtable</a:t>
            </a:r>
          </a:p>
        </p:txBody>
      </p:sp>
      <p:sp>
        <p:nvSpPr>
          <p:cNvPr id="6" name="Journal local">
            <a:extLst xmlns:a="http://schemas.openxmlformats.org/drawingml/2006/main">
              <a:ext uri="{FF2B5EF4-FFF2-40B4-BE49-F238E27FC236}">
                <a16:creationId xmlns:a16="http://schemas.microsoft.com/office/drawing/2014/main" id="{5BD80AE8-1847-4B3A-8D95-5A3B13F8210B}"/>
              </a:ext>
            </a:extLst>
          </p:cNvPr>
          <p:cNvSpPr>
            <a:spLocks xmlns:a="http://schemas.openxmlformats.org/drawingml/2006/main" noGrp="1"/>
          </p:cNvSpPr>
          <p:nvPr/>
        </p:nvSpPr>
        <p:spPr>
          <a:xfrm xmlns:a="http://schemas.openxmlformats.org/drawingml/2006/main">
            <a:off x="7715250"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Journal local</a:t>
            </a:r>
          </a:p>
        </p:txBody>
      </p:sp>
      <p:sp>
        <p:nvSpPr>
          <p:cNvPr id="7" name="PDF">
            <a:extLst xmlns:a="http://schemas.openxmlformats.org/drawingml/2006/main">
              <a:ext uri="{FF2B5EF4-FFF2-40B4-BE49-F238E27FC236}">
                <a16:creationId xmlns:a16="http://schemas.microsoft.com/office/drawing/2014/main" id="{A00443FC-D08C-45F2-BC0F-7AA3DBDBD6D8}"/>
              </a:ext>
            </a:extLst>
          </p:cNvPr>
          <p:cNvSpPr>
            <a:spLocks xmlns:a="http://schemas.openxmlformats.org/drawingml/2006/main" noGrp="1"/>
          </p:cNvSpPr>
          <p:nvPr/>
        </p:nvSpPr>
        <p:spPr>
          <a:xfrm xmlns:a="http://schemas.openxmlformats.org/drawingml/2006/main">
            <a:off x="11096625"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PDF</a:t>
            </a:r>
          </a:p>
        </p:txBody>
      </p:sp>
      <p:sp>
        <p:nvSpPr>
          <p:cNvPr id="8" name="SMTP">
            <a:extLst xmlns:a="http://schemas.openxmlformats.org/drawingml/2006/main">
              <a:ext uri="{FF2B5EF4-FFF2-40B4-BE49-F238E27FC236}">
                <a16:creationId xmlns:a16="http://schemas.microsoft.com/office/drawing/2014/main" id="{124B51E9-E405-4043-AA35-3DD89FA31D6A}"/>
              </a:ext>
            </a:extLst>
          </p:cNvPr>
          <p:cNvSpPr>
            <a:spLocks xmlns:a="http://schemas.openxmlformats.org/drawingml/2006/main" noGrp="1"/>
          </p:cNvSpPr>
          <p:nvPr/>
        </p:nvSpPr>
        <p:spPr>
          <a:xfrm xmlns:a="http://schemas.openxmlformats.org/drawingml/2006/main">
            <a:off x="14478000" y="3095625"/>
            <a:ext cx="2667000" cy="71437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625">
                <a:solidFill>
                  <a:srgbClr val="F1EBDD"/>
                </a:solidFill>
                <a:latin typeface="Calibri"/>
                <a:ea typeface="Calibri"/>
                <a:cs typeface="Calibri"/>
              </a:defRPr>
            </a:pPr>
            <a:r>
              <a:rPr sz="2625">
                <a:solidFill>
                  <a:srgbClr val="F1EBDD"/>
                </a:solidFill>
                <a:latin typeface="Calibri"/>
                <a:ea typeface="Calibri"/>
                <a:cs typeface="Calibri"/>
              </a:rPr>
              <a:t>SMTP</a:t>
            </a:r>
          </a:p>
        </p:txBody>
      </p:sp>
      <p:sp>
        <p:nvSpPr>
          <p:cNvPr id="9" name="Point de séquence">
            <a:extLst xmlns:a="http://schemas.openxmlformats.org/drawingml/2006/main">
              <a:ext uri="{FF2B5EF4-FFF2-40B4-BE49-F238E27FC236}">
                <a16:creationId xmlns:a16="http://schemas.microsoft.com/office/drawing/2014/main" id="{EEE9DDA1-CA9A-471C-BDD9-D2AB3B24421A}"/>
              </a:ext>
            </a:extLst>
          </p:cNvPr>
          <p:cNvSpPr>
            <a:spLocks xmlns:a="http://schemas.openxmlformats.org/drawingml/2006/main" noGrp="1"/>
          </p:cNvSpPr>
          <p:nvPr/>
        </p:nvSpPr>
        <p:spPr>
          <a:xfrm xmlns:a="http://schemas.openxmlformats.org/drawingml/2006/main">
            <a:off x="228600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3" name=""/>
          <p:cNvCxnSpPr>
            <a:stCxn xmlns:a="http://schemas.openxmlformats.org/drawingml/2006/main" id="4" idx="2"/>
            <a:endCxn xmlns:a="http://schemas.openxmlformats.org/drawingml/2006/main" id="9" idx="0"/>
          </p:cNvCxnSpPr>
          <p:nvPr/>
        </p:nvCxnSpPr>
        <p:spPr>
          <a:xfrm xmlns:a="http://schemas.openxmlformats.org/drawingml/2006/main">
            <a:off x="228600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1" name="Point de séquence">
            <a:extLst xmlns:a="http://schemas.openxmlformats.org/drawingml/2006/main">
              <a:ext uri="{FF2B5EF4-FFF2-40B4-BE49-F238E27FC236}">
                <a16:creationId xmlns:a16="http://schemas.microsoft.com/office/drawing/2014/main" id="{B4092B3B-37E9-408C-A206-56A0FC4ACFD4}"/>
              </a:ext>
            </a:extLst>
          </p:cNvPr>
          <p:cNvSpPr>
            <a:spLocks xmlns:a="http://schemas.openxmlformats.org/drawingml/2006/main" noGrp="1"/>
          </p:cNvSpPr>
          <p:nvPr/>
        </p:nvSpPr>
        <p:spPr>
          <a:xfrm xmlns:a="http://schemas.openxmlformats.org/drawingml/2006/main">
            <a:off x="5667375"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5" name=""/>
          <p:cNvCxnSpPr>
            <a:stCxn xmlns:a="http://schemas.openxmlformats.org/drawingml/2006/main" id="5" idx="2"/>
            <a:endCxn xmlns:a="http://schemas.openxmlformats.org/drawingml/2006/main" id="11" idx="0"/>
          </p:cNvCxnSpPr>
          <p:nvPr/>
        </p:nvCxnSpPr>
        <p:spPr>
          <a:xfrm xmlns:a="http://schemas.openxmlformats.org/drawingml/2006/main">
            <a:off x="5667375"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3" name="Point de séquence">
            <a:extLst xmlns:a="http://schemas.openxmlformats.org/drawingml/2006/main">
              <a:ext uri="{FF2B5EF4-FFF2-40B4-BE49-F238E27FC236}">
                <a16:creationId xmlns:a16="http://schemas.microsoft.com/office/drawing/2014/main" id="{4EFA9E20-D13F-453A-AF75-5A676495F326}"/>
              </a:ext>
            </a:extLst>
          </p:cNvPr>
          <p:cNvSpPr>
            <a:spLocks xmlns:a="http://schemas.openxmlformats.org/drawingml/2006/main" noGrp="1"/>
          </p:cNvSpPr>
          <p:nvPr/>
        </p:nvSpPr>
        <p:spPr>
          <a:xfrm xmlns:a="http://schemas.openxmlformats.org/drawingml/2006/main">
            <a:off x="904875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7" name=""/>
          <p:cNvCxnSpPr>
            <a:stCxn xmlns:a="http://schemas.openxmlformats.org/drawingml/2006/main" id="6" idx="2"/>
            <a:endCxn xmlns:a="http://schemas.openxmlformats.org/drawingml/2006/main" id="13" idx="0"/>
          </p:cNvCxnSpPr>
          <p:nvPr/>
        </p:nvCxnSpPr>
        <p:spPr>
          <a:xfrm xmlns:a="http://schemas.openxmlformats.org/drawingml/2006/main">
            <a:off x="904875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5" name="Point de séquence">
            <a:extLst xmlns:a="http://schemas.openxmlformats.org/drawingml/2006/main">
              <a:ext uri="{FF2B5EF4-FFF2-40B4-BE49-F238E27FC236}">
                <a16:creationId xmlns:a16="http://schemas.microsoft.com/office/drawing/2014/main" id="{5FFF8678-4699-4504-B962-78CEA9E0CBCF}"/>
              </a:ext>
            </a:extLst>
          </p:cNvPr>
          <p:cNvSpPr>
            <a:spLocks xmlns:a="http://schemas.openxmlformats.org/drawingml/2006/main" noGrp="1"/>
          </p:cNvSpPr>
          <p:nvPr/>
        </p:nvSpPr>
        <p:spPr>
          <a:xfrm xmlns:a="http://schemas.openxmlformats.org/drawingml/2006/main">
            <a:off x="12430125"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9" name=""/>
          <p:cNvCxnSpPr>
            <a:stCxn xmlns:a="http://schemas.openxmlformats.org/drawingml/2006/main" id="7" idx="2"/>
            <a:endCxn xmlns:a="http://schemas.openxmlformats.org/drawingml/2006/main" id="15" idx="0"/>
          </p:cNvCxnSpPr>
          <p:nvPr/>
        </p:nvCxnSpPr>
        <p:spPr>
          <a:xfrm xmlns:a="http://schemas.openxmlformats.org/drawingml/2006/main">
            <a:off x="12430125"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7" name="Point de séquence">
            <a:extLst xmlns:a="http://schemas.openxmlformats.org/drawingml/2006/main">
              <a:ext uri="{FF2B5EF4-FFF2-40B4-BE49-F238E27FC236}">
                <a16:creationId xmlns:a16="http://schemas.microsoft.com/office/drawing/2014/main" id="{FB79A670-665C-4B40-9B56-8F7D23441087}"/>
              </a:ext>
            </a:extLst>
          </p:cNvPr>
          <p:cNvSpPr>
            <a:spLocks xmlns:a="http://schemas.openxmlformats.org/drawingml/2006/main" noGrp="1"/>
          </p:cNvSpPr>
          <p:nvPr/>
        </p:nvSpPr>
        <p:spPr>
          <a:xfrm xmlns:a="http://schemas.openxmlformats.org/drawingml/2006/main">
            <a:off x="15811500" y="87058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1" name=""/>
          <p:cNvCxnSpPr>
            <a:stCxn xmlns:a="http://schemas.openxmlformats.org/drawingml/2006/main" id="8" idx="2"/>
            <a:endCxn xmlns:a="http://schemas.openxmlformats.org/drawingml/2006/main" id="17" idx="0"/>
          </p:cNvCxnSpPr>
          <p:nvPr/>
        </p:nvCxnSpPr>
        <p:spPr>
          <a:xfrm xmlns:a="http://schemas.openxmlformats.org/drawingml/2006/main">
            <a:off x="15811500" y="3810000"/>
            <a:ext cx="4763" cy="4895850"/>
          </a:xfrm>
          <a:prstGeom xmlns:a="http://schemas.openxmlformats.org/drawingml/2006/main" prst="straightConnector1">
            <a:avLst/>
          </a:prstGeom>
          <a:ln xmlns:a="http://schemas.openxmlformats.org/drawingml/2006/main" w="19050">
            <a:solidFill>
              <a:srgbClr val="A9BDC6"/>
            </a:solidFill>
            <a:prstDash val="dash"/>
          </a:ln>
        </p:spPr>
      </p:cxnSp>
      <p:sp>
        <p:nvSpPr>
          <p:cNvPr id="19" name="Point de séquence">
            <a:extLst xmlns:a="http://schemas.openxmlformats.org/drawingml/2006/main">
              <a:ext uri="{FF2B5EF4-FFF2-40B4-BE49-F238E27FC236}">
                <a16:creationId xmlns:a16="http://schemas.microsoft.com/office/drawing/2014/main" id="{769D7EE5-A961-4FC0-998C-7C6A3DC2A671}"/>
              </a:ext>
            </a:extLst>
          </p:cNvPr>
          <p:cNvSpPr>
            <a:spLocks xmlns:a="http://schemas.openxmlformats.org/drawingml/2006/main" noGrp="1"/>
          </p:cNvSpPr>
          <p:nvPr/>
        </p:nvSpPr>
        <p:spPr>
          <a:xfrm xmlns:a="http://schemas.openxmlformats.org/drawingml/2006/main">
            <a:off x="2286000" y="4333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0" name="Point de séquence">
            <a:extLst xmlns:a="http://schemas.openxmlformats.org/drawingml/2006/main">
              <a:ext uri="{FF2B5EF4-FFF2-40B4-BE49-F238E27FC236}">
                <a16:creationId xmlns:a16="http://schemas.microsoft.com/office/drawing/2014/main" id="{3B1C24E8-4E64-4F5E-B0B6-BAD0CE9662BD}"/>
              </a:ext>
            </a:extLst>
          </p:cNvPr>
          <p:cNvSpPr>
            <a:spLocks xmlns:a="http://schemas.openxmlformats.org/drawingml/2006/main" noGrp="1"/>
          </p:cNvSpPr>
          <p:nvPr/>
        </p:nvSpPr>
        <p:spPr>
          <a:xfrm xmlns:a="http://schemas.openxmlformats.org/drawingml/2006/main">
            <a:off x="5667375" y="4333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4" name=""/>
          <p:cNvCxnSpPr>
            <a:stCxn xmlns:a="http://schemas.openxmlformats.org/drawingml/2006/main" id="19" idx="3"/>
            <a:endCxn xmlns:a="http://schemas.openxmlformats.org/drawingml/2006/main" id="20" idx="1"/>
          </p:cNvCxnSpPr>
          <p:nvPr/>
        </p:nvCxnSpPr>
        <p:spPr>
          <a:xfrm xmlns:a="http://schemas.openxmlformats.org/drawingml/2006/main">
            <a:off x="2295525" y="4338638"/>
            <a:ext cx="3371850"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22" name="1. Lire les prospects">
            <a:extLst xmlns:a="http://schemas.openxmlformats.org/drawingml/2006/main">
              <a:ext uri="{FF2B5EF4-FFF2-40B4-BE49-F238E27FC236}">
                <a16:creationId xmlns:a16="http://schemas.microsoft.com/office/drawing/2014/main" id="{2EFA23E1-398F-4630-B6F0-EB714E2776DB}"/>
              </a:ext>
            </a:extLst>
          </p:cNvPr>
          <p:cNvSpPr>
            <a:spLocks xmlns:a="http://schemas.openxmlformats.org/drawingml/2006/main" noGrp="1"/>
          </p:cNvSpPr>
          <p:nvPr/>
        </p:nvSpPr>
        <p:spPr>
          <a:xfrm xmlns:a="http://schemas.openxmlformats.org/drawingml/2006/main">
            <a:off x="2428875" y="38766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1. Lire les prospects</a:t>
            </a:r>
          </a:p>
        </p:txBody>
      </p:sp>
      <p:sp>
        <p:nvSpPr>
          <p:cNvPr id="23" name="Point de séquence">
            <a:extLst xmlns:a="http://schemas.openxmlformats.org/drawingml/2006/main">
              <a:ext uri="{FF2B5EF4-FFF2-40B4-BE49-F238E27FC236}">
                <a16:creationId xmlns:a16="http://schemas.microsoft.com/office/drawing/2014/main" id="{1A4D0E65-2E05-4752-9197-7E0E048CC4B0}"/>
              </a:ext>
            </a:extLst>
          </p:cNvPr>
          <p:cNvSpPr>
            <a:spLocks xmlns:a="http://schemas.openxmlformats.org/drawingml/2006/main" noGrp="1"/>
          </p:cNvSpPr>
          <p:nvPr/>
        </p:nvSpPr>
        <p:spPr>
          <a:xfrm xmlns:a="http://schemas.openxmlformats.org/drawingml/2006/main">
            <a:off x="2286000" y="5095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4" name="Point de séquence">
            <a:extLst xmlns:a="http://schemas.openxmlformats.org/drawingml/2006/main">
              <a:ext uri="{FF2B5EF4-FFF2-40B4-BE49-F238E27FC236}">
                <a16:creationId xmlns:a16="http://schemas.microsoft.com/office/drawing/2014/main" id="{0EF86579-DF31-45A8-A3B2-76939F03A693}"/>
              </a:ext>
            </a:extLst>
          </p:cNvPr>
          <p:cNvSpPr>
            <a:spLocks xmlns:a="http://schemas.openxmlformats.org/drawingml/2006/main" noGrp="1"/>
          </p:cNvSpPr>
          <p:nvPr/>
        </p:nvSpPr>
        <p:spPr>
          <a:xfrm xmlns:a="http://schemas.openxmlformats.org/drawingml/2006/main">
            <a:off x="9048750" y="5095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8" name=""/>
          <p:cNvCxnSpPr>
            <a:stCxn xmlns:a="http://schemas.openxmlformats.org/drawingml/2006/main" id="23" idx="3"/>
            <a:endCxn xmlns:a="http://schemas.openxmlformats.org/drawingml/2006/main" id="24" idx="1"/>
          </p:cNvCxnSpPr>
          <p:nvPr/>
        </p:nvCxnSpPr>
        <p:spPr>
          <a:xfrm xmlns:a="http://schemas.openxmlformats.org/drawingml/2006/main">
            <a:off x="2295525" y="5100638"/>
            <a:ext cx="6753225"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26" name="2. Rechercher un envoi antérieur">
            <a:extLst xmlns:a="http://schemas.openxmlformats.org/drawingml/2006/main">
              <a:ext uri="{FF2B5EF4-FFF2-40B4-BE49-F238E27FC236}">
                <a16:creationId xmlns:a16="http://schemas.microsoft.com/office/drawing/2014/main" id="{7DF36CA3-F422-40E2-9AA6-91E7DD316880}"/>
              </a:ext>
            </a:extLst>
          </p:cNvPr>
          <p:cNvSpPr>
            <a:spLocks xmlns:a="http://schemas.openxmlformats.org/drawingml/2006/main" noGrp="1"/>
          </p:cNvSpPr>
          <p:nvPr/>
        </p:nvSpPr>
        <p:spPr>
          <a:xfrm xmlns:a="http://schemas.openxmlformats.org/drawingml/2006/main">
            <a:off x="2428875" y="4638675"/>
            <a:ext cx="652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2. Rechercher un envoi antérieur</a:t>
            </a:r>
          </a:p>
        </p:txBody>
      </p:sp>
      <p:sp>
        <p:nvSpPr>
          <p:cNvPr id="27" name="Point de séquence">
            <a:extLst xmlns:a="http://schemas.openxmlformats.org/drawingml/2006/main">
              <a:ext uri="{FF2B5EF4-FFF2-40B4-BE49-F238E27FC236}">
                <a16:creationId xmlns:a16="http://schemas.microsoft.com/office/drawing/2014/main" id="{B31C5D3E-4FB3-4E81-AEAE-25080D477EEF}"/>
              </a:ext>
            </a:extLst>
          </p:cNvPr>
          <p:cNvSpPr>
            <a:spLocks xmlns:a="http://schemas.openxmlformats.org/drawingml/2006/main" noGrp="1"/>
          </p:cNvSpPr>
          <p:nvPr/>
        </p:nvSpPr>
        <p:spPr>
          <a:xfrm xmlns:a="http://schemas.openxmlformats.org/drawingml/2006/main">
            <a:off x="2286000" y="5857875"/>
            <a:ext cx="9525" cy="9525"/>
          </a:xfrm>
          <a:prstGeom xmlns:a="http://schemas.openxmlformats.org/drawingml/2006/main" prst="rect">
            <a:avLst/>
          </a:prstGeom>
          <a:noFill xmlns:a="http://schemas.openxmlformats.org/drawingml/2006/main"/>
          <a:ln xmlns:a="http://schemas.openxmlformats.org/drawingml/2006/main" w="0">
            <a:noFill/>
          </a:ln>
        </p:spPr>
      </p:sp>
      <p:sp>
        <p:nvSpPr>
          <p:cNvPr id="28" name="Point de séquence">
            <a:extLst xmlns:a="http://schemas.openxmlformats.org/drawingml/2006/main">
              <a:ext uri="{FF2B5EF4-FFF2-40B4-BE49-F238E27FC236}">
                <a16:creationId xmlns:a16="http://schemas.microsoft.com/office/drawing/2014/main" id="{8C9B09C0-D9BE-4374-9FEC-F8A8F2F574CC}"/>
              </a:ext>
            </a:extLst>
          </p:cNvPr>
          <p:cNvSpPr>
            <a:spLocks xmlns:a="http://schemas.openxmlformats.org/drawingml/2006/main" noGrp="1"/>
          </p:cNvSpPr>
          <p:nvPr/>
        </p:nvSpPr>
        <p:spPr>
          <a:xfrm xmlns:a="http://schemas.openxmlformats.org/drawingml/2006/main">
            <a:off x="12430125" y="5857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2" name=""/>
          <p:cNvCxnSpPr>
            <a:stCxn xmlns:a="http://schemas.openxmlformats.org/drawingml/2006/main" id="27" idx="3"/>
            <a:endCxn xmlns:a="http://schemas.openxmlformats.org/drawingml/2006/main" id="28" idx="1"/>
          </p:cNvCxnSpPr>
          <p:nvPr/>
        </p:nvCxnSpPr>
        <p:spPr>
          <a:xfrm xmlns:a="http://schemas.openxmlformats.org/drawingml/2006/main">
            <a:off x="2295525" y="5862638"/>
            <a:ext cx="10134600"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30" name="3. Générer la proposition">
            <a:extLst xmlns:a="http://schemas.openxmlformats.org/drawingml/2006/main">
              <a:ext uri="{FF2B5EF4-FFF2-40B4-BE49-F238E27FC236}">
                <a16:creationId xmlns:a16="http://schemas.microsoft.com/office/drawing/2014/main" id="{4CCACAC1-8FA8-477D-83F9-80DDB9E99DAA}"/>
              </a:ext>
            </a:extLst>
          </p:cNvPr>
          <p:cNvSpPr>
            <a:spLocks xmlns:a="http://schemas.openxmlformats.org/drawingml/2006/main" noGrp="1"/>
          </p:cNvSpPr>
          <p:nvPr/>
        </p:nvSpPr>
        <p:spPr>
          <a:xfrm xmlns:a="http://schemas.openxmlformats.org/drawingml/2006/main">
            <a:off x="2428875" y="5400675"/>
            <a:ext cx="990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3. Générer la proposition</a:t>
            </a:r>
          </a:p>
        </p:txBody>
      </p:sp>
      <p:sp>
        <p:nvSpPr>
          <p:cNvPr id="31" name="Point de séquence">
            <a:extLst xmlns:a="http://schemas.openxmlformats.org/drawingml/2006/main">
              <a:ext uri="{FF2B5EF4-FFF2-40B4-BE49-F238E27FC236}">
                <a16:creationId xmlns:a16="http://schemas.microsoft.com/office/drawing/2014/main" id="{E1CABAEF-C7E7-4924-B5CD-FD2625B0BD34}"/>
              </a:ext>
            </a:extLst>
          </p:cNvPr>
          <p:cNvSpPr>
            <a:spLocks xmlns:a="http://schemas.openxmlformats.org/drawingml/2006/main" noGrp="1"/>
          </p:cNvSpPr>
          <p:nvPr/>
        </p:nvSpPr>
        <p:spPr>
          <a:xfrm xmlns:a="http://schemas.openxmlformats.org/drawingml/2006/main">
            <a:off x="2286000" y="6619875"/>
            <a:ext cx="9525" cy="9525"/>
          </a:xfrm>
          <a:prstGeom xmlns:a="http://schemas.openxmlformats.org/drawingml/2006/main" prst="rect">
            <a:avLst/>
          </a:prstGeom>
          <a:noFill xmlns:a="http://schemas.openxmlformats.org/drawingml/2006/main"/>
          <a:ln xmlns:a="http://schemas.openxmlformats.org/drawingml/2006/main" w="0">
            <a:noFill/>
          </a:ln>
        </p:spPr>
      </p:sp>
      <p:sp>
        <p:nvSpPr>
          <p:cNvPr id="32" name="Point de séquence">
            <a:extLst xmlns:a="http://schemas.openxmlformats.org/drawingml/2006/main">
              <a:ext uri="{FF2B5EF4-FFF2-40B4-BE49-F238E27FC236}">
                <a16:creationId xmlns:a16="http://schemas.microsoft.com/office/drawing/2014/main" id="{31E5300C-10AC-4266-919A-EB8844F786C9}"/>
              </a:ext>
            </a:extLst>
          </p:cNvPr>
          <p:cNvSpPr>
            <a:spLocks xmlns:a="http://schemas.openxmlformats.org/drawingml/2006/main" noGrp="1"/>
          </p:cNvSpPr>
          <p:nvPr/>
        </p:nvSpPr>
        <p:spPr>
          <a:xfrm xmlns:a="http://schemas.openxmlformats.org/drawingml/2006/main">
            <a:off x="15811500" y="6619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6" name=""/>
          <p:cNvCxnSpPr>
            <a:stCxn xmlns:a="http://schemas.openxmlformats.org/drawingml/2006/main" id="31" idx="3"/>
            <a:endCxn xmlns:a="http://schemas.openxmlformats.org/drawingml/2006/main" id="32" idx="1"/>
          </p:cNvCxnSpPr>
          <p:nvPr/>
        </p:nvCxnSpPr>
        <p:spPr>
          <a:xfrm xmlns:a="http://schemas.openxmlformats.org/drawingml/2006/main">
            <a:off x="2295525" y="6624638"/>
            <a:ext cx="13515975"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34" name="4. Envoyer avec pièce jointe">
            <a:extLst xmlns:a="http://schemas.openxmlformats.org/drawingml/2006/main">
              <a:ext uri="{FF2B5EF4-FFF2-40B4-BE49-F238E27FC236}">
                <a16:creationId xmlns:a16="http://schemas.microsoft.com/office/drawing/2014/main" id="{EDB625C1-2AEB-4C7E-AE42-7D1666412520}"/>
              </a:ext>
            </a:extLst>
          </p:cNvPr>
          <p:cNvSpPr>
            <a:spLocks xmlns:a="http://schemas.openxmlformats.org/drawingml/2006/main" noGrp="1"/>
          </p:cNvSpPr>
          <p:nvPr/>
        </p:nvSpPr>
        <p:spPr>
          <a:xfrm xmlns:a="http://schemas.openxmlformats.org/drawingml/2006/main">
            <a:off x="2428875" y="6162675"/>
            <a:ext cx="13287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4. Envoyer avec pièce jointe</a:t>
            </a:r>
          </a:p>
        </p:txBody>
      </p:sp>
      <p:sp>
        <p:nvSpPr>
          <p:cNvPr id="35" name="Point de séquence">
            <a:extLst xmlns:a="http://schemas.openxmlformats.org/drawingml/2006/main">
              <a:ext uri="{FF2B5EF4-FFF2-40B4-BE49-F238E27FC236}">
                <a16:creationId xmlns:a16="http://schemas.microsoft.com/office/drawing/2014/main" id="{19D9731A-EB56-4850-8663-F583B54EB012}"/>
              </a:ext>
            </a:extLst>
          </p:cNvPr>
          <p:cNvSpPr>
            <a:spLocks xmlns:a="http://schemas.openxmlformats.org/drawingml/2006/main" noGrp="1"/>
          </p:cNvSpPr>
          <p:nvPr/>
        </p:nvSpPr>
        <p:spPr>
          <a:xfrm xmlns:a="http://schemas.openxmlformats.org/drawingml/2006/main">
            <a:off x="2286000" y="7381875"/>
            <a:ext cx="9525" cy="9525"/>
          </a:xfrm>
          <a:prstGeom xmlns:a="http://schemas.openxmlformats.org/drawingml/2006/main" prst="rect">
            <a:avLst/>
          </a:prstGeom>
          <a:noFill xmlns:a="http://schemas.openxmlformats.org/drawingml/2006/main"/>
          <a:ln xmlns:a="http://schemas.openxmlformats.org/drawingml/2006/main" w="0">
            <a:noFill/>
          </a:ln>
        </p:spPr>
      </p:sp>
      <p:sp>
        <p:nvSpPr>
          <p:cNvPr id="36" name="Point de séquence">
            <a:extLst xmlns:a="http://schemas.openxmlformats.org/drawingml/2006/main">
              <a:ext uri="{FF2B5EF4-FFF2-40B4-BE49-F238E27FC236}">
                <a16:creationId xmlns:a16="http://schemas.microsoft.com/office/drawing/2014/main" id="{442C177B-3550-4ADE-BA2A-BF15422E62C2}"/>
              </a:ext>
            </a:extLst>
          </p:cNvPr>
          <p:cNvSpPr>
            <a:spLocks xmlns:a="http://schemas.openxmlformats.org/drawingml/2006/main" noGrp="1"/>
          </p:cNvSpPr>
          <p:nvPr/>
        </p:nvSpPr>
        <p:spPr>
          <a:xfrm xmlns:a="http://schemas.openxmlformats.org/drawingml/2006/main">
            <a:off x="9048750" y="7381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0" name=""/>
          <p:cNvCxnSpPr>
            <a:stCxn xmlns:a="http://schemas.openxmlformats.org/drawingml/2006/main" id="35" idx="3"/>
            <a:endCxn xmlns:a="http://schemas.openxmlformats.org/drawingml/2006/main" id="36" idx="1"/>
          </p:cNvCxnSpPr>
          <p:nvPr/>
        </p:nvCxnSpPr>
        <p:spPr>
          <a:xfrm xmlns:a="http://schemas.openxmlformats.org/drawingml/2006/main">
            <a:off x="2295525" y="7386638"/>
            <a:ext cx="6753225"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38" name="5. Mémoriser le succès">
            <a:extLst xmlns:a="http://schemas.openxmlformats.org/drawingml/2006/main">
              <a:ext uri="{FF2B5EF4-FFF2-40B4-BE49-F238E27FC236}">
                <a16:creationId xmlns:a16="http://schemas.microsoft.com/office/drawing/2014/main" id="{D2B7FF3C-7EF3-442D-A6EA-188C60D239CC}"/>
              </a:ext>
            </a:extLst>
          </p:cNvPr>
          <p:cNvSpPr>
            <a:spLocks xmlns:a="http://schemas.openxmlformats.org/drawingml/2006/main" noGrp="1"/>
          </p:cNvSpPr>
          <p:nvPr/>
        </p:nvSpPr>
        <p:spPr>
          <a:xfrm xmlns:a="http://schemas.openxmlformats.org/drawingml/2006/main">
            <a:off x="2428875" y="6924675"/>
            <a:ext cx="652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5. Mémoriser le succès</a:t>
            </a:r>
          </a:p>
        </p:txBody>
      </p:sp>
      <p:sp>
        <p:nvSpPr>
          <p:cNvPr id="39" name="Point de séquence">
            <a:extLst xmlns:a="http://schemas.openxmlformats.org/drawingml/2006/main">
              <a:ext uri="{FF2B5EF4-FFF2-40B4-BE49-F238E27FC236}">
                <a16:creationId xmlns:a16="http://schemas.microsoft.com/office/drawing/2014/main" id="{6ADF00D0-1C5D-4B29-97F3-3963F6D92786}"/>
              </a:ext>
            </a:extLst>
          </p:cNvPr>
          <p:cNvSpPr>
            <a:spLocks xmlns:a="http://schemas.openxmlformats.org/drawingml/2006/main" noGrp="1"/>
          </p:cNvSpPr>
          <p:nvPr/>
        </p:nvSpPr>
        <p:spPr>
          <a:xfrm xmlns:a="http://schemas.openxmlformats.org/drawingml/2006/main">
            <a:off x="2286000" y="8143875"/>
            <a:ext cx="9525" cy="9525"/>
          </a:xfrm>
          <a:prstGeom xmlns:a="http://schemas.openxmlformats.org/drawingml/2006/main" prst="rect">
            <a:avLst/>
          </a:prstGeom>
          <a:noFill xmlns:a="http://schemas.openxmlformats.org/drawingml/2006/main"/>
          <a:ln xmlns:a="http://schemas.openxmlformats.org/drawingml/2006/main" w="0">
            <a:noFill/>
          </a:ln>
        </p:spPr>
      </p:sp>
      <p:sp>
        <p:nvSpPr>
          <p:cNvPr id="40" name="Point de séquence">
            <a:extLst xmlns:a="http://schemas.openxmlformats.org/drawingml/2006/main">
              <a:ext uri="{FF2B5EF4-FFF2-40B4-BE49-F238E27FC236}">
                <a16:creationId xmlns:a16="http://schemas.microsoft.com/office/drawing/2014/main" id="{BDDC8734-7565-4D32-960B-42E05F36FC03}"/>
              </a:ext>
            </a:extLst>
          </p:cNvPr>
          <p:cNvSpPr>
            <a:spLocks xmlns:a="http://schemas.openxmlformats.org/drawingml/2006/main" noGrp="1"/>
          </p:cNvSpPr>
          <p:nvPr/>
        </p:nvSpPr>
        <p:spPr>
          <a:xfrm xmlns:a="http://schemas.openxmlformats.org/drawingml/2006/main">
            <a:off x="5667375" y="8143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4" name=""/>
          <p:cNvCxnSpPr>
            <a:stCxn xmlns:a="http://schemas.openxmlformats.org/drawingml/2006/main" id="39" idx="3"/>
            <a:endCxn xmlns:a="http://schemas.openxmlformats.org/drawingml/2006/main" id="40" idx="1"/>
          </p:cNvCxnSpPr>
          <p:nvPr/>
        </p:nvCxnSpPr>
        <p:spPr>
          <a:xfrm xmlns:a="http://schemas.openxmlformats.org/drawingml/2006/main">
            <a:off x="2295525" y="8148638"/>
            <a:ext cx="3371850" cy="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42" name="6. Mettre à jour date et statut">
            <a:extLst xmlns:a="http://schemas.openxmlformats.org/drawingml/2006/main">
              <a:ext uri="{FF2B5EF4-FFF2-40B4-BE49-F238E27FC236}">
                <a16:creationId xmlns:a16="http://schemas.microsoft.com/office/drawing/2014/main" id="{92964BE8-5BB8-446F-A90A-0E0EC44F75A6}"/>
              </a:ext>
            </a:extLst>
          </p:cNvPr>
          <p:cNvSpPr>
            <a:spLocks xmlns:a="http://schemas.openxmlformats.org/drawingml/2006/main" noGrp="1"/>
          </p:cNvSpPr>
          <p:nvPr/>
        </p:nvSpPr>
        <p:spPr>
          <a:xfrm xmlns:a="http://schemas.openxmlformats.org/drawingml/2006/main">
            <a:off x="2428875" y="76866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F1EBDD"/>
                </a:solidFill>
                <a:latin typeface="Calibri"/>
                <a:ea typeface="Calibri"/>
                <a:cs typeface="Calibri"/>
              </a:defRPr>
            </a:pPr>
            <a:r>
              <a:rPr sz="2175" b="0">
                <a:solidFill>
                  <a:srgbClr val="F1EBDD"/>
                </a:solidFill>
                <a:latin typeface="Calibri"/>
                <a:ea typeface="Calibri"/>
                <a:cs typeface="Calibri"/>
              </a:rPr>
              <a:t>6. Mettre à jour date et statut</a:t>
            </a:r>
          </a:p>
        </p:txBody>
      </p:sp>
      <p:sp>
        <p:nvSpPr>
          <p:cNvPr id="43" name="Si l’envoi est déjà journalisé : réconcilier le CRM san">
            <a:extLst xmlns:a="http://schemas.openxmlformats.org/drawingml/2006/main">
              <a:ext uri="{FF2B5EF4-FFF2-40B4-BE49-F238E27FC236}">
                <a16:creationId xmlns:a16="http://schemas.microsoft.com/office/drawing/2014/main" id="{F7591339-509D-48F4-B661-648957D9C552}"/>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Si l’envoi est déjà journalisé : réconcilier le CRM sans renvoyer le message.</a:t>
            </a:r>
          </a:p>
        </p:txBody>
      </p:sp>
    </p:spTree>
    <p:extLst>
      <p:ext uri="{BB962C8B-B14F-4D97-AF65-F5344CB8AC3E}">
        <p14:creationId xmlns:p14="http://schemas.microsoft.com/office/powerpoint/2010/main" val="1188379604"/>
      </p:ext>
    </p:extLst>
  </p:cSld>
</p:sld>
</file>

<file path=ppt/slides/slide15.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6" name="ADG-10  /  AUTOMATISATION DU CYCLE COMMERCIAL">
            <a:extLst xmlns:a="http://schemas.openxmlformats.org/drawingml/2006/main">
              <a:ext uri="{FF2B5EF4-FFF2-40B4-BE49-F238E27FC236}">
                <a16:creationId xmlns:a16="http://schemas.microsoft.com/office/drawing/2014/main" id="{21132462-0809-4B30-AE7C-E5B8E157B0FA}"/>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5 / 22">
            <a:extLst xmlns:a="http://schemas.openxmlformats.org/drawingml/2006/main">
              <a:ext uri="{FF2B5EF4-FFF2-40B4-BE49-F238E27FC236}">
                <a16:creationId xmlns:a16="http://schemas.microsoft.com/office/drawing/2014/main" id="{FCCA3777-2785-41DC-B89D-FC3CC98EF4FA}"/>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15 / 22</a:t>
            </a:r>
          </a:p>
        </p:txBody>
      </p:sp>
      <p:sp>
        <p:nvSpPr>
          <p:cNvPr id="3" name="Architecture technique">
            <a:extLst xmlns:a="http://schemas.openxmlformats.org/drawingml/2006/main">
              <a:ext uri="{FF2B5EF4-FFF2-40B4-BE49-F238E27FC236}">
                <a16:creationId xmlns:a16="http://schemas.microsoft.com/office/drawing/2014/main" id="{B8BFA59E-D5F0-4352-B812-0AD2BE27A44C}"/>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Architecture technique</a:t>
            </a:r>
          </a:p>
        </p:txBody>
      </p:sp>
      <p:sp>
        <p:nvSpPr>
          <p:cNvPr id="4" name="Interface Streamlit : vues, filtres, commandes">
            <a:extLst xmlns:a="http://schemas.openxmlformats.org/drawingml/2006/main">
              <a:ext uri="{FF2B5EF4-FFF2-40B4-BE49-F238E27FC236}">
                <a16:creationId xmlns:a16="http://schemas.microsoft.com/office/drawing/2014/main" id="{07A820AB-92F2-4E30-82A0-25933E21BE9C}"/>
              </a:ext>
            </a:extLst>
          </p:cNvPr>
          <p:cNvSpPr>
            <a:spLocks xmlns:a="http://schemas.openxmlformats.org/drawingml/2006/main" noGrp="1"/>
          </p:cNvSpPr>
          <p:nvPr/>
        </p:nvSpPr>
        <p:spPr>
          <a:xfrm xmlns:a="http://schemas.openxmlformats.org/drawingml/2006/main">
            <a:off x="3381375" y="3095625"/>
            <a:ext cx="11049000" cy="9525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925">
                <a:solidFill>
                  <a:srgbClr val="F1EBDD"/>
                </a:solidFill>
                <a:latin typeface="Calibri"/>
                <a:ea typeface="Calibri"/>
                <a:cs typeface="Calibri"/>
              </a:defRPr>
            </a:pPr>
            <a:r>
              <a:rPr sz="2925">
                <a:solidFill>
                  <a:srgbClr val="F1EBDD"/>
                </a:solidFill>
                <a:latin typeface="Calibri"/>
                <a:ea typeface="Calibri"/>
                <a:cs typeface="Calibri"/>
              </a:rPr>
              <a:t>Interface Streamlit : vues, filtres, commandes</a:t>
            </a:r>
          </a:p>
        </p:txBody>
      </p:sp>
      <p:sp>
        <p:nvSpPr>
          <p:cNvPr id="5" name="Scripts E1 à E8 et orchestrateur du pipeline">
            <a:extLst xmlns:a="http://schemas.openxmlformats.org/drawingml/2006/main">
              <a:ext uri="{FF2B5EF4-FFF2-40B4-BE49-F238E27FC236}">
                <a16:creationId xmlns:a16="http://schemas.microsoft.com/office/drawing/2014/main" id="{9AE8660A-12A3-445D-BEB6-53D5B6B51907}"/>
              </a:ext>
            </a:extLst>
          </p:cNvPr>
          <p:cNvSpPr>
            <a:spLocks xmlns:a="http://schemas.openxmlformats.org/drawingml/2006/main" noGrp="1"/>
          </p:cNvSpPr>
          <p:nvPr/>
        </p:nvSpPr>
        <p:spPr>
          <a:xfrm xmlns:a="http://schemas.openxmlformats.org/drawingml/2006/main">
            <a:off x="3381375" y="4619625"/>
            <a:ext cx="11049000" cy="9525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925">
                <a:solidFill>
                  <a:srgbClr val="F1EBDD"/>
                </a:solidFill>
                <a:latin typeface="Calibri"/>
                <a:ea typeface="Calibri"/>
                <a:cs typeface="Calibri"/>
              </a:defRPr>
            </a:pPr>
            <a:r>
              <a:rPr sz="2925">
                <a:solidFill>
                  <a:srgbClr val="F1EBDD"/>
                </a:solidFill>
                <a:latin typeface="Calibri"/>
                <a:ea typeface="Calibri"/>
                <a:cs typeface="Calibri"/>
              </a:rPr>
              <a:t>Scripts E1 à E8 et orchestrateur du pipeline</a:t>
            </a:r>
          </a:p>
        </p:txBody>
      </p:sp>
      <p:sp>
        <p:nvSpPr>
          <p:cNvPr id="6" name="Règles métier : scoring, séquences, modèles de messages">
            <a:extLst xmlns:a="http://schemas.openxmlformats.org/drawingml/2006/main">
              <a:ext uri="{FF2B5EF4-FFF2-40B4-BE49-F238E27FC236}">
                <a16:creationId xmlns:a16="http://schemas.microsoft.com/office/drawing/2014/main" id="{2C820C8B-0D7C-4AB1-8095-212F9DC9AABE}"/>
              </a:ext>
            </a:extLst>
          </p:cNvPr>
          <p:cNvSpPr>
            <a:spLocks xmlns:a="http://schemas.openxmlformats.org/drawingml/2006/main" noGrp="1"/>
          </p:cNvSpPr>
          <p:nvPr/>
        </p:nvSpPr>
        <p:spPr>
          <a:xfrm xmlns:a="http://schemas.openxmlformats.org/drawingml/2006/main">
            <a:off x="3381375" y="6143625"/>
            <a:ext cx="11049000" cy="952500"/>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775">
                <a:solidFill>
                  <a:srgbClr val="F1EBDD"/>
                </a:solidFill>
                <a:latin typeface="Calibri"/>
                <a:ea typeface="Calibri"/>
                <a:cs typeface="Calibri"/>
              </a:defRPr>
            </a:pPr>
            <a:r>
              <a:rPr sz="2775">
                <a:solidFill>
                  <a:srgbClr val="F1EBDD"/>
                </a:solidFill>
                <a:latin typeface="Calibri"/>
                <a:ea typeface="Calibri"/>
                <a:cs typeface="Calibri"/>
              </a:rPr>
              <a:t>Règles métier : scoring, séquences, modèles de messages</a:t>
            </a:r>
          </a:p>
        </p:txBody>
      </p:sp>
      <p:cxnSp>
        <p:nvCxnSpPr>
          <p:cNvPr id="22" name=""/>
          <p:cNvCxnSpPr>
            <a:stCxn xmlns:a="http://schemas.openxmlformats.org/drawingml/2006/main" id="4" idx="2"/>
            <a:endCxn xmlns:a="http://schemas.openxmlformats.org/drawingml/2006/main" id="5" idx="0"/>
          </p:cNvCxnSpPr>
          <p:nvPr/>
        </p:nvCxnSpPr>
        <p:spPr>
          <a:xfrm xmlns:a="http://schemas.openxmlformats.org/drawingml/2006/main">
            <a:off x="8905875" y="4048125"/>
            <a:ext cx="0" cy="571500"/>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3" name=""/>
          <p:cNvCxnSpPr>
            <a:stCxn xmlns:a="http://schemas.openxmlformats.org/drawingml/2006/main" id="5" idx="2"/>
            <a:endCxn xmlns:a="http://schemas.openxmlformats.org/drawingml/2006/main" id="6" idx="0"/>
          </p:cNvCxnSpPr>
          <p:nvPr/>
        </p:nvCxnSpPr>
        <p:spPr>
          <a:xfrm xmlns:a="http://schemas.openxmlformats.org/drawingml/2006/main">
            <a:off x="8905875" y="5572125"/>
            <a:ext cx="0" cy="571500"/>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9" name="Airtable / Groq&#10;API externes">
            <a:extLst xmlns:a="http://schemas.openxmlformats.org/drawingml/2006/main">
              <a:ext uri="{FF2B5EF4-FFF2-40B4-BE49-F238E27FC236}">
                <a16:creationId xmlns:a16="http://schemas.microsoft.com/office/drawing/2014/main" id="{D7313CC2-CCBE-41CF-B48F-55DA0628ACBE}"/>
              </a:ext>
            </a:extLst>
          </p:cNvPr>
          <p:cNvSpPr>
            <a:spLocks xmlns:a="http://schemas.openxmlformats.org/drawingml/2006/main" noGrp="1"/>
          </p:cNvSpPr>
          <p:nvPr/>
        </p:nvSpPr>
        <p:spPr>
          <a:xfrm xmlns:a="http://schemas.openxmlformats.org/drawingml/2006/main">
            <a:off x="1238250" y="7810500"/>
            <a:ext cx="4572000" cy="100012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Airtable / Groq</a:t>
            </a:r>
          </a:p>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API externes</a:t>
            </a:r>
          </a:p>
        </p:txBody>
      </p:sp>
      <p:sp>
        <p:nvSpPr>
          <p:cNvPr id="10" name="SMTP / WhatsApp&#10;Adaptateurs d’envoi">
            <a:extLst xmlns:a="http://schemas.openxmlformats.org/drawingml/2006/main">
              <a:ext uri="{FF2B5EF4-FFF2-40B4-BE49-F238E27FC236}">
                <a16:creationId xmlns:a16="http://schemas.microsoft.com/office/drawing/2014/main" id="{B13CAD74-2363-4F24-A8C6-25A5DF45EED5}"/>
              </a:ext>
            </a:extLst>
          </p:cNvPr>
          <p:cNvSpPr>
            <a:spLocks xmlns:a="http://schemas.openxmlformats.org/drawingml/2006/main" noGrp="1"/>
          </p:cNvSpPr>
          <p:nvPr/>
        </p:nvSpPr>
        <p:spPr>
          <a:xfrm xmlns:a="http://schemas.openxmlformats.org/drawingml/2006/main">
            <a:off x="6667500" y="7810500"/>
            <a:ext cx="4572000" cy="100012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SMTP / WhatsApp</a:t>
            </a:r>
          </a:p>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Adaptateurs d’envoi</a:t>
            </a:r>
          </a:p>
        </p:txBody>
      </p:sp>
      <p:sp>
        <p:nvSpPr>
          <p:cNvPr id="11" name="ReportLab / JSON&#10;PDF et état local">
            <a:extLst xmlns:a="http://schemas.openxmlformats.org/drawingml/2006/main">
              <a:ext uri="{FF2B5EF4-FFF2-40B4-BE49-F238E27FC236}">
                <a16:creationId xmlns:a16="http://schemas.microsoft.com/office/drawing/2014/main" id="{08FAF2E4-70FF-4B2B-9AE8-E13E344EC78E}"/>
              </a:ext>
            </a:extLst>
          </p:cNvPr>
          <p:cNvSpPr>
            <a:spLocks xmlns:a="http://schemas.openxmlformats.org/drawingml/2006/main" noGrp="1"/>
          </p:cNvSpPr>
          <p:nvPr/>
        </p:nvSpPr>
        <p:spPr>
          <a:xfrm xmlns:a="http://schemas.openxmlformats.org/drawingml/2006/main">
            <a:off x="12096750" y="7810500"/>
            <a:ext cx="4572000" cy="1000125"/>
          </a:xfrm>
          <a:prstGeom xmlns:a="http://schemas.openxmlformats.org/drawingml/2006/main" prst="rect">
            <a:avLst/>
          </a:prstGeom>
          <a:solidFill xmlns:a="http://schemas.openxmlformats.org/drawingml/2006/main">
            <a:srgbClr val="344B5E"/>
          </a:solidFill>
          <a:ln xmlns:a="http://schemas.openxmlformats.org/drawingml/2006/main" w="19050">
            <a:solidFill>
              <a:srgbClr val="D2AB7D"/>
            </a:solidFill>
          </a:ln>
        </p:spPr>
        <p:txBody>
          <a:bodyPr xmlns:a="http://schemas.openxmlformats.org/drawingml/2006/main" lIns="114300" tIns="85725" rIns="114300" bIns="85725" anchor="ctr">
            <a:noAutofit/>
          </a:bodyPr>
          <a:lstStyle xmlns:a="http://schemas.openxmlformats.org/drawingml/2006/main"/>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ReportLab / JSON</a:t>
            </a:r>
          </a:p>
          <a:p xmlns:a="http://schemas.openxmlformats.org/drawingml/2006/main">
            <a:pPr algn="ctr">
              <a:defRPr sz="2475">
                <a:solidFill>
                  <a:srgbClr val="F1EBDD"/>
                </a:solidFill>
                <a:latin typeface="Calibri"/>
                <a:ea typeface="Calibri"/>
                <a:cs typeface="Calibri"/>
              </a:defRPr>
            </a:pPr>
            <a:r>
              <a:rPr sz="2475">
                <a:solidFill>
                  <a:srgbClr val="F1EBDD"/>
                </a:solidFill>
                <a:latin typeface="Calibri"/>
                <a:ea typeface="Calibri"/>
                <a:cs typeface="Calibri"/>
              </a:rPr>
              <a:t>PDF et état local</a:t>
            </a:r>
          </a:p>
        </p:txBody>
      </p:sp>
      <p:cxnSp>
        <p:nvCxnSpPr>
          <p:cNvPr id="27" name=""/>
          <p:cNvCxnSpPr>
            <a:stCxn xmlns:a="http://schemas.openxmlformats.org/drawingml/2006/main" id="6" idx="2"/>
            <a:endCxn xmlns:a="http://schemas.openxmlformats.org/drawingml/2006/main" id="9" idx="0"/>
          </p:cNvCxnSpPr>
          <p:nvPr/>
        </p:nvCxnSpPr>
        <p:spPr>
          <a:xfrm xmlns:a="http://schemas.openxmlformats.org/drawingml/2006/main" flipH="1">
            <a:off x="3524250" y="7096125"/>
            <a:ext cx="5381625" cy="714375"/>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8" name=""/>
          <p:cNvCxnSpPr>
            <a:stCxn xmlns:a="http://schemas.openxmlformats.org/drawingml/2006/main" id="6" idx="2"/>
            <a:endCxn xmlns:a="http://schemas.openxmlformats.org/drawingml/2006/main" id="10" idx="0"/>
          </p:cNvCxnSpPr>
          <p:nvPr/>
        </p:nvCxnSpPr>
        <p:spPr>
          <a:xfrm xmlns:a="http://schemas.openxmlformats.org/drawingml/2006/main">
            <a:off x="8905875" y="7096125"/>
            <a:ext cx="47625" cy="714375"/>
          </a:xfrm>
          <a:prstGeom xmlns:a="http://schemas.openxmlformats.org/drawingml/2006/main" prst="straightConnector1">
            <a:avLst/>
          </a:prstGeom>
          <a:ln xmlns:a="http://schemas.openxmlformats.org/drawingml/2006/main" w="28575">
            <a:solidFill>
              <a:srgbClr val="D2AB7D"/>
            </a:solidFill>
            <a:tailEnd type="triangle" w="sm" len="sm"/>
          </a:ln>
        </p:spPr>
      </p:cxnSp>
      <p:cxnSp>
        <p:nvCxnSpPr>
          <p:cNvPr id="29" name=""/>
          <p:cNvCxnSpPr>
            <a:stCxn xmlns:a="http://schemas.openxmlformats.org/drawingml/2006/main" id="6" idx="2"/>
            <a:endCxn xmlns:a="http://schemas.openxmlformats.org/drawingml/2006/main" id="11" idx="0"/>
          </p:cNvCxnSpPr>
          <p:nvPr/>
        </p:nvCxnSpPr>
        <p:spPr>
          <a:xfrm xmlns:a="http://schemas.openxmlformats.org/drawingml/2006/main">
            <a:off x="8905875" y="7096125"/>
            <a:ext cx="5476875" cy="714375"/>
          </a:xfrm>
          <a:prstGeom xmlns:a="http://schemas.openxmlformats.org/drawingml/2006/main" prst="straightConnector1">
            <a:avLst/>
          </a:prstGeom>
          <a:ln xmlns:a="http://schemas.openxmlformats.org/drawingml/2006/main" w="28575">
            <a:solidFill>
              <a:srgbClr val="D2AB7D"/>
            </a:solidFill>
            <a:tailEnd type="triangle" w="sm" len="sm"/>
          </a:ln>
        </p:spPr>
      </p:cxnSp>
      <p:sp>
        <p:nvSpPr>
          <p:cNvPr id="15" name="Configuration centralisée, simulation par défaut, logs ">
            <a:extLst xmlns:a="http://schemas.openxmlformats.org/drawingml/2006/main">
              <a:ext uri="{FF2B5EF4-FFF2-40B4-BE49-F238E27FC236}">
                <a16:creationId xmlns:a16="http://schemas.microsoft.com/office/drawing/2014/main" id="{840AE232-35B7-4CF5-9BC0-95BC362A55B2}"/>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Configuration centralisée, simulation par défaut, logs et contrôles locaux.</a:t>
            </a:r>
          </a:p>
        </p:txBody>
      </p:sp>
    </p:spTree>
    <p:extLst>
      <p:ext uri="{BB962C8B-B14F-4D97-AF65-F5344CB8AC3E}">
        <p14:creationId xmlns:p14="http://schemas.microsoft.com/office/powerpoint/2010/main" val="1556719576"/>
      </p:ext>
    </p:extLst>
  </p:cSld>
</p:sld>
</file>

<file path=ppt/slides/slide16.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12bfa016315496d"/>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86643806-F953-4C62-853F-F2EDD2ADBFC3}"/>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16 / 22">
            <a:extLst xmlns:a="http://schemas.openxmlformats.org/drawingml/2006/main">
              <a:ext uri="{FF2B5EF4-FFF2-40B4-BE49-F238E27FC236}">
                <a16:creationId xmlns:a16="http://schemas.microsoft.com/office/drawing/2014/main" id="{FCEF624B-03B2-4F01-B479-684848E2128E}"/>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16 / 22</a:t>
            </a:r>
          </a:p>
        </p:txBody>
      </p:sp>
      <p:sp>
        <p:nvSpPr>
          <p:cNvPr id="4" name="04">
            <a:extLst xmlns:a="http://schemas.openxmlformats.org/drawingml/2006/main">
              <a:ext uri="{FF2B5EF4-FFF2-40B4-BE49-F238E27FC236}">
                <a16:creationId xmlns:a16="http://schemas.microsoft.com/office/drawing/2014/main" id="{FDF430FE-B7F6-4710-9CC8-1859D9FB1931}"/>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04</a:t>
            </a:r>
          </a:p>
        </p:txBody>
      </p:sp>
      <p:sp>
        <p:nvSpPr>
          <p:cNvPr id="5" name="Réalisation et&#10;mise en œuvre">
            <a:extLst xmlns:a="http://schemas.openxmlformats.org/drawingml/2006/main">
              <a:ext uri="{FF2B5EF4-FFF2-40B4-BE49-F238E27FC236}">
                <a16:creationId xmlns:a16="http://schemas.microsoft.com/office/drawing/2014/main" id="{4B66DA1E-4E7D-45CB-9C48-1355C41B56AB}"/>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Réalisation et</a:t>
            </a:r>
          </a:p>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mise en œuvre</a:t>
            </a:r>
          </a:p>
        </p:txBody>
      </p:sp>
      <p:sp>
        <p:nvSpPr>
          <p:cNvPr id="6" name="Les fonctions développées&#10;et leurs résultats visibles">
            <a:extLst xmlns:a="http://schemas.openxmlformats.org/drawingml/2006/main">
              <a:ext uri="{FF2B5EF4-FFF2-40B4-BE49-F238E27FC236}">
                <a16:creationId xmlns:a16="http://schemas.microsoft.com/office/drawing/2014/main" id="{AAF46AB3-A9E5-47B1-8862-02CD9F992BDF}"/>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Les fonctions développées</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et leurs résultats visibles</a:t>
            </a:r>
          </a:p>
        </p:txBody>
      </p:sp>
    </p:spTree>
    <p:extLst>
      <p:ext uri="{BB962C8B-B14F-4D97-AF65-F5344CB8AC3E}">
        <p14:creationId xmlns:p14="http://schemas.microsoft.com/office/powerpoint/2010/main" val="262528276"/>
      </p:ext>
    </p:extLst>
  </p:cSld>
</p:sld>
</file>

<file path=ppt/slides/slide17.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6" name="ADG-10  /  AUTOMATISATION DU CYCLE COMMERCIAL">
            <a:extLst xmlns:a="http://schemas.openxmlformats.org/drawingml/2006/main">
              <a:ext uri="{FF2B5EF4-FFF2-40B4-BE49-F238E27FC236}">
                <a16:creationId xmlns:a16="http://schemas.microsoft.com/office/drawing/2014/main" id="{77B873E0-5B11-46CE-B307-52F1E1F42956}"/>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7 / 22">
            <a:extLst xmlns:a="http://schemas.openxmlformats.org/drawingml/2006/main">
              <a:ext uri="{FF2B5EF4-FFF2-40B4-BE49-F238E27FC236}">
                <a16:creationId xmlns:a16="http://schemas.microsoft.com/office/drawing/2014/main" id="{4CF9889A-015D-4730-B9F6-9D890DBC0BE9}"/>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17 / 22</a:t>
            </a:r>
          </a:p>
        </p:txBody>
      </p:sp>
      <p:sp>
        <p:nvSpPr>
          <p:cNvPr id="3" name="Choix techniques">
            <a:extLst xmlns:a="http://schemas.openxmlformats.org/drawingml/2006/main">
              <a:ext uri="{FF2B5EF4-FFF2-40B4-BE49-F238E27FC236}">
                <a16:creationId xmlns:a16="http://schemas.microsoft.com/office/drawing/2014/main" id="{9BBD7BF6-1480-4500-B2AA-C531DA8A7E25}"/>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Choix techniques</a:t>
            </a:r>
          </a:p>
        </p:txBody>
      </p:sp>
      <p:graphicFrame>
        <p:nvGraphicFramePr>
          <p:cNvPr id="9" name=""/>
          <p:cNvGraphicFramePr/>
          <p:nvPr/>
        </p:nvGraphicFramePr>
        <p:xfrm>
          <a:off xmlns:a="http://schemas.openxmlformats.org/drawingml/2006/main" x="1571625" y="3238500"/>
          <a:ext xmlns:a="http://schemas.openxmlformats.org/drawingml/2006/main" cx="14478000" cy="5143500"/>
        </p:xfrm>
        <a:graphic xmlns:a="http://schemas.openxmlformats.org/drawingml/2006/main">
          <a:graphicData uri="http://schemas.openxmlformats.org/drawingml/2006/table">
            <a:tbl>
              <a:tblPr/>
              <a:tblGrid>
                <a:gridCol w="2916432"/>
                <a:gridCol w="5780784"/>
                <a:gridCol w="5780784"/>
              </a:tblGrid>
              <a:tr h="857250">
                <a:tc>
                  <a:txBody>
                    <a:bodyPr lIns="190500" tIns="114300" rIns="190500" bIns="114300"/>
                    <a:lstStyle/>
                    <a:p>
                      <a:r>
                        <a:rPr sz="2625" b="1">
                          <a:solidFill>
                            <a:srgbClr val="D2AB7D"/>
                          </a:solidFill>
                          <a:latin typeface="Calibri"/>
                          <a:ea typeface="Calibri"/>
                          <a:cs typeface="Calibri"/>
                        </a:rPr>
                        <a:t>Technologie</a:t>
                      </a:r>
                    </a:p>
                  </a:txBody>
                  <a:tcPr marL="91440" marR="91440" marT="45720" marB="45720" anchor="ctr">
                    <a:solidFill>
                      <a:srgbClr val="1F303E"/>
                    </a:solidFill>
                  </a:tcPr>
                </a:tc>
                <a:tc>
                  <a:txBody>
                    <a:bodyPr lIns="190500" tIns="114300" rIns="190500" bIns="114300"/>
                    <a:lstStyle/>
                    <a:p>
                      <a:r>
                        <a:rPr sz="2625" b="1">
                          <a:solidFill>
                            <a:srgbClr val="D2AB7D"/>
                          </a:solidFill>
                          <a:latin typeface="Calibri"/>
                          <a:ea typeface="Calibri"/>
                          <a:cs typeface="Calibri"/>
                        </a:rPr>
                        <a:t>Rôle dans ADG-10</a:t>
                      </a:r>
                    </a:p>
                  </a:txBody>
                  <a:tcPr marL="91440" marR="91440" marT="45720" marB="45720" anchor="ctr">
                    <a:solidFill>
                      <a:srgbClr val="1F303E"/>
                    </a:solidFill>
                  </a:tcPr>
                </a:tc>
                <a:tc>
                  <a:txBody>
                    <a:bodyPr lIns="190500" tIns="114300" rIns="190500" bIns="114300"/>
                    <a:lstStyle/>
                    <a:p>
                      <a:r>
                        <a:rPr sz="2625" b="1">
                          <a:solidFill>
                            <a:srgbClr val="D2AB7D"/>
                          </a:solidFill>
                          <a:latin typeface="Calibri"/>
                          <a:ea typeface="Calibri"/>
                          <a:cs typeface="Calibri"/>
                        </a:rPr>
                        <a:t>Justification</a:t>
                      </a:r>
                    </a:p>
                  </a:txBody>
                  <a:tcPr marL="91440" marR="91440" marT="45720" marB="45720" anchor="ctr">
                    <a:solidFill>
                      <a:srgbClr val="1F303E"/>
                    </a:solidFill>
                  </a:tcPr>
                </a:tc>
              </a:tr>
              <a:tr h="857250">
                <a:tc>
                  <a:txBody>
                    <a:bodyPr lIns="190500" tIns="114300" rIns="190500" bIns="114300"/>
                    <a:lstStyle/>
                    <a:p>
                      <a:r>
                        <a:rPr sz="2625" b="0">
                          <a:solidFill>
                            <a:srgbClr val="F1EBDD"/>
                          </a:solidFill>
                          <a:latin typeface="Calibri"/>
                          <a:ea typeface="Calibri"/>
                          <a:cs typeface="Calibri"/>
                        </a:rPr>
                        <a:t>Python</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Scripts et règles métier</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Modules lisibles et testables</a:t>
                      </a:r>
                    </a:p>
                  </a:txBody>
                  <a:tcPr marL="91440" marR="91440" marT="45720" marB="45720" anchor="ctr">
                    <a:solidFill>
                      <a:srgbClr val="344B5E"/>
                    </a:solidFill>
                  </a:tcPr>
                </a:tc>
              </a:tr>
              <a:tr h="857250">
                <a:tc>
                  <a:txBody>
                    <a:bodyPr lIns="190500" tIns="114300" rIns="190500" bIns="114300"/>
                    <a:lstStyle/>
                    <a:p>
                      <a:r>
                        <a:rPr sz="2625" b="0">
                          <a:solidFill>
                            <a:srgbClr val="F1EBDD"/>
                          </a:solidFill>
                          <a:latin typeface="Calibri"/>
                          <a:ea typeface="Calibri"/>
                          <a:cs typeface="Calibri"/>
                        </a:rPr>
                        <a:t>Airtable</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Catalogue et prospects</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Données accessibles à l’équipe</a:t>
                      </a:r>
                    </a:p>
                  </a:txBody>
                  <a:tcPr marL="91440" marR="91440" marT="45720" marB="45720" anchor="ctr">
                    <a:solidFill>
                      <a:srgbClr val="3C5364"/>
                    </a:solidFill>
                  </a:tcPr>
                </a:tc>
              </a:tr>
              <a:tr h="857250">
                <a:tc>
                  <a:txBody>
                    <a:bodyPr lIns="190500" tIns="114300" rIns="190500" bIns="114300"/>
                    <a:lstStyle/>
                    <a:p>
                      <a:r>
                        <a:rPr sz="2625" b="0">
                          <a:solidFill>
                            <a:srgbClr val="F1EBDD"/>
                          </a:solidFill>
                          <a:latin typeface="Calibri"/>
                          <a:ea typeface="Calibri"/>
                          <a:cs typeface="Calibri"/>
                        </a:rPr>
                        <a:t>Groq</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Génération des contenus</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Réponse JSON contrôlée</a:t>
                      </a:r>
                    </a:p>
                  </a:txBody>
                  <a:tcPr marL="91440" marR="91440" marT="45720" marB="45720" anchor="ctr">
                    <a:solidFill>
                      <a:srgbClr val="344B5E"/>
                    </a:solidFill>
                  </a:tcPr>
                </a:tc>
              </a:tr>
              <a:tr h="857250">
                <a:tc>
                  <a:txBody>
                    <a:bodyPr lIns="190500" tIns="114300" rIns="190500" bIns="114300"/>
                    <a:lstStyle/>
                    <a:p>
                      <a:r>
                        <a:rPr sz="2625" b="0">
                          <a:solidFill>
                            <a:srgbClr val="F1EBDD"/>
                          </a:solidFill>
                          <a:latin typeface="Calibri"/>
                          <a:ea typeface="Calibri"/>
                          <a:cs typeface="Calibri"/>
                        </a:rPr>
                        <a:t>Streamlit</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Interface de pilotage</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Dashboard directement en Python</a:t>
                      </a:r>
                    </a:p>
                  </a:txBody>
                  <a:tcPr marL="91440" marR="91440" marT="45720" marB="45720" anchor="ctr">
                    <a:solidFill>
                      <a:srgbClr val="3C5364"/>
                    </a:solidFill>
                  </a:tcPr>
                </a:tc>
              </a:tr>
              <a:tr h="857250">
                <a:tc>
                  <a:txBody>
                    <a:bodyPr lIns="190500" tIns="114300" rIns="190500" bIns="114300"/>
                    <a:lstStyle/>
                    <a:p>
                      <a:r>
                        <a:rPr sz="2625" b="0">
                          <a:solidFill>
                            <a:srgbClr val="F1EBDD"/>
                          </a:solidFill>
                          <a:latin typeface="Calibri"/>
                          <a:ea typeface="Calibri"/>
                          <a:cs typeface="Calibri"/>
                        </a:rPr>
                        <a:t>ReportLab</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Offres, conventions et factures</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Thème documentaire partagé</a:t>
                      </a:r>
                    </a:p>
                  </a:txBody>
                  <a:tcPr marL="91440" marR="91440" marT="45720" marB="45720" anchor="ctr">
                    <a:solidFill>
                      <a:srgbClr val="344B5E"/>
                    </a:solidFill>
                  </a:tcPr>
                </a:tc>
              </a:tr>
            </a:tbl>
          </a:graphicData>
        </a:graphic>
      </p:graphicFrame>
      <p:sp>
        <p:nvSpPr>
          <p:cNvPr id="5" name="SMTP gère l’e-mail. WhatsApp repose sur l’automatisatio">
            <a:extLst xmlns:a="http://schemas.openxmlformats.org/drawingml/2006/main">
              <a:ext uri="{FF2B5EF4-FFF2-40B4-BE49-F238E27FC236}">
                <a16:creationId xmlns:a16="http://schemas.microsoft.com/office/drawing/2014/main" id="{2E3B730B-F0DD-4EA2-92BC-40FFEB09E86F}"/>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SMTP gère l’e-mail. WhatsApp repose sur l’automatisation du navigateur avec PyWhatKit.</a:t>
            </a:r>
          </a:p>
        </p:txBody>
      </p:sp>
    </p:spTree>
    <p:extLst>
      <p:ext uri="{BB962C8B-B14F-4D97-AF65-F5344CB8AC3E}">
        <p14:creationId xmlns:p14="http://schemas.microsoft.com/office/powerpoint/2010/main" val="2113413439"/>
      </p:ext>
    </p:extLst>
  </p:cSld>
</p:sld>
</file>

<file path=ppt/slides/slide18.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7" name="ADG-10  /  AUTOMATISATION DU CYCLE COMMERCIAL">
            <a:extLst xmlns:a="http://schemas.openxmlformats.org/drawingml/2006/main">
              <a:ext uri="{FF2B5EF4-FFF2-40B4-BE49-F238E27FC236}">
                <a16:creationId xmlns:a16="http://schemas.microsoft.com/office/drawing/2014/main" id="{FE063099-5BDD-45C2-8DFC-534655284F8C}"/>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8 / 22">
            <a:extLst xmlns:a="http://schemas.openxmlformats.org/drawingml/2006/main">
              <a:ext uri="{FF2B5EF4-FFF2-40B4-BE49-F238E27FC236}">
                <a16:creationId xmlns:a16="http://schemas.microsoft.com/office/drawing/2014/main" id="{8D94824B-0C2E-4430-9D61-726CC7BD99B7}"/>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18 / 22</a:t>
            </a:r>
          </a:p>
        </p:txBody>
      </p:sp>
      <p:sp>
        <p:nvSpPr>
          <p:cNvPr id="3" name="Démonstration du tableau de bord">
            <a:extLst xmlns:a="http://schemas.openxmlformats.org/drawingml/2006/main">
              <a:ext uri="{FF2B5EF4-FFF2-40B4-BE49-F238E27FC236}">
                <a16:creationId xmlns:a16="http://schemas.microsoft.com/office/drawing/2014/main" id="{F9FB55E8-AEEE-4AC9-817A-CA56B9105633}"/>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Démonstration du tableau de bord</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25b2a0c2adf4b6e"/>
          <a:stretch xmlns:a="http://schemas.openxmlformats.org/drawingml/2006/main"/>
        </p:blipFill>
        <p:spPr>
          <a:xfrm xmlns:a="http://schemas.openxmlformats.org/drawingml/2006/main">
            <a:off x="1428750" y="3124200"/>
            <a:ext cx="9906000" cy="5572125"/>
          </a:xfrm>
          <a:prstGeom xmlns:a="http://schemas.openxmlformats.org/drawingml/2006/main" prst="rect">
            <a:avLst/>
          </a:prstGeom>
        </p:spPr>
      </p:pic>
      <p:sp>
        <p:nvSpPr>
          <p:cNvPr id="5" name="1. Consulter les indicateurs&#10;&#10;2. Rechercher un prospect">
            <a:extLst xmlns:a="http://schemas.openxmlformats.org/drawingml/2006/main">
              <a:ext uri="{FF2B5EF4-FFF2-40B4-BE49-F238E27FC236}">
                <a16:creationId xmlns:a16="http://schemas.microsoft.com/office/drawing/2014/main" id="{B87F9C7E-C659-454B-8861-3FE90FD96025}"/>
              </a:ext>
            </a:extLst>
          </p:cNvPr>
          <p:cNvSpPr>
            <a:spLocks xmlns:a="http://schemas.openxmlformats.org/drawingml/2006/main" noGrp="1"/>
          </p:cNvSpPr>
          <p:nvPr/>
        </p:nvSpPr>
        <p:spPr>
          <a:xfrm xmlns:a="http://schemas.openxmlformats.org/drawingml/2006/main">
            <a:off x="11763375" y="3371850"/>
            <a:ext cx="4143375" cy="468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850" b="0">
                <a:solidFill>
                  <a:srgbClr val="F1EBDD"/>
                </a:solidFill>
                <a:latin typeface="Calibri"/>
                <a:ea typeface="Calibri"/>
                <a:cs typeface="Calibri"/>
              </a:defRPr>
            </a:pPr>
            <a:r>
              <a:rPr sz="2850" b="0">
                <a:solidFill>
                  <a:srgbClr val="F1EBDD"/>
                </a:solidFill>
                <a:latin typeface="Calibri"/>
                <a:ea typeface="Calibri"/>
                <a:cs typeface="Calibri"/>
              </a:rPr>
              <a:t>1. Consulter les indicateurs</a:t>
            </a:r>
          </a:p>
          <a:p xmlns:a="http://schemas.openxmlformats.org/drawingml/2006/main">
            <a:r>
              <a:t/>
            </a:r>
          </a:p>
          <a:p xmlns:a="http://schemas.openxmlformats.org/drawingml/2006/main">
            <a:pPr algn="l">
              <a:defRPr sz="2850" b="0">
                <a:solidFill>
                  <a:srgbClr val="F1EBDD"/>
                </a:solidFill>
                <a:latin typeface="Calibri"/>
                <a:ea typeface="Calibri"/>
                <a:cs typeface="Calibri"/>
              </a:defRPr>
            </a:pPr>
            <a:r>
              <a:rPr sz="2850" b="0">
                <a:solidFill>
                  <a:srgbClr val="F1EBDD"/>
                </a:solidFill>
                <a:latin typeface="Calibri"/>
                <a:ea typeface="Calibri"/>
                <a:cs typeface="Calibri"/>
              </a:rPr>
              <a:t>2. Rechercher un prospect</a:t>
            </a:r>
          </a:p>
          <a:p xmlns:a="http://schemas.openxmlformats.org/drawingml/2006/main">
            <a:r>
              <a:t/>
            </a:r>
          </a:p>
          <a:p xmlns:a="http://schemas.openxmlformats.org/drawingml/2006/main">
            <a:pPr algn="l">
              <a:defRPr sz="2850" b="0">
                <a:solidFill>
                  <a:srgbClr val="F1EBDD"/>
                </a:solidFill>
                <a:latin typeface="Calibri"/>
                <a:ea typeface="Calibri"/>
                <a:cs typeface="Calibri"/>
              </a:defRPr>
            </a:pPr>
            <a:r>
              <a:rPr sz="2850" b="0">
                <a:solidFill>
                  <a:srgbClr val="F1EBDD"/>
                </a:solidFill>
                <a:latin typeface="Calibri"/>
                <a:ea typeface="Calibri"/>
                <a:cs typeface="Calibri"/>
              </a:rPr>
              <a:t>3. Choisir la simulation</a:t>
            </a:r>
          </a:p>
          <a:p xmlns:a="http://schemas.openxmlformats.org/drawingml/2006/main">
            <a:r>
              <a:t/>
            </a:r>
          </a:p>
          <a:p xmlns:a="http://schemas.openxmlformats.org/drawingml/2006/main">
            <a:pPr algn="l">
              <a:defRPr sz="2850" b="0">
                <a:solidFill>
                  <a:srgbClr val="F1EBDD"/>
                </a:solidFill>
                <a:latin typeface="Calibri"/>
                <a:ea typeface="Calibri"/>
                <a:cs typeface="Calibri"/>
              </a:defRPr>
            </a:pPr>
            <a:r>
              <a:rPr sz="2850" b="0">
                <a:solidFill>
                  <a:srgbClr val="F1EBDD"/>
                </a:solidFill>
                <a:latin typeface="Calibri"/>
                <a:ea typeface="Calibri"/>
                <a:cs typeface="Calibri"/>
              </a:rPr>
              <a:t>4. Lancer et vérifier</a:t>
            </a:r>
          </a:p>
        </p:txBody>
      </p:sp>
      <p:sp>
        <p:nvSpPr>
          <p:cNvPr id="6" name="Capture de l’application réelle avec six prospects fict">
            <a:extLst xmlns:a="http://schemas.openxmlformats.org/drawingml/2006/main">
              <a:ext uri="{FF2B5EF4-FFF2-40B4-BE49-F238E27FC236}">
                <a16:creationId xmlns:a16="http://schemas.microsoft.com/office/drawing/2014/main" id="{76B6FEE7-F40E-4630-BC7F-7A3DF08F4A3C}"/>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Capture de l’application réelle avec six prospects fictifs. Aucun envoi réel dans cette démonstration.</a:t>
            </a:r>
          </a:p>
        </p:txBody>
      </p:sp>
    </p:spTree>
    <p:extLst>
      <p:ext uri="{BB962C8B-B14F-4D97-AF65-F5344CB8AC3E}">
        <p14:creationId xmlns:p14="http://schemas.microsoft.com/office/powerpoint/2010/main" val="418214357"/>
      </p:ext>
    </p:extLst>
  </p:cSld>
</p:sld>
</file>

<file path=ppt/slides/slide19.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1" name="ADG-10  /  AUTOMATISATION DU CYCLE COMMERCIAL">
            <a:extLst xmlns:a="http://schemas.openxmlformats.org/drawingml/2006/main">
              <a:ext uri="{FF2B5EF4-FFF2-40B4-BE49-F238E27FC236}">
                <a16:creationId xmlns:a16="http://schemas.microsoft.com/office/drawing/2014/main" id="{89519B33-9A26-43E4-99AF-A809AEA79FC9}"/>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19 / 22">
            <a:extLst xmlns:a="http://schemas.openxmlformats.org/drawingml/2006/main">
              <a:ext uri="{FF2B5EF4-FFF2-40B4-BE49-F238E27FC236}">
                <a16:creationId xmlns:a16="http://schemas.microsoft.com/office/drawing/2014/main" id="{155998FF-2068-4067-9BA0-3F491E543AA2}"/>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19 / 22</a:t>
            </a:r>
          </a:p>
        </p:txBody>
      </p:sp>
      <p:sp>
        <p:nvSpPr>
          <p:cNvPr id="3" name="Documents et communications">
            <a:extLst xmlns:a="http://schemas.openxmlformats.org/drawingml/2006/main">
              <a:ext uri="{FF2B5EF4-FFF2-40B4-BE49-F238E27FC236}">
                <a16:creationId xmlns:a16="http://schemas.microsoft.com/office/drawing/2014/main" id="{DEA94F13-C694-4248-A245-2B3EF56D7AE4}"/>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Documents et communications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e96dea1daff34f41"/>
          <a:stretch xmlns:a="http://schemas.openxmlformats.org/drawingml/2006/main"/>
        </p:blipFill>
        <p:spPr>
          <a:xfrm xmlns:a="http://schemas.openxmlformats.org/drawingml/2006/main">
            <a:off x="1719395" y="3067050"/>
            <a:ext cx="3704960" cy="523875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da5069a60254102"/>
          <a:stretch xmlns:a="http://schemas.openxmlformats.org/drawingml/2006/main"/>
        </p:blipFill>
        <p:spPr>
          <a:xfrm xmlns:a="http://schemas.openxmlformats.org/drawingml/2006/main">
            <a:off x="6720020" y="3067050"/>
            <a:ext cx="3704960" cy="523875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0fb07d56c784c97"/>
          <a:stretch xmlns:a="http://schemas.openxmlformats.org/drawingml/2006/main"/>
        </p:blipFill>
        <p:spPr>
          <a:xfrm xmlns:a="http://schemas.openxmlformats.org/drawingml/2006/main">
            <a:off x="11720645" y="3067050"/>
            <a:ext cx="3704960" cy="5238750"/>
          </a:xfrm>
          <a:prstGeom xmlns:a="http://schemas.openxmlformats.org/drawingml/2006/main" prst="rect">
            <a:avLst/>
          </a:prstGeom>
        </p:spPr>
      </p:pic>
      <p:sp>
        <p:nvSpPr>
          <p:cNvPr id="7" name="Proposition">
            <a:extLst xmlns:a="http://schemas.openxmlformats.org/drawingml/2006/main">
              <a:ext uri="{FF2B5EF4-FFF2-40B4-BE49-F238E27FC236}">
                <a16:creationId xmlns:a16="http://schemas.microsoft.com/office/drawing/2014/main" id="{88259EB2-6DB9-4415-8711-E7F2EC9012CC}"/>
              </a:ext>
            </a:extLst>
          </p:cNvPr>
          <p:cNvSpPr>
            <a:spLocks xmlns:a="http://schemas.openxmlformats.org/drawingml/2006/main" noGrp="1"/>
          </p:cNvSpPr>
          <p:nvPr/>
        </p:nvSpPr>
        <p:spPr>
          <a:xfrm xmlns:a="http://schemas.openxmlformats.org/drawingml/2006/main">
            <a:off x="1571625"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1EBDD"/>
                </a:solidFill>
                <a:latin typeface="Calibri"/>
                <a:ea typeface="Calibri"/>
                <a:cs typeface="Calibri"/>
              </a:defRPr>
            </a:pPr>
            <a:r>
              <a:rPr sz="2700" b="1">
                <a:solidFill>
                  <a:srgbClr val="F1EBDD"/>
                </a:solidFill>
                <a:latin typeface="Calibri"/>
                <a:ea typeface="Calibri"/>
                <a:cs typeface="Calibri"/>
              </a:rPr>
              <a:t>Proposition</a:t>
            </a:r>
          </a:p>
        </p:txBody>
      </p:sp>
      <p:sp>
        <p:nvSpPr>
          <p:cNvPr id="8" name="Convention">
            <a:extLst xmlns:a="http://schemas.openxmlformats.org/drawingml/2006/main">
              <a:ext uri="{FF2B5EF4-FFF2-40B4-BE49-F238E27FC236}">
                <a16:creationId xmlns:a16="http://schemas.microsoft.com/office/drawing/2014/main" id="{78A2ACF0-F22B-4E4B-87DC-49F559303F07}"/>
              </a:ext>
            </a:extLst>
          </p:cNvPr>
          <p:cNvSpPr>
            <a:spLocks xmlns:a="http://schemas.openxmlformats.org/drawingml/2006/main" noGrp="1"/>
          </p:cNvSpPr>
          <p:nvPr/>
        </p:nvSpPr>
        <p:spPr>
          <a:xfrm xmlns:a="http://schemas.openxmlformats.org/drawingml/2006/main">
            <a:off x="6524625"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1EBDD"/>
                </a:solidFill>
                <a:latin typeface="Calibri"/>
                <a:ea typeface="Calibri"/>
                <a:cs typeface="Calibri"/>
              </a:defRPr>
            </a:pPr>
            <a:r>
              <a:rPr sz="2700" b="1">
                <a:solidFill>
                  <a:srgbClr val="F1EBDD"/>
                </a:solidFill>
                <a:latin typeface="Calibri"/>
                <a:ea typeface="Calibri"/>
                <a:cs typeface="Calibri"/>
              </a:rPr>
              <a:t>Convention</a:t>
            </a:r>
          </a:p>
        </p:txBody>
      </p:sp>
      <p:sp>
        <p:nvSpPr>
          <p:cNvPr id="9" name="Facture">
            <a:extLst xmlns:a="http://schemas.openxmlformats.org/drawingml/2006/main">
              <a:ext uri="{FF2B5EF4-FFF2-40B4-BE49-F238E27FC236}">
                <a16:creationId xmlns:a16="http://schemas.microsoft.com/office/drawing/2014/main" id="{00619576-1AD9-4795-8273-B6CA2FF0F1A1}"/>
              </a:ext>
            </a:extLst>
          </p:cNvPr>
          <p:cNvSpPr>
            <a:spLocks xmlns:a="http://schemas.openxmlformats.org/drawingml/2006/main" noGrp="1"/>
          </p:cNvSpPr>
          <p:nvPr/>
        </p:nvSpPr>
        <p:spPr>
          <a:xfrm xmlns:a="http://schemas.openxmlformats.org/drawingml/2006/main">
            <a:off x="11525250" y="8505825"/>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a:solidFill>
                  <a:srgbClr val="F1EBDD"/>
                </a:solidFill>
                <a:latin typeface="Calibri"/>
                <a:ea typeface="Calibri"/>
                <a:cs typeface="Calibri"/>
              </a:defRPr>
            </a:pPr>
            <a:r>
              <a:rPr sz="2700" b="1">
                <a:solidFill>
                  <a:srgbClr val="F1EBDD"/>
                </a:solidFill>
                <a:latin typeface="Calibri"/>
                <a:ea typeface="Calibri"/>
                <a:cs typeface="Calibri"/>
              </a:rPr>
              <a:t>Facture</a:t>
            </a:r>
          </a:p>
        </p:txBody>
      </p:sp>
      <p:sp>
        <p:nvSpPr>
          <p:cNvPr id="10" name="Exemples fictifs. L’équipe doit valider les données com">
            <a:extLst xmlns:a="http://schemas.openxmlformats.org/drawingml/2006/main">
              <a:ext uri="{FF2B5EF4-FFF2-40B4-BE49-F238E27FC236}">
                <a16:creationId xmlns:a16="http://schemas.microsoft.com/office/drawing/2014/main" id="{E6B2FDF2-A825-4FBD-BA42-50656A92ABFA}"/>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Exemples fictifs. L’équipe doit valider les données commerciales, contractuelles et fiscales avant émission.</a:t>
            </a:r>
          </a:p>
        </p:txBody>
      </p:sp>
    </p:spTree>
    <p:extLst>
      <p:ext uri="{BB962C8B-B14F-4D97-AF65-F5344CB8AC3E}">
        <p14:creationId xmlns:p14="http://schemas.microsoft.com/office/powerpoint/2010/main" val="620449923"/>
      </p:ext>
    </p:extLst>
  </p:cSld>
</p:sld>
</file>

<file path=ppt/slides/slide20.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13" name="ADG-10  /  AUTOMATISATION DU CYCLE COMMERCIAL">
            <a:extLst xmlns:a="http://schemas.openxmlformats.org/drawingml/2006/main">
              <a:ext uri="{FF2B5EF4-FFF2-40B4-BE49-F238E27FC236}">
                <a16:creationId xmlns:a16="http://schemas.microsoft.com/office/drawing/2014/main" id="{21990199-4756-4D3D-9DE8-AC16FD7ED5B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20 / 22">
            <a:extLst xmlns:a="http://schemas.openxmlformats.org/drawingml/2006/main">
              <a:ext uri="{FF2B5EF4-FFF2-40B4-BE49-F238E27FC236}">
                <a16:creationId xmlns:a16="http://schemas.microsoft.com/office/drawing/2014/main" id="{5EAFA298-D467-4E27-A52F-ED735177867E}"/>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20 / 22</a:t>
            </a:r>
          </a:p>
        </p:txBody>
      </p:sp>
      <p:sp>
        <p:nvSpPr>
          <p:cNvPr id="3" name="Résultats et validation">
            <a:extLst xmlns:a="http://schemas.openxmlformats.org/drawingml/2006/main">
              <a:ext uri="{FF2B5EF4-FFF2-40B4-BE49-F238E27FC236}">
                <a16:creationId xmlns:a16="http://schemas.microsoft.com/office/drawing/2014/main" id="{06BF7B6B-B098-4874-A30E-2E847DFDBFEC}"/>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Résultats et validation</a:t>
            </a:r>
          </a:p>
        </p:txBody>
      </p:sp>
      <p:sp>
        <p:nvSpPr>
          <p:cNvPr id="4" name="11 tests métier réussis">
            <a:extLst xmlns:a="http://schemas.openxmlformats.org/drawingml/2006/main">
              <a:ext uri="{FF2B5EF4-FFF2-40B4-BE49-F238E27FC236}">
                <a16:creationId xmlns:a16="http://schemas.microsoft.com/office/drawing/2014/main" id="{2A7F237F-E6DD-4ED9-BC2E-F3E0FAD09AF8}"/>
              </a:ext>
            </a:extLst>
          </p:cNvPr>
          <p:cNvSpPr>
            <a:spLocks xmlns:a="http://schemas.openxmlformats.org/drawingml/2006/main" noGrp="1"/>
          </p:cNvSpPr>
          <p:nvPr/>
        </p:nvSpPr>
        <p:spPr>
          <a:xfrm xmlns:a="http://schemas.openxmlformats.org/drawingml/2006/main">
            <a:off x="1857375" y="3429000"/>
            <a:ext cx="1238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4800" b="1">
                <a:solidFill>
                  <a:srgbClr val="D2AB7D"/>
                </a:solidFill>
                <a:latin typeface="Calibri"/>
                <a:ea typeface="Calibri"/>
                <a:cs typeface="Calibri"/>
              </a:defRPr>
            </a:pPr>
            <a:r>
              <a:rPr sz="4800" b="1">
                <a:solidFill>
                  <a:srgbClr val="D2AB7D"/>
                </a:solidFill>
                <a:latin typeface="Calibri"/>
                <a:ea typeface="Calibri"/>
                <a:cs typeface="Calibri"/>
              </a:rPr>
              <a:t>11 tests métier réussis</a:t>
            </a:r>
          </a:p>
        </p:txBody>
      </p:sp>
      <p:sp>
        <p:nvSpPr>
          <p:cNvPr id="5" name="01">
            <a:extLst xmlns:a="http://schemas.openxmlformats.org/drawingml/2006/main">
              <a:ext uri="{FF2B5EF4-FFF2-40B4-BE49-F238E27FC236}">
                <a16:creationId xmlns:a16="http://schemas.microsoft.com/office/drawing/2014/main" id="{A8920052-17DE-443D-99DF-5F91E0E3BCE0}"/>
              </a:ext>
            </a:extLst>
          </p:cNvPr>
          <p:cNvSpPr>
            <a:spLocks xmlns:a="http://schemas.openxmlformats.org/drawingml/2006/main" noGrp="1"/>
          </p:cNvSpPr>
          <p:nvPr/>
        </p:nvSpPr>
        <p:spPr>
          <a:xfrm xmlns:a="http://schemas.openxmlformats.org/drawingml/2006/main">
            <a:off x="1190625" y="485775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01</a:t>
            </a:r>
          </a:p>
        </p:txBody>
      </p:sp>
      <p:sp>
        <p:nvSpPr>
          <p:cNvPr id="6" name="Scoring, routage et sélection de la formation.">
            <a:extLst xmlns:a="http://schemas.openxmlformats.org/drawingml/2006/main">
              <a:ext uri="{FF2B5EF4-FFF2-40B4-BE49-F238E27FC236}">
                <a16:creationId xmlns:a16="http://schemas.microsoft.com/office/drawing/2014/main" id="{1FE357ED-6E15-4212-A30C-FD3331A16B52}"/>
              </a:ext>
            </a:extLst>
          </p:cNvPr>
          <p:cNvSpPr>
            <a:spLocks xmlns:a="http://schemas.openxmlformats.org/drawingml/2006/main" noGrp="1"/>
          </p:cNvSpPr>
          <p:nvPr/>
        </p:nvSpPr>
        <p:spPr>
          <a:xfrm xmlns:a="http://schemas.openxmlformats.org/drawingml/2006/main">
            <a:off x="1857375" y="4857750"/>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F1EBDD"/>
                </a:solidFill>
                <a:latin typeface="Calibri"/>
                <a:ea typeface="Calibri"/>
                <a:cs typeface="Calibri"/>
              </a:defRPr>
            </a:pPr>
            <a:r>
              <a:rPr sz="3075" b="0">
                <a:solidFill>
                  <a:srgbClr val="F1EBDD"/>
                </a:solidFill>
                <a:latin typeface="Calibri"/>
                <a:ea typeface="Calibri"/>
                <a:cs typeface="Calibri"/>
              </a:rPr>
              <a:t>Scoring, routage et sélection de la formation.</a:t>
            </a:r>
          </a:p>
        </p:txBody>
      </p:sp>
      <p:sp>
        <p:nvSpPr>
          <p:cNvPr id="7" name="02">
            <a:extLst xmlns:a="http://schemas.openxmlformats.org/drawingml/2006/main">
              <a:ext uri="{FF2B5EF4-FFF2-40B4-BE49-F238E27FC236}">
                <a16:creationId xmlns:a16="http://schemas.microsoft.com/office/drawing/2014/main" id="{3305C53C-16AB-418A-A569-8B55A8BDA994}"/>
              </a:ext>
            </a:extLst>
          </p:cNvPr>
          <p:cNvSpPr>
            <a:spLocks xmlns:a="http://schemas.openxmlformats.org/drawingml/2006/main" noGrp="1"/>
          </p:cNvSpPr>
          <p:nvPr/>
        </p:nvSpPr>
        <p:spPr>
          <a:xfrm xmlns:a="http://schemas.openxmlformats.org/drawingml/2006/main">
            <a:off x="1190625" y="5857875"/>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02</a:t>
            </a:r>
          </a:p>
        </p:txBody>
      </p:sp>
      <p:sp>
        <p:nvSpPr>
          <p:cNvPr id="8" name="Prix, références et numérotation des documents.">
            <a:extLst xmlns:a="http://schemas.openxmlformats.org/drawingml/2006/main">
              <a:ext uri="{FF2B5EF4-FFF2-40B4-BE49-F238E27FC236}">
                <a16:creationId xmlns:a16="http://schemas.microsoft.com/office/drawing/2014/main" id="{EFD65A99-ADB2-4AAB-8435-8C31968C154D}"/>
              </a:ext>
            </a:extLst>
          </p:cNvPr>
          <p:cNvSpPr>
            <a:spLocks xmlns:a="http://schemas.openxmlformats.org/drawingml/2006/main" noGrp="1"/>
          </p:cNvSpPr>
          <p:nvPr/>
        </p:nvSpPr>
        <p:spPr>
          <a:xfrm xmlns:a="http://schemas.openxmlformats.org/drawingml/2006/main">
            <a:off x="1857375" y="5857875"/>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F1EBDD"/>
                </a:solidFill>
                <a:latin typeface="Calibri"/>
                <a:ea typeface="Calibri"/>
                <a:cs typeface="Calibri"/>
              </a:defRPr>
            </a:pPr>
            <a:r>
              <a:rPr sz="3075" b="0">
                <a:solidFill>
                  <a:srgbClr val="F1EBDD"/>
                </a:solidFill>
                <a:latin typeface="Calibri"/>
                <a:ea typeface="Calibri"/>
                <a:cs typeface="Calibri"/>
              </a:rPr>
              <a:t>Prix, références et numérotation des documents.</a:t>
            </a:r>
          </a:p>
        </p:txBody>
      </p:sp>
      <p:sp>
        <p:nvSpPr>
          <p:cNvPr id="9" name="03">
            <a:extLst xmlns:a="http://schemas.openxmlformats.org/drawingml/2006/main">
              <a:ext uri="{FF2B5EF4-FFF2-40B4-BE49-F238E27FC236}">
                <a16:creationId xmlns:a16="http://schemas.microsoft.com/office/drawing/2014/main" id="{823EDE3A-610D-4A96-B98C-861ABC4BA5CF}"/>
              </a:ext>
            </a:extLst>
          </p:cNvPr>
          <p:cNvSpPr>
            <a:spLocks xmlns:a="http://schemas.openxmlformats.org/drawingml/2006/main" noGrp="1"/>
          </p:cNvSpPr>
          <p:nvPr/>
        </p:nvSpPr>
        <p:spPr>
          <a:xfrm xmlns:a="http://schemas.openxmlformats.org/drawingml/2006/main">
            <a:off x="1190625" y="685800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D2AB7D"/>
                </a:solidFill>
                <a:latin typeface="Calibri"/>
                <a:ea typeface="Calibri"/>
                <a:cs typeface="Calibri"/>
              </a:defRPr>
            </a:pPr>
            <a:r>
              <a:rPr sz="2100" b="1">
                <a:solidFill>
                  <a:srgbClr val="D2AB7D"/>
                </a:solidFill>
                <a:latin typeface="Calibri"/>
                <a:ea typeface="Calibri"/>
                <a:cs typeface="Calibri"/>
              </a:rPr>
              <a:t>03</a:t>
            </a:r>
          </a:p>
        </p:txBody>
      </p:sp>
      <p:sp>
        <p:nvSpPr>
          <p:cNvPr id="10" name="Journal d’envoi, reprise CRM et erreurs contrôlées.">
            <a:extLst xmlns:a="http://schemas.openxmlformats.org/drawingml/2006/main">
              <a:ext uri="{FF2B5EF4-FFF2-40B4-BE49-F238E27FC236}">
                <a16:creationId xmlns:a16="http://schemas.microsoft.com/office/drawing/2014/main" id="{EEE4361D-52AB-4F6D-AB9F-B94572456748}"/>
              </a:ext>
            </a:extLst>
          </p:cNvPr>
          <p:cNvSpPr>
            <a:spLocks xmlns:a="http://schemas.openxmlformats.org/drawingml/2006/main" noGrp="1"/>
          </p:cNvSpPr>
          <p:nvPr/>
        </p:nvSpPr>
        <p:spPr>
          <a:xfrm xmlns:a="http://schemas.openxmlformats.org/drawingml/2006/main">
            <a:off x="1857375" y="6858000"/>
            <a:ext cx="1228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75" b="0">
                <a:solidFill>
                  <a:srgbClr val="F1EBDD"/>
                </a:solidFill>
                <a:latin typeface="Calibri"/>
                <a:ea typeface="Calibri"/>
                <a:cs typeface="Calibri"/>
              </a:defRPr>
            </a:pPr>
            <a:r>
              <a:rPr sz="3075" b="0">
                <a:solidFill>
                  <a:srgbClr val="F1EBDD"/>
                </a:solidFill>
                <a:latin typeface="Calibri"/>
                <a:ea typeface="Calibri"/>
                <a:cs typeface="Calibri"/>
              </a:rPr>
              <a:t>Journal d’envoi, reprise CRM et erreurs contrôlées.</a:t>
            </a:r>
          </a:p>
        </p:txBody>
      </p:sp>
      <p:sp>
        <p:nvSpPr>
          <p:cNvPr id="11" name="28 fichiers Python analysés. Aucun conflit de dépendanc">
            <a:extLst xmlns:a="http://schemas.openxmlformats.org/drawingml/2006/main">
              <a:ext uri="{FF2B5EF4-FFF2-40B4-BE49-F238E27FC236}">
                <a16:creationId xmlns:a16="http://schemas.microsoft.com/office/drawing/2014/main" id="{44B6638D-0EBE-49E0-9274-07E9D7F650EF}"/>
              </a:ext>
            </a:extLst>
          </p:cNvPr>
          <p:cNvSpPr>
            <a:spLocks xmlns:a="http://schemas.openxmlformats.org/drawingml/2006/main" noGrp="1"/>
          </p:cNvSpPr>
          <p:nvPr/>
        </p:nvSpPr>
        <p:spPr>
          <a:xfrm xmlns:a="http://schemas.openxmlformats.org/drawingml/2006/main">
            <a:off x="1857375" y="8048625"/>
            <a:ext cx="1257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550" b="0">
                <a:solidFill>
                  <a:srgbClr val="F1EBDD"/>
                </a:solidFill>
                <a:latin typeface="Calibri"/>
                <a:ea typeface="Calibri"/>
                <a:cs typeface="Calibri"/>
              </a:defRPr>
            </a:pPr>
            <a:r>
              <a:rPr sz="2550" b="0">
                <a:solidFill>
                  <a:srgbClr val="F1EBDD"/>
                </a:solidFill>
                <a:latin typeface="Calibri"/>
                <a:ea typeface="Calibri"/>
                <a:cs typeface="Calibri"/>
              </a:rPr>
              <a:t>28 fichiers Python analysés. Aucun conflit de dépendances détecté.</a:t>
            </a:r>
          </a:p>
        </p:txBody>
      </p:sp>
      <p:sp>
        <p:nvSpPr>
          <p:cNvPr id="12" name="Vérifications locales du 17 septembre 2026. Les service">
            <a:extLst xmlns:a="http://schemas.openxmlformats.org/drawingml/2006/main">
              <a:ext uri="{FF2B5EF4-FFF2-40B4-BE49-F238E27FC236}">
                <a16:creationId xmlns:a16="http://schemas.microsoft.com/office/drawing/2014/main" id="{08F8DCEF-2E96-4C3B-B0A5-94F70C6C1196}"/>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Vérifications locales du 17 septembre 2026. Les services externes restent à valider en conditions réelles.</a:t>
            </a:r>
          </a:p>
        </p:txBody>
      </p:sp>
    </p:spTree>
    <p:extLst>
      <p:ext uri="{BB962C8B-B14F-4D97-AF65-F5344CB8AC3E}">
        <p14:creationId xmlns:p14="http://schemas.microsoft.com/office/powerpoint/2010/main" val="418186825"/>
      </p:ext>
    </p:extLst>
  </p:cSld>
</p:sld>
</file>

<file path=ppt/slides/slide21.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sp>
        <p:nvSpPr>
          <p:cNvPr id="6" name="ADG-10  /  AUTOMATISATION DU CYCLE COMMERCIAL">
            <a:extLst xmlns:a="http://schemas.openxmlformats.org/drawingml/2006/main">
              <a:ext uri="{FF2B5EF4-FFF2-40B4-BE49-F238E27FC236}">
                <a16:creationId xmlns:a16="http://schemas.microsoft.com/office/drawing/2014/main" id="{354D95A1-1817-462E-9F89-61B2E8868D08}"/>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2" name="21 / 22">
            <a:extLst xmlns:a="http://schemas.openxmlformats.org/drawingml/2006/main">
              <a:ext uri="{FF2B5EF4-FFF2-40B4-BE49-F238E27FC236}">
                <a16:creationId xmlns:a16="http://schemas.microsoft.com/office/drawing/2014/main" id="{D8F54BC4-6BFB-4E2B-9863-34BD2AA866EC}"/>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1EBDD"/>
                </a:solidFill>
                <a:latin typeface="Calibri"/>
                <a:ea typeface="Calibri"/>
                <a:cs typeface="Calibri"/>
              </a:defRPr>
            </a:pPr>
            <a:r>
              <a:rPr sz="1950" b="1">
                <a:solidFill>
                  <a:srgbClr val="F1EBDD"/>
                </a:solidFill>
                <a:latin typeface="Calibri"/>
                <a:ea typeface="Calibri"/>
                <a:cs typeface="Calibri"/>
              </a:rPr>
              <a:t>21 / 22</a:t>
            </a:r>
          </a:p>
        </p:txBody>
      </p:sp>
      <p:sp>
        <p:nvSpPr>
          <p:cNvPr id="3" name="Limites et perspectives">
            <a:extLst xmlns:a="http://schemas.openxmlformats.org/drawingml/2006/main">
              <a:ext uri="{FF2B5EF4-FFF2-40B4-BE49-F238E27FC236}">
                <a16:creationId xmlns:a16="http://schemas.microsoft.com/office/drawing/2014/main" id="{06E049E9-6610-4C3F-84A2-1B9057BD3165}"/>
              </a:ext>
            </a:extLst>
          </p:cNvPr>
          <p:cNvSpPr>
            <a:spLocks xmlns:a="http://schemas.openxmlformats.org/drawingml/2006/main" noGrp="1"/>
          </p:cNvSpPr>
          <p:nvPr/>
        </p:nvSpPr>
        <p:spPr>
          <a:xfrm xmlns:a="http://schemas.openxmlformats.org/drawingml/2006/main">
            <a:off x="952500" y="1257300"/>
            <a:ext cx="15811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650" b="1">
                <a:solidFill>
                  <a:srgbClr val="FFFFFF"/>
                </a:solidFill>
                <a:latin typeface="Calibri"/>
                <a:ea typeface="Calibri"/>
                <a:cs typeface="Calibri"/>
              </a:defRPr>
            </a:pPr>
            <a:r>
              <a:rPr sz="4650" b="1">
                <a:solidFill>
                  <a:srgbClr val="FFFFFF"/>
                </a:solidFill>
                <a:latin typeface="Calibri"/>
                <a:ea typeface="Calibri"/>
                <a:cs typeface="Calibri"/>
              </a:rPr>
              <a:t>Limites et perspectives</a:t>
            </a:r>
          </a:p>
        </p:txBody>
      </p:sp>
      <p:graphicFrame>
        <p:nvGraphicFramePr>
          <p:cNvPr id="9" name=""/>
          <p:cNvGraphicFramePr/>
          <p:nvPr/>
        </p:nvGraphicFramePr>
        <p:xfrm>
          <a:off xmlns:a="http://schemas.openxmlformats.org/drawingml/2006/main" x="1571625" y="3333750"/>
          <a:ext xmlns:a="http://schemas.openxmlformats.org/drawingml/2006/main" cx="14478000" cy="4953000"/>
        </p:xfrm>
        <a:graphic xmlns:a="http://schemas.openxmlformats.org/drawingml/2006/main">
          <a:graphicData uri="http://schemas.openxmlformats.org/drawingml/2006/table">
            <a:tbl>
              <a:tblPr/>
              <a:tblGrid>
                <a:gridCol w="3437223"/>
                <a:gridCol w="11040777"/>
              </a:tblGrid>
              <a:tr h="825500">
                <a:tc>
                  <a:txBody>
                    <a:bodyPr lIns="190500" tIns="114300" rIns="190500" bIns="114300"/>
                    <a:lstStyle/>
                    <a:p>
                      <a:r>
                        <a:rPr sz="2625" b="1">
                          <a:solidFill>
                            <a:srgbClr val="D2AB7D"/>
                          </a:solidFill>
                          <a:latin typeface="Calibri"/>
                          <a:ea typeface="Calibri"/>
                          <a:cs typeface="Calibri"/>
                        </a:rPr>
                        <a:t>Priorité</a:t>
                      </a:r>
                    </a:p>
                  </a:txBody>
                  <a:tcPr marL="91440" marR="91440" marT="45720" marB="45720" anchor="ctr">
                    <a:solidFill>
                      <a:srgbClr val="1F303E"/>
                    </a:solidFill>
                  </a:tcPr>
                </a:tc>
                <a:tc>
                  <a:txBody>
                    <a:bodyPr lIns="190500" tIns="114300" rIns="190500" bIns="114300"/>
                    <a:lstStyle/>
                    <a:p>
                      <a:r>
                        <a:rPr sz="2625" b="1">
                          <a:solidFill>
                            <a:srgbClr val="D2AB7D"/>
                          </a:solidFill>
                          <a:latin typeface="Calibri"/>
                          <a:ea typeface="Calibri"/>
                          <a:cs typeface="Calibri"/>
                        </a:rPr>
                        <a:t>Amélioration attendue</a:t>
                      </a:r>
                    </a:p>
                  </a:txBody>
                  <a:tcPr marL="91440" marR="91440" marT="45720" marB="45720" anchor="ctr">
                    <a:solidFill>
                      <a:srgbClr val="1F303E"/>
                    </a:solidFill>
                  </a:tcPr>
                </a:tc>
              </a:tr>
              <a:tr h="825500">
                <a:tc>
                  <a:txBody>
                    <a:bodyPr lIns="190500" tIns="114300" rIns="190500" bIns="114300"/>
                    <a:lstStyle/>
                    <a:p>
                      <a:r>
                        <a:rPr sz="2625" b="0">
                          <a:solidFill>
                            <a:srgbClr val="F1EBDD"/>
                          </a:solidFill>
                          <a:latin typeface="Calibri"/>
                          <a:ea typeface="Calibri"/>
                          <a:cs typeface="Calibri"/>
                        </a:rPr>
                        <a:t>Fiabilité métier</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Formation obligatoire, prix structurés, règles de TVA validées</a:t>
                      </a:r>
                    </a:p>
                  </a:txBody>
                  <a:tcPr marL="91440" marR="91440" marT="45720" marB="45720" anchor="ctr">
                    <a:solidFill>
                      <a:srgbClr val="344B5E"/>
                    </a:solidFill>
                  </a:tcPr>
                </a:tc>
              </a:tr>
              <a:tr h="825500">
                <a:tc>
                  <a:txBody>
                    <a:bodyPr lIns="190500" tIns="114300" rIns="190500" bIns="114300"/>
                    <a:lstStyle/>
                    <a:p>
                      <a:r>
                        <a:rPr sz="2625" b="0">
                          <a:solidFill>
                            <a:srgbClr val="F1EBDD"/>
                          </a:solidFill>
                          <a:latin typeface="Calibri"/>
                          <a:ea typeface="Calibri"/>
                          <a:cs typeface="Calibri"/>
                        </a:rPr>
                        <a:t>Exploitation</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Planification, rattrapage des échéances, suivi des réponses</a:t>
                      </a:r>
                    </a:p>
                  </a:txBody>
                  <a:tcPr marL="91440" marR="91440" marT="45720" marB="45720" anchor="ctr">
                    <a:solidFill>
                      <a:srgbClr val="3C5364"/>
                    </a:solidFill>
                  </a:tcPr>
                </a:tc>
              </a:tr>
              <a:tr h="825500">
                <a:tc>
                  <a:txBody>
                    <a:bodyPr lIns="190500" tIns="114300" rIns="190500" bIns="114300"/>
                    <a:lstStyle/>
                    <a:p>
                      <a:r>
                        <a:rPr sz="2625" b="0">
                          <a:solidFill>
                            <a:srgbClr val="F1EBDD"/>
                          </a:solidFill>
                          <a:latin typeface="Calibri"/>
                          <a:ea typeface="Calibri"/>
                          <a:cs typeface="Calibri"/>
                        </a:rPr>
                        <a:t>Sécurité</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Accès authentifié, gestion des secrets et des habilitations</a:t>
                      </a:r>
                    </a:p>
                  </a:txBody>
                  <a:tcPr marL="91440" marR="91440" marT="45720" marB="45720" anchor="ctr">
                    <a:solidFill>
                      <a:srgbClr val="344B5E"/>
                    </a:solidFill>
                  </a:tcPr>
                </a:tc>
              </a:tr>
              <a:tr h="825500">
                <a:tc>
                  <a:txBody>
                    <a:bodyPr lIns="190500" tIns="114300" rIns="190500" bIns="114300"/>
                    <a:lstStyle/>
                    <a:p>
                      <a:r>
                        <a:rPr sz="2625" b="0">
                          <a:solidFill>
                            <a:srgbClr val="F1EBDD"/>
                          </a:solidFill>
                          <a:latin typeface="Calibri"/>
                          <a:ea typeface="Calibri"/>
                          <a:cs typeface="Calibri"/>
                        </a:rPr>
                        <a:t>Montée en charge</a:t>
                      </a:r>
                    </a:p>
                  </a:txBody>
                  <a:tcPr marL="91440" marR="91440" marT="45720" marB="45720" anchor="ctr">
                    <a:solidFill>
                      <a:srgbClr val="3C5364"/>
                    </a:solidFill>
                  </a:tcPr>
                </a:tc>
                <a:tc>
                  <a:txBody>
                    <a:bodyPr lIns="190500" tIns="114300" rIns="190500" bIns="114300"/>
                    <a:lstStyle/>
                    <a:p>
                      <a:r>
                        <a:rPr sz="2625" b="0">
                          <a:solidFill>
                            <a:srgbClr val="F1EBDD"/>
                          </a:solidFill>
                          <a:latin typeface="Calibri"/>
                          <a:ea typeface="Calibri"/>
                          <a:cs typeface="Calibri"/>
                        </a:rPr>
                        <a:t>Journal central, verrouillage et tests de concurrence</a:t>
                      </a:r>
                    </a:p>
                  </a:txBody>
                  <a:tcPr marL="91440" marR="91440" marT="45720" marB="45720" anchor="ctr">
                    <a:solidFill>
                      <a:srgbClr val="3C5364"/>
                    </a:solidFill>
                  </a:tcPr>
                </a:tc>
              </a:tr>
              <a:tr h="825500">
                <a:tc>
                  <a:txBody>
                    <a:bodyPr lIns="190500" tIns="114300" rIns="190500" bIns="114300"/>
                    <a:lstStyle/>
                    <a:p>
                      <a:r>
                        <a:rPr sz="2625" b="0">
                          <a:solidFill>
                            <a:srgbClr val="F1EBDD"/>
                          </a:solidFill>
                          <a:latin typeface="Calibri"/>
                          <a:ea typeface="Calibri"/>
                          <a:cs typeface="Calibri"/>
                        </a:rPr>
                        <a:t>Périmètre</a:t>
                      </a:r>
                    </a:p>
                  </a:txBody>
                  <a:tcPr marL="91440" marR="91440" marT="45720" marB="45720" anchor="ctr">
                    <a:solidFill>
                      <a:srgbClr val="344B5E"/>
                    </a:solidFill>
                  </a:tcPr>
                </a:tc>
                <a:tc>
                  <a:txBody>
                    <a:bodyPr lIns="190500" tIns="114300" rIns="190500" bIns="114300"/>
                    <a:lstStyle/>
                    <a:p>
                      <a:r>
                        <a:rPr sz="2625" b="0">
                          <a:solidFill>
                            <a:srgbClr val="F1EBDD"/>
                          </a:solidFill>
                          <a:latin typeface="Calibri"/>
                          <a:ea typeface="Calibri"/>
                          <a:cs typeface="Calibri"/>
                        </a:rPr>
                        <a:t>Publication sociale E3 et suivi après-vente</a:t>
                      </a:r>
                    </a:p>
                  </a:txBody>
                  <a:tcPr marL="91440" marR="91440" marT="45720" marB="45720" anchor="ctr">
                    <a:solidFill>
                      <a:srgbClr val="344B5E"/>
                    </a:solidFill>
                  </a:tcPr>
                </a:tc>
              </a:tr>
            </a:tbl>
          </a:graphicData>
        </a:graphic>
      </p:graphicFrame>
      <p:sp>
        <p:nvSpPr>
          <p:cNvPr id="5" name="Priorité : fiabiliser les parcours existants avant d’aj">
            <a:extLst xmlns:a="http://schemas.openxmlformats.org/drawingml/2006/main">
              <a:ext uri="{FF2B5EF4-FFF2-40B4-BE49-F238E27FC236}">
                <a16:creationId xmlns:a16="http://schemas.microsoft.com/office/drawing/2014/main" id="{FB760D53-BDD2-4F80-9180-8B5DB9ED0D43}"/>
              </a:ext>
            </a:extLst>
          </p:cNvPr>
          <p:cNvSpPr>
            <a:spLocks xmlns:a="http://schemas.openxmlformats.org/drawingml/2006/main" noGrp="1"/>
          </p:cNvSpPr>
          <p:nvPr/>
        </p:nvSpPr>
        <p:spPr>
          <a:xfrm xmlns:a="http://schemas.openxmlformats.org/drawingml/2006/main">
            <a:off x="1571625" y="8953500"/>
            <a:ext cx="1438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BDCBCD"/>
                </a:solidFill>
                <a:latin typeface="Calibri"/>
                <a:ea typeface="Calibri"/>
                <a:cs typeface="Calibri"/>
              </a:defRPr>
            </a:pPr>
            <a:r>
              <a:rPr sz="2025" b="0">
                <a:solidFill>
                  <a:srgbClr val="BDCBCD"/>
                </a:solidFill>
                <a:latin typeface="Calibri"/>
                <a:ea typeface="Calibri"/>
                <a:cs typeface="Calibri"/>
              </a:rPr>
              <a:t>Priorité : fiabiliser les parcours existants avant d’ajouter de nouveaux canaux.</a:t>
            </a:r>
          </a:p>
        </p:txBody>
      </p:sp>
    </p:spTree>
    <p:extLst>
      <p:ext uri="{BB962C8B-B14F-4D97-AF65-F5344CB8AC3E}">
        <p14:creationId xmlns:p14="http://schemas.microsoft.com/office/powerpoint/2010/main" val="506647108"/>
      </p:ext>
    </p:extLst>
  </p:cSld>
</p:sld>
</file>

<file path=ppt/slides/slide22.xml><?xml version="1.0" encoding="utf-8"?>
<p:sld xmlns:p="http://schemas.openxmlformats.org/presentationml/2006/main">
  <p:cSld>
    <p:bg>
      <p:bgPr>
        <a:solidFill xmlns:a="http://schemas.openxmlformats.org/drawingml/2006/main">
          <a:srgbClr val="293B4B"/>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c263822ca83434e"/>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sp>
        <p:nvSpPr>
          <p:cNvPr id="2" name="ADG-10  /  AUTOMATISATION DU CYCLE COMMERCIAL">
            <a:extLst xmlns:a="http://schemas.openxmlformats.org/drawingml/2006/main">
              <a:ext uri="{FF2B5EF4-FFF2-40B4-BE49-F238E27FC236}">
                <a16:creationId xmlns:a16="http://schemas.microsoft.com/office/drawing/2014/main" id="{FE9D9715-65D2-4F94-A0DE-D7FF486B2A46}"/>
              </a:ext>
            </a:extLst>
          </p:cNvPr>
          <p:cNvSpPr>
            <a:spLocks xmlns:a="http://schemas.openxmlformats.org/drawingml/2006/main" noGrp="1"/>
          </p:cNvSpPr>
          <p:nvPr/>
        </p:nvSpPr>
        <p:spPr>
          <a:xfrm xmlns:a="http://schemas.openxmlformats.org/drawingml/2006/main">
            <a:off x="952500" y="400050"/>
            <a:ext cx="1495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D2AB7D"/>
                </a:solidFill>
                <a:latin typeface="Calibri"/>
                <a:ea typeface="Calibri"/>
                <a:cs typeface="Calibri"/>
              </a:defRPr>
            </a:pPr>
            <a:r>
              <a:rPr sz="1800" b="1">
                <a:solidFill>
                  <a:srgbClr val="D2AB7D"/>
                </a:solidFill>
                <a:latin typeface="Calibri"/>
                <a:ea typeface="Calibri"/>
                <a:cs typeface="Calibri"/>
              </a:rPr>
              <a:t>ADG-10  /  AUTOMATISATION DU CYCLE COMMERCIAL</a:t>
            </a:r>
          </a:p>
        </p:txBody>
      </p:sp>
      <p:sp>
        <p:nvSpPr>
          <p:cNvPr id="3" name="22 / 22">
            <a:extLst xmlns:a="http://schemas.openxmlformats.org/drawingml/2006/main">
              <a:ext uri="{FF2B5EF4-FFF2-40B4-BE49-F238E27FC236}">
                <a16:creationId xmlns:a16="http://schemas.microsoft.com/office/drawing/2014/main" id="{80583E80-DBD7-4953-9D59-2B21EC4FC251}"/>
              </a:ext>
            </a:extLst>
          </p:cNvPr>
          <p:cNvSpPr>
            <a:spLocks xmlns:a="http://schemas.openxmlformats.org/drawingml/2006/main" noGrp="1"/>
          </p:cNvSpPr>
          <p:nvPr/>
        </p:nvSpPr>
        <p:spPr>
          <a:xfrm xmlns:a="http://schemas.openxmlformats.org/drawingml/2006/main">
            <a:off x="15811500" y="959167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FFFFFF"/>
                </a:solidFill>
                <a:latin typeface="Calibri"/>
                <a:ea typeface="Calibri"/>
                <a:cs typeface="Calibri"/>
              </a:defRPr>
            </a:pPr>
            <a:r>
              <a:rPr sz="1950" b="1">
                <a:solidFill>
                  <a:srgbClr val="FFFFFF"/>
                </a:solidFill>
                <a:latin typeface="Calibri"/>
                <a:ea typeface="Calibri"/>
                <a:cs typeface="Calibri"/>
              </a:rPr>
              <a:t>22 / 22</a:t>
            </a:r>
          </a:p>
        </p:txBody>
      </p:sp>
      <p:sp>
        <p:nvSpPr>
          <p:cNvPr id="4" name="05">
            <a:extLst xmlns:a="http://schemas.openxmlformats.org/drawingml/2006/main">
              <a:ext uri="{FF2B5EF4-FFF2-40B4-BE49-F238E27FC236}">
                <a16:creationId xmlns:a16="http://schemas.microsoft.com/office/drawing/2014/main" id="{1C37E530-9846-4CB6-8AFA-1B57A01AE917}"/>
              </a:ext>
            </a:extLst>
          </p:cNvPr>
          <p:cNvSpPr>
            <a:spLocks xmlns:a="http://schemas.openxmlformats.org/drawingml/2006/main" noGrp="1"/>
          </p:cNvSpPr>
          <p:nvPr/>
        </p:nvSpPr>
        <p:spPr>
          <a:xfrm xmlns:a="http://schemas.openxmlformats.org/drawingml/2006/main">
            <a:off x="857250" y="1428750"/>
            <a:ext cx="6667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1850" b="1">
                <a:solidFill>
                  <a:srgbClr val="D2AB7D"/>
                </a:solidFill>
                <a:latin typeface="Calibri"/>
                <a:ea typeface="Calibri"/>
                <a:cs typeface="Calibri"/>
              </a:defRPr>
            </a:pPr>
            <a:r>
              <a:rPr sz="11850" b="1">
                <a:solidFill>
                  <a:srgbClr val="D2AB7D"/>
                </a:solidFill>
                <a:latin typeface="Calibri"/>
                <a:ea typeface="Calibri"/>
                <a:cs typeface="Calibri"/>
              </a:rPr>
              <a:t>05</a:t>
            </a:r>
          </a:p>
        </p:txBody>
      </p:sp>
      <p:sp>
        <p:nvSpPr>
          <p:cNvPr id="5" name="Conclusion">
            <a:extLst xmlns:a="http://schemas.openxmlformats.org/drawingml/2006/main">
              <a:ext uri="{FF2B5EF4-FFF2-40B4-BE49-F238E27FC236}">
                <a16:creationId xmlns:a16="http://schemas.microsoft.com/office/drawing/2014/main" id="{D8C8867D-2DDB-4079-B335-C6514BD42705}"/>
              </a:ext>
            </a:extLst>
          </p:cNvPr>
          <p:cNvSpPr>
            <a:spLocks xmlns:a="http://schemas.openxmlformats.org/drawingml/2006/main" noGrp="1"/>
          </p:cNvSpPr>
          <p:nvPr/>
        </p:nvSpPr>
        <p:spPr>
          <a:xfrm xmlns:a="http://schemas.openxmlformats.org/drawingml/2006/main">
            <a:off x="952500" y="3524250"/>
            <a:ext cx="9810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850" b="1">
                <a:solidFill>
                  <a:srgbClr val="FFFFFF"/>
                </a:solidFill>
                <a:latin typeface="Calibri"/>
                <a:ea typeface="Calibri"/>
                <a:cs typeface="Calibri"/>
              </a:defRPr>
            </a:pPr>
            <a:r>
              <a:rPr sz="5850" b="1">
                <a:solidFill>
                  <a:srgbClr val="FFFFFF"/>
                </a:solidFill>
                <a:latin typeface="Calibri"/>
                <a:ea typeface="Calibri"/>
                <a:cs typeface="Calibri"/>
              </a:rPr>
              <a:t>Conclusion</a:t>
            </a:r>
          </a:p>
        </p:txBody>
      </p:sp>
      <p:sp>
        <p:nvSpPr>
          <p:cNvPr id="6" name="Un prototype qui relie la qualification du prospect&#10;aux">
            <a:extLst xmlns:a="http://schemas.openxmlformats.org/drawingml/2006/main">
              <a:ext uri="{FF2B5EF4-FFF2-40B4-BE49-F238E27FC236}">
                <a16:creationId xmlns:a16="http://schemas.microsoft.com/office/drawing/2014/main" id="{F41333B7-F692-4E2C-9582-2F33B9D108CE}"/>
              </a:ext>
            </a:extLst>
          </p:cNvPr>
          <p:cNvSpPr>
            <a:spLocks xmlns:a="http://schemas.openxmlformats.org/drawingml/2006/main" noGrp="1"/>
          </p:cNvSpPr>
          <p:nvPr/>
        </p:nvSpPr>
        <p:spPr>
          <a:xfrm xmlns:a="http://schemas.openxmlformats.org/drawingml/2006/main">
            <a:off x="1000125" y="5857875"/>
            <a:ext cx="9048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Un prototype qui relie la qualification du prospect</a:t>
            </a:r>
          </a:p>
          <a:p xmlns:a="http://schemas.openxmlformats.org/drawingml/2006/main">
            <a:pPr algn="l">
              <a:defRPr sz="2925" b="0">
                <a:solidFill>
                  <a:srgbClr val="FFFFFF"/>
                </a:solidFill>
                <a:latin typeface="Calibri"/>
                <a:ea typeface="Calibri"/>
                <a:cs typeface="Calibri"/>
              </a:defRPr>
            </a:pPr>
            <a:r>
              <a:rPr sz="2925" b="0">
                <a:solidFill>
                  <a:srgbClr val="FFFFFF"/>
                </a:solidFill>
                <a:latin typeface="Calibri"/>
                <a:ea typeface="Calibri"/>
                <a:cs typeface="Calibri"/>
              </a:rPr>
              <a:t>aux communications et aux documents commerciaux</a:t>
            </a:r>
          </a:p>
        </p:txBody>
      </p:sp>
      <p:sp>
        <p:nvSpPr>
          <p:cNvPr id="7" name="Merci pour votre attention">
            <a:extLst xmlns:a="http://schemas.openxmlformats.org/drawingml/2006/main">
              <a:ext uri="{FF2B5EF4-FFF2-40B4-BE49-F238E27FC236}">
                <a16:creationId xmlns:a16="http://schemas.microsoft.com/office/drawing/2014/main" id="{8708EA53-0290-4F0B-9261-71880D1B8D8B}"/>
              </a:ext>
            </a:extLst>
          </p:cNvPr>
          <p:cNvSpPr>
            <a:spLocks xmlns:a="http://schemas.openxmlformats.org/drawingml/2006/main" noGrp="1"/>
          </p:cNvSpPr>
          <p:nvPr/>
        </p:nvSpPr>
        <p:spPr>
          <a:xfrm xmlns:a="http://schemas.openxmlformats.org/drawingml/2006/main">
            <a:off x="1000125" y="7667625"/>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D2AB7D"/>
                </a:solidFill>
                <a:latin typeface="Calibri"/>
                <a:ea typeface="Calibri"/>
                <a:cs typeface="Calibri"/>
              </a:defRPr>
            </a:pPr>
            <a:r>
              <a:rPr sz="3300" b="1">
                <a:solidFill>
                  <a:srgbClr val="D2AB7D"/>
                </a:solidFill>
                <a:latin typeface="Calibri"/>
                <a:ea typeface="Calibri"/>
                <a:cs typeface="Calibri"/>
              </a:rPr>
              <a:t>Merci pour votre attention</a:t>
            </a:r>
          </a:p>
        </p:txBody>
      </p:sp>
      <p:sp>
        <p:nvSpPr>
          <p:cNvPr id="8" name="Questions et échanges">
            <a:extLst xmlns:a="http://schemas.openxmlformats.org/drawingml/2006/main">
              <a:ext uri="{FF2B5EF4-FFF2-40B4-BE49-F238E27FC236}">
                <a16:creationId xmlns:a16="http://schemas.microsoft.com/office/drawing/2014/main" id="{96F17BC8-6CE5-4076-A92D-09695BABEB6B}"/>
              </a:ext>
            </a:extLst>
          </p:cNvPr>
          <p:cNvSpPr>
            <a:spLocks xmlns:a="http://schemas.openxmlformats.org/drawingml/2006/main" noGrp="1"/>
          </p:cNvSpPr>
          <p:nvPr/>
        </p:nvSpPr>
        <p:spPr>
          <a:xfrm xmlns:a="http://schemas.openxmlformats.org/drawingml/2006/main">
            <a:off x="1000125" y="8572500"/>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FFFFFF"/>
                </a:solidFill>
                <a:latin typeface="Calibri"/>
                <a:ea typeface="Calibri"/>
                <a:cs typeface="Calibri"/>
              </a:defRPr>
            </a:pPr>
            <a:r>
              <a:rPr sz="2400" b="0">
                <a:solidFill>
                  <a:srgbClr val="FFFFFF"/>
                </a:solidFill>
                <a:latin typeface="Calibri"/>
                <a:ea typeface="Calibri"/>
                <a:cs typeface="Calibri"/>
              </a:rPr>
              <a:t>Questions et échanges</a:t>
            </a:r>
          </a:p>
        </p:txBody>
      </p:sp>
    </p:spTree>
    <p:extLst>
      <p:ext uri="{BB962C8B-B14F-4D97-AF65-F5344CB8AC3E}">
        <p14:creationId xmlns:p14="http://schemas.microsoft.com/office/powerpoint/2010/main" val="16853462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2026-09-23T20:34:06.1460000Z</dcterms:created>
  <dcterms:modified xsi:type="dcterms:W3CDTF">2026-09-23T20:34:06.1460000Z</dcterms:modified>
</coreProperties>
</file>