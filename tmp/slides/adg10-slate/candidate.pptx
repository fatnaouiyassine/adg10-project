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81df2c7a824a7b" /><Relationship Type="http://schemas.openxmlformats.org/officeDocument/2006/relationships/extended-properties" Target="/docProps/app.xml" Id="Rdf8c5a79b2ac4c2a" /><Relationship Type="http://schemas.openxmlformats.org/officeDocument/2006/relationships/officeDocument" Target="/ppt/presentation.xml" Id="R9eb10b96bc3d491d" /></Relationships>
</file>

<file path=ppt/presentation.xml><?xml version="1.0" encoding="utf-8"?>
<p:presentation xmlns:p="http://schemas.openxmlformats.org/presentationml/2006/main">
  <p:sldMasterIdLst>
    <p:sldMasterId xmlns:r="http://schemas.openxmlformats.org/officeDocument/2006/relationships" id="2147483648" r:id="Rc082c50f3a844909"/>
  </p:sldMasterIdLst>
  <p:notesMasterIdLst>
    <p:notesMasterId xmlns:r="http://schemas.openxmlformats.org/officeDocument/2006/relationships" r:id="R6f56bdf71dbf4b70"/>
  </p:notesMasterIdLst>
  <p:sldIdLst>
    <p:sldId xmlns:r="http://schemas.openxmlformats.org/officeDocument/2006/relationships" id="256" r:id="R6017ece1e6034764"/>
    <p:sldId xmlns:r="http://schemas.openxmlformats.org/officeDocument/2006/relationships" id="257" r:id="R8748e653f7654989"/>
    <p:sldId xmlns:r="http://schemas.openxmlformats.org/officeDocument/2006/relationships" id="258" r:id="R3b84320dc70f4bb0"/>
    <p:sldId xmlns:r="http://schemas.openxmlformats.org/officeDocument/2006/relationships" id="259" r:id="Ree149c6718024864"/>
    <p:sldId xmlns:r="http://schemas.openxmlformats.org/officeDocument/2006/relationships" id="260" r:id="Rc7f22e491d0c41f4"/>
    <p:sldId xmlns:r="http://schemas.openxmlformats.org/officeDocument/2006/relationships" id="261" r:id="R590b0b0a09a54a69"/>
    <p:sldId xmlns:r="http://schemas.openxmlformats.org/officeDocument/2006/relationships" id="262" r:id="Rdc6f126e15cd4d5a"/>
    <p:sldId xmlns:r="http://schemas.openxmlformats.org/officeDocument/2006/relationships" id="263" r:id="Rf8eaf83839534e8b"/>
    <p:sldId xmlns:r="http://schemas.openxmlformats.org/officeDocument/2006/relationships" id="264" r:id="Rad90ddf477484317"/>
    <p:sldId xmlns:r="http://schemas.openxmlformats.org/officeDocument/2006/relationships" id="265" r:id="R902566e9401742f3"/>
    <p:sldId xmlns:r="http://schemas.openxmlformats.org/officeDocument/2006/relationships" id="266" r:id="R6273f31440214986"/>
    <p:sldId xmlns:r="http://schemas.openxmlformats.org/officeDocument/2006/relationships" id="267" r:id="R01606206fcaf4b24"/>
    <p:sldId xmlns:r="http://schemas.openxmlformats.org/officeDocument/2006/relationships" id="268" r:id="Reecf8d5c49544a17"/>
    <p:sldId xmlns:r="http://schemas.openxmlformats.org/officeDocument/2006/relationships" id="269" r:id="Rb27ef3e33e954582"/>
    <p:sldId xmlns:r="http://schemas.openxmlformats.org/officeDocument/2006/relationships" id="270" r:id="R75809184d2df4e79"/>
    <p:sldId xmlns:r="http://schemas.openxmlformats.org/officeDocument/2006/relationships" id="271" r:id="Re822be1f9d0f460f"/>
    <p:sldId xmlns:r="http://schemas.openxmlformats.org/officeDocument/2006/relationships" id="272" r:id="R5e958f758d1244a2"/>
    <p:sldId xmlns:r="http://schemas.openxmlformats.org/officeDocument/2006/relationships" id="273" r:id="Ra0b9e5b6a8944def"/>
    <p:sldId xmlns:r="http://schemas.openxmlformats.org/officeDocument/2006/relationships" id="274" r:id="R056760cd8f2d4c3e"/>
    <p:sldId xmlns:r="http://schemas.openxmlformats.org/officeDocument/2006/relationships" id="275" r:id="Rf8eb1759a14b48e9"/>
    <p:sldId xmlns:r="http://schemas.openxmlformats.org/officeDocument/2006/relationships" id="276" r:id="Reb3c2177529d4c01"/>
    <p:sldId xmlns:r="http://schemas.openxmlformats.org/officeDocument/2006/relationships" id="277" r:id="R78d90cd7fc974e9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c4fb139a034acd" /><Relationship Type="http://schemas.openxmlformats.org/officeDocument/2006/relationships/slideMaster" Target="/ppt/slideMasters/slideMaster1.xml" Id="Rc082c50f3a844909" /><Relationship Type="http://schemas.openxmlformats.org/officeDocument/2006/relationships/notesMaster" Target="/ppt/notesMasters/notesMaster1.xml" Id="R6f56bdf71dbf4b70" /><Relationship Type="http://schemas.openxmlformats.org/officeDocument/2006/relationships/presProps" Target="/ppt/presProps.xml" Id="Rc824eb8093f04057" /><Relationship Type="http://schemas.openxmlformats.org/officeDocument/2006/relationships/tableStyles" Target="/ppt/tableStyles.xml" Id="Re5a262851ee3437b" /><Relationship Type="http://schemas.openxmlformats.org/officeDocument/2006/relationships/slide" Target="/ppt/slides/slide1.xml" Id="R6017ece1e6034764" /><Relationship Type="http://schemas.openxmlformats.org/officeDocument/2006/relationships/slide" Target="/ppt/slides/slide2.xml" Id="R8748e653f7654989" /><Relationship Type="http://schemas.openxmlformats.org/officeDocument/2006/relationships/slide" Target="/ppt/slides/slide3.xml" Id="R3b84320dc70f4bb0" /><Relationship Type="http://schemas.openxmlformats.org/officeDocument/2006/relationships/slide" Target="/ppt/slides/slide4.xml" Id="Ree149c6718024864" /><Relationship Type="http://schemas.openxmlformats.org/officeDocument/2006/relationships/slide" Target="/ppt/slides/slide5.xml" Id="Rc7f22e491d0c41f4" /><Relationship Type="http://schemas.openxmlformats.org/officeDocument/2006/relationships/slide" Target="/ppt/slides/slide6.xml" Id="R590b0b0a09a54a69" /><Relationship Type="http://schemas.openxmlformats.org/officeDocument/2006/relationships/slide" Target="/ppt/slides/slide7.xml" Id="Rdc6f126e15cd4d5a" /><Relationship Type="http://schemas.openxmlformats.org/officeDocument/2006/relationships/slide" Target="/ppt/slides/slide8.xml" Id="Rf8eaf83839534e8b" /><Relationship Type="http://schemas.openxmlformats.org/officeDocument/2006/relationships/slide" Target="/ppt/slides/slide9.xml" Id="Rad90ddf477484317" /><Relationship Type="http://schemas.openxmlformats.org/officeDocument/2006/relationships/slide" Target="/ppt/slides/slide10.xml" Id="R902566e9401742f3" /><Relationship Type="http://schemas.openxmlformats.org/officeDocument/2006/relationships/slide" Target="/ppt/slides/slide11.xml" Id="R6273f31440214986" /><Relationship Type="http://schemas.openxmlformats.org/officeDocument/2006/relationships/slide" Target="/ppt/slides/slide12.xml" Id="R01606206fcaf4b24" /><Relationship Type="http://schemas.openxmlformats.org/officeDocument/2006/relationships/slide" Target="/ppt/slides/slide13.xml" Id="Reecf8d5c49544a17" /><Relationship Type="http://schemas.openxmlformats.org/officeDocument/2006/relationships/slide" Target="/ppt/slides/slide14.xml" Id="Rb27ef3e33e954582" /><Relationship Type="http://schemas.openxmlformats.org/officeDocument/2006/relationships/slide" Target="/ppt/slides/slide15.xml" Id="R75809184d2df4e79" /><Relationship Type="http://schemas.openxmlformats.org/officeDocument/2006/relationships/slide" Target="/ppt/slides/slide16.xml" Id="Re822be1f9d0f460f" /><Relationship Type="http://schemas.openxmlformats.org/officeDocument/2006/relationships/slide" Target="/ppt/slides/slide17.xml" Id="R5e958f758d1244a2" /><Relationship Type="http://schemas.openxmlformats.org/officeDocument/2006/relationships/slide" Target="/ppt/slides/slide18.xml" Id="Ra0b9e5b6a8944def" /><Relationship Type="http://schemas.openxmlformats.org/officeDocument/2006/relationships/slide" Target="/ppt/slides/slide19.xml" Id="R056760cd8f2d4c3e" /><Relationship Type="http://schemas.openxmlformats.org/officeDocument/2006/relationships/slide" Target="/ppt/slides/slide20.xml" Id="Rf8eb1759a14b48e9" /><Relationship Type="http://schemas.openxmlformats.org/officeDocument/2006/relationships/slide" Target="/ppt/slides/slide21.xml" Id="Reb3c2177529d4c01" /><Relationship Type="http://schemas.openxmlformats.org/officeDocument/2006/relationships/slide" Target="/ppt/slides/slide22.xml" Id="R78d90cd7fc974e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b564e1169e4e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0fa4b3eb3a41f8" /><Relationship Type="http://schemas.openxmlformats.org/officeDocument/2006/relationships/notesMaster" Target="/ppt/notesMasters/notesMaster1.xml" Id="R43a432d0d91f47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6712893f5644d1" /><Relationship Type="http://schemas.openxmlformats.org/officeDocument/2006/relationships/notesMaster" Target="/ppt/notesMasters/notesMaster1.xml" Id="Radaee2cb40c841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3a4ae9385743ff" /><Relationship Type="http://schemas.openxmlformats.org/officeDocument/2006/relationships/notesMaster" Target="/ppt/notesMasters/notesMaster1.xml" Id="Rc666bac807b7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6be5e96c114e1b" /><Relationship Type="http://schemas.openxmlformats.org/officeDocument/2006/relationships/notesMaster" Target="/ppt/notesMasters/notesMaster1.xml" Id="R75e6fd645f5644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9abd5b25a94c7b" /><Relationship Type="http://schemas.openxmlformats.org/officeDocument/2006/relationships/notesMaster" Target="/ppt/notesMasters/notesMaster1.xml" Id="R0995dced119341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977e7afdc4c36" /><Relationship Type="http://schemas.openxmlformats.org/officeDocument/2006/relationships/notesMaster" Target="/ppt/notesMasters/notesMaster1.xml" Id="Ra5976eb9d6c145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6a9a51a8c84d60" /><Relationship Type="http://schemas.openxmlformats.org/officeDocument/2006/relationships/notesMaster" Target="/ppt/notesMasters/notesMaster1.xml" Id="R8d2455aa099b4c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a42e64f8644807" /><Relationship Type="http://schemas.openxmlformats.org/officeDocument/2006/relationships/notesMaster" Target="/ppt/notesMasters/notesMaster1.xml" Id="R0c5a60e930e847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fb9ee732144b1d" /><Relationship Type="http://schemas.openxmlformats.org/officeDocument/2006/relationships/notesMaster" Target="/ppt/notesMasters/notesMaster1.xml" Id="R5c6852a670e1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6cd9873778485c" /><Relationship Type="http://schemas.openxmlformats.org/officeDocument/2006/relationships/notesMaster" Target="/ppt/notesMasters/notesMaster1.xml" Id="R77bbd629f86040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f7026283e647e1" /><Relationship Type="http://schemas.openxmlformats.org/officeDocument/2006/relationships/notesMaster" Target="/ppt/notesMasters/notesMaster1.xml" Id="R0a14948ae12f45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458baf71324351" /><Relationship Type="http://schemas.openxmlformats.org/officeDocument/2006/relationships/notesMaster" Target="/ppt/notesMasters/notesMaster1.xml" Id="Rfedc69ad1e4448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90f4270a724760" /><Relationship Type="http://schemas.openxmlformats.org/officeDocument/2006/relationships/notesMaster" Target="/ppt/notesMasters/notesMaster1.xml" Id="R9e698966b4064a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5aa31ea9f04841" /><Relationship Type="http://schemas.openxmlformats.org/officeDocument/2006/relationships/notesMaster" Target="/ppt/notesMasters/notesMaster1.xml" Id="R1e6112cb403046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fb49380eae44a0" /><Relationship Type="http://schemas.openxmlformats.org/officeDocument/2006/relationships/notesMaster" Target="/ppt/notesMasters/notesMaster1.xml" Id="R28c0052e129344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809ab33a72414e" /><Relationship Type="http://schemas.openxmlformats.org/officeDocument/2006/relationships/notesMaster" Target="/ppt/notesMasters/notesMaster1.xml" Id="R7af81a670a794b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330ee6e91e41ff" /><Relationship Type="http://schemas.openxmlformats.org/officeDocument/2006/relationships/notesMaster" Target="/ppt/notesMasters/notesMaster1.xml" Id="Rb39eeba4993140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4a2616b73749f4" /><Relationship Type="http://schemas.openxmlformats.org/officeDocument/2006/relationships/notesMaster" Target="/ppt/notesMasters/notesMaster1.xml" Id="Rfcc4f518495d44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fd868cb5ad4f4d" /><Relationship Type="http://schemas.openxmlformats.org/officeDocument/2006/relationships/notesMaster" Target="/ppt/notesMasters/notesMaster1.xml" Id="Rb1f88dd54fff47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16141757734b84" /><Relationship Type="http://schemas.openxmlformats.org/officeDocument/2006/relationships/notesMaster" Target="/ppt/notesMasters/notesMaster1.xml" Id="R1551a55d9cd045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eb7707988d4eca" /><Relationship Type="http://schemas.openxmlformats.org/officeDocument/2006/relationships/notesMaster" Target="/ppt/notesMasters/notesMaster1.xml" Id="R80882abaaf554e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1454575b4a43af" /><Relationship Type="http://schemas.openxmlformats.org/officeDocument/2006/relationships/notesMaster" Target="/ppt/notesMasters/notesMaster1.xml" Id="R8617e6b5b92346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7ea21f3ba940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ef0642a6604115" /><Relationship Type="http://schemas.openxmlformats.org/officeDocument/2006/relationships/slideLayout" Target="/ppt/slideLayouts/slideLayout1.xml" Id="R9f55b50be245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55b50be245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cd0a0d12b148c2" /><Relationship Type="http://schemas.openxmlformats.org/officeDocument/2006/relationships/image" Target="/ppt/media/image.png" Id="R2d91b73922544b8f" /><Relationship Type="http://schemas.openxmlformats.org/officeDocument/2006/relationships/notesSlide" Target="/ppt/notesSlides/notesSlide1.xml" Id="Rb136dbcbb093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b89b42505841b2" /><Relationship Type="http://schemas.openxmlformats.org/officeDocument/2006/relationships/image" Target="/ppt/media/image2.png" Id="R009255d0d75542c8" /><Relationship Type="http://schemas.openxmlformats.org/officeDocument/2006/relationships/notesSlide" Target="/ppt/notesSlides/notesSlide2.xml" Id="Rfb7acafe804243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c40e6fbc5a42e9" /><Relationship Type="http://schemas.openxmlformats.org/officeDocument/2006/relationships/image" Target="/ppt/media/image3.png" Id="R27b57ca6820d4cea" /><Relationship Type="http://schemas.openxmlformats.org/officeDocument/2006/relationships/notesSlide" Target="/ppt/notesSlides/notesSlide3.xml" Id="R83d3e9dcc98846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1180a8a3224388" /><Relationship Type="http://schemas.openxmlformats.org/officeDocument/2006/relationships/notesSlide" Target="/ppt/notesSlides/notesSlide4.xml" Id="Rc8801d01d246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1bd03e9f5c4223" /><Relationship Type="http://schemas.openxmlformats.org/officeDocument/2006/relationships/image" Target="/ppt/media/image4.png" Id="R7c433c81da504c41" /><Relationship Type="http://schemas.openxmlformats.org/officeDocument/2006/relationships/notesSlide" Target="/ppt/notesSlides/notesSlide5.xml" Id="Rf11c8c1dc59b4e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d1303b70474356" /><Relationship Type="http://schemas.openxmlformats.org/officeDocument/2006/relationships/notesSlide" Target="/ppt/notesSlides/notesSlide6.xml" Id="R7c7d9c95816d49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770439bcd74471" /><Relationship Type="http://schemas.openxmlformats.org/officeDocument/2006/relationships/notesSlide" Target="/ppt/notesSlides/notesSlide7.xml" Id="Ra48fa46f71e642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ac4cdd7b8f4365" /><Relationship Type="http://schemas.openxmlformats.org/officeDocument/2006/relationships/notesSlide" Target="/ppt/notesSlides/notesSlide8.xml" Id="R3da354dcba6d42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206a0102284333" /><Relationship Type="http://schemas.openxmlformats.org/officeDocument/2006/relationships/image" Target="/ppt/media/image5.png" Id="R8793e0a695b0476e" /><Relationship Type="http://schemas.openxmlformats.org/officeDocument/2006/relationships/notesSlide" Target="/ppt/notesSlides/notesSlide9.xml" Id="R1592f87417f947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c83529c23e430b" /><Relationship Type="http://schemas.openxmlformats.org/officeDocument/2006/relationships/notesSlide" Target="/ppt/notesSlides/notesSlide10.xml" Id="Rc2682f5af52940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57e7c922a34a4e" /><Relationship Type="http://schemas.openxmlformats.org/officeDocument/2006/relationships/notesSlide" Target="/ppt/notesSlides/notesSlide11.xml" Id="R79596ed47901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4019117dae4aaa" /><Relationship Type="http://schemas.openxmlformats.org/officeDocument/2006/relationships/notesSlide" Target="/ppt/notesSlides/notesSlide12.xml" Id="R4fb2cfc085fb4b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9836995b534d3c" /><Relationship Type="http://schemas.openxmlformats.org/officeDocument/2006/relationships/chart" Target="/ppt/slides/charts/chart1.xml" Id="R483e1aea795c46c6" /><Relationship Type="http://schemas.openxmlformats.org/officeDocument/2006/relationships/notesSlide" Target="/ppt/notesSlides/notesSlide13.xml" Id="R5ebcc26d9fd644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edb617233944ef" /><Relationship Type="http://schemas.openxmlformats.org/officeDocument/2006/relationships/notesSlide" Target="/ppt/notesSlides/notesSlide14.xml" Id="R16d3c0370e2747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b3a68546344a4d" /><Relationship Type="http://schemas.openxmlformats.org/officeDocument/2006/relationships/notesSlide" Target="/ppt/notesSlides/notesSlide15.xml" Id="R16afcb07f41c4a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a6ddc48a3d4576" /><Relationship Type="http://schemas.openxmlformats.org/officeDocument/2006/relationships/image" Target="/ppt/media/image6.png" Id="Rb12bfa016315496d" /><Relationship Type="http://schemas.openxmlformats.org/officeDocument/2006/relationships/notesSlide" Target="/ppt/notesSlides/notesSlide16.xml" Id="Ref0d0409ee1042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a6a634cf574f6f" /><Relationship Type="http://schemas.openxmlformats.org/officeDocument/2006/relationships/notesSlide" Target="/ppt/notesSlides/notesSlide17.xml" Id="Ra9a144095b5640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2f757de2ed4780" /><Relationship Type="http://schemas.openxmlformats.org/officeDocument/2006/relationships/image" Target="/ppt/media/image.jpeg" Id="R825b2a0c2adf4b6e" /><Relationship Type="http://schemas.openxmlformats.org/officeDocument/2006/relationships/notesSlide" Target="/ppt/notesSlides/notesSlide18.xml" Id="R0e2cca0d74db45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a5f716633e4fd8" /><Relationship Type="http://schemas.openxmlformats.org/officeDocument/2006/relationships/image" Target="/ppt/media/image7.png" Id="Re96dea1daff34f41" /><Relationship Type="http://schemas.openxmlformats.org/officeDocument/2006/relationships/image" Target="/ppt/media/image8.png" Id="R6da5069a60254102" /><Relationship Type="http://schemas.openxmlformats.org/officeDocument/2006/relationships/image" Target="/ppt/media/image9.png" Id="Rd0fb07d56c784c97" /><Relationship Type="http://schemas.openxmlformats.org/officeDocument/2006/relationships/notesSlide" Target="/ppt/notesSlides/notesSlide19.xml" Id="Re260e8fab7ee45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bac028712044bc" /><Relationship Type="http://schemas.openxmlformats.org/officeDocument/2006/relationships/notesSlide" Target="/ppt/notesSlides/notesSlide20.xml" Id="Rceea391ebfe343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e9e68233864a72" /><Relationship Type="http://schemas.openxmlformats.org/officeDocument/2006/relationships/notesSlide" Target="/ppt/notesSlides/notesSlide21.xml" Id="R4766985c928049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37fb775c0c24efd" /><Relationship Type="http://schemas.openxmlformats.org/officeDocument/2006/relationships/image" Target="/ppt/media/image10.png" Id="R3c263822ca83434e" /><Relationship Type="http://schemas.openxmlformats.org/officeDocument/2006/relationships/notesSlide" Target="/ppt/notesSlides/notesSlide22.xml" Id="Re2be6c74556c4e28"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D2AB7D"/>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solidFill>
                    <a:srgbClr val="F1EBDD"/>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617888"/>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F1EBDD"/>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F1EBDD"/>
                </a:solidFill>
                <a:latin typeface="Calibri"/>
                <a:ea typeface="Calibri"/>
                <a:cs typeface="Calibri"/>
              </a:defRPr>
            </a:pPr>
          </a:p>
        </c:txPr>
        <c:crossAx val="48650112"/>
        <c:crossBetween val="between"/>
      </c:valAx>
    </c:plotArea>
    <c:plotVisOnly val="1"/>
  </c:chart>
  <c:spPr>
    <a:solidFill xmlns:a="http://schemas.openxmlformats.org/drawingml/2006/main">
      <a:srgbClr val="293B4B"/>
    </a:solidFill>
  </c:spPr>
</c:chartSpace>
</file>

<file path=ppt/slides/slide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d91b73922544b8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87EA485-80C5-47D5-AA92-EEFB76FC1A5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30E52ED9-F7BE-4B50-B58E-BF204F419FB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DD2445C9-5F6E-4EB8-822B-7DC4CA2F94EF}"/>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15CA442D-5484-41C3-AFC4-0E0BFCB7FC37}"/>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7C9F7A50-9BFA-4681-A8DE-11489AEE6EB3}"/>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E0BF7BE9-4700-4AED-9FEA-AB7B5E52CD39}"/>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7262D268-E27D-484B-B427-EE6FC6BD2DF1}"/>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EDD42237-F092-4BAD-933E-0FDBB3584F14}"/>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2037748842"/>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09255d0d75542c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0BA57D4-733B-469A-AA2D-38F084FEE16B}"/>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48525BA6-DD23-4FF3-8D38-6735F026CE9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A7ADE222-B49D-4FF2-A317-0E34F1D5413B}"/>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B78EFDFF-61CE-404E-810F-EA182E886008}"/>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B737BD06-C11F-48DB-B4C9-3BB103F1313C}"/>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150B5261-2C79-4177-B3A2-EB7BC79A5D3F}"/>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8B1424FE-BE87-4D78-B433-C4D2F167E7B1}"/>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2872803B-BDFC-458F-8008-CF2B32CCAB1B}"/>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826E5F3B-A08A-4F3C-8D39-56822F19B519}"/>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2F7F8C8B-E381-4331-B023-721115F478B8}"/>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AD943877-95CD-4D11-940B-F21E5E33461E}"/>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DEEA94F9-1C7A-4F7D-A1D0-329B14E0B8D9}"/>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7BF643A9-C9D8-40A0-8FA1-E5E3D8EB65BD}"/>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2102233010"/>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7b57ca6820d4ce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E0D36443-73E0-4CEC-9265-1F7C3FCFD33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B5FDC392-5BB7-47CC-86B4-E2674F499E1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BB110E47-A026-47DE-A4B9-2CCFC64F0017}"/>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42D5856E-6045-414A-9D38-D911A649731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FC7088DC-C15C-4082-B8F8-044551F70609}"/>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463045951"/>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AC5C1262-9406-4773-997C-1DA6F4FA4E5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4 / 22">
            <a:extLst xmlns:a="http://schemas.openxmlformats.org/drawingml/2006/main">
              <a:ext uri="{FF2B5EF4-FFF2-40B4-BE49-F238E27FC236}">
                <a16:creationId xmlns:a16="http://schemas.microsoft.com/office/drawing/2014/main" id="{B2BA3B6A-28A8-4561-BD34-798B9B05426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04 / 22</a:t>
            </a:r>
          </a:p>
        </p:txBody>
      </p:sp>
      <p:sp>
        <p:nvSpPr>
          <p:cNvPr id="3" name="Organisme d’accueil et besoin métier">
            <a:extLst xmlns:a="http://schemas.openxmlformats.org/drawingml/2006/main">
              <a:ext uri="{FF2B5EF4-FFF2-40B4-BE49-F238E27FC236}">
                <a16:creationId xmlns:a16="http://schemas.microsoft.com/office/drawing/2014/main" id="{B003754D-28E4-4C52-98EF-B7122EC1BEDA}"/>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4" name="01">
            <a:extLst xmlns:a="http://schemas.openxmlformats.org/drawingml/2006/main">
              <a:ext uri="{FF2B5EF4-FFF2-40B4-BE49-F238E27FC236}">
                <a16:creationId xmlns:a16="http://schemas.microsoft.com/office/drawing/2014/main" id="{569C914D-3078-43DD-88FD-DE4A19E0C0E0}"/>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ADBCENTER LOGISPLAN, dans l’environnement&#10;Adaoui Busine">
            <a:extLst xmlns:a="http://schemas.openxmlformats.org/drawingml/2006/main">
              <a:ext uri="{FF2B5EF4-FFF2-40B4-BE49-F238E27FC236}">
                <a16:creationId xmlns:a16="http://schemas.microsoft.com/office/drawing/2014/main" id="{8D4B318D-4AC8-4032-97AC-321D21049B0B}"/>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ADBCENTER LOGISPLAN, dans l’environnement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Adaoui Business Centre à Agadir.</a:t>
            </a:r>
          </a:p>
        </p:txBody>
      </p:sp>
      <p:sp>
        <p:nvSpPr>
          <p:cNvPr id="6" name="02">
            <a:extLst xmlns:a="http://schemas.openxmlformats.org/drawingml/2006/main">
              <a:ext uri="{FF2B5EF4-FFF2-40B4-BE49-F238E27FC236}">
                <a16:creationId xmlns:a16="http://schemas.microsoft.com/office/drawing/2014/main" id="{EEF82423-C1B5-40B9-9268-460114B84A1D}"/>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Activité : formation et accompagnement professionnel&#10;po">
            <a:extLst xmlns:a="http://schemas.openxmlformats.org/drawingml/2006/main">
              <a:ext uri="{FF2B5EF4-FFF2-40B4-BE49-F238E27FC236}">
                <a16:creationId xmlns:a16="http://schemas.microsoft.com/office/drawing/2014/main" id="{AFBBF94D-7790-47A6-A8BE-FC6C90B7C014}"/>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Activité : formation et accompagnement professionnel</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pour les salariés, les cadres et les entreprises.</a:t>
            </a:r>
          </a:p>
        </p:txBody>
      </p:sp>
      <p:sp>
        <p:nvSpPr>
          <p:cNvPr id="8" name="03">
            <a:extLst xmlns:a="http://schemas.openxmlformats.org/drawingml/2006/main">
              <a:ext uri="{FF2B5EF4-FFF2-40B4-BE49-F238E27FC236}">
                <a16:creationId xmlns:a16="http://schemas.microsoft.com/office/drawing/2014/main" id="{5491DC93-0A29-4A9B-8173-93CD0689E9FC}"/>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Besoin : retrouver les informations du prospect et&#10;prép">
            <a:extLst xmlns:a="http://schemas.openxmlformats.org/drawingml/2006/main">
              <a:ext uri="{FF2B5EF4-FFF2-40B4-BE49-F238E27FC236}">
                <a16:creationId xmlns:a16="http://schemas.microsoft.com/office/drawing/2014/main" id="{E20FA405-5A9E-4752-AEEA-B55D60E6E4BA}"/>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Besoin : retrouver les informations du prospect et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59416666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433c81da504c4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BF49F745-02CD-4220-A4F1-627E8B35FEF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7E90C017-EDE6-459A-BA3C-7AECEE8275D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C8C550E1-4F6A-47E8-A6B8-4C35C010F09A}"/>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6F091077-6F2B-42E0-93FE-FD98CE9C86C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A3BC02F0-4A06-4220-8BE8-ED9A004B6874}"/>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71927161"/>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8D4D711F-8825-4416-A6BB-AB9C6AC6D1A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6 / 22">
            <a:extLst xmlns:a="http://schemas.openxmlformats.org/drawingml/2006/main">
              <a:ext uri="{FF2B5EF4-FFF2-40B4-BE49-F238E27FC236}">
                <a16:creationId xmlns:a16="http://schemas.microsoft.com/office/drawing/2014/main" id="{6AA6CA0C-860F-40DF-BFB5-B0A9DA31C89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06 / 22</a:t>
            </a:r>
          </a:p>
        </p:txBody>
      </p:sp>
      <p:sp>
        <p:nvSpPr>
          <p:cNvPr id="3" name="Problématique">
            <a:extLst xmlns:a="http://schemas.openxmlformats.org/drawingml/2006/main">
              <a:ext uri="{FF2B5EF4-FFF2-40B4-BE49-F238E27FC236}">
                <a16:creationId xmlns:a16="http://schemas.microsoft.com/office/drawing/2014/main" id="{1293AEE6-0D94-4122-AA1B-2DB6C321BB3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4" name="01">
            <a:extLst xmlns:a="http://schemas.openxmlformats.org/drawingml/2006/main">
              <a:ext uri="{FF2B5EF4-FFF2-40B4-BE49-F238E27FC236}">
                <a16:creationId xmlns:a16="http://schemas.microsoft.com/office/drawing/2014/main" id="{78627291-AB38-43FE-9BB3-003E574B9993}"/>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Des informations réparties entre le CRM,&#10;les messages e">
            <a:extLst xmlns:a="http://schemas.openxmlformats.org/drawingml/2006/main">
              <a:ext uri="{FF2B5EF4-FFF2-40B4-BE49-F238E27FC236}">
                <a16:creationId xmlns:a16="http://schemas.microsoft.com/office/drawing/2014/main" id="{0A6B8BFC-FB4D-46BB-A191-6C396A0132F0}"/>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informations réparties entre le CRM,</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les messages et les fichiers.</a:t>
            </a:r>
          </a:p>
        </p:txBody>
      </p:sp>
      <p:sp>
        <p:nvSpPr>
          <p:cNvPr id="6" name="02">
            <a:extLst xmlns:a="http://schemas.openxmlformats.org/drawingml/2006/main">
              <a:ext uri="{FF2B5EF4-FFF2-40B4-BE49-F238E27FC236}">
                <a16:creationId xmlns:a16="http://schemas.microsoft.com/office/drawing/2014/main" id="{13D58998-A738-411A-855C-05A537AD976D}"/>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Des relances difficiles à suivre et un risque&#10;de renvoy">
            <a:extLst xmlns:a="http://schemas.openxmlformats.org/drawingml/2006/main">
              <a:ext uri="{FF2B5EF4-FFF2-40B4-BE49-F238E27FC236}">
                <a16:creationId xmlns:a16="http://schemas.microsoft.com/office/drawing/2014/main" id="{A0672CAB-ACC3-4363-B1EF-4FAC3C1B6D0D}"/>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relances difficiles à suivre et un risque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 renvoyer une action déjà effectuée.</a:t>
            </a:r>
          </a:p>
        </p:txBody>
      </p:sp>
      <p:sp>
        <p:nvSpPr>
          <p:cNvPr id="8" name="03">
            <a:extLst xmlns:a="http://schemas.openxmlformats.org/drawingml/2006/main">
              <a:ext uri="{FF2B5EF4-FFF2-40B4-BE49-F238E27FC236}">
                <a16:creationId xmlns:a16="http://schemas.microsoft.com/office/drawing/2014/main" id="{C00CC557-53C8-4661-B570-110AB10BBBF4}"/>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Comment fiabiliser le parcours sans perdre&#10;la personnal">
            <a:extLst xmlns:a="http://schemas.openxmlformats.org/drawingml/2006/main">
              <a:ext uri="{FF2B5EF4-FFF2-40B4-BE49-F238E27FC236}">
                <a16:creationId xmlns:a16="http://schemas.microsoft.com/office/drawing/2014/main" id="{FFCB4928-F3CC-4F2C-BCF7-FB32F225F477}"/>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Comment fiabiliser le parcours sans perdre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1950044325"/>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8C650FA-4110-433C-BB1D-76F4A51F6E5A}"/>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7 / 22">
            <a:extLst xmlns:a="http://schemas.openxmlformats.org/drawingml/2006/main">
              <a:ext uri="{FF2B5EF4-FFF2-40B4-BE49-F238E27FC236}">
                <a16:creationId xmlns:a16="http://schemas.microsoft.com/office/drawing/2014/main" id="{D680F7D8-CE82-4514-8A8C-7A673E27835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07 / 22</a:t>
            </a:r>
          </a:p>
        </p:txBody>
      </p:sp>
      <p:sp>
        <p:nvSpPr>
          <p:cNvPr id="3" name="Objectifs et périmètre">
            <a:extLst xmlns:a="http://schemas.openxmlformats.org/drawingml/2006/main">
              <a:ext uri="{FF2B5EF4-FFF2-40B4-BE49-F238E27FC236}">
                <a16:creationId xmlns:a16="http://schemas.microsoft.com/office/drawing/2014/main" id="{B9332EFF-6FEC-4F63-A14D-0B4C8CC2BCA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4" name="01">
            <a:extLst xmlns:a="http://schemas.openxmlformats.org/drawingml/2006/main">
              <a:ext uri="{FF2B5EF4-FFF2-40B4-BE49-F238E27FC236}">
                <a16:creationId xmlns:a16="http://schemas.microsoft.com/office/drawing/2014/main" id="{C3E2EBEE-6D13-4717-81F8-CC0D48036DBD}"/>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Centraliser les formations et les prospects dans Airtab">
            <a:extLst xmlns:a="http://schemas.openxmlformats.org/drawingml/2006/main">
              <a:ext uri="{FF2B5EF4-FFF2-40B4-BE49-F238E27FC236}">
                <a16:creationId xmlns:a16="http://schemas.microsoft.com/office/drawing/2014/main" id="{A0F80644-3CAE-42FD-B811-D4799D4A08E7}"/>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Centraliser les formations et les prospects dans Airtable.</a:t>
            </a:r>
          </a:p>
        </p:txBody>
      </p:sp>
      <p:sp>
        <p:nvSpPr>
          <p:cNvPr id="6" name="02">
            <a:extLst xmlns:a="http://schemas.openxmlformats.org/drawingml/2006/main">
              <a:ext uri="{FF2B5EF4-FFF2-40B4-BE49-F238E27FC236}">
                <a16:creationId xmlns:a16="http://schemas.microsoft.com/office/drawing/2014/main" id="{2C7B01C7-B126-438C-8A19-B4B2B9722BFE}"/>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Prioriser les leads avec un score explicable.">
            <a:extLst xmlns:a="http://schemas.openxmlformats.org/drawingml/2006/main">
              <a:ext uri="{FF2B5EF4-FFF2-40B4-BE49-F238E27FC236}">
                <a16:creationId xmlns:a16="http://schemas.microsoft.com/office/drawing/2014/main" id="{B76A270F-6588-441B-9D12-3F261818D064}"/>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Prioriser les leads avec un score explicable.</a:t>
            </a:r>
          </a:p>
        </p:txBody>
      </p:sp>
      <p:sp>
        <p:nvSpPr>
          <p:cNvPr id="8" name="03">
            <a:extLst xmlns:a="http://schemas.openxmlformats.org/drawingml/2006/main">
              <a:ext uri="{FF2B5EF4-FFF2-40B4-BE49-F238E27FC236}">
                <a16:creationId xmlns:a16="http://schemas.microsoft.com/office/drawing/2014/main" id="{BC915E0A-3574-4147-B4AA-0C1E6B662A87}"/>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Préparer des messages et des documents cohérents.">
            <a:extLst xmlns:a="http://schemas.openxmlformats.org/drawingml/2006/main">
              <a:ext uri="{FF2B5EF4-FFF2-40B4-BE49-F238E27FC236}">
                <a16:creationId xmlns:a16="http://schemas.microsoft.com/office/drawing/2014/main" id="{0112C2FD-9BA8-4CBF-8608-2C3476F7DD56}"/>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Préparer des messages et des documents cohérents.</a:t>
            </a:r>
          </a:p>
        </p:txBody>
      </p:sp>
      <p:sp>
        <p:nvSpPr>
          <p:cNvPr id="10" name="04">
            <a:extLst xmlns:a="http://schemas.openxmlformats.org/drawingml/2006/main">
              <a:ext uri="{FF2B5EF4-FFF2-40B4-BE49-F238E27FC236}">
                <a16:creationId xmlns:a16="http://schemas.microsoft.com/office/drawing/2014/main" id="{2E598C1C-ACBE-4212-BC38-CCDC5A7CF78B}"/>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04</a:t>
            </a:r>
          </a:p>
        </p:txBody>
      </p:sp>
      <p:sp>
        <p:nvSpPr>
          <p:cNvPr id="11" name="Piloter les traitements depuis un tableau de bord.">
            <a:extLst xmlns:a="http://schemas.openxmlformats.org/drawingml/2006/main">
              <a:ext uri="{FF2B5EF4-FFF2-40B4-BE49-F238E27FC236}">
                <a16:creationId xmlns:a16="http://schemas.microsoft.com/office/drawing/2014/main" id="{8A899A94-22CA-4671-AE90-81E2A1359A69}"/>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Piloter les traitements depuis un tableau de bord.</a:t>
            </a:r>
          </a:p>
        </p:txBody>
      </p:sp>
      <p:sp>
        <p:nvSpPr>
          <p:cNvPr id="12" name="La validation commerciale, la signature et le paiement ">
            <a:extLst xmlns:a="http://schemas.openxmlformats.org/drawingml/2006/main">
              <a:ext uri="{FF2B5EF4-FFF2-40B4-BE49-F238E27FC236}">
                <a16:creationId xmlns:a16="http://schemas.microsoft.com/office/drawing/2014/main" id="{6360745C-A5CB-409D-9442-2AAFDF5B50D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549927255"/>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22F8F30A-EC13-4D7B-BF33-B3FD594FE7C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8 / 22">
            <a:extLst xmlns:a="http://schemas.openxmlformats.org/drawingml/2006/main">
              <a:ext uri="{FF2B5EF4-FFF2-40B4-BE49-F238E27FC236}">
                <a16:creationId xmlns:a16="http://schemas.microsoft.com/office/drawing/2014/main" id="{DE0A2C61-F87F-4DF5-A2AF-A23342B1C9B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08 / 22</a:t>
            </a:r>
          </a:p>
        </p:txBody>
      </p:sp>
      <p:sp>
        <p:nvSpPr>
          <p:cNvPr id="3" name="Conduite du projet">
            <a:extLst xmlns:a="http://schemas.openxmlformats.org/drawingml/2006/main">
              <a:ext uri="{FF2B5EF4-FFF2-40B4-BE49-F238E27FC236}">
                <a16:creationId xmlns:a16="http://schemas.microsoft.com/office/drawing/2014/main" id="{E459E387-BDA8-460A-8616-B401E62C725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9"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D2AB7D"/>
                          </a:solidFill>
                          <a:latin typeface="Calibri"/>
                          <a:ea typeface="Calibri"/>
                          <a:cs typeface="Calibri"/>
                        </a:rPr>
                        <a:t>Phase</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Travaux</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Livrable</a:t>
                      </a:r>
                    </a:p>
                  </a:txBody>
                  <a:tcPr marL="91440" marR="91440" marT="45720" marB="45720" anchor="ctr">
                    <a:solidFill>
                      <a:srgbClr val="1F303E"/>
                    </a:solidFill>
                  </a:tcPr>
                </a:tc>
              </a:tr>
              <a:tr h="895350">
                <a:tc>
                  <a:txBody>
                    <a:bodyPr lIns="190500" tIns="114300" rIns="190500" bIns="114300"/>
                    <a:lstStyle/>
                    <a:p>
                      <a:r>
                        <a:rPr sz="2700" b="0">
                          <a:solidFill>
                            <a:srgbClr val="F1EBDD"/>
                          </a:solidFill>
                          <a:latin typeface="Calibri"/>
                          <a:ea typeface="Calibri"/>
                          <a:cs typeface="Calibri"/>
                        </a:rPr>
                        <a:t>Cadrage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Parcours commercial et besoins</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Périmètre E1 à E8</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Conception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Données, règles et interactions</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Modèles et scénarios</a:t>
                      </a:r>
                    </a:p>
                  </a:txBody>
                  <a:tcPr marL="91440" marR="91440" marT="45720" marB="45720" anchor="ctr">
                    <a:solidFill>
                      <a:srgbClr val="3C5364"/>
                    </a:solidFill>
                  </a:tcPr>
                </a:tc>
              </a:tr>
              <a:tr h="895350">
                <a:tc>
                  <a:txBody>
                    <a:bodyPr lIns="190500" tIns="114300" rIns="190500" bIns="114300"/>
                    <a:lstStyle/>
                    <a:p>
                      <a:r>
                        <a:rPr sz="2700" b="0">
                          <a:solidFill>
                            <a:srgbClr val="F1EBDD"/>
                          </a:solidFill>
                          <a:latin typeface="Calibri"/>
                          <a:ea typeface="Calibri"/>
                          <a:cs typeface="Calibri"/>
                        </a:rPr>
                        <a:t>Réalisation</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Scripts, documents et interface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Prototype intégré</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Validation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Tests locaux et démonstration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Résultats et limites</a:t>
                      </a:r>
                    </a:p>
                  </a:txBody>
                  <a:tcPr marL="91440" marR="91440" marT="45720" marB="45720" anchor="ctr">
                    <a:solidFill>
                      <a:srgbClr val="3C5364"/>
                    </a:solidFill>
                  </a:tcPr>
                </a:tc>
              </a:tr>
            </a:tbl>
          </a:graphicData>
        </a:graphic>
      </p:graphicFrame>
      <p:sp>
        <p:nvSpPr>
          <p:cNvPr id="5" name="Démarche itérative, avec validation des données et des ">
            <a:extLst xmlns:a="http://schemas.openxmlformats.org/drawingml/2006/main">
              <a:ext uri="{FF2B5EF4-FFF2-40B4-BE49-F238E27FC236}">
                <a16:creationId xmlns:a16="http://schemas.microsoft.com/office/drawing/2014/main" id="{4D7E6B12-1B98-4132-A830-AEB96F7EABDB}"/>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203993846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793e0a695b0476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A957DE3-6E9C-4172-BB74-D557F7590D2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D5E5ABD7-0C3C-4A8F-80A9-888E0393561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AE83EBCB-855F-49C7-9CDC-4B9BD3BAD3DE}"/>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F84DE238-96CE-4284-ABB4-FA4ADC2034F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EE1E6EFC-A685-47BE-A06E-49C38A1B2B8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1730994308"/>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57203F84-405B-4675-9299-1C7F0D52FE4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0 / 22">
            <a:extLst xmlns:a="http://schemas.openxmlformats.org/drawingml/2006/main">
              <a:ext uri="{FF2B5EF4-FFF2-40B4-BE49-F238E27FC236}">
                <a16:creationId xmlns:a16="http://schemas.microsoft.com/office/drawing/2014/main" id="{67E1ACE6-1AFA-4F7A-BF23-529302F1E25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10 / 22</a:t>
            </a:r>
          </a:p>
        </p:txBody>
      </p:sp>
      <p:sp>
        <p:nvSpPr>
          <p:cNvPr id="3" name="Le parcours ADG-10">
            <a:extLst xmlns:a="http://schemas.openxmlformats.org/drawingml/2006/main">
              <a:ext uri="{FF2B5EF4-FFF2-40B4-BE49-F238E27FC236}">
                <a16:creationId xmlns:a16="http://schemas.microsoft.com/office/drawing/2014/main" id="{3674D012-0452-4CE5-B293-71C5225EA410}"/>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9"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D2AB7D"/>
                          </a:solidFill>
                          <a:latin typeface="Calibri"/>
                          <a:ea typeface="Calibri"/>
                          <a:cs typeface="Calibri"/>
                        </a:rPr>
                        <a:t>Étape</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Fonction</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État dans le prototype</a:t>
                      </a:r>
                    </a:p>
                  </a:txBody>
                  <a:tcPr marL="91440" marR="91440" marT="45720" marB="45720" anchor="ctr">
                    <a:solidFill>
                      <a:srgbClr val="1F303E"/>
                    </a:solidFill>
                  </a:tcPr>
                </a:tc>
              </a:tr>
              <a:tr h="833438">
                <a:tc>
                  <a:txBody>
                    <a:bodyPr lIns="190500" tIns="114300" rIns="190500" bIns="114300"/>
                    <a:lstStyle/>
                    <a:p>
                      <a:r>
                        <a:rPr sz="2550" b="0">
                          <a:solidFill>
                            <a:srgbClr val="F1EBDD"/>
                          </a:solidFill>
                          <a:latin typeface="Calibri"/>
                          <a:ea typeface="Calibri"/>
                          <a:cs typeface="Calibri"/>
                        </a:rPr>
                        <a:t>E1 / E2</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Contenu IA et textes LinkedIn / WhatsApp</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disponible</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E3</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Publication sociale</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À développer</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E4 / E5</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Scoring et entretien du contact</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Règles et séquences disponibles</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E6 / E7</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Proposition et relances de closing</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PDF, e-mail et jalons disponibles</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E8</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Convention et facture</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et envoi disponibles</a:t>
                      </a:r>
                    </a:p>
                  </a:txBody>
                  <a:tcPr marL="91440" marR="91440" marT="45720" marB="45720" anchor="ctr">
                    <a:solidFill>
                      <a:srgbClr val="344B5E"/>
                    </a:solidFill>
                  </a:tcPr>
                </a:tc>
              </a:tr>
            </a:tbl>
          </a:graphicData>
        </a:graphic>
      </p:graphicFrame>
      <p:sp>
        <p:nvSpPr>
          <p:cNvPr id="5" name="Les scripts doivent s’exécuter aux échéances prévues. L">
            <a:extLst xmlns:a="http://schemas.openxmlformats.org/drawingml/2006/main">
              <a:ext uri="{FF2B5EF4-FFF2-40B4-BE49-F238E27FC236}">
                <a16:creationId xmlns:a16="http://schemas.microsoft.com/office/drawing/2014/main" id="{8189A8CD-655C-4023-A797-6820F9DE5A45}"/>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70238261"/>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25" name="ADG-10  /  AUTOMATISATION DU CYCLE COMMERCIAL">
            <a:extLst xmlns:a="http://schemas.openxmlformats.org/drawingml/2006/main">
              <a:ext uri="{FF2B5EF4-FFF2-40B4-BE49-F238E27FC236}">
                <a16:creationId xmlns:a16="http://schemas.microsoft.com/office/drawing/2014/main" id="{F09C6A24-E824-4535-BF97-6F53D719D06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1 / 22">
            <a:extLst xmlns:a="http://schemas.openxmlformats.org/drawingml/2006/main">
              <a:ext uri="{FF2B5EF4-FFF2-40B4-BE49-F238E27FC236}">
                <a16:creationId xmlns:a16="http://schemas.microsoft.com/office/drawing/2014/main" id="{330C0FB9-0B11-49B2-9E65-1E0277990D8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11 / 22</a:t>
            </a:r>
          </a:p>
        </p:txBody>
      </p:sp>
      <p:sp>
        <p:nvSpPr>
          <p:cNvPr id="3" name="Cas d’utilisation">
            <a:extLst xmlns:a="http://schemas.openxmlformats.org/drawingml/2006/main">
              <a:ext uri="{FF2B5EF4-FFF2-40B4-BE49-F238E27FC236}">
                <a16:creationId xmlns:a16="http://schemas.microsoft.com/office/drawing/2014/main" id="{C05BF9AA-92C6-417B-95A1-9ED1238F7AF1}"/>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4" name="Système ADG-10">
            <a:extLst xmlns:a="http://schemas.openxmlformats.org/drawingml/2006/main">
              <a:ext uri="{FF2B5EF4-FFF2-40B4-BE49-F238E27FC236}">
                <a16:creationId xmlns:a16="http://schemas.microsoft.com/office/drawing/2014/main" id="{18F063F2-39E3-4B43-88DB-A8AA3B15D1EA}"/>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5" name="Système ADG-10">
            <a:extLst xmlns:a="http://schemas.openxmlformats.org/drawingml/2006/main">
              <a:ext uri="{FF2B5EF4-FFF2-40B4-BE49-F238E27FC236}">
                <a16:creationId xmlns:a16="http://schemas.microsoft.com/office/drawing/2014/main" id="{2412B456-AD09-4C7A-AD0E-A83AA995129E}"/>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1EBDD"/>
                </a:solidFill>
                <a:latin typeface="Calibri"/>
                <a:ea typeface="Calibri"/>
                <a:cs typeface="Calibri"/>
              </a:defRPr>
            </a:pPr>
            <a:r>
              <a:rPr sz="2250" b="1">
                <a:solidFill>
                  <a:srgbClr val="F1EBDD"/>
                </a:solidFill>
                <a:latin typeface="Calibri"/>
                <a:ea typeface="Calibri"/>
                <a:cs typeface="Calibri"/>
              </a:rPr>
              <a:t>Système ADG-10</a:t>
            </a:r>
          </a:p>
        </p:txBody>
      </p:sp>
      <p:sp>
        <p:nvSpPr>
          <p:cNvPr id="6" name="Commercial">
            <a:extLst xmlns:a="http://schemas.openxmlformats.org/drawingml/2006/main">
              <a:ext uri="{FF2B5EF4-FFF2-40B4-BE49-F238E27FC236}">
                <a16:creationId xmlns:a16="http://schemas.microsoft.com/office/drawing/2014/main" id="{75C97B73-7C31-448D-B133-E153CA423498}"/>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Commercial</a:t>
            </a:r>
          </a:p>
        </p:txBody>
      </p:sp>
      <p:sp>
        <p:nvSpPr>
          <p:cNvPr id="7" name="Administrateur">
            <a:extLst xmlns:a="http://schemas.openxmlformats.org/drawingml/2006/main">
              <a:ext uri="{FF2B5EF4-FFF2-40B4-BE49-F238E27FC236}">
                <a16:creationId xmlns:a16="http://schemas.microsoft.com/office/drawing/2014/main" id="{8A3CEE8D-DB7C-447E-896A-6BD80872E30F}"/>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F1EBDD"/>
                </a:solidFill>
                <a:latin typeface="Calibri"/>
                <a:ea typeface="Calibri"/>
                <a:cs typeface="Calibri"/>
              </a:defRPr>
            </a:pPr>
            <a:r>
              <a:rPr sz="2550">
                <a:solidFill>
                  <a:srgbClr val="F1EBDD"/>
                </a:solidFill>
                <a:latin typeface="Calibri"/>
                <a:ea typeface="Calibri"/>
                <a:cs typeface="Calibri"/>
              </a:rPr>
              <a:t>Administrateur</a:t>
            </a:r>
          </a:p>
        </p:txBody>
      </p:sp>
      <p:sp>
        <p:nvSpPr>
          <p:cNvPr id="8" name="Consulter et filtrer les leads">
            <a:extLst xmlns:a="http://schemas.openxmlformats.org/drawingml/2006/main">
              <a:ext uri="{FF2B5EF4-FFF2-40B4-BE49-F238E27FC236}">
                <a16:creationId xmlns:a16="http://schemas.microsoft.com/office/drawing/2014/main" id="{02330CB0-39B6-44FE-AE14-9B343204DC48}"/>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Consulter et filtrer les leads</a:t>
            </a:r>
          </a:p>
        </p:txBody>
      </p:sp>
      <p:sp>
        <p:nvSpPr>
          <p:cNvPr id="9" name="Exécuter en simulation / réel">
            <a:extLst xmlns:a="http://schemas.openxmlformats.org/drawingml/2006/main">
              <a:ext uri="{FF2B5EF4-FFF2-40B4-BE49-F238E27FC236}">
                <a16:creationId xmlns:a16="http://schemas.microsoft.com/office/drawing/2014/main" id="{C84B67F7-86ED-4BE6-AFF2-E1BD05065A1F}"/>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Exécuter en simulation / réel</a:t>
            </a:r>
          </a:p>
        </p:txBody>
      </p:sp>
      <p:sp>
        <p:nvSpPr>
          <p:cNvPr id="10" name="Générer contenus et documents">
            <a:extLst xmlns:a="http://schemas.openxmlformats.org/drawingml/2006/main">
              <a:ext uri="{FF2B5EF4-FFF2-40B4-BE49-F238E27FC236}">
                <a16:creationId xmlns:a16="http://schemas.microsoft.com/office/drawing/2014/main" id="{AD2EA097-42A1-4BDB-99F3-2EB1AD1EC216}"/>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Générer contenus et documents</a:t>
            </a:r>
          </a:p>
        </p:txBody>
      </p:sp>
      <p:sp>
        <p:nvSpPr>
          <p:cNvPr id="11" name="Déclencher les relances">
            <a:extLst xmlns:a="http://schemas.openxmlformats.org/drawingml/2006/main">
              <a:ext uri="{FF2B5EF4-FFF2-40B4-BE49-F238E27FC236}">
                <a16:creationId xmlns:a16="http://schemas.microsoft.com/office/drawing/2014/main" id="{01F65050-ED2A-4BE3-A4E5-4F3E08727764}"/>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Déclencher les relances</a:t>
            </a:r>
          </a:p>
        </p:txBody>
      </p:sp>
      <p:sp>
        <p:nvSpPr>
          <p:cNvPr id="12" name="Configurer et contrôler les journaux">
            <a:extLst xmlns:a="http://schemas.openxmlformats.org/drawingml/2006/main">
              <a:ext uri="{FF2B5EF4-FFF2-40B4-BE49-F238E27FC236}">
                <a16:creationId xmlns:a16="http://schemas.microsoft.com/office/drawing/2014/main" id="{B03C7272-823F-42FD-B619-A17D0A34751C}"/>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Configurer et contrôler les journaux</a:t>
            </a:r>
          </a:p>
        </p:txBody>
      </p:sp>
      <p:cxnSp>
        <p:nvCxnSpPr>
          <p:cNvPr id="37" name=""/>
          <p:cNvCxnSpPr>
            <a:stCxn xmlns:a="http://schemas.openxmlformats.org/drawingml/2006/main" id="6" idx="3"/>
            <a:endCxn xmlns:a="http://schemas.openxmlformats.org/drawingml/2006/main" id="8"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8" name=""/>
          <p:cNvCxnSpPr>
            <a:stCxn xmlns:a="http://schemas.openxmlformats.org/drawingml/2006/main" id="6" idx="3"/>
            <a:endCxn xmlns:a="http://schemas.openxmlformats.org/drawingml/2006/main" id="9"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9" name=""/>
          <p:cNvCxnSpPr>
            <a:stCxn xmlns:a="http://schemas.openxmlformats.org/drawingml/2006/main" id="6" idx="3"/>
            <a:endCxn xmlns:a="http://schemas.openxmlformats.org/drawingml/2006/main" id="10"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0" name=""/>
          <p:cNvCxnSpPr>
            <a:stCxn xmlns:a="http://schemas.openxmlformats.org/drawingml/2006/main" id="6" idx="3"/>
            <a:endCxn xmlns:a="http://schemas.openxmlformats.org/drawingml/2006/main" id="11"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1" name=""/>
          <p:cNvCxnSpPr>
            <a:stCxn xmlns:a="http://schemas.openxmlformats.org/drawingml/2006/main" id="7" idx="3"/>
            <a:endCxn xmlns:a="http://schemas.openxmlformats.org/drawingml/2006/main" id="12"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8" name="Airtable&#10;Données CRM">
            <a:extLst xmlns:a="http://schemas.openxmlformats.org/drawingml/2006/main">
              <a:ext uri="{FF2B5EF4-FFF2-40B4-BE49-F238E27FC236}">
                <a16:creationId xmlns:a16="http://schemas.microsoft.com/office/drawing/2014/main" id="{9B898FE9-1FEA-496D-A278-4D76F4F899AE}"/>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Airtable</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Données CRM</a:t>
            </a:r>
          </a:p>
        </p:txBody>
      </p:sp>
      <p:sp>
        <p:nvSpPr>
          <p:cNvPr id="19" name="Groq&#10;Génération IA">
            <a:extLst xmlns:a="http://schemas.openxmlformats.org/drawingml/2006/main">
              <a:ext uri="{FF2B5EF4-FFF2-40B4-BE49-F238E27FC236}">
                <a16:creationId xmlns:a16="http://schemas.microsoft.com/office/drawing/2014/main" id="{F9719F44-3A99-4B71-9BA9-547FE4848521}"/>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Groq</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Génération IA</a:t>
            </a:r>
          </a:p>
        </p:txBody>
      </p:sp>
      <p:sp>
        <p:nvSpPr>
          <p:cNvPr id="20" name="SMTP / navigateur&#10;Communication">
            <a:extLst xmlns:a="http://schemas.openxmlformats.org/drawingml/2006/main">
              <a:ext uri="{FF2B5EF4-FFF2-40B4-BE49-F238E27FC236}">
                <a16:creationId xmlns:a16="http://schemas.microsoft.com/office/drawing/2014/main" id="{DCD4AD3A-0215-4C4B-8748-16312AF016D2}"/>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SMTP / navigateur</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Communication</a:t>
            </a:r>
          </a:p>
        </p:txBody>
      </p:sp>
      <p:cxnSp>
        <p:nvCxnSpPr>
          <p:cNvPr id="45" name=""/>
          <p:cNvCxnSpPr>
            <a:stCxn xmlns:a="http://schemas.openxmlformats.org/drawingml/2006/main" id="8" idx="6"/>
            <a:endCxn xmlns:a="http://schemas.openxmlformats.org/drawingml/2006/main" id="18"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6" name=""/>
          <p:cNvCxnSpPr>
            <a:stCxn xmlns:a="http://schemas.openxmlformats.org/drawingml/2006/main" id="10" idx="6"/>
            <a:endCxn xmlns:a="http://schemas.openxmlformats.org/drawingml/2006/main" id="19"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7" name=""/>
          <p:cNvCxnSpPr>
            <a:stCxn xmlns:a="http://schemas.openxmlformats.org/drawingml/2006/main" id="11" idx="6"/>
            <a:endCxn xmlns:a="http://schemas.openxmlformats.org/drawingml/2006/main" id="20"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4" name="Rôles métier du rapport. Le prototype ne dispose pas en">
            <a:extLst xmlns:a="http://schemas.openxmlformats.org/drawingml/2006/main">
              <a:ext uri="{FF2B5EF4-FFF2-40B4-BE49-F238E27FC236}">
                <a16:creationId xmlns:a16="http://schemas.microsoft.com/office/drawing/2014/main" id="{E48DBD49-3BF5-45A8-8FB9-6299B886511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49772031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5" name="ADG-10  /  AUTOMATISATION DU CYCLE COMMERCIAL">
            <a:extLst xmlns:a="http://schemas.openxmlformats.org/drawingml/2006/main">
              <a:ext uri="{FF2B5EF4-FFF2-40B4-BE49-F238E27FC236}">
                <a16:creationId xmlns:a16="http://schemas.microsoft.com/office/drawing/2014/main" id="{626983C6-B4DD-4720-8A01-FBAAB18AA00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2 / 22">
            <a:extLst xmlns:a="http://schemas.openxmlformats.org/drawingml/2006/main">
              <a:ext uri="{FF2B5EF4-FFF2-40B4-BE49-F238E27FC236}">
                <a16:creationId xmlns:a16="http://schemas.microsoft.com/office/drawing/2014/main" id="{227C477A-3077-443E-9214-C277BB68703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12 / 22</a:t>
            </a:r>
          </a:p>
        </p:txBody>
      </p:sp>
      <p:sp>
        <p:nvSpPr>
          <p:cNvPr id="3" name="Modèle conceptuel des données">
            <a:extLst xmlns:a="http://schemas.openxmlformats.org/drawingml/2006/main">
              <a:ext uri="{FF2B5EF4-FFF2-40B4-BE49-F238E27FC236}">
                <a16:creationId xmlns:a16="http://schemas.microsoft.com/office/drawing/2014/main" id="{1BAE3176-20C2-474C-A96E-88DCEA2FC66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4" name="Formation&#10;id, titre, durée&#10;prix, pitch, objectifs">
            <a:extLst xmlns:a="http://schemas.openxmlformats.org/drawingml/2006/main">
              <a:ext uri="{FF2B5EF4-FFF2-40B4-BE49-F238E27FC236}">
                <a16:creationId xmlns:a16="http://schemas.microsoft.com/office/drawing/2014/main" id="{16C30720-F76C-418C-8D4A-EF63654A0660}"/>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Formation</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titre, durée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prix, pitch, objectifs</a:t>
            </a:r>
          </a:p>
        </p:txBody>
      </p:sp>
      <p:sp>
        <p:nvSpPr>
          <p:cNvPr id="5" name="Lead&#10;id, coordonnées, score&#10;statut, formation, dates">
            <a:extLst xmlns:a="http://schemas.openxmlformats.org/drawingml/2006/main">
              <a:ext uri="{FF2B5EF4-FFF2-40B4-BE49-F238E27FC236}">
                <a16:creationId xmlns:a16="http://schemas.microsoft.com/office/drawing/2014/main" id="{22EE74DF-43B6-4FFF-9006-E542B27BB480}"/>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Lead</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coordonnées, score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statut, formation, dates</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7" name="1                         0..*">
            <a:extLst xmlns:a="http://schemas.openxmlformats.org/drawingml/2006/main">
              <a:ext uri="{FF2B5EF4-FFF2-40B4-BE49-F238E27FC236}">
                <a16:creationId xmlns:a16="http://schemas.microsoft.com/office/drawing/2014/main" id="{583E667E-D5AF-4D7A-8518-67C9DBA87CD5}"/>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F1EBDD"/>
                </a:solidFill>
                <a:latin typeface="Calibri"/>
                <a:ea typeface="Calibri"/>
                <a:cs typeface="Calibri"/>
              </a:defRPr>
            </a:pPr>
            <a:r>
              <a:rPr sz="2325" b="0">
                <a:solidFill>
                  <a:srgbClr val="F1EBDD"/>
                </a:solidFill>
                <a:latin typeface="Calibri"/>
                <a:ea typeface="Calibri"/>
                <a:cs typeface="Calibri"/>
              </a:rPr>
              <a:t>1                         0..*</a:t>
            </a:r>
          </a:p>
        </p:txBody>
      </p:sp>
      <p:sp>
        <p:nvSpPr>
          <p:cNvPr id="8" name="Proposition&#10;référence, date&#10;PDF local">
            <a:extLst xmlns:a="http://schemas.openxmlformats.org/drawingml/2006/main">
              <a:ext uri="{FF2B5EF4-FFF2-40B4-BE49-F238E27FC236}">
                <a16:creationId xmlns:a16="http://schemas.microsoft.com/office/drawing/2014/main" id="{57B2DDA3-F37D-4C1D-B608-BFD8598C8FC6}"/>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Proposition</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référence, date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9" name="Convention / Facture&#10;numéro, montants&#10;PDF local">
            <a:extLst xmlns:a="http://schemas.openxmlformats.org/drawingml/2006/main">
              <a:ext uri="{FF2B5EF4-FFF2-40B4-BE49-F238E27FC236}">
                <a16:creationId xmlns:a16="http://schemas.microsoft.com/office/drawing/2014/main" id="{3EFD0C55-4428-4B73-BCDB-30727D83ACFB}"/>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Convention / Facture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numéro, montants</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10" name="ActionEnvoi&#10;clé, canal, date UTC&#10;journal JSON">
            <a:extLst xmlns:a="http://schemas.openxmlformats.org/drawingml/2006/main">
              <a:ext uri="{FF2B5EF4-FFF2-40B4-BE49-F238E27FC236}">
                <a16:creationId xmlns:a16="http://schemas.microsoft.com/office/drawing/2014/main" id="{070EE47D-F187-4540-8D63-E526BB18E146}"/>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ActionEnvoi</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clé, canal, date UTC</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journal JSON</a:t>
            </a:r>
          </a:p>
        </p:txBody>
      </p:sp>
      <p:cxnSp>
        <p:nvCxnSpPr>
          <p:cNvPr id="25" name=""/>
          <p:cNvCxnSpPr>
            <a:stCxn xmlns:a="http://schemas.openxmlformats.org/drawingml/2006/main" id="5" idx="2"/>
            <a:endCxn xmlns:a="http://schemas.openxmlformats.org/drawingml/2006/main" id="8"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6" name=""/>
          <p:cNvCxnSpPr>
            <a:stCxn xmlns:a="http://schemas.openxmlformats.org/drawingml/2006/main" id="5" idx="2"/>
            <a:endCxn xmlns:a="http://schemas.openxmlformats.org/drawingml/2006/main" id="9"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7" name=""/>
          <p:cNvCxnSpPr>
            <a:stCxn xmlns:a="http://schemas.openxmlformats.org/drawingml/2006/main" id="5" idx="2"/>
            <a:endCxn xmlns:a="http://schemas.openxmlformats.org/drawingml/2006/main" id="10"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4" name="Modèle conceptuel, non classes Python persistées. Donné">
            <a:extLst xmlns:a="http://schemas.openxmlformats.org/drawingml/2006/main">
              <a:ext uri="{FF2B5EF4-FFF2-40B4-BE49-F238E27FC236}">
                <a16:creationId xmlns:a16="http://schemas.microsoft.com/office/drawing/2014/main" id="{F40D82F4-07A9-46E5-BB01-34EFDEC1FDD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526210438"/>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9" name="ADG-10  /  AUTOMATISATION DU CYCLE COMMERCIAL">
            <a:extLst xmlns:a="http://schemas.openxmlformats.org/drawingml/2006/main">
              <a:ext uri="{FF2B5EF4-FFF2-40B4-BE49-F238E27FC236}">
                <a16:creationId xmlns:a16="http://schemas.microsoft.com/office/drawing/2014/main" id="{72D45A61-1243-428D-A878-AB139FFC90A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3 / 22">
            <a:extLst xmlns:a="http://schemas.openxmlformats.org/drawingml/2006/main">
              <a:ext uri="{FF2B5EF4-FFF2-40B4-BE49-F238E27FC236}">
                <a16:creationId xmlns:a16="http://schemas.microsoft.com/office/drawing/2014/main" id="{A1817F75-449A-4E86-99E4-F72B88DA358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13 / 22</a:t>
            </a:r>
          </a:p>
        </p:txBody>
      </p:sp>
      <p:sp>
        <p:nvSpPr>
          <p:cNvPr id="3" name="Scoring et routage des prospects">
            <a:extLst xmlns:a="http://schemas.openxmlformats.org/drawingml/2006/main">
              <a:ext uri="{FF2B5EF4-FFF2-40B4-BE49-F238E27FC236}">
                <a16:creationId xmlns:a16="http://schemas.microsoft.com/office/drawing/2014/main" id="{6ED037B6-D90B-4318-8784-3E7444E021A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4" name="Pondération des critères (%)">
            <a:extLst xmlns:a="http://schemas.openxmlformats.org/drawingml/2006/main">
              <a:ext uri="{FF2B5EF4-FFF2-40B4-BE49-F238E27FC236}">
                <a16:creationId xmlns:a16="http://schemas.microsoft.com/office/drawing/2014/main" id="{19253C5E-C696-42E0-8FA0-13A515E60C5A}"/>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1EBDD"/>
                </a:solidFill>
                <a:latin typeface="Calibri"/>
                <a:ea typeface="Calibri"/>
                <a:cs typeface="Calibri"/>
              </a:defRPr>
            </a:pPr>
            <a:r>
              <a:rPr sz="2250" b="0">
                <a:solidFill>
                  <a:srgbClr val="F1EBDD"/>
                </a:solidFill>
                <a:latin typeface="Calibri"/>
                <a:ea typeface="Calibri"/>
                <a:cs typeface="Calibri"/>
              </a:rPr>
              <a:t>Pondération des critères (%)</a:t>
            </a:r>
          </a:p>
        </p:txBody>
      </p:sp>
      <p:graphicFrame>
        <p:nvGraphicFramePr>
          <p:cNvPr id="13"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483e1aea795c46c6"/>
          </a:graphicData>
        </a:graphic>
      </p:graphicFrame>
      <p:sp>
        <p:nvSpPr>
          <p:cNvPr id="6" name="Score ≥ 8 : priorité commerciale&#10;&#10;5 ≤ score &lt; 8 : quali">
            <a:extLst xmlns:a="http://schemas.openxmlformats.org/drawingml/2006/main">
              <a:ext uri="{FF2B5EF4-FFF2-40B4-BE49-F238E27FC236}">
                <a16:creationId xmlns:a16="http://schemas.microsoft.com/office/drawing/2014/main" id="{9B9412A8-C6F2-4C9E-9CE8-D8D2AD8F77F7}"/>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&lt; 5 : nurturing</a:t>
            </a:r>
          </a:p>
        </p:txBody>
      </p:sp>
      <p:sp>
        <p:nvSpPr>
          <p:cNvPr id="7" name="Exemple fictif : 9,5 / 10&#10;Budget 6 000 MAD, besoin urge">
            <a:extLst xmlns:a="http://schemas.openxmlformats.org/drawingml/2006/main">
              <a:ext uri="{FF2B5EF4-FFF2-40B4-BE49-F238E27FC236}">
                <a16:creationId xmlns:a16="http://schemas.microsoft.com/office/drawing/2014/main" id="{42B5F1C5-AFCA-4101-A714-AFBFD145B9FD}"/>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Exemple fictif : 9,5 / 10</a:t>
            </a:r>
          </a:p>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Budget 6 000 MAD, besoin urgent, DRH, PME, e-mail direct.</a:t>
            </a:r>
          </a:p>
        </p:txBody>
      </p:sp>
      <p:sp>
        <p:nvSpPr>
          <p:cNvPr id="8" name="Le score exprime une priorité de traitement. Il ne mesu">
            <a:extLst xmlns:a="http://schemas.openxmlformats.org/drawingml/2006/main">
              <a:ext uri="{FF2B5EF4-FFF2-40B4-BE49-F238E27FC236}">
                <a16:creationId xmlns:a16="http://schemas.microsoft.com/office/drawing/2014/main" id="{6890BEF0-7B15-45A6-9949-AA49259ABC5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8963798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44" name="ADG-10  /  AUTOMATISATION DU CYCLE COMMERCIAL">
            <a:extLst xmlns:a="http://schemas.openxmlformats.org/drawingml/2006/main">
              <a:ext uri="{FF2B5EF4-FFF2-40B4-BE49-F238E27FC236}">
                <a16:creationId xmlns:a16="http://schemas.microsoft.com/office/drawing/2014/main" id="{277C9535-55E6-495B-82D0-8D1124C47FA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4 / 22">
            <a:extLst xmlns:a="http://schemas.openxmlformats.org/drawingml/2006/main">
              <a:ext uri="{FF2B5EF4-FFF2-40B4-BE49-F238E27FC236}">
                <a16:creationId xmlns:a16="http://schemas.microsoft.com/office/drawing/2014/main" id="{2A6F9CDB-6654-440E-BD3A-89D103F955A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14 / 22</a:t>
            </a:r>
          </a:p>
        </p:txBody>
      </p:sp>
      <p:sp>
        <p:nvSpPr>
          <p:cNvPr id="3" name="Séquence d’envoi d’une proposition">
            <a:extLst xmlns:a="http://schemas.openxmlformats.org/drawingml/2006/main">
              <a:ext uri="{FF2B5EF4-FFF2-40B4-BE49-F238E27FC236}">
                <a16:creationId xmlns:a16="http://schemas.microsoft.com/office/drawing/2014/main" id="{AE402DBD-ADF5-471A-83EE-6C45B5DF8AD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4" name="Script E6">
            <a:extLst xmlns:a="http://schemas.openxmlformats.org/drawingml/2006/main">
              <a:ext uri="{FF2B5EF4-FFF2-40B4-BE49-F238E27FC236}">
                <a16:creationId xmlns:a16="http://schemas.microsoft.com/office/drawing/2014/main" id="{D9692FE9-97A5-421D-AF60-36616819ACD2}"/>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Script E6</a:t>
            </a:r>
          </a:p>
        </p:txBody>
      </p:sp>
      <p:sp>
        <p:nvSpPr>
          <p:cNvPr id="5" name="Airtable">
            <a:extLst xmlns:a="http://schemas.openxmlformats.org/drawingml/2006/main">
              <a:ext uri="{FF2B5EF4-FFF2-40B4-BE49-F238E27FC236}">
                <a16:creationId xmlns:a16="http://schemas.microsoft.com/office/drawing/2014/main" id="{122CDEF6-9393-4440-8FD1-FE5F3D9ABCD9}"/>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Airtable</a:t>
            </a:r>
          </a:p>
        </p:txBody>
      </p:sp>
      <p:sp>
        <p:nvSpPr>
          <p:cNvPr id="6" name="Journal local">
            <a:extLst xmlns:a="http://schemas.openxmlformats.org/drawingml/2006/main">
              <a:ext uri="{FF2B5EF4-FFF2-40B4-BE49-F238E27FC236}">
                <a16:creationId xmlns:a16="http://schemas.microsoft.com/office/drawing/2014/main" id="{5BD80AE8-1847-4B3A-8D95-5A3B13F8210B}"/>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Journal local</a:t>
            </a:r>
          </a:p>
        </p:txBody>
      </p:sp>
      <p:sp>
        <p:nvSpPr>
          <p:cNvPr id="7" name="PDF">
            <a:extLst xmlns:a="http://schemas.openxmlformats.org/drawingml/2006/main">
              <a:ext uri="{FF2B5EF4-FFF2-40B4-BE49-F238E27FC236}">
                <a16:creationId xmlns:a16="http://schemas.microsoft.com/office/drawing/2014/main" id="{A00443FC-D08C-45F2-BC0F-7AA3DBDBD6D8}"/>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PDF</a:t>
            </a:r>
          </a:p>
        </p:txBody>
      </p:sp>
      <p:sp>
        <p:nvSpPr>
          <p:cNvPr id="8" name="SMTP">
            <a:extLst xmlns:a="http://schemas.openxmlformats.org/drawingml/2006/main">
              <a:ext uri="{FF2B5EF4-FFF2-40B4-BE49-F238E27FC236}">
                <a16:creationId xmlns:a16="http://schemas.microsoft.com/office/drawing/2014/main" id="{124B51E9-E405-4043-AA35-3DD89FA31D6A}"/>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SMTP</a:t>
            </a:r>
          </a:p>
        </p:txBody>
      </p:sp>
      <p:sp>
        <p:nvSpPr>
          <p:cNvPr id="9" name="Point de séquence">
            <a:extLst xmlns:a="http://schemas.openxmlformats.org/drawingml/2006/main">
              <a:ext uri="{FF2B5EF4-FFF2-40B4-BE49-F238E27FC236}">
                <a16:creationId xmlns:a16="http://schemas.microsoft.com/office/drawing/2014/main" id="{EEE9DDA1-CA9A-471C-BDD9-D2AB3B24421A}"/>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4" idx="2"/>
            <a:endCxn xmlns:a="http://schemas.openxmlformats.org/drawingml/2006/main" id="9"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1" name="Point de séquence">
            <a:extLst xmlns:a="http://schemas.openxmlformats.org/drawingml/2006/main">
              <a:ext uri="{FF2B5EF4-FFF2-40B4-BE49-F238E27FC236}">
                <a16:creationId xmlns:a16="http://schemas.microsoft.com/office/drawing/2014/main" id="{B4092B3B-37E9-408C-A206-56A0FC4ACFD4}"/>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1"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3" name="Point de séquence">
            <a:extLst xmlns:a="http://schemas.openxmlformats.org/drawingml/2006/main">
              <a:ext uri="{FF2B5EF4-FFF2-40B4-BE49-F238E27FC236}">
                <a16:creationId xmlns:a16="http://schemas.microsoft.com/office/drawing/2014/main" id="{4EFA9E20-D13F-453A-AF75-5A676495F326}"/>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3"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5" name="Point de séquence">
            <a:extLst xmlns:a="http://schemas.openxmlformats.org/drawingml/2006/main">
              <a:ext uri="{FF2B5EF4-FFF2-40B4-BE49-F238E27FC236}">
                <a16:creationId xmlns:a16="http://schemas.microsoft.com/office/drawing/2014/main" id="{5FFF8678-4699-4504-B962-78CEA9E0CBCF}"/>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5"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7" name="Point de séquence">
            <a:extLst xmlns:a="http://schemas.openxmlformats.org/drawingml/2006/main">
              <a:ext uri="{FF2B5EF4-FFF2-40B4-BE49-F238E27FC236}">
                <a16:creationId xmlns:a16="http://schemas.microsoft.com/office/drawing/2014/main" id="{FB79A670-665C-4B40-9B56-8F7D23441087}"/>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7"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9" name="Point de séquence">
            <a:extLst xmlns:a="http://schemas.openxmlformats.org/drawingml/2006/main">
              <a:ext uri="{FF2B5EF4-FFF2-40B4-BE49-F238E27FC236}">
                <a16:creationId xmlns:a16="http://schemas.microsoft.com/office/drawing/2014/main" id="{769D7EE5-A961-4FC0-998C-7C6A3DC2A671}"/>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Point de séquence">
            <a:extLst xmlns:a="http://schemas.openxmlformats.org/drawingml/2006/main">
              <a:ext uri="{FF2B5EF4-FFF2-40B4-BE49-F238E27FC236}">
                <a16:creationId xmlns:a16="http://schemas.microsoft.com/office/drawing/2014/main" id="{3B1C24E8-4E64-4F5E-B0B6-BAD0CE9662BD}"/>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9" idx="3"/>
            <a:endCxn xmlns:a="http://schemas.openxmlformats.org/drawingml/2006/main" id="20"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2" name="1. Lire les prospects">
            <a:extLst xmlns:a="http://schemas.openxmlformats.org/drawingml/2006/main">
              <a:ext uri="{FF2B5EF4-FFF2-40B4-BE49-F238E27FC236}">
                <a16:creationId xmlns:a16="http://schemas.microsoft.com/office/drawing/2014/main" id="{2EFA23E1-398F-4630-B6F0-EB714E2776DB}"/>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1. Lire les prospects</a:t>
            </a:r>
          </a:p>
        </p:txBody>
      </p:sp>
      <p:sp>
        <p:nvSpPr>
          <p:cNvPr id="23" name="Point de séquence">
            <a:extLst xmlns:a="http://schemas.openxmlformats.org/drawingml/2006/main">
              <a:ext uri="{FF2B5EF4-FFF2-40B4-BE49-F238E27FC236}">
                <a16:creationId xmlns:a16="http://schemas.microsoft.com/office/drawing/2014/main" id="{1A4D0E65-2E05-4752-9197-7E0E048CC4B0}"/>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Point de séquence">
            <a:extLst xmlns:a="http://schemas.openxmlformats.org/drawingml/2006/main">
              <a:ext uri="{FF2B5EF4-FFF2-40B4-BE49-F238E27FC236}">
                <a16:creationId xmlns:a16="http://schemas.microsoft.com/office/drawing/2014/main" id="{0EF86579-DF31-45A8-A3B2-76939F03A693}"/>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3" idx="3"/>
            <a:endCxn xmlns:a="http://schemas.openxmlformats.org/drawingml/2006/main" id="24"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6" name="2. Rechercher un envoi antérieur">
            <a:extLst xmlns:a="http://schemas.openxmlformats.org/drawingml/2006/main">
              <a:ext uri="{FF2B5EF4-FFF2-40B4-BE49-F238E27FC236}">
                <a16:creationId xmlns:a16="http://schemas.microsoft.com/office/drawing/2014/main" id="{7DF36CA3-F422-40E2-9AA6-91E7DD316880}"/>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2. Rechercher un envoi antérieur</a:t>
            </a:r>
          </a:p>
        </p:txBody>
      </p:sp>
      <p:sp>
        <p:nvSpPr>
          <p:cNvPr id="27" name="Point de séquence">
            <a:extLst xmlns:a="http://schemas.openxmlformats.org/drawingml/2006/main">
              <a:ext uri="{FF2B5EF4-FFF2-40B4-BE49-F238E27FC236}">
                <a16:creationId xmlns:a16="http://schemas.microsoft.com/office/drawing/2014/main" id="{B31C5D3E-4FB3-4E81-AEAE-25080D477EEF}"/>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Point de séquence">
            <a:extLst xmlns:a="http://schemas.openxmlformats.org/drawingml/2006/main">
              <a:ext uri="{FF2B5EF4-FFF2-40B4-BE49-F238E27FC236}">
                <a16:creationId xmlns:a16="http://schemas.microsoft.com/office/drawing/2014/main" id="{8C9B09C0-D9BE-4374-9FEC-F8A8F2F574CC}"/>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7" idx="3"/>
            <a:endCxn xmlns:a="http://schemas.openxmlformats.org/drawingml/2006/main" id="28"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0" name="3. Générer la proposition">
            <a:extLst xmlns:a="http://schemas.openxmlformats.org/drawingml/2006/main">
              <a:ext uri="{FF2B5EF4-FFF2-40B4-BE49-F238E27FC236}">
                <a16:creationId xmlns:a16="http://schemas.microsoft.com/office/drawing/2014/main" id="{4CCACAC1-8FA8-477D-83F9-80DDB9E99DAA}"/>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3. Générer la proposition</a:t>
            </a:r>
          </a:p>
        </p:txBody>
      </p:sp>
      <p:sp>
        <p:nvSpPr>
          <p:cNvPr id="31" name="Point de séquence">
            <a:extLst xmlns:a="http://schemas.openxmlformats.org/drawingml/2006/main">
              <a:ext uri="{FF2B5EF4-FFF2-40B4-BE49-F238E27FC236}">
                <a16:creationId xmlns:a16="http://schemas.microsoft.com/office/drawing/2014/main" id="{E1CABAEF-C7E7-4924-B5CD-FD2625B0BD34}"/>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Point de séquence">
            <a:extLst xmlns:a="http://schemas.openxmlformats.org/drawingml/2006/main">
              <a:ext uri="{FF2B5EF4-FFF2-40B4-BE49-F238E27FC236}">
                <a16:creationId xmlns:a16="http://schemas.microsoft.com/office/drawing/2014/main" id="{31E5300C-10AC-4266-919A-EB8844F786C9}"/>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1" idx="3"/>
            <a:endCxn xmlns:a="http://schemas.openxmlformats.org/drawingml/2006/main" id="32"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4" name="4. Envoyer avec pièce jointe">
            <a:extLst xmlns:a="http://schemas.openxmlformats.org/drawingml/2006/main">
              <a:ext uri="{FF2B5EF4-FFF2-40B4-BE49-F238E27FC236}">
                <a16:creationId xmlns:a16="http://schemas.microsoft.com/office/drawing/2014/main" id="{EDB625C1-2AEB-4C7E-AE42-7D1666412520}"/>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4. Envoyer avec pièce jointe</a:t>
            </a:r>
          </a:p>
        </p:txBody>
      </p:sp>
      <p:sp>
        <p:nvSpPr>
          <p:cNvPr id="35" name="Point de séquence">
            <a:extLst xmlns:a="http://schemas.openxmlformats.org/drawingml/2006/main">
              <a:ext uri="{FF2B5EF4-FFF2-40B4-BE49-F238E27FC236}">
                <a16:creationId xmlns:a16="http://schemas.microsoft.com/office/drawing/2014/main" id="{19D9731A-EB56-4850-8663-F583B54EB012}"/>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Point de séquence">
            <a:extLst xmlns:a="http://schemas.openxmlformats.org/drawingml/2006/main">
              <a:ext uri="{FF2B5EF4-FFF2-40B4-BE49-F238E27FC236}">
                <a16:creationId xmlns:a16="http://schemas.microsoft.com/office/drawing/2014/main" id="{442C177B-3550-4ADE-BA2A-BF15422E62C2}"/>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5" idx="3"/>
            <a:endCxn xmlns:a="http://schemas.openxmlformats.org/drawingml/2006/main" id="36"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8" name="5. Mémoriser le succès">
            <a:extLst xmlns:a="http://schemas.openxmlformats.org/drawingml/2006/main">
              <a:ext uri="{FF2B5EF4-FFF2-40B4-BE49-F238E27FC236}">
                <a16:creationId xmlns:a16="http://schemas.microsoft.com/office/drawing/2014/main" id="{D2B7FF3C-7EF3-442D-A6EA-188C60D239CC}"/>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5. Mémoriser le succès</a:t>
            </a:r>
          </a:p>
        </p:txBody>
      </p:sp>
      <p:sp>
        <p:nvSpPr>
          <p:cNvPr id="39" name="Point de séquence">
            <a:extLst xmlns:a="http://schemas.openxmlformats.org/drawingml/2006/main">
              <a:ext uri="{FF2B5EF4-FFF2-40B4-BE49-F238E27FC236}">
                <a16:creationId xmlns:a16="http://schemas.microsoft.com/office/drawing/2014/main" id="{6ADF00D0-1C5D-4B29-97F3-3963F6D92786}"/>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Point de séquence">
            <a:extLst xmlns:a="http://schemas.openxmlformats.org/drawingml/2006/main">
              <a:ext uri="{FF2B5EF4-FFF2-40B4-BE49-F238E27FC236}">
                <a16:creationId xmlns:a16="http://schemas.microsoft.com/office/drawing/2014/main" id="{BDDC8734-7565-4D32-960B-42E05F36FC03}"/>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9" idx="3"/>
            <a:endCxn xmlns:a="http://schemas.openxmlformats.org/drawingml/2006/main" id="40"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42" name="6. Mettre à jour date et statut">
            <a:extLst xmlns:a="http://schemas.openxmlformats.org/drawingml/2006/main">
              <a:ext uri="{FF2B5EF4-FFF2-40B4-BE49-F238E27FC236}">
                <a16:creationId xmlns:a16="http://schemas.microsoft.com/office/drawing/2014/main" id="{92964BE8-5BB8-446F-A90A-0E0EC44F75A6}"/>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6. Mettre à jour date et statut</a:t>
            </a:r>
          </a:p>
        </p:txBody>
      </p:sp>
      <p:sp>
        <p:nvSpPr>
          <p:cNvPr id="43" name="Si l’envoi est déjà journalisé : réconcilier le CRM san">
            <a:extLst xmlns:a="http://schemas.openxmlformats.org/drawingml/2006/main">
              <a:ext uri="{FF2B5EF4-FFF2-40B4-BE49-F238E27FC236}">
                <a16:creationId xmlns:a16="http://schemas.microsoft.com/office/drawing/2014/main" id="{F7591339-509D-48F4-B661-648957D9C55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188379604"/>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6" name="ADG-10  /  AUTOMATISATION DU CYCLE COMMERCIAL">
            <a:extLst xmlns:a="http://schemas.openxmlformats.org/drawingml/2006/main">
              <a:ext uri="{FF2B5EF4-FFF2-40B4-BE49-F238E27FC236}">
                <a16:creationId xmlns:a16="http://schemas.microsoft.com/office/drawing/2014/main" id="{21132462-0809-4B30-AE7C-E5B8E157B0FA}"/>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5 / 22">
            <a:extLst xmlns:a="http://schemas.openxmlformats.org/drawingml/2006/main">
              <a:ext uri="{FF2B5EF4-FFF2-40B4-BE49-F238E27FC236}">
                <a16:creationId xmlns:a16="http://schemas.microsoft.com/office/drawing/2014/main" id="{FCCA3777-2785-41DC-B89D-FC3CC98EF4F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15 / 22</a:t>
            </a:r>
          </a:p>
        </p:txBody>
      </p:sp>
      <p:sp>
        <p:nvSpPr>
          <p:cNvPr id="3" name="Architecture technique">
            <a:extLst xmlns:a="http://schemas.openxmlformats.org/drawingml/2006/main">
              <a:ext uri="{FF2B5EF4-FFF2-40B4-BE49-F238E27FC236}">
                <a16:creationId xmlns:a16="http://schemas.microsoft.com/office/drawing/2014/main" id="{B8BFA59E-D5F0-4352-B812-0AD2BE27A44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4" name="Interface Streamlit : vues, filtres, commandes">
            <a:extLst xmlns:a="http://schemas.openxmlformats.org/drawingml/2006/main">
              <a:ext uri="{FF2B5EF4-FFF2-40B4-BE49-F238E27FC236}">
                <a16:creationId xmlns:a16="http://schemas.microsoft.com/office/drawing/2014/main" id="{07A820AB-92F2-4E30-82A0-25933E21BE9C}"/>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Interface Streamlit : vues, filtres, commandes</a:t>
            </a:r>
          </a:p>
        </p:txBody>
      </p:sp>
      <p:sp>
        <p:nvSpPr>
          <p:cNvPr id="5" name="Scripts E1 à E8 et orchestrateur du pipeline">
            <a:extLst xmlns:a="http://schemas.openxmlformats.org/drawingml/2006/main">
              <a:ext uri="{FF2B5EF4-FFF2-40B4-BE49-F238E27FC236}">
                <a16:creationId xmlns:a16="http://schemas.microsoft.com/office/drawing/2014/main" id="{9AE8660A-12A3-445D-BEB6-53D5B6B51907}"/>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Scripts E1 à E8 et orchestrateur du pipeline</a:t>
            </a:r>
          </a:p>
        </p:txBody>
      </p:sp>
      <p:sp>
        <p:nvSpPr>
          <p:cNvPr id="6" name="Règles métier : scoring, séquences, modèles de messages">
            <a:extLst xmlns:a="http://schemas.openxmlformats.org/drawingml/2006/main">
              <a:ext uri="{FF2B5EF4-FFF2-40B4-BE49-F238E27FC236}">
                <a16:creationId xmlns:a16="http://schemas.microsoft.com/office/drawing/2014/main" id="{2C820C8B-0D7C-4AB1-8095-212F9DC9AABE}"/>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F1EBDD"/>
                </a:solidFill>
                <a:latin typeface="Calibri"/>
                <a:ea typeface="Calibri"/>
                <a:cs typeface="Calibri"/>
              </a:defRPr>
            </a:pPr>
            <a:r>
              <a:rPr sz="2775">
                <a:solidFill>
                  <a:srgbClr val="F1EBDD"/>
                </a:solidFill>
                <a:latin typeface="Calibri"/>
                <a:ea typeface="Calibri"/>
                <a:cs typeface="Calibri"/>
              </a:rPr>
              <a:t>Règles métier : scoring, séquences, modèles de messages</a:t>
            </a:r>
          </a:p>
        </p:txBody>
      </p:sp>
      <p:cxnSp>
        <p:nvCxnSpPr>
          <p:cNvPr id="22" name=""/>
          <p:cNvCxnSpPr>
            <a:stCxn xmlns:a="http://schemas.openxmlformats.org/drawingml/2006/main" id="4" idx="2"/>
            <a:endCxn xmlns:a="http://schemas.openxmlformats.org/drawingml/2006/main" id="5"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3" name=""/>
          <p:cNvCxnSpPr>
            <a:stCxn xmlns:a="http://schemas.openxmlformats.org/drawingml/2006/main" id="5" idx="2"/>
            <a:endCxn xmlns:a="http://schemas.openxmlformats.org/drawingml/2006/main" id="6"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9" name="Airtable / Groq&#10;API externes">
            <a:extLst xmlns:a="http://schemas.openxmlformats.org/drawingml/2006/main">
              <a:ext uri="{FF2B5EF4-FFF2-40B4-BE49-F238E27FC236}">
                <a16:creationId xmlns:a16="http://schemas.microsoft.com/office/drawing/2014/main" id="{D7313CC2-CCBE-41CF-B48F-55DA0628ACBE}"/>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Airtable / Groq</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API externes</a:t>
            </a:r>
          </a:p>
        </p:txBody>
      </p:sp>
      <p:sp>
        <p:nvSpPr>
          <p:cNvPr id="10" name="SMTP / WhatsApp&#10;Adaptateurs d’envoi">
            <a:extLst xmlns:a="http://schemas.openxmlformats.org/drawingml/2006/main">
              <a:ext uri="{FF2B5EF4-FFF2-40B4-BE49-F238E27FC236}">
                <a16:creationId xmlns:a16="http://schemas.microsoft.com/office/drawing/2014/main" id="{B13CAD74-2363-4F24-A8C6-25A5DF45EED5}"/>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SMTP / WhatsApp</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Adaptateurs d’envoi</a:t>
            </a:r>
          </a:p>
        </p:txBody>
      </p:sp>
      <p:sp>
        <p:nvSpPr>
          <p:cNvPr id="11" name="ReportLab / JSON&#10;PDF et état local">
            <a:extLst xmlns:a="http://schemas.openxmlformats.org/drawingml/2006/main">
              <a:ext uri="{FF2B5EF4-FFF2-40B4-BE49-F238E27FC236}">
                <a16:creationId xmlns:a16="http://schemas.microsoft.com/office/drawing/2014/main" id="{08FAF2E4-70FF-4B2B-9AE8-E13E344EC78E}"/>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ReportLab / JSON</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PDF et état local</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5" name="Configuration centralisée, simulation par défaut, logs ">
            <a:extLst xmlns:a="http://schemas.openxmlformats.org/drawingml/2006/main">
              <a:ext uri="{FF2B5EF4-FFF2-40B4-BE49-F238E27FC236}">
                <a16:creationId xmlns:a16="http://schemas.microsoft.com/office/drawing/2014/main" id="{840AE232-35B7-4CF5-9BC0-95BC362A55B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155671957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12bfa016315496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6643806-F953-4C62-853F-F2EDD2ADBFC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FCEF624B-03B2-4F01-B479-684848E2128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FDF430FE-B7F6-4710-9CC8-1859D9FB1931}"/>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4B66DA1E-4E7D-45CB-9C48-1355C41B56A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AAF46AB3-A9E5-47B1-8862-02CD9F992BDF}"/>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262528276"/>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77B873E0-5B11-46CE-B307-52F1E1F4295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7 / 22">
            <a:extLst xmlns:a="http://schemas.openxmlformats.org/drawingml/2006/main">
              <a:ext uri="{FF2B5EF4-FFF2-40B4-BE49-F238E27FC236}">
                <a16:creationId xmlns:a16="http://schemas.microsoft.com/office/drawing/2014/main" id="{4CF9889A-015D-4730-B9F6-9D890DBC0BE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17 / 22</a:t>
            </a:r>
          </a:p>
        </p:txBody>
      </p:sp>
      <p:sp>
        <p:nvSpPr>
          <p:cNvPr id="3" name="Choix techniques">
            <a:extLst xmlns:a="http://schemas.openxmlformats.org/drawingml/2006/main">
              <a:ext uri="{FF2B5EF4-FFF2-40B4-BE49-F238E27FC236}">
                <a16:creationId xmlns:a16="http://schemas.microsoft.com/office/drawing/2014/main" id="{9BBD7BF6-1480-4500-B2AA-C531DA8A7E2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9"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D2AB7D"/>
                          </a:solidFill>
                          <a:latin typeface="Calibri"/>
                          <a:ea typeface="Calibri"/>
                          <a:cs typeface="Calibri"/>
                        </a:rPr>
                        <a:t>Technologie</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Rôle dans ADG-10</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Justification</a:t>
                      </a:r>
                    </a:p>
                  </a:txBody>
                  <a:tcPr marL="91440" marR="91440" marT="45720" marB="45720" anchor="ctr">
                    <a:solidFill>
                      <a:srgbClr val="1F303E"/>
                    </a:solidFill>
                  </a:tcPr>
                </a:tc>
              </a:tr>
              <a:tr h="857250">
                <a:tc>
                  <a:txBody>
                    <a:bodyPr lIns="190500" tIns="114300" rIns="190500" bIns="114300"/>
                    <a:lstStyle/>
                    <a:p>
                      <a:r>
                        <a:rPr sz="2625" b="0">
                          <a:solidFill>
                            <a:srgbClr val="F1EBDD"/>
                          </a:solidFill>
                          <a:latin typeface="Calibri"/>
                          <a:ea typeface="Calibri"/>
                          <a:cs typeface="Calibri"/>
                        </a:rPr>
                        <a:t>Python</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Scripts et règles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Modules lisibles et testables</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Airtable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Catalogue et prospects</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Données accessibles à l’équipe</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Groq</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Génération des contenus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Réponse JSON contrôlée</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Streamlit</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Interface de pilotage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Dashboard directement en Python</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ReportLab</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Offres, conventions et factures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Thème documentaire partagé</a:t>
                      </a:r>
                    </a:p>
                  </a:txBody>
                  <a:tcPr marL="91440" marR="91440" marT="45720" marB="45720" anchor="ctr">
                    <a:solidFill>
                      <a:srgbClr val="344B5E"/>
                    </a:solidFill>
                  </a:tcPr>
                </a:tc>
              </a:tr>
            </a:tbl>
          </a:graphicData>
        </a:graphic>
      </p:graphicFrame>
      <p:sp>
        <p:nvSpPr>
          <p:cNvPr id="5" name="SMTP gère l’e-mail. WhatsApp repose sur l’automatisatio">
            <a:extLst xmlns:a="http://schemas.openxmlformats.org/drawingml/2006/main">
              <a:ext uri="{FF2B5EF4-FFF2-40B4-BE49-F238E27FC236}">
                <a16:creationId xmlns:a16="http://schemas.microsoft.com/office/drawing/2014/main" id="{2E3B730B-F0DD-4EA2-92BC-40FFEB09E86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2113413439"/>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7" name="ADG-10  /  AUTOMATISATION DU CYCLE COMMERCIAL">
            <a:extLst xmlns:a="http://schemas.openxmlformats.org/drawingml/2006/main">
              <a:ext uri="{FF2B5EF4-FFF2-40B4-BE49-F238E27FC236}">
                <a16:creationId xmlns:a16="http://schemas.microsoft.com/office/drawing/2014/main" id="{FE063099-5BDD-45C2-8DFC-534655284F8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8 / 22">
            <a:extLst xmlns:a="http://schemas.openxmlformats.org/drawingml/2006/main">
              <a:ext uri="{FF2B5EF4-FFF2-40B4-BE49-F238E27FC236}">
                <a16:creationId xmlns:a16="http://schemas.microsoft.com/office/drawing/2014/main" id="{8D94824B-0C2E-4430-9D61-726CC7BD99B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18 / 22</a:t>
            </a:r>
          </a:p>
        </p:txBody>
      </p:sp>
      <p:sp>
        <p:nvSpPr>
          <p:cNvPr id="3" name="Démonstration du tableau de bord">
            <a:extLst xmlns:a="http://schemas.openxmlformats.org/drawingml/2006/main">
              <a:ext uri="{FF2B5EF4-FFF2-40B4-BE49-F238E27FC236}">
                <a16:creationId xmlns:a16="http://schemas.microsoft.com/office/drawing/2014/main" id="{F9FB55E8-AEEE-4AC9-817A-CA56B910563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25b2a0c2adf4b6e"/>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5" name="1. Consulter les indicateurs&#10;&#10;2. Rechercher un prospect">
            <a:extLst xmlns:a="http://schemas.openxmlformats.org/drawingml/2006/main">
              <a:ext uri="{FF2B5EF4-FFF2-40B4-BE49-F238E27FC236}">
                <a16:creationId xmlns:a16="http://schemas.microsoft.com/office/drawing/2014/main" id="{B87F9C7E-C659-454B-8861-3FE90FD96025}"/>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4. Lancer et vérifier</a:t>
            </a:r>
          </a:p>
        </p:txBody>
      </p:sp>
      <p:sp>
        <p:nvSpPr>
          <p:cNvPr id="6" name="Capture de l’application réelle avec six prospects fict">
            <a:extLst xmlns:a="http://schemas.openxmlformats.org/drawingml/2006/main">
              <a:ext uri="{FF2B5EF4-FFF2-40B4-BE49-F238E27FC236}">
                <a16:creationId xmlns:a16="http://schemas.microsoft.com/office/drawing/2014/main" id="{76B6FEE7-F40E-4630-BC7F-7A3DF08F4A3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418214357"/>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1" name="ADG-10  /  AUTOMATISATION DU CYCLE COMMERCIAL">
            <a:extLst xmlns:a="http://schemas.openxmlformats.org/drawingml/2006/main">
              <a:ext uri="{FF2B5EF4-FFF2-40B4-BE49-F238E27FC236}">
                <a16:creationId xmlns:a16="http://schemas.microsoft.com/office/drawing/2014/main" id="{89519B33-9A26-43E4-99AF-A809AEA79FC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9 / 22">
            <a:extLst xmlns:a="http://schemas.openxmlformats.org/drawingml/2006/main">
              <a:ext uri="{FF2B5EF4-FFF2-40B4-BE49-F238E27FC236}">
                <a16:creationId xmlns:a16="http://schemas.microsoft.com/office/drawing/2014/main" id="{155998FF-2068-4067-9BA0-3F491E543AA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19 / 22</a:t>
            </a:r>
          </a:p>
        </p:txBody>
      </p:sp>
      <p:sp>
        <p:nvSpPr>
          <p:cNvPr id="3" name="Documents et communications">
            <a:extLst xmlns:a="http://schemas.openxmlformats.org/drawingml/2006/main">
              <a:ext uri="{FF2B5EF4-FFF2-40B4-BE49-F238E27FC236}">
                <a16:creationId xmlns:a16="http://schemas.microsoft.com/office/drawing/2014/main" id="{DEA94F13-C694-4248-A245-2B3EF56D7AE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6dea1daff34f41"/>
          <a:stretch xmlns:a="http://schemas.openxmlformats.org/drawingml/2006/main"/>
        </p:blipFill>
        <p:spPr>
          <a:xfrm xmlns:a="http://schemas.openxmlformats.org/drawingml/2006/main">
            <a:off x="1719395" y="3067050"/>
            <a:ext cx="3704960" cy="52387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a5069a60254102"/>
          <a:stretch xmlns:a="http://schemas.openxmlformats.org/drawingml/2006/main"/>
        </p:blipFill>
        <p:spPr>
          <a:xfrm xmlns:a="http://schemas.openxmlformats.org/drawingml/2006/main">
            <a:off x="6720020" y="3067050"/>
            <a:ext cx="3704960" cy="5238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fb07d56c784c97"/>
          <a:stretch xmlns:a="http://schemas.openxmlformats.org/drawingml/2006/main"/>
        </p:blipFill>
        <p:spPr>
          <a:xfrm xmlns:a="http://schemas.openxmlformats.org/drawingml/2006/main">
            <a:off x="11720645" y="3067050"/>
            <a:ext cx="3704960" cy="5238750"/>
          </a:xfrm>
          <a:prstGeom xmlns:a="http://schemas.openxmlformats.org/drawingml/2006/main" prst="rect">
            <a:avLst/>
          </a:prstGeom>
        </p:spPr>
      </p:pic>
      <p:sp>
        <p:nvSpPr>
          <p:cNvPr id="7" name="Proposition">
            <a:extLst xmlns:a="http://schemas.openxmlformats.org/drawingml/2006/main">
              <a:ext uri="{FF2B5EF4-FFF2-40B4-BE49-F238E27FC236}">
                <a16:creationId xmlns:a16="http://schemas.microsoft.com/office/drawing/2014/main" id="{88259EB2-6DB9-4415-8711-E7F2EC9012CC}"/>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Proposition</a:t>
            </a:r>
          </a:p>
        </p:txBody>
      </p:sp>
      <p:sp>
        <p:nvSpPr>
          <p:cNvPr id="8" name="Convention">
            <a:extLst xmlns:a="http://schemas.openxmlformats.org/drawingml/2006/main">
              <a:ext uri="{FF2B5EF4-FFF2-40B4-BE49-F238E27FC236}">
                <a16:creationId xmlns:a16="http://schemas.microsoft.com/office/drawing/2014/main" id="{78A2ACF0-F22B-4E4B-87DC-49F559303F07}"/>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Convention</a:t>
            </a:r>
          </a:p>
        </p:txBody>
      </p:sp>
      <p:sp>
        <p:nvSpPr>
          <p:cNvPr id="9" name="Facture">
            <a:extLst xmlns:a="http://schemas.openxmlformats.org/drawingml/2006/main">
              <a:ext uri="{FF2B5EF4-FFF2-40B4-BE49-F238E27FC236}">
                <a16:creationId xmlns:a16="http://schemas.microsoft.com/office/drawing/2014/main" id="{00619576-1AD9-4795-8273-B6CA2FF0F1A1}"/>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Facture</a:t>
            </a:r>
          </a:p>
        </p:txBody>
      </p:sp>
      <p:sp>
        <p:nvSpPr>
          <p:cNvPr id="10" name="Exemples fictifs. L’équipe doit valider les données com">
            <a:extLst xmlns:a="http://schemas.openxmlformats.org/drawingml/2006/main">
              <a:ext uri="{FF2B5EF4-FFF2-40B4-BE49-F238E27FC236}">
                <a16:creationId xmlns:a16="http://schemas.microsoft.com/office/drawing/2014/main" id="{E6B2FDF2-A825-4FBD-BA42-50656A92ABFA}"/>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620449923"/>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21990199-4756-4D3D-9DE8-AC16FD7ED5B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0 / 22">
            <a:extLst xmlns:a="http://schemas.openxmlformats.org/drawingml/2006/main">
              <a:ext uri="{FF2B5EF4-FFF2-40B4-BE49-F238E27FC236}">
                <a16:creationId xmlns:a16="http://schemas.microsoft.com/office/drawing/2014/main" id="{5EAFA298-D467-4E27-A52F-ED735177867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20 / 22</a:t>
            </a:r>
          </a:p>
        </p:txBody>
      </p:sp>
      <p:sp>
        <p:nvSpPr>
          <p:cNvPr id="3" name="Résultats et validation">
            <a:extLst xmlns:a="http://schemas.openxmlformats.org/drawingml/2006/main">
              <a:ext uri="{FF2B5EF4-FFF2-40B4-BE49-F238E27FC236}">
                <a16:creationId xmlns:a16="http://schemas.microsoft.com/office/drawing/2014/main" id="{06BF7B6B-B098-4874-A30E-2E847DFDBFE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4" name="11 tests métier réussis">
            <a:extLst xmlns:a="http://schemas.openxmlformats.org/drawingml/2006/main">
              <a:ext uri="{FF2B5EF4-FFF2-40B4-BE49-F238E27FC236}">
                <a16:creationId xmlns:a16="http://schemas.microsoft.com/office/drawing/2014/main" id="{2A7F237F-E6DD-4ED9-BC2E-F3E0FAD09AF8}"/>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D2AB7D"/>
                </a:solidFill>
                <a:latin typeface="Calibri"/>
                <a:ea typeface="Calibri"/>
                <a:cs typeface="Calibri"/>
              </a:defRPr>
            </a:pPr>
            <a:r>
              <a:rPr sz="4800" b="1">
                <a:solidFill>
                  <a:srgbClr val="D2AB7D"/>
                </a:solidFill>
                <a:latin typeface="Calibri"/>
                <a:ea typeface="Calibri"/>
                <a:cs typeface="Calibri"/>
              </a:rPr>
              <a:t>11 tests métier réussis</a:t>
            </a:r>
          </a:p>
        </p:txBody>
      </p:sp>
      <p:sp>
        <p:nvSpPr>
          <p:cNvPr id="5" name="01">
            <a:extLst xmlns:a="http://schemas.openxmlformats.org/drawingml/2006/main">
              <a:ext uri="{FF2B5EF4-FFF2-40B4-BE49-F238E27FC236}">
                <a16:creationId xmlns:a16="http://schemas.microsoft.com/office/drawing/2014/main" id="{A8920052-17DE-443D-99DF-5F91E0E3BCE0}"/>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6" name="Scoring, routage et sélection de la formation.">
            <a:extLst xmlns:a="http://schemas.openxmlformats.org/drawingml/2006/main">
              <a:ext uri="{FF2B5EF4-FFF2-40B4-BE49-F238E27FC236}">
                <a16:creationId xmlns:a16="http://schemas.microsoft.com/office/drawing/2014/main" id="{1FE357ED-6E15-4212-A30C-FD3331A16B52}"/>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Scoring, routage et sélection de la formation.</a:t>
            </a:r>
          </a:p>
        </p:txBody>
      </p:sp>
      <p:sp>
        <p:nvSpPr>
          <p:cNvPr id="7" name="02">
            <a:extLst xmlns:a="http://schemas.openxmlformats.org/drawingml/2006/main">
              <a:ext uri="{FF2B5EF4-FFF2-40B4-BE49-F238E27FC236}">
                <a16:creationId xmlns:a16="http://schemas.microsoft.com/office/drawing/2014/main" id="{3305C53C-16AB-418A-A569-8B55A8BDA994}"/>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8" name="Prix, références et numérotation des documents.">
            <a:extLst xmlns:a="http://schemas.openxmlformats.org/drawingml/2006/main">
              <a:ext uri="{FF2B5EF4-FFF2-40B4-BE49-F238E27FC236}">
                <a16:creationId xmlns:a16="http://schemas.microsoft.com/office/drawing/2014/main" id="{EFD65A99-ADB2-4AAB-8435-8C31968C154D}"/>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Prix, références et numérotation des documents.</a:t>
            </a:r>
          </a:p>
        </p:txBody>
      </p:sp>
      <p:sp>
        <p:nvSpPr>
          <p:cNvPr id="9" name="03">
            <a:extLst xmlns:a="http://schemas.openxmlformats.org/drawingml/2006/main">
              <a:ext uri="{FF2B5EF4-FFF2-40B4-BE49-F238E27FC236}">
                <a16:creationId xmlns:a16="http://schemas.microsoft.com/office/drawing/2014/main" id="{823EDE3A-610D-4A96-B98C-861ABC4BA5CF}"/>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10" name="Journal d’envoi, reprise CRM et erreurs contrôlées.">
            <a:extLst xmlns:a="http://schemas.openxmlformats.org/drawingml/2006/main">
              <a:ext uri="{FF2B5EF4-FFF2-40B4-BE49-F238E27FC236}">
                <a16:creationId xmlns:a16="http://schemas.microsoft.com/office/drawing/2014/main" id="{EEE4361D-52AB-4F6D-AB9F-B94572456748}"/>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Journal d’envoi, reprise CRM et erreurs contrôlées.</a:t>
            </a:r>
          </a:p>
        </p:txBody>
      </p:sp>
      <p:sp>
        <p:nvSpPr>
          <p:cNvPr id="11" name="28 fichiers Python analysés. Aucun conflit de dépendanc">
            <a:extLst xmlns:a="http://schemas.openxmlformats.org/drawingml/2006/main">
              <a:ext uri="{FF2B5EF4-FFF2-40B4-BE49-F238E27FC236}">
                <a16:creationId xmlns:a16="http://schemas.microsoft.com/office/drawing/2014/main" id="{44B6638D-0EBE-49E0-9274-07E9D7F650EF}"/>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F1EBDD"/>
                </a:solidFill>
                <a:latin typeface="Calibri"/>
                <a:ea typeface="Calibri"/>
                <a:cs typeface="Calibri"/>
              </a:defRPr>
            </a:pPr>
            <a:r>
              <a:rPr sz="2550" b="0">
                <a:solidFill>
                  <a:srgbClr val="F1EBDD"/>
                </a:solidFill>
                <a:latin typeface="Calibri"/>
                <a:ea typeface="Calibri"/>
                <a:cs typeface="Calibri"/>
              </a:rPr>
              <a:t>28 fichiers Python analysés. Aucun conflit de dépendances détecté.</a:t>
            </a:r>
          </a:p>
        </p:txBody>
      </p:sp>
      <p:sp>
        <p:nvSpPr>
          <p:cNvPr id="12" name="Vérifications locales du 17 septembre 2026. Les service">
            <a:extLst xmlns:a="http://schemas.openxmlformats.org/drawingml/2006/main">
              <a:ext uri="{FF2B5EF4-FFF2-40B4-BE49-F238E27FC236}">
                <a16:creationId xmlns:a16="http://schemas.microsoft.com/office/drawing/2014/main" id="{08F8DCEF-2E96-4C3B-B0A5-94F70C6C1196}"/>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418186825"/>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354D95A1-1817-462E-9F89-61B2E8868D0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1 / 22">
            <a:extLst xmlns:a="http://schemas.openxmlformats.org/drawingml/2006/main">
              <a:ext uri="{FF2B5EF4-FFF2-40B4-BE49-F238E27FC236}">
                <a16:creationId xmlns:a16="http://schemas.microsoft.com/office/drawing/2014/main" id="{D8F54BC4-6BFB-4E2B-9863-34BD2AA866E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21 / 22</a:t>
            </a:r>
          </a:p>
        </p:txBody>
      </p:sp>
      <p:sp>
        <p:nvSpPr>
          <p:cNvPr id="3" name="Limites et perspectives">
            <a:extLst xmlns:a="http://schemas.openxmlformats.org/drawingml/2006/main">
              <a:ext uri="{FF2B5EF4-FFF2-40B4-BE49-F238E27FC236}">
                <a16:creationId xmlns:a16="http://schemas.microsoft.com/office/drawing/2014/main" id="{06E049E9-6610-4C3F-84A2-1B9057BD316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9"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D2AB7D"/>
                          </a:solidFill>
                          <a:latin typeface="Calibri"/>
                          <a:ea typeface="Calibri"/>
                          <a:cs typeface="Calibri"/>
                        </a:rPr>
                        <a:t>Priorité</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Amélioration attendue</a:t>
                      </a:r>
                    </a:p>
                  </a:txBody>
                  <a:tcPr marL="91440" marR="91440" marT="45720" marB="45720" anchor="ctr">
                    <a:solidFill>
                      <a:srgbClr val="1F303E"/>
                    </a:solidFill>
                  </a:tcPr>
                </a:tc>
              </a:tr>
              <a:tr h="825500">
                <a:tc>
                  <a:txBody>
                    <a:bodyPr lIns="190500" tIns="114300" rIns="190500" bIns="114300"/>
                    <a:lstStyle/>
                    <a:p>
                      <a:r>
                        <a:rPr sz="2625" b="0">
                          <a:solidFill>
                            <a:srgbClr val="F1EBDD"/>
                          </a:solidFill>
                          <a:latin typeface="Calibri"/>
                          <a:ea typeface="Calibri"/>
                          <a:cs typeface="Calibri"/>
                        </a:rPr>
                        <a:t>Fiabilité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Formation obligatoire, prix structurés, règles de TVA validées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Exploitation</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Planification, rattrapage des échéances, suivi des réponses</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Sécurité</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Accès authentifié, gestion des secrets et des habilitations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Montée en charge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Journal central, verrouillage et tests de concurrence</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Périmètre</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Publication sociale E3 et suivi après-vente</a:t>
                      </a:r>
                    </a:p>
                  </a:txBody>
                  <a:tcPr marL="91440" marR="91440" marT="45720" marB="45720" anchor="ctr">
                    <a:solidFill>
                      <a:srgbClr val="344B5E"/>
                    </a:solidFill>
                  </a:tcPr>
                </a:tc>
              </a:tr>
            </a:tbl>
          </a:graphicData>
        </a:graphic>
      </p:graphicFrame>
      <p:sp>
        <p:nvSpPr>
          <p:cNvPr id="5" name="Priorité : fiabiliser les parcours existants avant d’aj">
            <a:extLst xmlns:a="http://schemas.openxmlformats.org/drawingml/2006/main">
              <a:ext uri="{FF2B5EF4-FFF2-40B4-BE49-F238E27FC236}">
                <a16:creationId xmlns:a16="http://schemas.microsoft.com/office/drawing/2014/main" id="{FB760D53-BDD2-4F80-9180-8B5DB9ED0D43}"/>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506647108"/>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263822ca83434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E9D9715-65D2-4F94-A0DE-D7FF486B2A4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80583E80-DBD7-4953-9D59-2B21EC4FC25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1C37E530-9846-4CB6-8AFA-1B57A01AE917}"/>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D8C8867D-2DDB-4079-B335-C6514BD4270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F41333B7-F692-4E2C-9582-2F33B9D108CE}"/>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8708EA53-0290-4F0B-9261-71880D1B8D8B}"/>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D2AB7D"/>
                </a:solidFill>
                <a:latin typeface="Calibri"/>
                <a:ea typeface="Calibri"/>
                <a:cs typeface="Calibri"/>
              </a:defRPr>
            </a:pPr>
            <a:r>
              <a:rPr sz="3300" b="1">
                <a:solidFill>
                  <a:srgbClr val="D2AB7D"/>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96F17BC8-6CE5-4076-A92D-09695BABEB6B}"/>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1685346244"/>
      </p:ext>
    </p:extLst>
  </p:cSld>
  <p:transition spd="med" advClick="1">
    <p:push dir="l"/>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2026-09-23T20:34:06.1460000Z</dcterms:created>
  <dcterms:modified xsi:type="dcterms:W3CDTF">2026-09-23T20:34:06.1460000Z</dcterms:modified>
</coreProperties>
</file>