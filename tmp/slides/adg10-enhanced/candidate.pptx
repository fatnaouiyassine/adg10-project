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9b88ee774341d4" /><Relationship Type="http://schemas.openxmlformats.org/officeDocument/2006/relationships/extended-properties" Target="/docProps/app.xml" Id="Rbfb16f50ff3f49a3" /><Relationship Type="http://schemas.openxmlformats.org/officeDocument/2006/relationships/officeDocument" Target="/ppt/presentation.xml" Id="Rcb9d0c31e275434d" /></Relationships>
</file>

<file path=ppt/presentation.xml><?xml version="1.0" encoding="utf-8"?>
<p:presentation xmlns:p="http://schemas.openxmlformats.org/presentationml/2006/main">
  <p:sldMasterIdLst>
    <p:sldMasterId xmlns:r="http://schemas.openxmlformats.org/officeDocument/2006/relationships" id="2147483648" r:id="Rb79e7443581c495b"/>
  </p:sldMasterIdLst>
  <p:notesMasterIdLst>
    <p:notesMasterId xmlns:r="http://schemas.openxmlformats.org/officeDocument/2006/relationships" r:id="R856d5e8390004b8b"/>
  </p:notesMasterIdLst>
  <p:sldIdLst>
    <p:sldId xmlns:r="http://schemas.openxmlformats.org/officeDocument/2006/relationships" id="256" r:id="R8f828c416e464092"/>
    <p:sldId xmlns:r="http://schemas.openxmlformats.org/officeDocument/2006/relationships" id="257" r:id="Raf6536fab63644ec"/>
    <p:sldId xmlns:r="http://schemas.openxmlformats.org/officeDocument/2006/relationships" id="258" r:id="R4b0171c7ab224c22"/>
    <p:sldId xmlns:r="http://schemas.openxmlformats.org/officeDocument/2006/relationships" id="259" r:id="Rcee258ae957d451b"/>
    <p:sldId xmlns:r="http://schemas.openxmlformats.org/officeDocument/2006/relationships" id="260" r:id="R9f5b8f701ee64a0b"/>
    <p:sldId xmlns:r="http://schemas.openxmlformats.org/officeDocument/2006/relationships" id="261" r:id="Rd6cfe1e3edda4592"/>
    <p:sldId xmlns:r="http://schemas.openxmlformats.org/officeDocument/2006/relationships" id="262" r:id="R9b153cdffa35430c"/>
    <p:sldId xmlns:r="http://schemas.openxmlformats.org/officeDocument/2006/relationships" id="263" r:id="Ra9ad3ebe080a419f"/>
    <p:sldId xmlns:r="http://schemas.openxmlformats.org/officeDocument/2006/relationships" id="264" r:id="R8dfcf0b487514b03"/>
    <p:sldId xmlns:r="http://schemas.openxmlformats.org/officeDocument/2006/relationships" id="265" r:id="R4f0476547eb648ee"/>
    <p:sldId xmlns:r="http://schemas.openxmlformats.org/officeDocument/2006/relationships" id="266" r:id="Rc0db73958eae42b6"/>
    <p:sldId xmlns:r="http://schemas.openxmlformats.org/officeDocument/2006/relationships" id="267" r:id="R6c6048bd5638416e"/>
    <p:sldId xmlns:r="http://schemas.openxmlformats.org/officeDocument/2006/relationships" id="268" r:id="R25f4ccd1991f49a9"/>
    <p:sldId xmlns:r="http://schemas.openxmlformats.org/officeDocument/2006/relationships" id="269" r:id="R1e9966dc38714624"/>
    <p:sldId xmlns:r="http://schemas.openxmlformats.org/officeDocument/2006/relationships" id="270" r:id="Rbb9cb1aa9ab742e4"/>
    <p:sldId xmlns:r="http://schemas.openxmlformats.org/officeDocument/2006/relationships" id="271" r:id="R9f2a61faf3144c10"/>
    <p:sldId xmlns:r="http://schemas.openxmlformats.org/officeDocument/2006/relationships" id="272" r:id="R8974ff5d0cb84947"/>
    <p:sldId xmlns:r="http://schemas.openxmlformats.org/officeDocument/2006/relationships" id="273" r:id="R6b53c4e499a84564"/>
    <p:sldId xmlns:r="http://schemas.openxmlformats.org/officeDocument/2006/relationships" id="274" r:id="R8bd5eda7d8bd4442"/>
    <p:sldId xmlns:r="http://schemas.openxmlformats.org/officeDocument/2006/relationships" id="275" r:id="Rfdcce280149a446f"/>
    <p:sldId xmlns:r="http://schemas.openxmlformats.org/officeDocument/2006/relationships" id="276" r:id="R42372bb4f171445f"/>
    <p:sldId xmlns:r="http://schemas.openxmlformats.org/officeDocument/2006/relationships" id="277" r:id="Re30fedb8a70e47b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20a1f9a59a4a08" /><Relationship Type="http://schemas.openxmlformats.org/officeDocument/2006/relationships/slideMaster" Target="/ppt/slideMasters/slideMaster1.xml" Id="Rb79e7443581c495b" /><Relationship Type="http://schemas.openxmlformats.org/officeDocument/2006/relationships/notesMaster" Target="/ppt/notesMasters/notesMaster1.xml" Id="R856d5e8390004b8b" /><Relationship Type="http://schemas.openxmlformats.org/officeDocument/2006/relationships/presProps" Target="/ppt/presProps.xml" Id="R6d13f43822934558" /><Relationship Type="http://schemas.openxmlformats.org/officeDocument/2006/relationships/tableStyles" Target="/ppt/tableStyles.xml" Id="R67684b094de64356" /><Relationship Type="http://schemas.openxmlformats.org/officeDocument/2006/relationships/slide" Target="/ppt/slides/slide1.xml" Id="R8f828c416e464092" /><Relationship Type="http://schemas.openxmlformats.org/officeDocument/2006/relationships/slide" Target="/ppt/slides/slide2.xml" Id="Raf6536fab63644ec" /><Relationship Type="http://schemas.openxmlformats.org/officeDocument/2006/relationships/slide" Target="/ppt/slides/slide3.xml" Id="R4b0171c7ab224c22" /><Relationship Type="http://schemas.openxmlformats.org/officeDocument/2006/relationships/slide" Target="/ppt/slides/slide4.xml" Id="Rcee258ae957d451b" /><Relationship Type="http://schemas.openxmlformats.org/officeDocument/2006/relationships/slide" Target="/ppt/slides/slide5.xml" Id="R9f5b8f701ee64a0b" /><Relationship Type="http://schemas.openxmlformats.org/officeDocument/2006/relationships/slide" Target="/ppt/slides/slide6.xml" Id="Rd6cfe1e3edda4592" /><Relationship Type="http://schemas.openxmlformats.org/officeDocument/2006/relationships/slide" Target="/ppt/slides/slide7.xml" Id="R9b153cdffa35430c" /><Relationship Type="http://schemas.openxmlformats.org/officeDocument/2006/relationships/slide" Target="/ppt/slides/slide8.xml" Id="Ra9ad3ebe080a419f" /><Relationship Type="http://schemas.openxmlformats.org/officeDocument/2006/relationships/slide" Target="/ppt/slides/slide9.xml" Id="R8dfcf0b487514b03" /><Relationship Type="http://schemas.openxmlformats.org/officeDocument/2006/relationships/slide" Target="/ppt/slides/slide10.xml" Id="R4f0476547eb648ee" /><Relationship Type="http://schemas.openxmlformats.org/officeDocument/2006/relationships/slide" Target="/ppt/slides/slide11.xml" Id="Rc0db73958eae42b6" /><Relationship Type="http://schemas.openxmlformats.org/officeDocument/2006/relationships/slide" Target="/ppt/slides/slide12.xml" Id="R6c6048bd5638416e" /><Relationship Type="http://schemas.openxmlformats.org/officeDocument/2006/relationships/slide" Target="/ppt/slides/slide13.xml" Id="R25f4ccd1991f49a9" /><Relationship Type="http://schemas.openxmlformats.org/officeDocument/2006/relationships/slide" Target="/ppt/slides/slide14.xml" Id="R1e9966dc38714624" /><Relationship Type="http://schemas.openxmlformats.org/officeDocument/2006/relationships/slide" Target="/ppt/slides/slide15.xml" Id="Rbb9cb1aa9ab742e4" /><Relationship Type="http://schemas.openxmlformats.org/officeDocument/2006/relationships/slide" Target="/ppt/slides/slide16.xml" Id="R9f2a61faf3144c10" /><Relationship Type="http://schemas.openxmlformats.org/officeDocument/2006/relationships/slide" Target="/ppt/slides/slide17.xml" Id="R8974ff5d0cb84947" /><Relationship Type="http://schemas.openxmlformats.org/officeDocument/2006/relationships/slide" Target="/ppt/slides/slide18.xml" Id="R6b53c4e499a84564" /><Relationship Type="http://schemas.openxmlformats.org/officeDocument/2006/relationships/slide" Target="/ppt/slides/slide19.xml" Id="R8bd5eda7d8bd4442" /><Relationship Type="http://schemas.openxmlformats.org/officeDocument/2006/relationships/slide" Target="/ppt/slides/slide20.xml" Id="Rfdcce280149a446f" /><Relationship Type="http://schemas.openxmlformats.org/officeDocument/2006/relationships/slide" Target="/ppt/slides/slide21.xml" Id="R42372bb4f171445f" /><Relationship Type="http://schemas.openxmlformats.org/officeDocument/2006/relationships/slide" Target="/ppt/slides/slide22.xml" Id="Re30fedb8a70e47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8098b5cf474a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1d0d1679464a0f" /><Relationship Type="http://schemas.openxmlformats.org/officeDocument/2006/relationships/notesMaster" Target="/ppt/notesMasters/notesMaster1.xml" Id="R427095234e6b4d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5b741986184345" /><Relationship Type="http://schemas.openxmlformats.org/officeDocument/2006/relationships/notesMaster" Target="/ppt/notesMasters/notesMaster1.xml" Id="R72d3b8e2915b4d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51c0aeb43c1463c" /><Relationship Type="http://schemas.openxmlformats.org/officeDocument/2006/relationships/notesMaster" Target="/ppt/notesMasters/notesMaster1.xml" Id="R3b2093c3f4ff4b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c5d4dab61a4a37" /><Relationship Type="http://schemas.openxmlformats.org/officeDocument/2006/relationships/notesMaster" Target="/ppt/notesMasters/notesMaster1.xml" Id="Rb9c50f2c3cd94d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e259aed89754677" /><Relationship Type="http://schemas.openxmlformats.org/officeDocument/2006/relationships/notesMaster" Target="/ppt/notesMasters/notesMaster1.xml" Id="R04731dbea3684d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e36497647f4cfe" /><Relationship Type="http://schemas.openxmlformats.org/officeDocument/2006/relationships/notesMaster" Target="/ppt/notesMasters/notesMaster1.xml" Id="Rdcd2e5613f9946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07c518f0cf4388" /><Relationship Type="http://schemas.openxmlformats.org/officeDocument/2006/relationships/notesMaster" Target="/ppt/notesMasters/notesMaster1.xml" Id="R0a6615f2d5ef4a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10f12013a7b4944" /><Relationship Type="http://schemas.openxmlformats.org/officeDocument/2006/relationships/notesMaster" Target="/ppt/notesMasters/notesMaster1.xml" Id="R607c2316c05041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86fd7dd400402e" /><Relationship Type="http://schemas.openxmlformats.org/officeDocument/2006/relationships/notesMaster" Target="/ppt/notesMasters/notesMaster1.xml" Id="R0c298fbb7d5043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bb369cd1e5442f" /><Relationship Type="http://schemas.openxmlformats.org/officeDocument/2006/relationships/notesMaster" Target="/ppt/notesMasters/notesMaster1.xml" Id="Rc6e532fefa1345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86120f51d34127" /><Relationship Type="http://schemas.openxmlformats.org/officeDocument/2006/relationships/notesMaster" Target="/ppt/notesMasters/notesMaster1.xml" Id="R84b6e268503a40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88816955dd54f0c" /><Relationship Type="http://schemas.openxmlformats.org/officeDocument/2006/relationships/notesMaster" Target="/ppt/notesMasters/notesMaster1.xml" Id="Rad32627079a146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93732fc26f4bd4" /><Relationship Type="http://schemas.openxmlformats.org/officeDocument/2006/relationships/notesMaster" Target="/ppt/notesMasters/notesMaster1.xml" Id="R9bc3000163614da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54a86cbc774df2" /><Relationship Type="http://schemas.openxmlformats.org/officeDocument/2006/relationships/notesMaster" Target="/ppt/notesMasters/notesMaster1.xml" Id="R22034335804c4bf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ee37913746b42dc" /><Relationship Type="http://schemas.openxmlformats.org/officeDocument/2006/relationships/notesMaster" Target="/ppt/notesMasters/notesMaster1.xml" Id="R5c52f9f16b3c4d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78b5d1002584c61" /><Relationship Type="http://schemas.openxmlformats.org/officeDocument/2006/relationships/notesMaster" Target="/ppt/notesMasters/notesMaster1.xml" Id="Re2e8c8c4139a4c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1caa2a828754836" /><Relationship Type="http://schemas.openxmlformats.org/officeDocument/2006/relationships/notesMaster" Target="/ppt/notesMasters/notesMaster1.xml" Id="R9f7797543eb34fe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b6e989968124f85" /><Relationship Type="http://schemas.openxmlformats.org/officeDocument/2006/relationships/notesMaster" Target="/ppt/notesMasters/notesMaster1.xml" Id="Rbb329a01497b45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678995c045844b4" /><Relationship Type="http://schemas.openxmlformats.org/officeDocument/2006/relationships/notesMaster" Target="/ppt/notesMasters/notesMaster1.xml" Id="R80cd7c81030f412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8e0c30a40744f8" /><Relationship Type="http://schemas.openxmlformats.org/officeDocument/2006/relationships/notesMaster" Target="/ppt/notesMasters/notesMaster1.xml" Id="R87297ede8c384d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0fe7cdcf904776" /><Relationship Type="http://schemas.openxmlformats.org/officeDocument/2006/relationships/notesMaster" Target="/ppt/notesMasters/notesMaster1.xml" Id="Ra8ad4d6074754c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9dad2430b294f42" /><Relationship Type="http://schemas.openxmlformats.org/officeDocument/2006/relationships/notesMaster" Target="/ppt/notesMasters/notesMaster1.xml" Id="R47d5425f16c645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1f4d931183478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6821af48441f0" /><Relationship Type="http://schemas.openxmlformats.org/officeDocument/2006/relationships/slideLayout" Target="/ppt/slideLayouts/slideLayout1.xml" Id="Rbc9b8c23cc1f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9b8c23cc1f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65aaba097874760" /><Relationship Type="http://schemas.openxmlformats.org/officeDocument/2006/relationships/image" Target="/ppt/media/image.png" Id="Raba3ce7591b443c9" /><Relationship Type="http://schemas.openxmlformats.org/officeDocument/2006/relationships/notesSlide" Target="/ppt/notesSlides/notesSlide1.xml" Id="Rb860d829c0524d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858ca50b3d4acb" /><Relationship Type="http://schemas.openxmlformats.org/officeDocument/2006/relationships/image" Target="/ppt/media/image2.png" Id="R9103733c5a7c40fb" /><Relationship Type="http://schemas.openxmlformats.org/officeDocument/2006/relationships/notesSlide" Target="/ppt/notesSlides/notesSlide2.xml" Id="R2a6e62af314c4d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05ffd5a17c42e2" /><Relationship Type="http://schemas.openxmlformats.org/officeDocument/2006/relationships/image" Target="/ppt/media/image3.png" Id="Ra8700bf8b6d64435" /><Relationship Type="http://schemas.openxmlformats.org/officeDocument/2006/relationships/notesSlide" Target="/ppt/notesSlides/notesSlide3.xml" Id="R10cb956f894b43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fa38a5425a4e6f" /><Relationship Type="http://schemas.openxmlformats.org/officeDocument/2006/relationships/image" Target="/ppt/media/image4.png" Id="Raaf3370920b74feb" /><Relationship Type="http://schemas.openxmlformats.org/officeDocument/2006/relationships/notesSlide" Target="/ppt/notesSlides/notesSlide4.xml" Id="Rfdfc76d1cfeb40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8afc25be5c4c3b" /><Relationship Type="http://schemas.openxmlformats.org/officeDocument/2006/relationships/image" Target="/ppt/media/image5.png" Id="R1f94cb75758a4993" /><Relationship Type="http://schemas.openxmlformats.org/officeDocument/2006/relationships/notesSlide" Target="/ppt/notesSlides/notesSlide5.xml" Id="Ra30d9dac81bb4d1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df27c57791423a" /><Relationship Type="http://schemas.openxmlformats.org/officeDocument/2006/relationships/image" Target="/ppt/media/image6.png" Id="R7e15a86e11cc4574" /><Relationship Type="http://schemas.openxmlformats.org/officeDocument/2006/relationships/notesSlide" Target="/ppt/notesSlides/notesSlide6.xml" Id="Rba96e5ecb97548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717f00918443b6" /><Relationship Type="http://schemas.openxmlformats.org/officeDocument/2006/relationships/image" Target="/ppt/media/image7.png" Id="R89fd62f060374cdd" /><Relationship Type="http://schemas.openxmlformats.org/officeDocument/2006/relationships/notesSlide" Target="/ppt/notesSlides/notesSlide7.xml" Id="R29ef994ba49a42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2be6ee97154386" /><Relationship Type="http://schemas.openxmlformats.org/officeDocument/2006/relationships/image" Target="/ppt/media/image8.png" Id="R4c991c9d9bb040f1" /><Relationship Type="http://schemas.openxmlformats.org/officeDocument/2006/relationships/notesSlide" Target="/ppt/notesSlides/notesSlide8.xml" Id="R51ad7c5d690d42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6503cef2cf464a" /><Relationship Type="http://schemas.openxmlformats.org/officeDocument/2006/relationships/image" Target="/ppt/media/image9.png" Id="R26959d3ececc4801" /><Relationship Type="http://schemas.openxmlformats.org/officeDocument/2006/relationships/notesSlide" Target="/ppt/notesSlides/notesSlide9.xml" Id="R1fbbcda20aa74d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57b939595046e2" /><Relationship Type="http://schemas.openxmlformats.org/officeDocument/2006/relationships/image" Target="/ppt/media/image10.png" Id="R43998413e56e4777" /><Relationship Type="http://schemas.openxmlformats.org/officeDocument/2006/relationships/notesSlide" Target="/ppt/notesSlides/notesSlide10.xml" Id="Ra48bb70afb8345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b6956cc79704e72" /><Relationship Type="http://schemas.openxmlformats.org/officeDocument/2006/relationships/image" Target="/ppt/media/image11.png" Id="Rbd87c7b3f02548c9" /><Relationship Type="http://schemas.openxmlformats.org/officeDocument/2006/relationships/notesSlide" Target="/ppt/notesSlides/notesSlide11.xml" Id="R68e886ff908e41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b2115b1450944b3" /><Relationship Type="http://schemas.openxmlformats.org/officeDocument/2006/relationships/image" Target="/ppt/media/image12.png" Id="R857b001e3048403a" /><Relationship Type="http://schemas.openxmlformats.org/officeDocument/2006/relationships/notesSlide" Target="/ppt/notesSlides/notesSlide12.xml" Id="R46c97e7db663416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287423d7614bc1" /><Relationship Type="http://schemas.openxmlformats.org/officeDocument/2006/relationships/image" Target="/ppt/media/image13.png" Id="R698e485693fe4847" /><Relationship Type="http://schemas.openxmlformats.org/officeDocument/2006/relationships/chart" Target="/ppt/slides/charts/chart1.xml" Id="R7d470a21781d4565" /><Relationship Type="http://schemas.openxmlformats.org/officeDocument/2006/relationships/notesSlide" Target="/ppt/notesSlides/notesSlide13.xml" Id="R749eb63527b44e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746edb8d6334013" /><Relationship Type="http://schemas.openxmlformats.org/officeDocument/2006/relationships/image" Target="/ppt/media/image14.png" Id="R10d01a8f58cc403c" /><Relationship Type="http://schemas.openxmlformats.org/officeDocument/2006/relationships/notesSlide" Target="/ppt/notesSlides/notesSlide14.xml" Id="R2cf3b557d882415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7ce38b104344e5" /><Relationship Type="http://schemas.openxmlformats.org/officeDocument/2006/relationships/image" Target="/ppt/media/image15.png" Id="R46effed295614bc5" /><Relationship Type="http://schemas.openxmlformats.org/officeDocument/2006/relationships/notesSlide" Target="/ppt/notesSlides/notesSlide15.xml" Id="R45f8017ae4e440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fad965cac6c4db7" /><Relationship Type="http://schemas.openxmlformats.org/officeDocument/2006/relationships/image" Target="/ppt/media/image16.png" Id="R4c9fb7c12ecf4d59" /><Relationship Type="http://schemas.openxmlformats.org/officeDocument/2006/relationships/notesSlide" Target="/ppt/notesSlides/notesSlide16.xml" Id="R4485e5b0c9f342b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79854df61d4817" /><Relationship Type="http://schemas.openxmlformats.org/officeDocument/2006/relationships/image" Target="/ppt/media/image17.png" Id="R745c14942378492c" /><Relationship Type="http://schemas.openxmlformats.org/officeDocument/2006/relationships/notesSlide" Target="/ppt/notesSlides/notesSlide17.xml" Id="Rd073ec13b18242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42111968e6b4a38" /><Relationship Type="http://schemas.openxmlformats.org/officeDocument/2006/relationships/image" Target="/ppt/media/image18.png" Id="R89f54c635b5346b8" /><Relationship Type="http://schemas.openxmlformats.org/officeDocument/2006/relationships/image" Target="/ppt/media/image.jpeg" Id="R897ad343c28740b5" /><Relationship Type="http://schemas.openxmlformats.org/officeDocument/2006/relationships/notesSlide" Target="/ppt/notesSlides/notesSlide18.xml" Id="R8156c30a6c57485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e39e8bce34e4434" /><Relationship Type="http://schemas.openxmlformats.org/officeDocument/2006/relationships/image" Target="/ppt/media/image19.png" Id="Rd7bde408653b4530" /><Relationship Type="http://schemas.openxmlformats.org/officeDocument/2006/relationships/image" Target="/ppt/media/image20.png" Id="R6d6264c33dca4a8a" /><Relationship Type="http://schemas.openxmlformats.org/officeDocument/2006/relationships/image" Target="/ppt/media/image21.png" Id="R75aaf6d5ebac42c4" /><Relationship Type="http://schemas.openxmlformats.org/officeDocument/2006/relationships/image" Target="/ppt/media/image22.png" Id="Rac233ad62b5a4f12" /><Relationship Type="http://schemas.openxmlformats.org/officeDocument/2006/relationships/notesSlide" Target="/ppt/notesSlides/notesSlide19.xml" Id="Rd46dfe07259c4f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9294028b24c4d60" /><Relationship Type="http://schemas.openxmlformats.org/officeDocument/2006/relationships/image" Target="/ppt/media/image23.png" Id="R340e3eda79ce443c" /><Relationship Type="http://schemas.openxmlformats.org/officeDocument/2006/relationships/notesSlide" Target="/ppt/notesSlides/notesSlide20.xml" Id="R4221f2a5e34543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d2609e748f943f1" /><Relationship Type="http://schemas.openxmlformats.org/officeDocument/2006/relationships/image" Target="/ppt/media/image24.png" Id="R64871bfc73d7455a" /><Relationship Type="http://schemas.openxmlformats.org/officeDocument/2006/relationships/notesSlide" Target="/ppt/notesSlides/notesSlide21.xml" Id="R78c88427f36d4a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9af95ef6bf8455c" /><Relationship Type="http://schemas.openxmlformats.org/officeDocument/2006/relationships/image" Target="/ppt/media/image25.png" Id="Rbaabe0f39de249cc" /><Relationship Type="http://schemas.openxmlformats.org/officeDocument/2006/relationships/notesSlide" Target="/ppt/notesSlides/notesSlide22.xml" Id="R0376344a70ec4db3"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008C9B"/>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DDDDD"/>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666666"/>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666666"/>
                </a:solidFill>
                <a:latin typeface="Calibri"/>
                <a:ea typeface="Calibri"/>
                <a:cs typeface="Calibri"/>
              </a:defRPr>
            </a:pPr>
          </a:p>
        </c:txPr>
        <c:crossAx val="48650112"/>
        <c:crossBetween val="between"/>
      </c:valAx>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ba3ce7591b443c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B449493-F830-451D-8593-24768BFB110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7C7F1236-9CA6-415D-8AF1-BC87F1ECBD2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51A87D09-D2D1-4ECC-BCB0-17D36A1A348C}"/>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49489091-FF1E-4088-A83F-54455C0E8CD5}"/>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10185F09-247B-4FFA-987E-82356C5AFBBE}"/>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594D4EB8-6358-4729-B012-FB6A4DE2E8F8}"/>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FA9316CD-17A2-41B9-B4CB-460734E5371C}"/>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3F3B54DE-2623-4E66-AE08-24136DE479EA}"/>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2132802523"/>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03733c5a7c40fb"/>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243030E8-724E-4661-9094-30BE6830BF6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B1758895-CFD9-43D4-87E5-C5DB0137AD3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2934B77C-CAD3-4935-A11B-9997960CE4B8}"/>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56D16C16-B4B2-43DD-8A04-5D4A14A86F6D}"/>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7CA98BC1-C53E-4E9C-BA12-C2D2093102F6}"/>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D01A5265-33DD-45D6-9BEF-0C5B33FBC4FF}"/>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1D0E83BF-CC60-4F32-AECA-F14AE1802556}"/>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BE1C1D2E-1DFA-4E1C-8593-0B90F286825E}"/>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52984723-E997-4D6B-8A92-D3E26A27DE4E}"/>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5CDB8C88-0D67-412D-A598-753D07A9160F}"/>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E3481D4B-50EA-4E2E-8369-BD60E8E497BD}"/>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DB3EFACC-2BCF-4375-9DC8-AF98CC4A7CF0}"/>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63E1E8"/>
                </a:solidFill>
                <a:latin typeface="Calibri"/>
                <a:ea typeface="Calibri"/>
                <a:cs typeface="Calibri"/>
              </a:defRPr>
            </a:pPr>
            <a:r>
              <a:rPr sz="2700" b="1">
                <a:solidFill>
                  <a:srgbClr val="63E1E8"/>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41AACBD8-B2E5-4EAE-A080-B7BAE2D01E80}"/>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206104712"/>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par>
                    <p:cTn id="23" fill="hold">
                      <p:stCondLst>
                        <p:cond delay="550"/>
                      </p:stCondLst>
                      <p:childTnLst>
                        <p:par>
                          <p:cTn id="24" presetID="10" presetClass="entr" presetSubtype="0" fill="hold" nodeType="withEffect">
                            <p:stCondLst>
                              <p:cond delay="0"/>
                            </p:stCondLst>
                            <p:childTnLst>
                              <p:set>
                                <p:cBhvr>
                                  <p:cTn id="25" dur="1" fill="hold"/>
                                  <p:tgtEl>
                                    <p:spTgt spid="9"/>
                                  </p:tgtEl>
                                  <p:attrNameLst>
                                    <p:attrName>style.visibility</p:attrName>
                                  </p:attrNameLst>
                                </p:cBhvr>
                                <p:to>
                                  <p:strVal val="visible"/>
                                </p:to>
                              </p:set>
                              <p:animEffect transition="in" filter="fade">
                                <p:cBhvr>
                                  <p:cTn id="26" dur="450" fill="hold"/>
                                  <p:tgtEl>
                                    <p:spTgt spid="9"/>
                                  </p:tgtEl>
                                </p:cBhvr>
                              </p:animEffect>
                            </p:childTnLst>
                          </p:cTn>
                        </p:par>
                      </p:childTnLst>
                    </p:cTn>
                  </p:par>
                  <p:par>
                    <p:cTn id="27" fill="hold">
                      <p:stCondLst>
                        <p:cond delay="640"/>
                      </p:stCondLst>
                      <p:childTnLst>
                        <p:par>
                          <p:cTn id="28" presetID="10" presetClass="entr" presetSubtype="0" fill="hold" nodeType="withEffect">
                            <p:stCondLst>
                              <p:cond delay="0"/>
                            </p:stCondLst>
                            <p:childTnLst>
                              <p:set>
                                <p:cBhvr>
                                  <p:cTn id="29" dur="1" fill="hold"/>
                                  <p:tgtEl>
                                    <p:spTgt spid="10"/>
                                  </p:tgtEl>
                                  <p:attrNameLst>
                                    <p:attrName>style.visibility</p:attrName>
                                  </p:attrNameLst>
                                </p:cBhvr>
                                <p:to>
                                  <p:strVal val="visible"/>
                                </p:to>
                              </p:set>
                              <p:animEffect transition="in" filter="fade">
                                <p:cBhvr>
                                  <p:cTn id="30" dur="450" fill="hold"/>
                                  <p:tgtEl>
                                    <p:spTgt spid="10"/>
                                  </p:tgtEl>
                                </p:cBhvr>
                              </p:animEffect>
                            </p:childTnLst>
                          </p:cTn>
                        </p:par>
                      </p:childTnLst>
                    </p:cTn>
                  </p:par>
                  <p:par>
                    <p:cTn id="31" fill="hold">
                      <p:stCondLst>
                        <p:cond delay="730"/>
                      </p:stCondLst>
                      <p:childTnLst>
                        <p:par>
                          <p:cTn id="32" presetID="10" presetClass="entr" presetSubtype="0" fill="hold" nodeType="withEffect">
                            <p:stCondLst>
                              <p:cond delay="0"/>
                            </p:stCondLst>
                            <p:childTnLst>
                              <p:set>
                                <p:cBhvr>
                                  <p:cTn id="33" dur="1" fill="hold"/>
                                  <p:tgtEl>
                                    <p:spTgt spid="11"/>
                                  </p:tgtEl>
                                  <p:attrNameLst>
                                    <p:attrName>style.visibility</p:attrName>
                                  </p:attrNameLst>
                                </p:cBhvr>
                                <p:to>
                                  <p:strVal val="visible"/>
                                </p:to>
                              </p:set>
                              <p:animEffect transition="in" filter="fade">
                                <p:cBhvr>
                                  <p:cTn id="34" dur="450" fill="hold"/>
                                  <p:tgtEl>
                                    <p:spTgt spid="11"/>
                                  </p:tgtEl>
                                </p:cBhvr>
                              </p:animEffect>
                            </p:childTnLst>
                          </p:cTn>
                        </p:par>
                      </p:childTnLst>
                    </p:cTn>
                  </p:par>
                  <p:par>
                    <p:cTn id="35" fill="hold">
                      <p:stCondLst>
                        <p:cond delay="730"/>
                      </p:stCondLst>
                      <p:childTnLst>
                        <p:par>
                          <p:cTn id="36" presetID="10" presetClass="entr" presetSubtype="0" fill="hold" nodeType="withEffect">
                            <p:stCondLst>
                              <p:cond delay="0"/>
                            </p:stCondLst>
                            <p:childTnLst>
                              <p:set>
                                <p:cBhvr>
                                  <p:cTn id="37" dur="1" fill="hold"/>
                                  <p:tgtEl>
                                    <p:spTgt spid="12"/>
                                  </p:tgtEl>
                                  <p:attrNameLst>
                                    <p:attrName>style.visibility</p:attrName>
                                  </p:attrNameLst>
                                </p:cBhvr>
                                <p:to>
                                  <p:strVal val="visible"/>
                                </p:to>
                              </p:set>
                              <p:animEffect transition="in" filter="fade">
                                <p:cBhvr>
                                  <p:cTn id="38" dur="450" fill="hold"/>
                                  <p:tgtEl>
                                    <p:spTgt spid="12"/>
                                  </p:tgtEl>
                                </p:cBhvr>
                              </p:animEffect>
                            </p:childTnLst>
                          </p:cTn>
                        </p:par>
                      </p:childTnLst>
                    </p:cTn>
                  </p:par>
                  <p:par>
                    <p:cTn id="39" fill="hold">
                      <p:stCondLst>
                        <p:cond delay="730"/>
                      </p:stCondLst>
                      <p:childTnLst>
                        <p:par>
                          <p:cTn id="40" presetID="10" presetClass="entr" presetSubtype="0" fill="hold" nodeType="withEffect">
                            <p:stCondLst>
                              <p:cond delay="0"/>
                            </p:stCondLst>
                            <p:childTnLst>
                              <p:set>
                                <p:cBhvr>
                                  <p:cTn id="41" dur="1" fill="hold"/>
                                  <p:tgtEl>
                                    <p:spTgt spid="13"/>
                                  </p:tgtEl>
                                  <p:attrNameLst>
                                    <p:attrName>style.visibility</p:attrName>
                                  </p:attrNameLst>
                                </p:cBhvr>
                                <p:to>
                                  <p:strVal val="visible"/>
                                </p:to>
                              </p:set>
                              <p:animEffect transition="in" filter="fade">
                                <p:cBhvr>
                                  <p:cTn id="42" dur="450" fill="hold"/>
                                  <p:tgtEl>
                                    <p:spTgt spid="13"/>
                                  </p:tgtEl>
                                </p:cBhvr>
                              </p:animEffect>
                            </p:childTnLst>
                          </p:cTn>
                        </p:par>
                      </p:childTnLst>
                    </p:cTn>
                  </p:par>
                  <p:par>
                    <p:cTn id="43" fill="hold">
                      <p:stCondLst>
                        <p:cond delay="730"/>
                      </p:stCondLst>
                      <p:childTnLst>
                        <p:par>
                          <p:cTn id="44" presetID="10" presetClass="entr" presetSubtype="0" fill="hold" nodeType="withEffect">
                            <p:stCondLst>
                              <p:cond delay="0"/>
                            </p:stCondLst>
                            <p:childTnLst>
                              <p:set>
                                <p:cBhvr>
                                  <p:cTn id="45" dur="1" fill="hold"/>
                                  <p:tgtEl>
                                    <p:spTgt spid="14"/>
                                  </p:tgtEl>
                                  <p:attrNameLst>
                                    <p:attrName>style.visibility</p:attrName>
                                  </p:attrNameLst>
                                </p:cBhvr>
                                <p:to>
                                  <p:strVal val="visible"/>
                                </p:to>
                              </p:set>
                              <p:animEffect transition="in" filter="fade">
                                <p:cBhvr>
                                  <p:cTn id="46" dur="450" fill="hold"/>
                                  <p:tgtEl>
                                    <p:spTgt spid="1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8700bf8b6d64435"/>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210C7C9C-891E-4326-A48A-1F76F5E7F15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58EFB0E1-7C06-468C-96F0-09C9735F465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A12EBA53-8570-4FDC-B824-F43EAD5330DE}"/>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7587B8F0-DDA0-4064-A45E-3F06DA6987D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5BB86A5E-51C4-4DF7-A3A3-3BCCD54C28C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233023229"/>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af3370920b74feb"/>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03764DF3-08DD-47BA-9978-462610A7A08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4 / 22">
            <a:extLst xmlns:a="http://schemas.openxmlformats.org/drawingml/2006/main">
              <a:ext uri="{FF2B5EF4-FFF2-40B4-BE49-F238E27FC236}">
                <a16:creationId xmlns:a16="http://schemas.microsoft.com/office/drawing/2014/main" id="{A82431BF-693A-4CF2-83D1-7DA0C1BF727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04 / 22</a:t>
            </a:r>
          </a:p>
        </p:txBody>
      </p:sp>
      <p:sp>
        <p:nvSpPr>
          <p:cNvPr id="4" name="Organisme d’accueil et besoin métier">
            <a:extLst xmlns:a="http://schemas.openxmlformats.org/drawingml/2006/main">
              <a:ext uri="{FF2B5EF4-FFF2-40B4-BE49-F238E27FC236}">
                <a16:creationId xmlns:a16="http://schemas.microsoft.com/office/drawing/2014/main" id="{E8BB866A-F761-4635-A353-E55C2E12F708}"/>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5" name="01">
            <a:extLst xmlns:a="http://schemas.openxmlformats.org/drawingml/2006/main">
              <a:ext uri="{FF2B5EF4-FFF2-40B4-BE49-F238E27FC236}">
                <a16:creationId xmlns:a16="http://schemas.microsoft.com/office/drawing/2014/main" id="{44E0AE0E-09BE-4166-B597-9D2D50D7AA35}"/>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ADBCENTER LOGISPLAN, dans l’environnement&#10;Adaoui Busine">
            <a:extLst xmlns:a="http://schemas.openxmlformats.org/drawingml/2006/main">
              <a:ext uri="{FF2B5EF4-FFF2-40B4-BE49-F238E27FC236}">
                <a16:creationId xmlns:a16="http://schemas.microsoft.com/office/drawing/2014/main" id="{481B152A-AA16-488C-9EED-56311DF90AE2}"/>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ADBCENTER LOGISPLAN, dans l’environnement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Adaoui Business Centre à Agadir.</a:t>
            </a:r>
          </a:p>
        </p:txBody>
      </p:sp>
      <p:sp>
        <p:nvSpPr>
          <p:cNvPr id="7" name="02">
            <a:extLst xmlns:a="http://schemas.openxmlformats.org/drawingml/2006/main">
              <a:ext uri="{FF2B5EF4-FFF2-40B4-BE49-F238E27FC236}">
                <a16:creationId xmlns:a16="http://schemas.microsoft.com/office/drawing/2014/main" id="{13B9FB70-CCCA-4F32-B4ED-E0D0D589D2C4}"/>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Activité : formation et accompagnement professionnel&#10;po">
            <a:extLst xmlns:a="http://schemas.openxmlformats.org/drawingml/2006/main">
              <a:ext uri="{FF2B5EF4-FFF2-40B4-BE49-F238E27FC236}">
                <a16:creationId xmlns:a16="http://schemas.microsoft.com/office/drawing/2014/main" id="{5BA8303E-FF0B-488F-B258-5EE436A46094}"/>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Activité : formation et accompagnement professionnel</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pour les salariés, les cadres et les entreprises.</a:t>
            </a:r>
          </a:p>
        </p:txBody>
      </p:sp>
      <p:sp>
        <p:nvSpPr>
          <p:cNvPr id="9" name="03">
            <a:extLst xmlns:a="http://schemas.openxmlformats.org/drawingml/2006/main">
              <a:ext uri="{FF2B5EF4-FFF2-40B4-BE49-F238E27FC236}">
                <a16:creationId xmlns:a16="http://schemas.microsoft.com/office/drawing/2014/main" id="{513571FF-CF9B-4F92-A687-17ED7F8C9491}"/>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Besoin : retrouver les informations du prospect et&#10;prép">
            <a:extLst xmlns:a="http://schemas.openxmlformats.org/drawingml/2006/main">
              <a:ext uri="{FF2B5EF4-FFF2-40B4-BE49-F238E27FC236}">
                <a16:creationId xmlns:a16="http://schemas.microsoft.com/office/drawing/2014/main" id="{0CB20FF1-850F-498E-8FF0-F363D23F5933}"/>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Besoin : retrouver les informations du prospect et</a:t>
            </a:r>
          </a:p>
          <a:p xmlns:a="http://schemas.openxmlformats.org/drawingml/2006/main">
            <a:pPr algn="l">
              <a:defRPr sz="3225" b="0">
                <a:solidFill>
                  <a:srgbClr val="102B40"/>
                </a:solidFill>
                <a:latin typeface="Calibri"/>
                <a:ea typeface="Calibri"/>
                <a:cs typeface="Calibri"/>
              </a:defRPr>
            </a:pPr>
            <a:r>
              <a:rPr sz="3225" b="0">
                <a:solidFill>
                  <a:srgbClr val="102B40"/>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1904390367"/>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par>
                    <p:cTn id="23" fill="hold">
                      <p:stCondLst>
                        <p:cond delay="550"/>
                      </p:stCondLst>
                      <p:childTnLst>
                        <p:par>
                          <p:cTn id="24" presetID="10" presetClass="entr" presetSubtype="0" fill="hold" nodeType="withEffect">
                            <p:stCondLst>
                              <p:cond delay="0"/>
                            </p:stCondLst>
                            <p:childTnLst>
                              <p:set>
                                <p:cBhvr>
                                  <p:cTn id="25" dur="1" fill="hold"/>
                                  <p:tgtEl>
                                    <p:spTgt spid="9"/>
                                  </p:tgtEl>
                                  <p:attrNameLst>
                                    <p:attrName>style.visibility</p:attrName>
                                  </p:attrNameLst>
                                </p:cBhvr>
                                <p:to>
                                  <p:strVal val="visible"/>
                                </p:to>
                              </p:set>
                              <p:animEffect transition="in" filter="fade">
                                <p:cBhvr>
                                  <p:cTn id="26" dur="450" fill="hold"/>
                                  <p:tgtEl>
                                    <p:spTgt spid="9"/>
                                  </p:tgtEl>
                                </p:cBhvr>
                              </p:animEffect>
                            </p:childTnLst>
                          </p:cTn>
                        </p:par>
                      </p:childTnLst>
                    </p:cTn>
                  </p:par>
                  <p:par>
                    <p:cTn id="27" fill="hold">
                      <p:stCondLst>
                        <p:cond delay="640"/>
                      </p:stCondLst>
                      <p:childTnLst>
                        <p:par>
                          <p:cTn id="28" presetID="10" presetClass="entr" presetSubtype="0" fill="hold" nodeType="withEffect">
                            <p:stCondLst>
                              <p:cond delay="0"/>
                            </p:stCondLst>
                            <p:childTnLst>
                              <p:set>
                                <p:cBhvr>
                                  <p:cTn id="29" dur="1" fill="hold"/>
                                  <p:tgtEl>
                                    <p:spTgt spid="10"/>
                                  </p:tgtEl>
                                  <p:attrNameLst>
                                    <p:attrName>style.visibility</p:attrName>
                                  </p:attrNameLst>
                                </p:cBhvr>
                                <p:to>
                                  <p:strVal val="visible"/>
                                </p:to>
                              </p:set>
                              <p:animEffect transition="in" filter="fade">
                                <p:cBhvr>
                                  <p:cTn id="30" dur="450" fill="hold"/>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94cb75758a4993"/>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4352797-6B73-4452-A7EE-0CD7768F2EC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12137FC4-6D92-4EBB-9858-0A735DBD0D6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BD6DCC73-3F62-43C0-BCDD-7EF66FFCE67D}"/>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2F33CF86-E629-461A-8D0C-E1616921CCA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0F70D497-1727-4D55-8735-2B88EE58E46B}"/>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1919279131"/>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e15a86e11cc4574"/>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881F86A-7BD1-4C3B-A509-166B27EEAAD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6 / 22">
            <a:extLst xmlns:a="http://schemas.openxmlformats.org/drawingml/2006/main">
              <a:ext uri="{FF2B5EF4-FFF2-40B4-BE49-F238E27FC236}">
                <a16:creationId xmlns:a16="http://schemas.microsoft.com/office/drawing/2014/main" id="{1A10CC29-C646-44F5-9FD5-8DB3F83CC04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06 / 22</a:t>
            </a:r>
          </a:p>
        </p:txBody>
      </p:sp>
      <p:sp>
        <p:nvSpPr>
          <p:cNvPr id="4" name="Problématique">
            <a:extLst xmlns:a="http://schemas.openxmlformats.org/drawingml/2006/main">
              <a:ext uri="{FF2B5EF4-FFF2-40B4-BE49-F238E27FC236}">
                <a16:creationId xmlns:a16="http://schemas.microsoft.com/office/drawing/2014/main" id="{8643A962-465A-43FB-8BDC-D1EBCC9F3817}"/>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5" name="01">
            <a:extLst xmlns:a="http://schemas.openxmlformats.org/drawingml/2006/main">
              <a:ext uri="{FF2B5EF4-FFF2-40B4-BE49-F238E27FC236}">
                <a16:creationId xmlns:a16="http://schemas.microsoft.com/office/drawing/2014/main" id="{B180881A-BB86-4D37-AA53-A824287D3307}"/>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Des informations réparties entre le CRM,&#10;les messages e">
            <a:extLst xmlns:a="http://schemas.openxmlformats.org/drawingml/2006/main">
              <a:ext uri="{FF2B5EF4-FFF2-40B4-BE49-F238E27FC236}">
                <a16:creationId xmlns:a16="http://schemas.microsoft.com/office/drawing/2014/main" id="{052550D6-D4DA-42A1-A261-CB5B8549E0D8}"/>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informations réparties entre le CRM,</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les messages et les fichiers.</a:t>
            </a:r>
          </a:p>
        </p:txBody>
      </p:sp>
      <p:sp>
        <p:nvSpPr>
          <p:cNvPr id="7" name="02">
            <a:extLst xmlns:a="http://schemas.openxmlformats.org/drawingml/2006/main">
              <a:ext uri="{FF2B5EF4-FFF2-40B4-BE49-F238E27FC236}">
                <a16:creationId xmlns:a16="http://schemas.microsoft.com/office/drawing/2014/main" id="{90DFEB58-BD9E-4EE6-8C06-AADBF2A5D6F1}"/>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Des relances difficiles à suivre et un risque&#10;de renvoy">
            <a:extLst xmlns:a="http://schemas.openxmlformats.org/drawingml/2006/main">
              <a:ext uri="{FF2B5EF4-FFF2-40B4-BE49-F238E27FC236}">
                <a16:creationId xmlns:a16="http://schemas.microsoft.com/office/drawing/2014/main" id="{32272D55-872D-4789-8614-DC4E0FB05CF4}"/>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Des relances difficiles à suivre et un risque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de renvoyer une action déjà effectuée.</a:t>
            </a:r>
          </a:p>
        </p:txBody>
      </p:sp>
      <p:sp>
        <p:nvSpPr>
          <p:cNvPr id="9" name="03">
            <a:extLst xmlns:a="http://schemas.openxmlformats.org/drawingml/2006/main">
              <a:ext uri="{FF2B5EF4-FFF2-40B4-BE49-F238E27FC236}">
                <a16:creationId xmlns:a16="http://schemas.microsoft.com/office/drawing/2014/main" id="{A545614A-91EE-407C-BE0A-B450B56888BB}"/>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Comment fiabiliser le parcours sans perdre&#10;la personnal">
            <a:extLst xmlns:a="http://schemas.openxmlformats.org/drawingml/2006/main">
              <a:ext uri="{FF2B5EF4-FFF2-40B4-BE49-F238E27FC236}">
                <a16:creationId xmlns:a16="http://schemas.microsoft.com/office/drawing/2014/main" id="{2BF3B782-E5F2-4208-A37E-F183824571E2}"/>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Comment fiabiliser le parcours sans perdre</a:t>
            </a:r>
          </a:p>
          <a:p xmlns:a="http://schemas.openxmlformats.org/drawingml/2006/main">
            <a:pPr algn="l">
              <a:defRPr sz="3375" b="0">
                <a:solidFill>
                  <a:srgbClr val="102B40"/>
                </a:solidFill>
                <a:latin typeface="Calibri"/>
                <a:ea typeface="Calibri"/>
                <a:cs typeface="Calibri"/>
              </a:defRPr>
            </a:pPr>
            <a:r>
              <a:rPr sz="3375" b="0">
                <a:solidFill>
                  <a:srgbClr val="102B40"/>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1366777764"/>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par>
                    <p:cTn id="23" fill="hold">
                      <p:stCondLst>
                        <p:cond delay="550"/>
                      </p:stCondLst>
                      <p:childTnLst>
                        <p:par>
                          <p:cTn id="24" presetID="10" presetClass="entr" presetSubtype="0" fill="hold" nodeType="withEffect">
                            <p:stCondLst>
                              <p:cond delay="0"/>
                            </p:stCondLst>
                            <p:childTnLst>
                              <p:set>
                                <p:cBhvr>
                                  <p:cTn id="25" dur="1" fill="hold"/>
                                  <p:tgtEl>
                                    <p:spTgt spid="9"/>
                                  </p:tgtEl>
                                  <p:attrNameLst>
                                    <p:attrName>style.visibility</p:attrName>
                                  </p:attrNameLst>
                                </p:cBhvr>
                                <p:to>
                                  <p:strVal val="visible"/>
                                </p:to>
                              </p:set>
                              <p:animEffect transition="in" filter="fade">
                                <p:cBhvr>
                                  <p:cTn id="26" dur="450" fill="hold"/>
                                  <p:tgtEl>
                                    <p:spTgt spid="9"/>
                                  </p:tgtEl>
                                </p:cBhvr>
                              </p:animEffect>
                            </p:childTnLst>
                          </p:cTn>
                        </p:par>
                      </p:childTnLst>
                    </p:cTn>
                  </p:par>
                  <p:par>
                    <p:cTn id="27" fill="hold">
                      <p:stCondLst>
                        <p:cond delay="640"/>
                      </p:stCondLst>
                      <p:childTnLst>
                        <p:par>
                          <p:cTn id="28" presetID="10" presetClass="entr" presetSubtype="0" fill="hold" nodeType="withEffect">
                            <p:stCondLst>
                              <p:cond delay="0"/>
                            </p:stCondLst>
                            <p:childTnLst>
                              <p:set>
                                <p:cBhvr>
                                  <p:cTn id="29" dur="1" fill="hold"/>
                                  <p:tgtEl>
                                    <p:spTgt spid="10"/>
                                  </p:tgtEl>
                                  <p:attrNameLst>
                                    <p:attrName>style.visibility</p:attrName>
                                  </p:attrNameLst>
                                </p:cBhvr>
                                <p:to>
                                  <p:strVal val="visible"/>
                                </p:to>
                              </p:set>
                              <p:animEffect transition="in" filter="fade">
                                <p:cBhvr>
                                  <p:cTn id="30" dur="450" fill="hold"/>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9fd62f060374cdd"/>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0807118-1D7F-44CD-9132-16C6E60CE217}"/>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7 / 22">
            <a:extLst xmlns:a="http://schemas.openxmlformats.org/drawingml/2006/main">
              <a:ext uri="{FF2B5EF4-FFF2-40B4-BE49-F238E27FC236}">
                <a16:creationId xmlns:a16="http://schemas.microsoft.com/office/drawing/2014/main" id="{14FB138C-8353-4216-87A4-BBA8F2B58C4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07 / 22</a:t>
            </a:r>
          </a:p>
        </p:txBody>
      </p:sp>
      <p:sp>
        <p:nvSpPr>
          <p:cNvPr id="4" name="Objectifs et périmètre">
            <a:extLst xmlns:a="http://schemas.openxmlformats.org/drawingml/2006/main">
              <a:ext uri="{FF2B5EF4-FFF2-40B4-BE49-F238E27FC236}">
                <a16:creationId xmlns:a16="http://schemas.microsoft.com/office/drawing/2014/main" id="{755A1E0F-0942-417B-B230-7CAE5FD96B09}"/>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5" name="01">
            <a:extLst xmlns:a="http://schemas.openxmlformats.org/drawingml/2006/main">
              <a:ext uri="{FF2B5EF4-FFF2-40B4-BE49-F238E27FC236}">
                <a16:creationId xmlns:a16="http://schemas.microsoft.com/office/drawing/2014/main" id="{6D9D21B9-AA9E-4189-90C1-A7BE6EF53FDE}"/>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6" name="Centraliser les formations et les prospects dans Airtab">
            <a:extLst xmlns:a="http://schemas.openxmlformats.org/drawingml/2006/main">
              <a:ext uri="{FF2B5EF4-FFF2-40B4-BE49-F238E27FC236}">
                <a16:creationId xmlns:a16="http://schemas.microsoft.com/office/drawing/2014/main" id="{FBD727CD-34DC-412C-BECC-936B85380C6F}"/>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Centraliser les formations et les prospects dans Airtable.</a:t>
            </a:r>
          </a:p>
        </p:txBody>
      </p:sp>
      <p:sp>
        <p:nvSpPr>
          <p:cNvPr id="7" name="02">
            <a:extLst xmlns:a="http://schemas.openxmlformats.org/drawingml/2006/main">
              <a:ext uri="{FF2B5EF4-FFF2-40B4-BE49-F238E27FC236}">
                <a16:creationId xmlns:a16="http://schemas.microsoft.com/office/drawing/2014/main" id="{B5C852EF-C449-4762-85DF-6CC9065BEDF8}"/>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8" name="Prioriser les leads avec un score explicable.">
            <a:extLst xmlns:a="http://schemas.openxmlformats.org/drawingml/2006/main">
              <a:ext uri="{FF2B5EF4-FFF2-40B4-BE49-F238E27FC236}">
                <a16:creationId xmlns:a16="http://schemas.microsoft.com/office/drawing/2014/main" id="{8E5D84F0-E993-4D2D-A969-195C63690807}"/>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Prioriser les leads avec un score explicable.</a:t>
            </a:r>
          </a:p>
        </p:txBody>
      </p:sp>
      <p:sp>
        <p:nvSpPr>
          <p:cNvPr id="9" name="03">
            <a:extLst xmlns:a="http://schemas.openxmlformats.org/drawingml/2006/main">
              <a:ext uri="{FF2B5EF4-FFF2-40B4-BE49-F238E27FC236}">
                <a16:creationId xmlns:a16="http://schemas.microsoft.com/office/drawing/2014/main" id="{E26139DF-0195-43A4-BA19-7B03B0D19508}"/>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0" name="Préparer des messages et des documents cohérents.">
            <a:extLst xmlns:a="http://schemas.openxmlformats.org/drawingml/2006/main">
              <a:ext uri="{FF2B5EF4-FFF2-40B4-BE49-F238E27FC236}">
                <a16:creationId xmlns:a16="http://schemas.microsoft.com/office/drawing/2014/main" id="{1C1F5B17-F11C-4780-AA02-32F16F4471C4}"/>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Préparer des messages et des documents cohérents.</a:t>
            </a:r>
          </a:p>
        </p:txBody>
      </p:sp>
      <p:sp>
        <p:nvSpPr>
          <p:cNvPr id="11" name="04">
            <a:extLst xmlns:a="http://schemas.openxmlformats.org/drawingml/2006/main">
              <a:ext uri="{FF2B5EF4-FFF2-40B4-BE49-F238E27FC236}">
                <a16:creationId xmlns:a16="http://schemas.microsoft.com/office/drawing/2014/main" id="{263B0E6F-58E9-4B66-A376-FA5D59ACE883}"/>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04</a:t>
            </a:r>
          </a:p>
        </p:txBody>
      </p:sp>
      <p:sp>
        <p:nvSpPr>
          <p:cNvPr id="12" name="Piloter les traitements depuis un tableau de bord.">
            <a:extLst xmlns:a="http://schemas.openxmlformats.org/drawingml/2006/main">
              <a:ext uri="{FF2B5EF4-FFF2-40B4-BE49-F238E27FC236}">
                <a16:creationId xmlns:a16="http://schemas.microsoft.com/office/drawing/2014/main" id="{2B2C2BDE-D4F1-4ED6-AB2D-D90C6EB5901E}"/>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102B40"/>
                </a:solidFill>
                <a:latin typeface="Calibri"/>
                <a:ea typeface="Calibri"/>
                <a:cs typeface="Calibri"/>
              </a:defRPr>
            </a:pPr>
            <a:r>
              <a:rPr sz="3150" b="0">
                <a:solidFill>
                  <a:srgbClr val="102B40"/>
                </a:solidFill>
                <a:latin typeface="Calibri"/>
                <a:ea typeface="Calibri"/>
                <a:cs typeface="Calibri"/>
              </a:rPr>
              <a:t>Piloter les traitements depuis un tableau de bord.</a:t>
            </a:r>
          </a:p>
        </p:txBody>
      </p:sp>
      <p:sp>
        <p:nvSpPr>
          <p:cNvPr id="13" name="La validation commerciale, la signature et le paiement ">
            <a:extLst xmlns:a="http://schemas.openxmlformats.org/drawingml/2006/main">
              <a:ext uri="{FF2B5EF4-FFF2-40B4-BE49-F238E27FC236}">
                <a16:creationId xmlns:a16="http://schemas.microsoft.com/office/drawing/2014/main" id="{48F65425-6FAE-429D-8226-8E00F5D09AA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50211395"/>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par>
                    <p:cTn id="23" fill="hold">
                      <p:stCondLst>
                        <p:cond delay="550"/>
                      </p:stCondLst>
                      <p:childTnLst>
                        <p:par>
                          <p:cTn id="24" presetID="10" presetClass="entr" presetSubtype="0" fill="hold" nodeType="withEffect">
                            <p:stCondLst>
                              <p:cond delay="0"/>
                            </p:stCondLst>
                            <p:childTnLst>
                              <p:set>
                                <p:cBhvr>
                                  <p:cTn id="25" dur="1" fill="hold"/>
                                  <p:tgtEl>
                                    <p:spTgt spid="9"/>
                                  </p:tgtEl>
                                  <p:attrNameLst>
                                    <p:attrName>style.visibility</p:attrName>
                                  </p:attrNameLst>
                                </p:cBhvr>
                                <p:to>
                                  <p:strVal val="visible"/>
                                </p:to>
                              </p:set>
                              <p:animEffect transition="in" filter="fade">
                                <p:cBhvr>
                                  <p:cTn id="26" dur="450" fill="hold"/>
                                  <p:tgtEl>
                                    <p:spTgt spid="9"/>
                                  </p:tgtEl>
                                </p:cBhvr>
                              </p:animEffect>
                            </p:childTnLst>
                          </p:cTn>
                        </p:par>
                      </p:childTnLst>
                    </p:cTn>
                  </p:par>
                  <p:par>
                    <p:cTn id="27" fill="hold">
                      <p:stCondLst>
                        <p:cond delay="640"/>
                      </p:stCondLst>
                      <p:childTnLst>
                        <p:par>
                          <p:cTn id="28" presetID="10" presetClass="entr" presetSubtype="0" fill="hold" nodeType="withEffect">
                            <p:stCondLst>
                              <p:cond delay="0"/>
                            </p:stCondLst>
                            <p:childTnLst>
                              <p:set>
                                <p:cBhvr>
                                  <p:cTn id="29" dur="1" fill="hold"/>
                                  <p:tgtEl>
                                    <p:spTgt spid="10"/>
                                  </p:tgtEl>
                                  <p:attrNameLst>
                                    <p:attrName>style.visibility</p:attrName>
                                  </p:attrNameLst>
                                </p:cBhvr>
                                <p:to>
                                  <p:strVal val="visible"/>
                                </p:to>
                              </p:set>
                              <p:animEffect transition="in" filter="fade">
                                <p:cBhvr>
                                  <p:cTn id="30" dur="450" fill="hold"/>
                                  <p:tgtEl>
                                    <p:spTgt spid="10"/>
                                  </p:tgtEl>
                                </p:cBhvr>
                              </p:animEffect>
                            </p:childTnLst>
                          </p:cTn>
                        </p:par>
                      </p:childTnLst>
                    </p:cTn>
                  </p:par>
                  <p:par>
                    <p:cTn id="31" fill="hold">
                      <p:stCondLst>
                        <p:cond delay="730"/>
                      </p:stCondLst>
                      <p:childTnLst>
                        <p:par>
                          <p:cTn id="32" presetID="10" presetClass="entr" presetSubtype="0" fill="hold" nodeType="withEffect">
                            <p:stCondLst>
                              <p:cond delay="0"/>
                            </p:stCondLst>
                            <p:childTnLst>
                              <p:set>
                                <p:cBhvr>
                                  <p:cTn id="33" dur="1" fill="hold"/>
                                  <p:tgtEl>
                                    <p:spTgt spid="11"/>
                                  </p:tgtEl>
                                  <p:attrNameLst>
                                    <p:attrName>style.visibility</p:attrName>
                                  </p:attrNameLst>
                                </p:cBhvr>
                                <p:to>
                                  <p:strVal val="visible"/>
                                </p:to>
                              </p:set>
                              <p:animEffect transition="in" filter="fade">
                                <p:cBhvr>
                                  <p:cTn id="34" dur="450" fill="hold"/>
                                  <p:tgtEl>
                                    <p:spTgt spid="11"/>
                                  </p:tgtEl>
                                </p:cBhvr>
                              </p:animEffect>
                            </p:childTnLst>
                          </p:cTn>
                        </p:par>
                      </p:childTnLst>
                    </p:cTn>
                  </p:par>
                  <p:par>
                    <p:cTn id="35" fill="hold">
                      <p:stCondLst>
                        <p:cond delay="730"/>
                      </p:stCondLst>
                      <p:childTnLst>
                        <p:par>
                          <p:cTn id="36" presetID="10" presetClass="entr" presetSubtype="0" fill="hold" nodeType="withEffect">
                            <p:stCondLst>
                              <p:cond delay="0"/>
                            </p:stCondLst>
                            <p:childTnLst>
                              <p:set>
                                <p:cBhvr>
                                  <p:cTn id="37" dur="1" fill="hold"/>
                                  <p:tgtEl>
                                    <p:spTgt spid="12"/>
                                  </p:tgtEl>
                                  <p:attrNameLst>
                                    <p:attrName>style.visibility</p:attrName>
                                  </p:attrNameLst>
                                </p:cBhvr>
                                <p:to>
                                  <p:strVal val="visible"/>
                                </p:to>
                              </p:set>
                              <p:animEffect transition="in" filter="fade">
                                <p:cBhvr>
                                  <p:cTn id="38" dur="450" fill="hold"/>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991c9d9bb040f1"/>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1B7CA488-D96C-41B9-96E7-CC1CA51DD9D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8 / 22">
            <a:extLst xmlns:a="http://schemas.openxmlformats.org/drawingml/2006/main">
              <a:ext uri="{FF2B5EF4-FFF2-40B4-BE49-F238E27FC236}">
                <a16:creationId xmlns:a16="http://schemas.microsoft.com/office/drawing/2014/main" id="{C76DC96C-3BA6-4A0C-9249-7C497267A2D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08 / 22</a:t>
            </a:r>
          </a:p>
        </p:txBody>
      </p:sp>
      <p:sp>
        <p:nvSpPr>
          <p:cNvPr id="4" name="Conduite du projet">
            <a:extLst xmlns:a="http://schemas.openxmlformats.org/drawingml/2006/main">
              <a:ext uri="{FF2B5EF4-FFF2-40B4-BE49-F238E27FC236}">
                <a16:creationId xmlns:a16="http://schemas.microsoft.com/office/drawing/2014/main" id="{DF0DE556-6922-4133-843E-62604F36C9D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11"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FFFFFF"/>
                          </a:solidFill>
                          <a:latin typeface="Calibri"/>
                          <a:ea typeface="Calibri"/>
                          <a:cs typeface="Calibri"/>
                        </a:rPr>
                        <a:t>Phase</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Travaux</a:t>
                      </a:r>
                    </a:p>
                  </a:txBody>
                  <a:tcPr marL="91440" marR="91440" marT="45720" marB="45720" anchor="ctr">
                    <a:solidFill>
                      <a:srgbClr val="102B40"/>
                    </a:solidFill>
                  </a:tcPr>
                </a:tc>
                <a:tc>
                  <a:txBody>
                    <a:bodyPr lIns="190500" tIns="114300" rIns="190500" bIns="114300"/>
                    <a:lstStyle/>
                    <a:p>
                      <a:r>
                        <a:rPr sz="2700" b="1">
                          <a:solidFill>
                            <a:srgbClr val="FFFFFF"/>
                          </a:solidFill>
                          <a:latin typeface="Calibri"/>
                          <a:ea typeface="Calibri"/>
                          <a:cs typeface="Calibri"/>
                        </a:rPr>
                        <a:t>Livrable</a:t>
                      </a:r>
                    </a:p>
                  </a:txBody>
                  <a:tcPr marL="91440" marR="91440" marT="45720" marB="45720" anchor="ctr">
                    <a:solidFill>
                      <a:srgbClr val="102B40"/>
                    </a:solidFill>
                  </a:tcPr>
                </a:tc>
              </a:tr>
              <a:tr h="895350">
                <a:tc>
                  <a:txBody>
                    <a:bodyPr lIns="190500" tIns="114300" rIns="190500" bIns="114300"/>
                    <a:lstStyle/>
                    <a:p>
                      <a:r>
                        <a:rPr sz="2700" b="0">
                          <a:solidFill>
                            <a:srgbClr val="102B40"/>
                          </a:solidFill>
                          <a:latin typeface="Calibri"/>
                          <a:ea typeface="Calibri"/>
                          <a:cs typeface="Calibri"/>
                        </a:rPr>
                        <a:t>Cadrage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Parcours commercial et besoins</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Périmètre E1 à E8</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Conception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Données, règles et interactions</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Modèles et scénarios</a:t>
                      </a:r>
                    </a:p>
                  </a:txBody>
                  <a:tcPr marL="91440" marR="91440" marT="45720" marB="45720" anchor="ctr">
                    <a:solidFill>
                      <a:srgbClr val="FFFFFF"/>
                    </a:solidFill>
                  </a:tcPr>
                </a:tc>
              </a:tr>
              <a:tr h="895350">
                <a:tc>
                  <a:txBody>
                    <a:bodyPr lIns="190500" tIns="114300" rIns="190500" bIns="114300"/>
                    <a:lstStyle/>
                    <a:p>
                      <a:r>
                        <a:rPr sz="2700" b="0">
                          <a:solidFill>
                            <a:srgbClr val="102B40"/>
                          </a:solidFill>
                          <a:latin typeface="Calibri"/>
                          <a:ea typeface="Calibri"/>
                          <a:cs typeface="Calibri"/>
                        </a:rPr>
                        <a:t>Réalisation</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Scripts, documents et interface</a:t>
                      </a:r>
                    </a:p>
                  </a:txBody>
                  <a:tcPr marL="91440" marR="91440" marT="45720" marB="45720" anchor="ctr">
                    <a:solidFill>
                      <a:srgbClr val="EAF3F6"/>
                    </a:solidFill>
                  </a:tcPr>
                </a:tc>
                <a:tc>
                  <a:txBody>
                    <a:bodyPr lIns="190500" tIns="114300" rIns="190500" bIns="114300"/>
                    <a:lstStyle/>
                    <a:p>
                      <a:r>
                        <a:rPr sz="2700" b="0">
                          <a:solidFill>
                            <a:srgbClr val="102B40"/>
                          </a:solidFill>
                          <a:latin typeface="Calibri"/>
                          <a:ea typeface="Calibri"/>
                          <a:cs typeface="Calibri"/>
                        </a:rPr>
                        <a:t>Prototype intégré</a:t>
                      </a:r>
                    </a:p>
                  </a:txBody>
                  <a:tcPr marL="91440" marR="91440" marT="45720" marB="45720" anchor="ctr">
                    <a:solidFill>
                      <a:srgbClr val="EAF3F6"/>
                    </a:solidFill>
                  </a:tcPr>
                </a:tc>
              </a:tr>
              <a:tr h="895350">
                <a:tc>
                  <a:txBody>
                    <a:bodyPr lIns="190500" tIns="114300" rIns="190500" bIns="114300"/>
                    <a:lstStyle/>
                    <a:p>
                      <a:r>
                        <a:rPr sz="2700" b="0">
                          <a:solidFill>
                            <a:srgbClr val="102B40"/>
                          </a:solidFill>
                          <a:latin typeface="Calibri"/>
                          <a:ea typeface="Calibri"/>
                          <a:cs typeface="Calibri"/>
                        </a:rPr>
                        <a:t>Validation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Tests locaux et démonstration</a:t>
                      </a:r>
                    </a:p>
                  </a:txBody>
                  <a:tcPr marL="91440" marR="91440" marT="45720" marB="45720" anchor="ctr">
                    <a:solidFill>
                      <a:srgbClr val="FFFFFF"/>
                    </a:solidFill>
                  </a:tcPr>
                </a:tc>
                <a:tc>
                  <a:txBody>
                    <a:bodyPr lIns="190500" tIns="114300" rIns="190500" bIns="114300"/>
                    <a:lstStyle/>
                    <a:p>
                      <a:r>
                        <a:rPr sz="2700" b="0">
                          <a:solidFill>
                            <a:srgbClr val="102B40"/>
                          </a:solidFill>
                          <a:latin typeface="Calibri"/>
                          <a:ea typeface="Calibri"/>
                          <a:cs typeface="Calibri"/>
                        </a:rPr>
                        <a:t>Résultats et limites</a:t>
                      </a:r>
                    </a:p>
                  </a:txBody>
                  <a:tcPr marL="91440" marR="91440" marT="45720" marB="45720" anchor="ctr">
                    <a:solidFill>
                      <a:srgbClr val="FFFFFF"/>
                    </a:solidFill>
                  </a:tcPr>
                </a:tc>
              </a:tr>
            </a:tbl>
          </a:graphicData>
        </a:graphic>
      </p:graphicFrame>
      <p:sp>
        <p:nvSpPr>
          <p:cNvPr id="6" name="Démarche itérative, avec validation des données et des ">
            <a:extLst xmlns:a="http://schemas.openxmlformats.org/drawingml/2006/main">
              <a:ext uri="{FF2B5EF4-FFF2-40B4-BE49-F238E27FC236}">
                <a16:creationId xmlns:a16="http://schemas.microsoft.com/office/drawing/2014/main" id="{C21E0635-A6B9-40D0-A0FE-EC5640DB1CD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1393146624"/>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959d3ececc480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6E03088D-AE9C-442A-AE77-D90970B5D5C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30D637E4-91CA-4DB6-8735-4405CB4AA31F}"/>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C72CED81-7C84-4D6F-99F0-6FB8629B1E8C}"/>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1D3B4A92-F66C-4428-9A16-E6536A3FD7E0}"/>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AC47DE2E-338A-4EC6-851D-2AE3F03AC78D}"/>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767739640"/>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998413e56e4777"/>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553C1E8-0724-4E8F-A252-18E573FE9B0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0 / 22">
            <a:extLst xmlns:a="http://schemas.openxmlformats.org/drawingml/2006/main">
              <a:ext uri="{FF2B5EF4-FFF2-40B4-BE49-F238E27FC236}">
                <a16:creationId xmlns:a16="http://schemas.microsoft.com/office/drawing/2014/main" id="{467EC799-300D-4330-A647-3439C4C6229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10 / 22</a:t>
            </a:r>
          </a:p>
        </p:txBody>
      </p:sp>
      <p:sp>
        <p:nvSpPr>
          <p:cNvPr id="4" name="Le parcours ADG-10">
            <a:extLst xmlns:a="http://schemas.openxmlformats.org/drawingml/2006/main">
              <a:ext uri="{FF2B5EF4-FFF2-40B4-BE49-F238E27FC236}">
                <a16:creationId xmlns:a16="http://schemas.microsoft.com/office/drawing/2014/main" id="{4B308152-BA07-460B-8C39-0DAE5D6C54F0}"/>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11"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FFFFFF"/>
                          </a:solidFill>
                          <a:latin typeface="Calibri"/>
                          <a:ea typeface="Calibri"/>
                          <a:cs typeface="Calibri"/>
                        </a:rPr>
                        <a:t>Étape</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Fonction</a:t>
                      </a:r>
                    </a:p>
                  </a:txBody>
                  <a:tcPr marL="91440" marR="91440" marT="45720" marB="45720" anchor="ctr">
                    <a:solidFill>
                      <a:srgbClr val="102B40"/>
                    </a:solidFill>
                  </a:tcPr>
                </a:tc>
                <a:tc>
                  <a:txBody>
                    <a:bodyPr lIns="190500" tIns="114300" rIns="190500" bIns="114300"/>
                    <a:lstStyle/>
                    <a:p>
                      <a:r>
                        <a:rPr sz="2550" b="1">
                          <a:solidFill>
                            <a:srgbClr val="FFFFFF"/>
                          </a:solidFill>
                          <a:latin typeface="Calibri"/>
                          <a:ea typeface="Calibri"/>
                          <a:cs typeface="Calibri"/>
                        </a:rPr>
                        <a:t>État dans le prototype</a:t>
                      </a:r>
                    </a:p>
                  </a:txBody>
                  <a:tcPr marL="91440" marR="91440" marT="45720" marB="45720" anchor="ctr">
                    <a:solidFill>
                      <a:srgbClr val="102B40"/>
                    </a:solidFill>
                  </a:tcPr>
                </a:tc>
              </a:tr>
              <a:tr h="833438">
                <a:tc>
                  <a:txBody>
                    <a:bodyPr lIns="190500" tIns="114300" rIns="190500" bIns="114300"/>
                    <a:lstStyle/>
                    <a:p>
                      <a:r>
                        <a:rPr sz="2550" b="0">
                          <a:solidFill>
                            <a:srgbClr val="102B40"/>
                          </a:solidFill>
                          <a:latin typeface="Calibri"/>
                          <a:ea typeface="Calibri"/>
                          <a:cs typeface="Calibri"/>
                        </a:rPr>
                        <a:t>E1 / E2</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Contenu IA et textes LinkedIn / WhatsApp</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disponible</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E3</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Publication sociale</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À développer</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E4 / E5</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Scoring et entretien du contact</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Règles et séquences disponibles</a:t>
                      </a:r>
                    </a:p>
                  </a:txBody>
                  <a:tcPr marL="91440" marR="91440" marT="45720" marB="45720" anchor="ctr">
                    <a:solidFill>
                      <a:srgbClr val="EAF3F6"/>
                    </a:solidFill>
                  </a:tcPr>
                </a:tc>
              </a:tr>
              <a:tr h="833438">
                <a:tc>
                  <a:txBody>
                    <a:bodyPr lIns="190500" tIns="114300" rIns="190500" bIns="114300"/>
                    <a:lstStyle/>
                    <a:p>
                      <a:r>
                        <a:rPr sz="2550" b="0">
                          <a:solidFill>
                            <a:srgbClr val="102B40"/>
                          </a:solidFill>
                          <a:latin typeface="Calibri"/>
                          <a:ea typeface="Calibri"/>
                          <a:cs typeface="Calibri"/>
                        </a:rPr>
                        <a:t>E6 / E7</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Proposition et relances de closing</a:t>
                      </a:r>
                    </a:p>
                  </a:txBody>
                  <a:tcPr marL="91440" marR="91440" marT="45720" marB="45720" anchor="ctr">
                    <a:solidFill>
                      <a:srgbClr val="FFFFFF"/>
                    </a:solidFill>
                  </a:tcPr>
                </a:tc>
                <a:tc>
                  <a:txBody>
                    <a:bodyPr lIns="190500" tIns="114300" rIns="190500" bIns="114300"/>
                    <a:lstStyle/>
                    <a:p>
                      <a:r>
                        <a:rPr sz="2550" b="0">
                          <a:solidFill>
                            <a:srgbClr val="102B40"/>
                          </a:solidFill>
                          <a:latin typeface="Calibri"/>
                          <a:ea typeface="Calibri"/>
                          <a:cs typeface="Calibri"/>
                        </a:rPr>
                        <a:t>PDF, e-mail et jalons disponibles</a:t>
                      </a:r>
                    </a:p>
                  </a:txBody>
                  <a:tcPr marL="91440" marR="91440" marT="45720" marB="45720" anchor="ctr">
                    <a:solidFill>
                      <a:srgbClr val="FFFFFF"/>
                    </a:solidFill>
                  </a:tcPr>
                </a:tc>
              </a:tr>
              <a:tr h="833438">
                <a:tc>
                  <a:txBody>
                    <a:bodyPr lIns="190500" tIns="114300" rIns="190500" bIns="114300"/>
                    <a:lstStyle/>
                    <a:p>
                      <a:r>
                        <a:rPr sz="2550" b="0">
                          <a:solidFill>
                            <a:srgbClr val="102B40"/>
                          </a:solidFill>
                          <a:latin typeface="Calibri"/>
                          <a:ea typeface="Calibri"/>
                          <a:cs typeface="Calibri"/>
                        </a:rPr>
                        <a:t>E8</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Convention et facture</a:t>
                      </a:r>
                    </a:p>
                  </a:txBody>
                  <a:tcPr marL="91440" marR="91440" marT="45720" marB="45720" anchor="ctr">
                    <a:solidFill>
                      <a:srgbClr val="EAF3F6"/>
                    </a:solidFill>
                  </a:tcPr>
                </a:tc>
                <a:tc>
                  <a:txBody>
                    <a:bodyPr lIns="190500" tIns="114300" rIns="190500" bIns="114300"/>
                    <a:lstStyle/>
                    <a:p>
                      <a:r>
                        <a:rPr sz="2550" b="0">
                          <a:solidFill>
                            <a:srgbClr val="102B40"/>
                          </a:solidFill>
                          <a:latin typeface="Calibri"/>
                          <a:ea typeface="Calibri"/>
                          <a:cs typeface="Calibri"/>
                        </a:rPr>
                        <a:t>Génération et envoi disponibles</a:t>
                      </a:r>
                    </a:p>
                  </a:txBody>
                  <a:tcPr marL="91440" marR="91440" marT="45720" marB="45720" anchor="ctr">
                    <a:solidFill>
                      <a:srgbClr val="EAF3F6"/>
                    </a:solidFill>
                  </a:tcPr>
                </a:tc>
              </a:tr>
            </a:tbl>
          </a:graphicData>
        </a:graphic>
      </p:graphicFrame>
      <p:sp>
        <p:nvSpPr>
          <p:cNvPr id="6" name="Les scripts doivent s’exécuter aux échéances prévues. L">
            <a:extLst xmlns:a="http://schemas.openxmlformats.org/drawingml/2006/main">
              <a:ext uri="{FF2B5EF4-FFF2-40B4-BE49-F238E27FC236}">
                <a16:creationId xmlns:a16="http://schemas.microsoft.com/office/drawing/2014/main" id="{E33D075C-EE69-491C-9696-25F859742DB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384509904"/>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d87c7b3f02548c9"/>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CE4C492-5121-48C5-9EFD-CCB4BAEEA851}"/>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1 / 22">
            <a:extLst xmlns:a="http://schemas.openxmlformats.org/drawingml/2006/main">
              <a:ext uri="{FF2B5EF4-FFF2-40B4-BE49-F238E27FC236}">
                <a16:creationId xmlns:a16="http://schemas.microsoft.com/office/drawing/2014/main" id="{48AC39E1-1060-431E-A4CA-28B6B9E4EAB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11 / 22</a:t>
            </a:r>
          </a:p>
        </p:txBody>
      </p:sp>
      <p:sp>
        <p:nvSpPr>
          <p:cNvPr id="4" name="Cas d’utilisation">
            <a:extLst xmlns:a="http://schemas.openxmlformats.org/drawingml/2006/main">
              <a:ext uri="{FF2B5EF4-FFF2-40B4-BE49-F238E27FC236}">
                <a16:creationId xmlns:a16="http://schemas.microsoft.com/office/drawing/2014/main" id="{95C61C5D-6C94-478F-8EAB-FBADE7DECF1B}"/>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5" name="Système ADG-10">
            <a:extLst xmlns:a="http://schemas.openxmlformats.org/drawingml/2006/main">
              <a:ext uri="{FF2B5EF4-FFF2-40B4-BE49-F238E27FC236}">
                <a16:creationId xmlns:a16="http://schemas.microsoft.com/office/drawing/2014/main" id="{9A2BE65C-6DEE-4490-ADAF-0CE773498713}"/>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6" name="Système ADG-10">
            <a:extLst xmlns:a="http://schemas.openxmlformats.org/drawingml/2006/main">
              <a:ext uri="{FF2B5EF4-FFF2-40B4-BE49-F238E27FC236}">
                <a16:creationId xmlns:a16="http://schemas.microsoft.com/office/drawing/2014/main" id="{4E7376D7-D8DE-4A09-80D7-3460C029DE24}"/>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102B40"/>
                </a:solidFill>
                <a:latin typeface="Calibri"/>
                <a:ea typeface="Calibri"/>
                <a:cs typeface="Calibri"/>
              </a:defRPr>
            </a:pPr>
            <a:r>
              <a:rPr sz="2250" b="1">
                <a:solidFill>
                  <a:srgbClr val="102B40"/>
                </a:solidFill>
                <a:latin typeface="Calibri"/>
                <a:ea typeface="Calibri"/>
                <a:cs typeface="Calibri"/>
              </a:rPr>
              <a:t>Système ADG-10</a:t>
            </a:r>
          </a:p>
        </p:txBody>
      </p:sp>
      <p:sp>
        <p:nvSpPr>
          <p:cNvPr id="7" name="Commercial">
            <a:extLst xmlns:a="http://schemas.openxmlformats.org/drawingml/2006/main">
              <a:ext uri="{FF2B5EF4-FFF2-40B4-BE49-F238E27FC236}">
                <a16:creationId xmlns:a16="http://schemas.microsoft.com/office/drawing/2014/main" id="{BEA0FDCB-BF1D-456D-A614-D175DE94A40D}"/>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Commercial</a:t>
            </a:r>
          </a:p>
        </p:txBody>
      </p:sp>
      <p:sp>
        <p:nvSpPr>
          <p:cNvPr id="8" name="Administrateur">
            <a:extLst xmlns:a="http://schemas.openxmlformats.org/drawingml/2006/main">
              <a:ext uri="{FF2B5EF4-FFF2-40B4-BE49-F238E27FC236}">
                <a16:creationId xmlns:a16="http://schemas.microsoft.com/office/drawing/2014/main" id="{E8DF12F8-0FB7-4274-BD60-BC922BDB3C72}"/>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102B40"/>
                </a:solidFill>
                <a:latin typeface="Calibri"/>
                <a:ea typeface="Calibri"/>
                <a:cs typeface="Calibri"/>
              </a:defRPr>
            </a:pPr>
            <a:r>
              <a:rPr sz="2550">
                <a:solidFill>
                  <a:srgbClr val="102B40"/>
                </a:solidFill>
                <a:latin typeface="Calibri"/>
                <a:ea typeface="Calibri"/>
                <a:cs typeface="Calibri"/>
              </a:rPr>
              <a:t>Administrateur</a:t>
            </a:r>
          </a:p>
        </p:txBody>
      </p:sp>
      <p:sp>
        <p:nvSpPr>
          <p:cNvPr id="9" name="Consulter et filtrer les leads">
            <a:extLst xmlns:a="http://schemas.openxmlformats.org/drawingml/2006/main">
              <a:ext uri="{FF2B5EF4-FFF2-40B4-BE49-F238E27FC236}">
                <a16:creationId xmlns:a16="http://schemas.microsoft.com/office/drawing/2014/main" id="{920629F2-633C-4AA0-A229-A50D2315E088}"/>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Consulter et filtrer les leads</a:t>
            </a:r>
          </a:p>
        </p:txBody>
      </p:sp>
      <p:sp>
        <p:nvSpPr>
          <p:cNvPr id="10" name="Exécuter en simulation / réel">
            <a:extLst xmlns:a="http://schemas.openxmlformats.org/drawingml/2006/main">
              <a:ext uri="{FF2B5EF4-FFF2-40B4-BE49-F238E27FC236}">
                <a16:creationId xmlns:a16="http://schemas.microsoft.com/office/drawing/2014/main" id="{91DF5EF5-E073-488B-AFB2-53350CC5C7FA}"/>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Exécuter en simulation / réel</a:t>
            </a:r>
          </a:p>
        </p:txBody>
      </p:sp>
      <p:sp>
        <p:nvSpPr>
          <p:cNvPr id="11" name="Générer contenus et documents">
            <a:extLst xmlns:a="http://schemas.openxmlformats.org/drawingml/2006/main">
              <a:ext uri="{FF2B5EF4-FFF2-40B4-BE49-F238E27FC236}">
                <a16:creationId xmlns:a16="http://schemas.microsoft.com/office/drawing/2014/main" id="{26E7E852-B2B2-464E-B8D7-3FF8B886491E}"/>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Générer contenus et documents</a:t>
            </a:r>
          </a:p>
        </p:txBody>
      </p:sp>
      <p:sp>
        <p:nvSpPr>
          <p:cNvPr id="12" name="Déclencher les relances">
            <a:extLst xmlns:a="http://schemas.openxmlformats.org/drawingml/2006/main">
              <a:ext uri="{FF2B5EF4-FFF2-40B4-BE49-F238E27FC236}">
                <a16:creationId xmlns:a16="http://schemas.microsoft.com/office/drawing/2014/main" id="{0757B890-32AC-46C2-84F4-367D24CE5D27}"/>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Déclencher les relances</a:t>
            </a:r>
          </a:p>
        </p:txBody>
      </p:sp>
      <p:sp>
        <p:nvSpPr>
          <p:cNvPr id="13" name="Configurer et contrôler les journaux">
            <a:extLst xmlns:a="http://schemas.openxmlformats.org/drawingml/2006/main">
              <a:ext uri="{FF2B5EF4-FFF2-40B4-BE49-F238E27FC236}">
                <a16:creationId xmlns:a16="http://schemas.microsoft.com/office/drawing/2014/main" id="{BD14A02A-683B-414E-A4D3-9F6E6B4AF891}"/>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Configurer et contrôler les journaux</a:t>
            </a:r>
          </a:p>
        </p:txBody>
      </p:sp>
      <p:cxnSp>
        <p:nvCxnSpPr>
          <p:cNvPr id="39" name=""/>
          <p:cNvCxnSpPr>
            <a:stCxn xmlns:a="http://schemas.openxmlformats.org/drawingml/2006/main" id="7" idx="3"/>
            <a:endCxn xmlns:a="http://schemas.openxmlformats.org/drawingml/2006/main" id="9"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0" name=""/>
          <p:cNvCxnSpPr>
            <a:stCxn xmlns:a="http://schemas.openxmlformats.org/drawingml/2006/main" id="7" idx="3"/>
            <a:endCxn xmlns:a="http://schemas.openxmlformats.org/drawingml/2006/main" id="10"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1" name=""/>
          <p:cNvCxnSpPr>
            <a:stCxn xmlns:a="http://schemas.openxmlformats.org/drawingml/2006/main" id="7" idx="3"/>
            <a:endCxn xmlns:a="http://schemas.openxmlformats.org/drawingml/2006/main" id="11"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2" name=""/>
          <p:cNvCxnSpPr>
            <a:stCxn xmlns:a="http://schemas.openxmlformats.org/drawingml/2006/main" id="7" idx="3"/>
            <a:endCxn xmlns:a="http://schemas.openxmlformats.org/drawingml/2006/main" id="12"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3" name=""/>
          <p:cNvCxnSpPr>
            <a:stCxn xmlns:a="http://schemas.openxmlformats.org/drawingml/2006/main" id="8" idx="3"/>
            <a:endCxn xmlns:a="http://schemas.openxmlformats.org/drawingml/2006/main" id="13"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9" name="Airtable&#10;Données CRM">
            <a:extLst xmlns:a="http://schemas.openxmlformats.org/drawingml/2006/main">
              <a:ext uri="{FF2B5EF4-FFF2-40B4-BE49-F238E27FC236}">
                <a16:creationId xmlns:a16="http://schemas.microsoft.com/office/drawing/2014/main" id="{F8ABADEF-BD04-43AC-A5E7-7C66FD5C78A5}"/>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Airtable</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Données CRM</a:t>
            </a:r>
          </a:p>
        </p:txBody>
      </p:sp>
      <p:sp>
        <p:nvSpPr>
          <p:cNvPr id="20" name="Groq&#10;Génération IA">
            <a:extLst xmlns:a="http://schemas.openxmlformats.org/drawingml/2006/main">
              <a:ext uri="{FF2B5EF4-FFF2-40B4-BE49-F238E27FC236}">
                <a16:creationId xmlns:a16="http://schemas.microsoft.com/office/drawing/2014/main" id="{D3E842B7-58D1-423A-A41E-B09C254AA991}"/>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Groq</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Génération IA</a:t>
            </a:r>
          </a:p>
        </p:txBody>
      </p:sp>
      <p:sp>
        <p:nvSpPr>
          <p:cNvPr id="21" name="SMTP / navigateur&#10;Communication">
            <a:extLst xmlns:a="http://schemas.openxmlformats.org/drawingml/2006/main">
              <a:ext uri="{FF2B5EF4-FFF2-40B4-BE49-F238E27FC236}">
                <a16:creationId xmlns:a16="http://schemas.microsoft.com/office/drawing/2014/main" id="{C73DD7C6-AE1D-4A14-AC50-2702129F72E3}"/>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SMTP / navigateur</a:t>
            </a:r>
          </a:p>
          <a:p xmlns:a="http://schemas.openxmlformats.org/drawingml/2006/main">
            <a:pPr algn="ctr">
              <a:defRPr sz="2400">
                <a:solidFill>
                  <a:srgbClr val="102B40"/>
                </a:solidFill>
                <a:latin typeface="Calibri"/>
                <a:ea typeface="Calibri"/>
                <a:cs typeface="Calibri"/>
              </a:defRPr>
            </a:pPr>
            <a:r>
              <a:rPr sz="2400">
                <a:solidFill>
                  <a:srgbClr val="102B40"/>
                </a:solidFill>
                <a:latin typeface="Calibri"/>
                <a:ea typeface="Calibri"/>
                <a:cs typeface="Calibri"/>
              </a:rPr>
              <a:t>Communication</a:t>
            </a:r>
          </a:p>
        </p:txBody>
      </p:sp>
      <p:cxnSp>
        <p:nvCxnSpPr>
          <p:cNvPr id="47" name=""/>
          <p:cNvCxnSpPr>
            <a:stCxn xmlns:a="http://schemas.openxmlformats.org/drawingml/2006/main" id="9" idx="6"/>
            <a:endCxn xmlns:a="http://schemas.openxmlformats.org/drawingml/2006/main" id="19"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8" name=""/>
          <p:cNvCxnSpPr>
            <a:stCxn xmlns:a="http://schemas.openxmlformats.org/drawingml/2006/main" id="11" idx="6"/>
            <a:endCxn xmlns:a="http://schemas.openxmlformats.org/drawingml/2006/main" id="20"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49" name=""/>
          <p:cNvCxnSpPr>
            <a:stCxn xmlns:a="http://schemas.openxmlformats.org/drawingml/2006/main" id="12" idx="6"/>
            <a:endCxn xmlns:a="http://schemas.openxmlformats.org/drawingml/2006/main" id="21"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5" name="Rôles métier du rapport. Le prototype ne dispose pas en">
            <a:extLst xmlns:a="http://schemas.openxmlformats.org/drawingml/2006/main">
              <a:ext uri="{FF2B5EF4-FFF2-40B4-BE49-F238E27FC236}">
                <a16:creationId xmlns:a16="http://schemas.microsoft.com/office/drawing/2014/main" id="{76A29DDC-3980-4B4D-B218-FD728DD118E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1046858762"/>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57b001e3048403a"/>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B54E450B-550D-4457-88C1-DBE5C9E5483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2 / 22">
            <a:extLst xmlns:a="http://schemas.openxmlformats.org/drawingml/2006/main">
              <a:ext uri="{FF2B5EF4-FFF2-40B4-BE49-F238E27FC236}">
                <a16:creationId xmlns:a16="http://schemas.microsoft.com/office/drawing/2014/main" id="{8598E169-FACD-4BF8-92AF-423A09190EA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12 / 22</a:t>
            </a:r>
          </a:p>
        </p:txBody>
      </p:sp>
      <p:sp>
        <p:nvSpPr>
          <p:cNvPr id="4" name="Modèle conceptuel des données">
            <a:extLst xmlns:a="http://schemas.openxmlformats.org/drawingml/2006/main">
              <a:ext uri="{FF2B5EF4-FFF2-40B4-BE49-F238E27FC236}">
                <a16:creationId xmlns:a16="http://schemas.microsoft.com/office/drawing/2014/main" id="{9520D4EF-8F8E-41D1-8821-8916899B7D7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5" name="Formation&#10;id, titre, durée&#10;prix, pitch, objectifs">
            <a:extLst xmlns:a="http://schemas.openxmlformats.org/drawingml/2006/main">
              <a:ext uri="{FF2B5EF4-FFF2-40B4-BE49-F238E27FC236}">
                <a16:creationId xmlns:a16="http://schemas.microsoft.com/office/drawing/2014/main" id="{9CB642FB-9B05-4873-9257-8F53068B56BC}"/>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Formation</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id, titre, durée</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prix, pitch, objectifs</a:t>
            </a:r>
          </a:p>
        </p:txBody>
      </p:sp>
      <p:sp>
        <p:nvSpPr>
          <p:cNvPr id="6" name="Lead&#10;id, coordonnées, score&#10;statut, formation, dates">
            <a:extLst xmlns:a="http://schemas.openxmlformats.org/drawingml/2006/main">
              <a:ext uri="{FF2B5EF4-FFF2-40B4-BE49-F238E27FC236}">
                <a16:creationId xmlns:a16="http://schemas.microsoft.com/office/drawing/2014/main" id="{AC61DA12-6DB3-43F0-9B7F-F51675251C2C}"/>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Lead</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id, coordonnées, score</a:t>
            </a:r>
          </a:p>
          <a:p xmlns:a="http://schemas.openxmlformats.org/drawingml/2006/main">
            <a:pPr algn="ctr">
              <a:defRPr sz="3000">
                <a:solidFill>
                  <a:srgbClr val="102B40"/>
                </a:solidFill>
                <a:latin typeface="Calibri"/>
                <a:ea typeface="Calibri"/>
                <a:cs typeface="Calibri"/>
              </a:defRPr>
            </a:pPr>
            <a:r>
              <a:rPr sz="3000">
                <a:solidFill>
                  <a:srgbClr val="102B40"/>
                </a:solidFill>
                <a:latin typeface="Calibri"/>
                <a:ea typeface="Calibri"/>
                <a:cs typeface="Calibri"/>
              </a:rPr>
              <a:t>statut, formation, dates</a:t>
            </a:r>
          </a:p>
        </p:txBody>
      </p: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8" name="1                         0..*">
            <a:extLst xmlns:a="http://schemas.openxmlformats.org/drawingml/2006/main">
              <a:ext uri="{FF2B5EF4-FFF2-40B4-BE49-F238E27FC236}">
                <a16:creationId xmlns:a16="http://schemas.microsoft.com/office/drawing/2014/main" id="{41368DB2-39EA-4D83-BFA8-C885D94F5642}"/>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102B40"/>
                </a:solidFill>
                <a:latin typeface="Calibri"/>
                <a:ea typeface="Calibri"/>
                <a:cs typeface="Calibri"/>
              </a:defRPr>
            </a:pPr>
            <a:r>
              <a:rPr sz="2325" b="0">
                <a:solidFill>
                  <a:srgbClr val="102B40"/>
                </a:solidFill>
                <a:latin typeface="Calibri"/>
                <a:ea typeface="Calibri"/>
                <a:cs typeface="Calibri"/>
              </a:rPr>
              <a:t>1                         0..*</a:t>
            </a:r>
          </a:p>
        </p:txBody>
      </p:sp>
      <p:sp>
        <p:nvSpPr>
          <p:cNvPr id="9" name="Proposition&#10;référence, date&#10;PDF local">
            <a:extLst xmlns:a="http://schemas.openxmlformats.org/drawingml/2006/main">
              <a:ext uri="{FF2B5EF4-FFF2-40B4-BE49-F238E27FC236}">
                <a16:creationId xmlns:a16="http://schemas.microsoft.com/office/drawing/2014/main" id="{CB878E2A-95C5-4597-8982-8033D9EA8C59}"/>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Proposition</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référence, date</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PDF local</a:t>
            </a:r>
          </a:p>
        </p:txBody>
      </p:sp>
      <p:sp>
        <p:nvSpPr>
          <p:cNvPr id="10" name="Convention / Facture&#10;numéro, montants&#10;PDF local">
            <a:extLst xmlns:a="http://schemas.openxmlformats.org/drawingml/2006/main">
              <a:ext uri="{FF2B5EF4-FFF2-40B4-BE49-F238E27FC236}">
                <a16:creationId xmlns:a16="http://schemas.microsoft.com/office/drawing/2014/main" id="{830C5E46-9369-40A8-8672-DC91B3D121AD}"/>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Convention / Facture</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numéro, montants</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PDF local</a:t>
            </a:r>
          </a:p>
        </p:txBody>
      </p:sp>
      <p:sp>
        <p:nvSpPr>
          <p:cNvPr id="11" name="ActionEnvoi&#10;clé, canal, date UTC&#10;journal JSON">
            <a:extLst xmlns:a="http://schemas.openxmlformats.org/drawingml/2006/main">
              <a:ext uri="{FF2B5EF4-FFF2-40B4-BE49-F238E27FC236}">
                <a16:creationId xmlns:a16="http://schemas.microsoft.com/office/drawing/2014/main" id="{0AC78383-2025-4713-9797-8C1F8A24D620}"/>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ActionEnvoi</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clé, canal, date UTC</a:t>
            </a:r>
          </a:p>
          <a:p xmlns:a="http://schemas.openxmlformats.org/drawingml/2006/main">
            <a:pPr algn="ctr">
              <a:defRPr sz="2700">
                <a:solidFill>
                  <a:srgbClr val="102B40"/>
                </a:solidFill>
                <a:latin typeface="Calibri"/>
                <a:ea typeface="Calibri"/>
                <a:cs typeface="Calibri"/>
              </a:defRPr>
            </a:pPr>
            <a:r>
              <a:rPr sz="2700">
                <a:solidFill>
                  <a:srgbClr val="102B40"/>
                </a:solidFill>
                <a:latin typeface="Calibri"/>
                <a:ea typeface="Calibri"/>
                <a:cs typeface="Calibri"/>
              </a:rPr>
              <a:t>journal JSON</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5" name="Modèle conceptuel, non classes Python persistées. Donné">
            <a:extLst xmlns:a="http://schemas.openxmlformats.org/drawingml/2006/main">
              <a:ext uri="{FF2B5EF4-FFF2-40B4-BE49-F238E27FC236}">
                <a16:creationId xmlns:a16="http://schemas.microsoft.com/office/drawing/2014/main" id="{633831EB-B768-4853-9362-D5DCB5152665}"/>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486291304"/>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98e485693fe4847"/>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DB3F4E55-77A6-4448-BD50-2F42DC2DCAE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3 / 22">
            <a:extLst xmlns:a="http://schemas.openxmlformats.org/drawingml/2006/main">
              <a:ext uri="{FF2B5EF4-FFF2-40B4-BE49-F238E27FC236}">
                <a16:creationId xmlns:a16="http://schemas.microsoft.com/office/drawing/2014/main" id="{774B3AFC-DC75-4257-B6BC-D9A085F5B6A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13 / 22</a:t>
            </a:r>
          </a:p>
        </p:txBody>
      </p:sp>
      <p:sp>
        <p:nvSpPr>
          <p:cNvPr id="4" name="Scoring et routage des prospects">
            <a:extLst xmlns:a="http://schemas.openxmlformats.org/drawingml/2006/main">
              <a:ext uri="{FF2B5EF4-FFF2-40B4-BE49-F238E27FC236}">
                <a16:creationId xmlns:a16="http://schemas.microsoft.com/office/drawing/2014/main" id="{A2BCCC03-8107-4071-9BCF-6AA656FBA2CE}"/>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5" name="Pondération des critères (%)">
            <a:extLst xmlns:a="http://schemas.openxmlformats.org/drawingml/2006/main">
              <a:ext uri="{FF2B5EF4-FFF2-40B4-BE49-F238E27FC236}">
                <a16:creationId xmlns:a16="http://schemas.microsoft.com/office/drawing/2014/main" id="{315E86DA-0059-4D33-883E-34BFD51B0432}"/>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102B40"/>
                </a:solidFill>
                <a:latin typeface="Calibri"/>
                <a:ea typeface="Calibri"/>
                <a:cs typeface="Calibri"/>
              </a:defRPr>
            </a:pPr>
            <a:r>
              <a:rPr sz="2250" b="0">
                <a:solidFill>
                  <a:srgbClr val="102B40"/>
                </a:solidFill>
                <a:latin typeface="Calibri"/>
                <a:ea typeface="Calibri"/>
                <a:cs typeface="Calibri"/>
              </a:rPr>
              <a:t>Pondération des critères (%)</a:t>
            </a:r>
          </a:p>
        </p:txBody>
      </p:sp>
      <p:graphicFrame>
        <p:nvGraphicFramePr>
          <p:cNvPr id="15"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7d470a21781d4565"/>
          </a:graphicData>
        </a:graphic>
      </p:graphicFrame>
      <p:sp>
        <p:nvSpPr>
          <p:cNvPr id="7" name="Score ≥ 8 : priorité commerciale&#10;&#10;5 ≤ score &lt; 8 : quali">
            <a:extLst xmlns:a="http://schemas.openxmlformats.org/drawingml/2006/main">
              <a:ext uri="{FF2B5EF4-FFF2-40B4-BE49-F238E27FC236}">
                <a16:creationId xmlns:a16="http://schemas.microsoft.com/office/drawing/2014/main" id="{B4CB3F3A-296A-4B97-8D1F-302E05C3C17B}"/>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102B40"/>
                </a:solidFill>
                <a:latin typeface="Calibri"/>
                <a:ea typeface="Calibri"/>
                <a:cs typeface="Calibri"/>
              </a:defRPr>
            </a:pPr>
            <a:r>
              <a:rPr sz="3000" b="0">
                <a:solidFill>
                  <a:srgbClr val="102B40"/>
                </a:solidFill>
                <a:latin typeface="Calibri"/>
                <a:ea typeface="Calibri"/>
                <a:cs typeface="Calibri"/>
              </a:rPr>
              <a:t>Score &lt; 5 : nurturing</a:t>
            </a:r>
          </a:p>
        </p:txBody>
      </p:sp>
      <p:sp>
        <p:nvSpPr>
          <p:cNvPr id="8" name="Exemple fictif : 9,5 / 10&#10;Budget 6 000 MAD, besoin urge">
            <a:extLst xmlns:a="http://schemas.openxmlformats.org/drawingml/2006/main">
              <a:ext uri="{FF2B5EF4-FFF2-40B4-BE49-F238E27FC236}">
                <a16:creationId xmlns:a16="http://schemas.microsoft.com/office/drawing/2014/main" id="{B6007061-7371-4B7E-96BB-7D553A41376D}"/>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Exemple fictif : 9,5 / 10</a:t>
            </a:r>
          </a:p>
          <a:p xmlns:a="http://schemas.openxmlformats.org/drawingml/2006/main">
            <a:pPr algn="l">
              <a:defRPr sz="2625" b="0">
                <a:solidFill>
                  <a:srgbClr val="102B40"/>
                </a:solidFill>
                <a:latin typeface="Calibri"/>
                <a:ea typeface="Calibri"/>
                <a:cs typeface="Calibri"/>
              </a:defRPr>
            </a:pPr>
            <a:r>
              <a:rPr sz="2625" b="0">
                <a:solidFill>
                  <a:srgbClr val="102B40"/>
                </a:solidFill>
                <a:latin typeface="Calibri"/>
                <a:ea typeface="Calibri"/>
                <a:cs typeface="Calibri"/>
              </a:rPr>
              <a:t>Budget 6 000 MAD, besoin urgent, DRH, PME, e-mail direct.</a:t>
            </a:r>
          </a:p>
        </p:txBody>
      </p:sp>
      <p:sp>
        <p:nvSpPr>
          <p:cNvPr id="9" name="Le score exprime une priorité de traitement. Il ne mesu">
            <a:extLst xmlns:a="http://schemas.openxmlformats.org/drawingml/2006/main">
              <a:ext uri="{FF2B5EF4-FFF2-40B4-BE49-F238E27FC236}">
                <a16:creationId xmlns:a16="http://schemas.microsoft.com/office/drawing/2014/main" id="{A8087345-7E36-4744-9D92-39215A7D4DE1}"/>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386733279"/>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7"/>
                                  </p:tgtEl>
                                  <p:attrNameLst>
                                    <p:attrName>style.visibility</p:attrName>
                                  </p:attrNameLst>
                                </p:cBhvr>
                                <p:to>
                                  <p:strVal val="visible"/>
                                </p:to>
                              </p:set>
                              <p:animEffect transition="in" filter="fade">
                                <p:cBhvr>
                                  <p:cTn id="14" dur="450" fill="hold"/>
                                  <p:tgtEl>
                                    <p:spTgt spid="7"/>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8"/>
                                  </p:tgtEl>
                                  <p:attrNameLst>
                                    <p:attrName>style.visibility</p:attrName>
                                  </p:attrNameLst>
                                </p:cBhvr>
                                <p:to>
                                  <p:strVal val="visible"/>
                                </p:to>
                              </p:set>
                              <p:animEffect transition="in" filter="fade">
                                <p:cBhvr>
                                  <p:cTn id="18" dur="4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10d01a8f58cc403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F0AF016-1B39-4B67-8740-FEF904C8391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4 / 22">
            <a:extLst xmlns:a="http://schemas.openxmlformats.org/drawingml/2006/main">
              <a:ext uri="{FF2B5EF4-FFF2-40B4-BE49-F238E27FC236}">
                <a16:creationId xmlns:a16="http://schemas.microsoft.com/office/drawing/2014/main" id="{CD8082EC-47DE-42ED-A4BE-5D2811D15C0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14 / 22</a:t>
            </a:r>
          </a:p>
        </p:txBody>
      </p:sp>
      <p:sp>
        <p:nvSpPr>
          <p:cNvPr id="4" name="Séquence d’envoi d’une proposition">
            <a:extLst xmlns:a="http://schemas.openxmlformats.org/drawingml/2006/main">
              <a:ext uri="{FF2B5EF4-FFF2-40B4-BE49-F238E27FC236}">
                <a16:creationId xmlns:a16="http://schemas.microsoft.com/office/drawing/2014/main" id="{6EB6689F-4BE1-4CA8-BBAA-11BA4FE83B4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5" name="Script E6">
            <a:extLst xmlns:a="http://schemas.openxmlformats.org/drawingml/2006/main">
              <a:ext uri="{FF2B5EF4-FFF2-40B4-BE49-F238E27FC236}">
                <a16:creationId xmlns:a16="http://schemas.microsoft.com/office/drawing/2014/main" id="{060A1337-33F0-4B62-BF80-65C13F836510}"/>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Script E6</a:t>
            </a:r>
          </a:p>
        </p:txBody>
      </p:sp>
      <p:sp>
        <p:nvSpPr>
          <p:cNvPr id="6" name="Airtable">
            <a:extLst xmlns:a="http://schemas.openxmlformats.org/drawingml/2006/main">
              <a:ext uri="{FF2B5EF4-FFF2-40B4-BE49-F238E27FC236}">
                <a16:creationId xmlns:a16="http://schemas.microsoft.com/office/drawing/2014/main" id="{6EF08229-65D1-4772-B4F2-EFCFFA004399}"/>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Airtable</a:t>
            </a:r>
          </a:p>
        </p:txBody>
      </p:sp>
      <p:sp>
        <p:nvSpPr>
          <p:cNvPr id="7" name="Journal local">
            <a:extLst xmlns:a="http://schemas.openxmlformats.org/drawingml/2006/main">
              <a:ext uri="{FF2B5EF4-FFF2-40B4-BE49-F238E27FC236}">
                <a16:creationId xmlns:a16="http://schemas.microsoft.com/office/drawing/2014/main" id="{0B095A8E-E12F-4E01-95BD-769306F31C4F}"/>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Journal local</a:t>
            </a:r>
          </a:p>
        </p:txBody>
      </p:sp>
      <p:sp>
        <p:nvSpPr>
          <p:cNvPr id="8" name="PDF">
            <a:extLst xmlns:a="http://schemas.openxmlformats.org/drawingml/2006/main">
              <a:ext uri="{FF2B5EF4-FFF2-40B4-BE49-F238E27FC236}">
                <a16:creationId xmlns:a16="http://schemas.microsoft.com/office/drawing/2014/main" id="{22E049B4-795B-457E-A60C-EB9C15BF57D5}"/>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PDF</a:t>
            </a:r>
          </a:p>
        </p:txBody>
      </p:sp>
      <p:sp>
        <p:nvSpPr>
          <p:cNvPr id="9" name="SMTP">
            <a:extLst xmlns:a="http://schemas.openxmlformats.org/drawingml/2006/main">
              <a:ext uri="{FF2B5EF4-FFF2-40B4-BE49-F238E27FC236}">
                <a16:creationId xmlns:a16="http://schemas.microsoft.com/office/drawing/2014/main" id="{3508B679-875E-4419-A028-AA3937F16565}"/>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102B40"/>
                </a:solidFill>
                <a:latin typeface="Calibri"/>
                <a:ea typeface="Calibri"/>
                <a:cs typeface="Calibri"/>
              </a:defRPr>
            </a:pPr>
            <a:r>
              <a:rPr sz="2625">
                <a:solidFill>
                  <a:srgbClr val="102B40"/>
                </a:solidFill>
                <a:latin typeface="Calibri"/>
                <a:ea typeface="Calibri"/>
                <a:cs typeface="Calibri"/>
              </a:rPr>
              <a:t>SMTP</a:t>
            </a:r>
          </a:p>
        </p:txBody>
      </p:sp>
      <p:sp>
        <p:nvSpPr>
          <p:cNvPr id="10" name="Point de séquence">
            <a:extLst xmlns:a="http://schemas.openxmlformats.org/drawingml/2006/main">
              <a:ext uri="{FF2B5EF4-FFF2-40B4-BE49-F238E27FC236}">
                <a16:creationId xmlns:a16="http://schemas.microsoft.com/office/drawing/2014/main" id="{A6C5D464-61F1-4A18-86A9-0FA81F27A5BE}"/>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0"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2" name="Point de séquence">
            <a:extLst xmlns:a="http://schemas.openxmlformats.org/drawingml/2006/main">
              <a:ext uri="{FF2B5EF4-FFF2-40B4-BE49-F238E27FC236}">
                <a16:creationId xmlns:a16="http://schemas.microsoft.com/office/drawing/2014/main" id="{2996E39A-632C-4AD7-B0CD-9586AF4E5F98}"/>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2"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4" name="Point de séquence">
            <a:extLst xmlns:a="http://schemas.openxmlformats.org/drawingml/2006/main">
              <a:ext uri="{FF2B5EF4-FFF2-40B4-BE49-F238E27FC236}">
                <a16:creationId xmlns:a16="http://schemas.microsoft.com/office/drawing/2014/main" id="{926FB656-6B7D-4DF0-89FE-348ECE410E06}"/>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4"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6" name="Point de séquence">
            <a:extLst xmlns:a="http://schemas.openxmlformats.org/drawingml/2006/main">
              <a:ext uri="{FF2B5EF4-FFF2-40B4-BE49-F238E27FC236}">
                <a16:creationId xmlns:a16="http://schemas.microsoft.com/office/drawing/2014/main" id="{357B2B0C-7B1E-4E38-AE7E-D5A2462A6C04}"/>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6"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8" name="Point de séquence">
            <a:extLst xmlns:a="http://schemas.openxmlformats.org/drawingml/2006/main">
              <a:ext uri="{FF2B5EF4-FFF2-40B4-BE49-F238E27FC236}">
                <a16:creationId xmlns:a16="http://schemas.microsoft.com/office/drawing/2014/main" id="{DC93DD1D-6A36-47BA-9A4C-776FC25FAE8F}"/>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3" name=""/>
          <p:cNvCxnSpPr>
            <a:stCxn xmlns:a="http://schemas.openxmlformats.org/drawingml/2006/main" id="9" idx="2"/>
            <a:endCxn xmlns:a="http://schemas.openxmlformats.org/drawingml/2006/main" id="18"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20" name="Point de séquence">
            <a:extLst xmlns:a="http://schemas.openxmlformats.org/drawingml/2006/main">
              <a:ext uri="{FF2B5EF4-FFF2-40B4-BE49-F238E27FC236}">
                <a16:creationId xmlns:a16="http://schemas.microsoft.com/office/drawing/2014/main" id="{A9FE60A5-6514-4AB8-9DC3-ED5E666634E6}"/>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1" name="Point de séquence">
            <a:extLst xmlns:a="http://schemas.openxmlformats.org/drawingml/2006/main">
              <a:ext uri="{FF2B5EF4-FFF2-40B4-BE49-F238E27FC236}">
                <a16:creationId xmlns:a16="http://schemas.microsoft.com/office/drawing/2014/main" id="{44DC4750-0782-4A4D-91EC-722FAC11CA05}"/>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6" name=""/>
          <p:cNvCxnSpPr>
            <a:stCxn xmlns:a="http://schemas.openxmlformats.org/drawingml/2006/main" id="20" idx="3"/>
            <a:endCxn xmlns:a="http://schemas.openxmlformats.org/drawingml/2006/main" id="21"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3" name="1. Lire les prospects">
            <a:extLst xmlns:a="http://schemas.openxmlformats.org/drawingml/2006/main">
              <a:ext uri="{FF2B5EF4-FFF2-40B4-BE49-F238E27FC236}">
                <a16:creationId xmlns:a16="http://schemas.microsoft.com/office/drawing/2014/main" id="{D7EE952A-7462-4ED7-A124-690F13453586}"/>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1. Lire les prospects</a:t>
            </a:r>
          </a:p>
        </p:txBody>
      </p:sp>
      <p:sp>
        <p:nvSpPr>
          <p:cNvPr id="24" name="Point de séquence">
            <a:extLst xmlns:a="http://schemas.openxmlformats.org/drawingml/2006/main">
              <a:ext uri="{FF2B5EF4-FFF2-40B4-BE49-F238E27FC236}">
                <a16:creationId xmlns:a16="http://schemas.microsoft.com/office/drawing/2014/main" id="{452FFBCF-444B-479D-A7B4-5DF2ADF029E1}"/>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5" name="Point de séquence">
            <a:extLst xmlns:a="http://schemas.openxmlformats.org/drawingml/2006/main">
              <a:ext uri="{FF2B5EF4-FFF2-40B4-BE49-F238E27FC236}">
                <a16:creationId xmlns:a16="http://schemas.microsoft.com/office/drawing/2014/main" id="{A8B48842-EF32-4F0E-82E9-24E03589E35B}"/>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27" name="2. Rechercher un envoi antérieur">
            <a:extLst xmlns:a="http://schemas.openxmlformats.org/drawingml/2006/main">
              <a:ext uri="{FF2B5EF4-FFF2-40B4-BE49-F238E27FC236}">
                <a16:creationId xmlns:a16="http://schemas.microsoft.com/office/drawing/2014/main" id="{0E7C2CC5-5883-4013-A662-5B04B2937596}"/>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2. Rechercher un envoi antérieur</a:t>
            </a:r>
          </a:p>
        </p:txBody>
      </p:sp>
      <p:sp>
        <p:nvSpPr>
          <p:cNvPr id="28" name="Point de séquence">
            <a:extLst xmlns:a="http://schemas.openxmlformats.org/drawingml/2006/main">
              <a:ext uri="{FF2B5EF4-FFF2-40B4-BE49-F238E27FC236}">
                <a16:creationId xmlns:a16="http://schemas.microsoft.com/office/drawing/2014/main" id="{123A0AAD-0C16-406B-BBAE-B5CC4FB2BD06}"/>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Point de séquence">
            <a:extLst xmlns:a="http://schemas.openxmlformats.org/drawingml/2006/main">
              <a:ext uri="{FF2B5EF4-FFF2-40B4-BE49-F238E27FC236}">
                <a16:creationId xmlns:a16="http://schemas.microsoft.com/office/drawing/2014/main" id="{4312BBF8-B898-4762-8199-1BEAE00EDF6D}"/>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4" name=""/>
          <p:cNvCxnSpPr>
            <a:stCxn xmlns:a="http://schemas.openxmlformats.org/drawingml/2006/main" id="28" idx="3"/>
            <a:endCxn xmlns:a="http://schemas.openxmlformats.org/drawingml/2006/main" id="29"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1" name="3. Générer la proposition">
            <a:extLst xmlns:a="http://schemas.openxmlformats.org/drawingml/2006/main">
              <a:ext uri="{FF2B5EF4-FFF2-40B4-BE49-F238E27FC236}">
                <a16:creationId xmlns:a16="http://schemas.microsoft.com/office/drawing/2014/main" id="{4CC5B2E4-3C38-4409-8F21-665956D4B8EF}"/>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3. Générer la proposition</a:t>
            </a:r>
          </a:p>
        </p:txBody>
      </p:sp>
      <p:sp>
        <p:nvSpPr>
          <p:cNvPr id="32" name="Point de séquence">
            <a:extLst xmlns:a="http://schemas.openxmlformats.org/drawingml/2006/main">
              <a:ext uri="{FF2B5EF4-FFF2-40B4-BE49-F238E27FC236}">
                <a16:creationId xmlns:a16="http://schemas.microsoft.com/office/drawing/2014/main" id="{006FAF73-A0A8-42AB-B98D-3F88218BC236}"/>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3" name="Point de séquence">
            <a:extLst xmlns:a="http://schemas.openxmlformats.org/drawingml/2006/main">
              <a:ext uri="{FF2B5EF4-FFF2-40B4-BE49-F238E27FC236}">
                <a16:creationId xmlns:a16="http://schemas.microsoft.com/office/drawing/2014/main" id="{51B50C47-C579-4DBA-9828-5E682A0D6505}"/>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32" idx="3"/>
            <a:endCxn xmlns:a="http://schemas.openxmlformats.org/drawingml/2006/main" id="33"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5" name="4. Envoyer avec pièce jointe">
            <a:extLst xmlns:a="http://schemas.openxmlformats.org/drawingml/2006/main">
              <a:ext uri="{FF2B5EF4-FFF2-40B4-BE49-F238E27FC236}">
                <a16:creationId xmlns:a16="http://schemas.microsoft.com/office/drawing/2014/main" id="{42301D26-AF02-4043-98DF-3E9410313C12}"/>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4. Envoyer avec pièce jointe</a:t>
            </a:r>
          </a:p>
        </p:txBody>
      </p:sp>
      <p:sp>
        <p:nvSpPr>
          <p:cNvPr id="36" name="Point de séquence">
            <a:extLst xmlns:a="http://schemas.openxmlformats.org/drawingml/2006/main">
              <a:ext uri="{FF2B5EF4-FFF2-40B4-BE49-F238E27FC236}">
                <a16:creationId xmlns:a16="http://schemas.microsoft.com/office/drawing/2014/main" id="{09DF72B1-5BC0-4A21-A8AE-CE3F5DF68AFA}"/>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7" name="Point de séquence">
            <a:extLst xmlns:a="http://schemas.openxmlformats.org/drawingml/2006/main">
              <a:ext uri="{FF2B5EF4-FFF2-40B4-BE49-F238E27FC236}">
                <a16:creationId xmlns:a16="http://schemas.microsoft.com/office/drawing/2014/main" id="{9268DE24-2EFB-479F-9DEE-A8C7D2B18C14}"/>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6" idx="3"/>
            <a:endCxn xmlns:a="http://schemas.openxmlformats.org/drawingml/2006/main" id="37"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39" name="5. Mémoriser le succès">
            <a:extLst xmlns:a="http://schemas.openxmlformats.org/drawingml/2006/main">
              <a:ext uri="{FF2B5EF4-FFF2-40B4-BE49-F238E27FC236}">
                <a16:creationId xmlns:a16="http://schemas.microsoft.com/office/drawing/2014/main" id="{F86E24F2-7BE1-410F-930F-A3D4EFFC597D}"/>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5. Mémoriser le succès</a:t>
            </a:r>
          </a:p>
        </p:txBody>
      </p:sp>
      <p:sp>
        <p:nvSpPr>
          <p:cNvPr id="40" name="Point de séquence">
            <a:extLst xmlns:a="http://schemas.openxmlformats.org/drawingml/2006/main">
              <a:ext uri="{FF2B5EF4-FFF2-40B4-BE49-F238E27FC236}">
                <a16:creationId xmlns:a16="http://schemas.microsoft.com/office/drawing/2014/main" id="{82F8FE30-FD81-4916-8663-1D3EE4ABC601}"/>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1" name="Point de séquence">
            <a:extLst xmlns:a="http://schemas.openxmlformats.org/drawingml/2006/main">
              <a:ext uri="{FF2B5EF4-FFF2-40B4-BE49-F238E27FC236}">
                <a16:creationId xmlns:a16="http://schemas.microsoft.com/office/drawing/2014/main" id="{00B71AA4-A060-4733-A10F-FC5FAB4577E8}"/>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40" idx="3"/>
            <a:endCxn xmlns:a="http://schemas.openxmlformats.org/drawingml/2006/main" id="41"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43" name="6. Mettre à jour date et statut">
            <a:extLst xmlns:a="http://schemas.openxmlformats.org/drawingml/2006/main">
              <a:ext uri="{FF2B5EF4-FFF2-40B4-BE49-F238E27FC236}">
                <a16:creationId xmlns:a16="http://schemas.microsoft.com/office/drawing/2014/main" id="{0A58519A-EA00-4285-801B-0481BDCDDC7D}"/>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02B40"/>
                </a:solidFill>
                <a:latin typeface="Calibri"/>
                <a:ea typeface="Calibri"/>
                <a:cs typeface="Calibri"/>
              </a:defRPr>
            </a:pPr>
            <a:r>
              <a:rPr sz="2175" b="0">
                <a:solidFill>
                  <a:srgbClr val="102B40"/>
                </a:solidFill>
                <a:latin typeface="Calibri"/>
                <a:ea typeface="Calibri"/>
                <a:cs typeface="Calibri"/>
              </a:rPr>
              <a:t>6. Mettre à jour date et statut</a:t>
            </a:r>
          </a:p>
        </p:txBody>
      </p:sp>
      <p:sp>
        <p:nvSpPr>
          <p:cNvPr id="44" name="Si l’envoi est déjà journalisé : réconcilier le CRM san">
            <a:extLst xmlns:a="http://schemas.openxmlformats.org/drawingml/2006/main">
              <a:ext uri="{FF2B5EF4-FFF2-40B4-BE49-F238E27FC236}">
                <a16:creationId xmlns:a16="http://schemas.microsoft.com/office/drawing/2014/main" id="{472D2FDA-742F-4858-BE2F-29B3076A4D14}"/>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540703530"/>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effed295614bc5"/>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7AD1E9F8-DEEE-40B8-9567-6FD9D24C65A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5 / 22">
            <a:extLst xmlns:a="http://schemas.openxmlformats.org/drawingml/2006/main">
              <a:ext uri="{FF2B5EF4-FFF2-40B4-BE49-F238E27FC236}">
                <a16:creationId xmlns:a16="http://schemas.microsoft.com/office/drawing/2014/main" id="{15384E8E-544B-417D-94E7-F5A2271B81C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15 / 22</a:t>
            </a:r>
          </a:p>
        </p:txBody>
      </p:sp>
      <p:sp>
        <p:nvSpPr>
          <p:cNvPr id="4" name="Architecture technique">
            <a:extLst xmlns:a="http://schemas.openxmlformats.org/drawingml/2006/main">
              <a:ext uri="{FF2B5EF4-FFF2-40B4-BE49-F238E27FC236}">
                <a16:creationId xmlns:a16="http://schemas.microsoft.com/office/drawing/2014/main" id="{305C7441-A00F-43A5-B2E8-8AA2FA143FA1}"/>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5" name="Interface Streamlit : vues, filtres, commandes">
            <a:extLst xmlns:a="http://schemas.openxmlformats.org/drawingml/2006/main">
              <a:ext uri="{FF2B5EF4-FFF2-40B4-BE49-F238E27FC236}">
                <a16:creationId xmlns:a16="http://schemas.microsoft.com/office/drawing/2014/main" id="{4E599AFA-39DF-4FF9-8815-6D4F061F3ABD}"/>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102B40"/>
                </a:solidFill>
                <a:latin typeface="Calibri"/>
                <a:ea typeface="Calibri"/>
                <a:cs typeface="Calibri"/>
              </a:defRPr>
            </a:pPr>
            <a:r>
              <a:rPr sz="2925">
                <a:solidFill>
                  <a:srgbClr val="102B40"/>
                </a:solidFill>
                <a:latin typeface="Calibri"/>
                <a:ea typeface="Calibri"/>
                <a:cs typeface="Calibri"/>
              </a:rPr>
              <a:t>Interface Streamlit : vues, filtres, commandes</a:t>
            </a:r>
          </a:p>
        </p:txBody>
      </p:sp>
      <p:sp>
        <p:nvSpPr>
          <p:cNvPr id="6" name="Scripts E1 à E8 et orchestrateur du pipeline">
            <a:extLst xmlns:a="http://schemas.openxmlformats.org/drawingml/2006/main">
              <a:ext uri="{FF2B5EF4-FFF2-40B4-BE49-F238E27FC236}">
                <a16:creationId xmlns:a16="http://schemas.microsoft.com/office/drawing/2014/main" id="{B920FEF7-99C3-4770-AABF-082E1D7A5A26}"/>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102B40"/>
                </a:solidFill>
                <a:latin typeface="Calibri"/>
                <a:ea typeface="Calibri"/>
                <a:cs typeface="Calibri"/>
              </a:defRPr>
            </a:pPr>
            <a:r>
              <a:rPr sz="2925">
                <a:solidFill>
                  <a:srgbClr val="102B40"/>
                </a:solidFill>
                <a:latin typeface="Calibri"/>
                <a:ea typeface="Calibri"/>
                <a:cs typeface="Calibri"/>
              </a:rPr>
              <a:t>Scripts E1 à E8 et orchestrateur du pipeline</a:t>
            </a:r>
          </a:p>
        </p:txBody>
      </p:sp>
      <p:sp>
        <p:nvSpPr>
          <p:cNvPr id="7" name="Règles métier : scoring, séquences, modèles de messages">
            <a:extLst xmlns:a="http://schemas.openxmlformats.org/drawingml/2006/main">
              <a:ext uri="{FF2B5EF4-FFF2-40B4-BE49-F238E27FC236}">
                <a16:creationId xmlns:a16="http://schemas.microsoft.com/office/drawing/2014/main" id="{C3C4AD8B-1831-4380-9A76-20238F9A72F9}"/>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102B40"/>
                </a:solidFill>
                <a:latin typeface="Calibri"/>
                <a:ea typeface="Calibri"/>
                <a:cs typeface="Calibri"/>
              </a:defRPr>
            </a:pPr>
            <a:r>
              <a:rPr sz="2775">
                <a:solidFill>
                  <a:srgbClr val="102B40"/>
                </a:solidFill>
                <a:latin typeface="Calibri"/>
                <a:ea typeface="Calibri"/>
                <a:cs typeface="Calibri"/>
              </a:rPr>
              <a:t>Règles métier : scoring, séquences, modèles de messages</a:t>
            </a:r>
          </a:p>
        </p:txBody>
      </p:sp>
      <p:cxnSp>
        <p:nvCxnSpPr>
          <p:cNvPr id="24" name=""/>
          <p:cNvCxnSpPr>
            <a:stCxn xmlns:a="http://schemas.openxmlformats.org/drawingml/2006/main" id="5" idx="2"/>
            <a:endCxn xmlns:a="http://schemas.openxmlformats.org/drawingml/2006/main" id="6"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25" name=""/>
          <p:cNvCxnSpPr>
            <a:stCxn xmlns:a="http://schemas.openxmlformats.org/drawingml/2006/main" id="6" idx="2"/>
            <a:endCxn xmlns:a="http://schemas.openxmlformats.org/drawingml/2006/main" id="7"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0" name="Airtable / Groq&#10;API externes">
            <a:extLst xmlns:a="http://schemas.openxmlformats.org/drawingml/2006/main">
              <a:ext uri="{FF2B5EF4-FFF2-40B4-BE49-F238E27FC236}">
                <a16:creationId xmlns:a16="http://schemas.microsoft.com/office/drawing/2014/main" id="{DDAD3B37-6C91-402B-83E6-D12F8A0439FF}"/>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Airtable / Groq</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API externes</a:t>
            </a:r>
          </a:p>
        </p:txBody>
      </p:sp>
      <p:sp>
        <p:nvSpPr>
          <p:cNvPr id="11" name="SMTP / WhatsApp&#10;Adaptateurs d’envoi">
            <a:extLst xmlns:a="http://schemas.openxmlformats.org/drawingml/2006/main">
              <a:ext uri="{FF2B5EF4-FFF2-40B4-BE49-F238E27FC236}">
                <a16:creationId xmlns:a16="http://schemas.microsoft.com/office/drawing/2014/main" id="{3661B528-C62B-4446-8AB8-9E1D6DD2CE0F}"/>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SMTP / WhatsApp</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Adaptateurs d’envoi</a:t>
            </a:r>
          </a:p>
        </p:txBody>
      </p:sp>
      <p:sp>
        <p:nvSpPr>
          <p:cNvPr id="12" name="ReportLab / JSON&#10;PDF et état local">
            <a:extLst xmlns:a="http://schemas.openxmlformats.org/drawingml/2006/main">
              <a:ext uri="{FF2B5EF4-FFF2-40B4-BE49-F238E27FC236}">
                <a16:creationId xmlns:a16="http://schemas.microsoft.com/office/drawing/2014/main" id="{55E292FA-E27C-445F-9B55-5513CEDBD1D5}"/>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EAF5F7"/>
          </a:solidFill>
          <a:ln xmlns:a="http://schemas.openxmlformats.org/drawingml/2006/main" w="19050">
            <a:solidFill>
              <a:srgbClr val="008C9B"/>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ReportLab / JSON</a:t>
            </a:r>
          </a:p>
          <a:p xmlns:a="http://schemas.openxmlformats.org/drawingml/2006/main">
            <a:pPr algn="ctr">
              <a:defRPr sz="2475">
                <a:solidFill>
                  <a:srgbClr val="102B40"/>
                </a:solidFill>
                <a:latin typeface="Calibri"/>
                <a:ea typeface="Calibri"/>
                <a:cs typeface="Calibri"/>
              </a:defRPr>
            </a:pPr>
            <a:r>
              <a:rPr sz="2475">
                <a:solidFill>
                  <a:srgbClr val="102B40"/>
                </a:solidFill>
                <a:latin typeface="Calibri"/>
                <a:ea typeface="Calibri"/>
                <a:cs typeface="Calibri"/>
              </a:rPr>
              <a:t>PDF et état local</a:t>
            </a:r>
          </a:p>
        </p:txBody>
      </p:sp>
      <p:cxnSp>
        <p:nvCxnSpPr>
          <p:cNvPr id="29" name=""/>
          <p:cNvCxnSpPr>
            <a:stCxn xmlns:a="http://schemas.openxmlformats.org/drawingml/2006/main" id="7" idx="2"/>
            <a:endCxn xmlns:a="http://schemas.openxmlformats.org/drawingml/2006/main" id="10"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30" name=""/>
          <p:cNvCxnSpPr>
            <a:stCxn xmlns:a="http://schemas.openxmlformats.org/drawingml/2006/main" id="7" idx="2"/>
            <a:endCxn xmlns:a="http://schemas.openxmlformats.org/drawingml/2006/main" id="11"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008C9B"/>
            </a:solidFill>
            <a:tailEnd type="triangle" w="sm" len="sm"/>
          </a:ln>
        </p:spPr>
      </p:cxnSp>
      <p:cxnSp>
        <p:nvCxnSpPr>
          <p:cNvPr id="31" name=""/>
          <p:cNvCxnSpPr>
            <a:stCxn xmlns:a="http://schemas.openxmlformats.org/drawingml/2006/main" id="7" idx="2"/>
            <a:endCxn xmlns:a="http://schemas.openxmlformats.org/drawingml/2006/main" id="12"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008C9B"/>
            </a:solidFill>
            <a:tailEnd type="triangle" w="sm" len="sm"/>
          </a:ln>
        </p:spPr>
      </p:cxnSp>
      <p:sp>
        <p:nvSpPr>
          <p:cNvPr id="16" name="Configuration centralisée, simulation par défaut, logs ">
            <a:extLst xmlns:a="http://schemas.openxmlformats.org/drawingml/2006/main">
              <a:ext uri="{FF2B5EF4-FFF2-40B4-BE49-F238E27FC236}">
                <a16:creationId xmlns:a16="http://schemas.microsoft.com/office/drawing/2014/main" id="{CD4D8C0E-C0F5-4A06-A1A2-AA22607FB6F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1532875171"/>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c9fb7c12ecf4d59"/>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55BE20F7-87C0-4A57-9B47-C3B2223A2A1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DF6C7921-C4F2-41B2-8FB8-82B66EB9C27D}"/>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D7A75BAF-1F74-4863-87FE-1D9384FD7AF9}"/>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3700F4D6-33F1-4A86-AFAA-30C87477D39A}"/>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7939DD07-8733-4523-833B-01F6DFCF96A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1951126531"/>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5c14942378492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6FC3169-430D-4617-89AC-BD56174F8D1F}"/>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7 / 22">
            <a:extLst xmlns:a="http://schemas.openxmlformats.org/drawingml/2006/main">
              <a:ext uri="{FF2B5EF4-FFF2-40B4-BE49-F238E27FC236}">
                <a16:creationId xmlns:a16="http://schemas.microsoft.com/office/drawing/2014/main" id="{417828E2-F882-4162-8BC7-D59A1002211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17 / 22</a:t>
            </a:r>
          </a:p>
        </p:txBody>
      </p:sp>
      <p:sp>
        <p:nvSpPr>
          <p:cNvPr id="4" name="Choix techniques">
            <a:extLst xmlns:a="http://schemas.openxmlformats.org/drawingml/2006/main">
              <a:ext uri="{FF2B5EF4-FFF2-40B4-BE49-F238E27FC236}">
                <a16:creationId xmlns:a16="http://schemas.microsoft.com/office/drawing/2014/main" id="{C604CDB0-A34B-41B0-A999-845A52B8890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11"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FFFFFF"/>
                          </a:solidFill>
                          <a:latin typeface="Calibri"/>
                          <a:ea typeface="Calibri"/>
                          <a:cs typeface="Calibri"/>
                        </a:rPr>
                        <a:t>Technologie</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Rôle dans ADG-10</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Justification</a:t>
                      </a:r>
                    </a:p>
                  </a:txBody>
                  <a:tcPr marL="91440" marR="91440" marT="45720" marB="45720" anchor="ctr">
                    <a:solidFill>
                      <a:srgbClr val="102B40"/>
                    </a:solidFill>
                  </a:tcPr>
                </a:tc>
              </a:tr>
              <a:tr h="857250">
                <a:tc>
                  <a:txBody>
                    <a:bodyPr lIns="190500" tIns="114300" rIns="190500" bIns="114300"/>
                    <a:lstStyle/>
                    <a:p>
                      <a:r>
                        <a:rPr sz="2625" b="0">
                          <a:solidFill>
                            <a:srgbClr val="102B40"/>
                          </a:solidFill>
                          <a:latin typeface="Calibri"/>
                          <a:ea typeface="Calibri"/>
                          <a:cs typeface="Calibri"/>
                        </a:rPr>
                        <a:t>Python</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Scripts et règles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Modules lisibles et testables</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Airtable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Catalogue et prospects</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Données accessibles à l’équipe</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Groq</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Génération des contenus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Réponse JSON contrôlée</a:t>
                      </a:r>
                    </a:p>
                  </a:txBody>
                  <a:tcPr marL="91440" marR="91440" marT="45720" marB="45720" anchor="ctr">
                    <a:solidFill>
                      <a:srgbClr val="EAF3F6"/>
                    </a:solidFill>
                  </a:tcPr>
                </a:tc>
              </a:tr>
              <a:tr h="857250">
                <a:tc>
                  <a:txBody>
                    <a:bodyPr lIns="190500" tIns="114300" rIns="190500" bIns="114300"/>
                    <a:lstStyle/>
                    <a:p>
                      <a:r>
                        <a:rPr sz="2625" b="0">
                          <a:solidFill>
                            <a:srgbClr val="102B40"/>
                          </a:solidFill>
                          <a:latin typeface="Calibri"/>
                          <a:ea typeface="Calibri"/>
                          <a:cs typeface="Calibri"/>
                        </a:rPr>
                        <a:t>Streamlit</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Interface de pilotage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Dashboard directement en Python</a:t>
                      </a:r>
                    </a:p>
                  </a:txBody>
                  <a:tcPr marL="91440" marR="91440" marT="45720" marB="45720" anchor="ctr">
                    <a:solidFill>
                      <a:srgbClr val="FFFFFF"/>
                    </a:solidFill>
                  </a:tcPr>
                </a:tc>
              </a:tr>
              <a:tr h="857250">
                <a:tc>
                  <a:txBody>
                    <a:bodyPr lIns="190500" tIns="114300" rIns="190500" bIns="114300"/>
                    <a:lstStyle/>
                    <a:p>
                      <a:r>
                        <a:rPr sz="2625" b="0">
                          <a:solidFill>
                            <a:srgbClr val="102B40"/>
                          </a:solidFill>
                          <a:latin typeface="Calibri"/>
                          <a:ea typeface="Calibri"/>
                          <a:cs typeface="Calibri"/>
                        </a:rPr>
                        <a:t>ReportLab</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Offres, conventions et factures</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Thème documentaire partagé</a:t>
                      </a:r>
                    </a:p>
                  </a:txBody>
                  <a:tcPr marL="91440" marR="91440" marT="45720" marB="45720" anchor="ctr">
                    <a:solidFill>
                      <a:srgbClr val="EAF3F6"/>
                    </a:solidFill>
                  </a:tcPr>
                </a:tc>
              </a:tr>
            </a:tbl>
          </a:graphicData>
        </a:graphic>
      </p:graphicFrame>
      <p:sp>
        <p:nvSpPr>
          <p:cNvPr id="6" name="SMTP gère l’e-mail. WhatsApp repose sur l’automatisatio">
            <a:extLst xmlns:a="http://schemas.openxmlformats.org/drawingml/2006/main">
              <a:ext uri="{FF2B5EF4-FFF2-40B4-BE49-F238E27FC236}">
                <a16:creationId xmlns:a16="http://schemas.microsoft.com/office/drawing/2014/main" id="{6DA844A0-1AC2-4BC7-A6FC-EA7C2495976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1221477099"/>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9f54c635b5346b8"/>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9DAE0F45-61B9-4F53-B36D-397997E0CB3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8 / 22">
            <a:extLst xmlns:a="http://schemas.openxmlformats.org/drawingml/2006/main">
              <a:ext uri="{FF2B5EF4-FFF2-40B4-BE49-F238E27FC236}">
                <a16:creationId xmlns:a16="http://schemas.microsoft.com/office/drawing/2014/main" id="{F4881906-CBDB-41E5-B99E-5DFC9638EE2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18 / 22</a:t>
            </a:r>
          </a:p>
        </p:txBody>
      </p:sp>
      <p:sp>
        <p:nvSpPr>
          <p:cNvPr id="4" name="Démonstration du tableau de bord">
            <a:extLst xmlns:a="http://schemas.openxmlformats.org/drawingml/2006/main">
              <a:ext uri="{FF2B5EF4-FFF2-40B4-BE49-F238E27FC236}">
                <a16:creationId xmlns:a16="http://schemas.microsoft.com/office/drawing/2014/main" id="{59014FFB-8B37-4752-955D-BD4B66002E8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97ad343c28740b5"/>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6" name="1. Consulter les indicateurs&#10;&#10;2. Rechercher un prospect">
            <a:extLst xmlns:a="http://schemas.openxmlformats.org/drawingml/2006/main">
              <a:ext uri="{FF2B5EF4-FFF2-40B4-BE49-F238E27FC236}">
                <a16:creationId xmlns:a16="http://schemas.microsoft.com/office/drawing/2014/main" id="{0E15ECAA-6A47-44D4-98C3-A530ED2E3C78}"/>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102B40"/>
                </a:solidFill>
                <a:latin typeface="Calibri"/>
                <a:ea typeface="Calibri"/>
                <a:cs typeface="Calibri"/>
              </a:defRPr>
            </a:pPr>
            <a:r>
              <a:rPr sz="2850" b="0">
                <a:solidFill>
                  <a:srgbClr val="102B40"/>
                </a:solidFill>
                <a:latin typeface="Calibri"/>
                <a:ea typeface="Calibri"/>
                <a:cs typeface="Calibri"/>
              </a:rPr>
              <a:t>4. Lancer et vérifier</a:t>
            </a:r>
          </a:p>
        </p:txBody>
      </p:sp>
      <p:sp>
        <p:nvSpPr>
          <p:cNvPr id="7" name="Capture de l’application réelle avec six prospects fict">
            <a:extLst xmlns:a="http://schemas.openxmlformats.org/drawingml/2006/main">
              <a:ext uri="{FF2B5EF4-FFF2-40B4-BE49-F238E27FC236}">
                <a16:creationId xmlns:a16="http://schemas.microsoft.com/office/drawing/2014/main" id="{9628E446-D36B-45D8-B051-F2343637327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748882463"/>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6"/>
                                  </p:tgtEl>
                                  <p:attrNameLst>
                                    <p:attrName>style.visibility</p:attrName>
                                  </p:attrNameLst>
                                </p:cBhvr>
                                <p:to>
                                  <p:strVal val="visible"/>
                                </p:to>
                              </p:set>
                              <p:animEffect transition="in" filter="fade">
                                <p:cBhvr>
                                  <p:cTn id="10" dur="450" fill="hold"/>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7bde408653b4530"/>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F797E25-35CA-4C79-BDAE-D9124AF5A97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19 / 22">
            <a:extLst xmlns:a="http://schemas.openxmlformats.org/drawingml/2006/main">
              <a:ext uri="{FF2B5EF4-FFF2-40B4-BE49-F238E27FC236}">
                <a16:creationId xmlns:a16="http://schemas.microsoft.com/office/drawing/2014/main" id="{15D6C34F-907A-4DAE-AF11-87F719BD836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19 / 22</a:t>
            </a:r>
          </a:p>
        </p:txBody>
      </p:sp>
      <p:sp>
        <p:nvSpPr>
          <p:cNvPr id="4" name="Documents et communications">
            <a:extLst xmlns:a="http://schemas.openxmlformats.org/drawingml/2006/main">
              <a:ext uri="{FF2B5EF4-FFF2-40B4-BE49-F238E27FC236}">
                <a16:creationId xmlns:a16="http://schemas.microsoft.com/office/drawing/2014/main" id="{E9D7F312-18E6-4475-8E00-9A43EDE2D78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d6264c33dca4a8a"/>
          <a:stretch xmlns:a="http://schemas.openxmlformats.org/drawingml/2006/main"/>
        </p:blipFill>
        <p:spPr>
          <a:xfrm xmlns:a="http://schemas.openxmlformats.org/drawingml/2006/main">
            <a:off x="1550988" y="3067050"/>
            <a:ext cx="4041775" cy="57150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5aaf6d5ebac42c4"/>
          <a:stretch xmlns:a="http://schemas.openxmlformats.org/drawingml/2006/main"/>
        </p:blipFill>
        <p:spPr>
          <a:xfrm xmlns:a="http://schemas.openxmlformats.org/drawingml/2006/main">
            <a:off x="6551613" y="3067050"/>
            <a:ext cx="4041775" cy="5715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c233ad62b5a4f12"/>
          <a:stretch xmlns:a="http://schemas.openxmlformats.org/drawingml/2006/main"/>
        </p:blipFill>
        <p:spPr>
          <a:xfrm xmlns:a="http://schemas.openxmlformats.org/drawingml/2006/main">
            <a:off x="11552238" y="3067050"/>
            <a:ext cx="4041775" cy="5715000"/>
          </a:xfrm>
          <a:prstGeom xmlns:a="http://schemas.openxmlformats.org/drawingml/2006/main" prst="rect">
            <a:avLst/>
          </a:prstGeom>
        </p:spPr>
      </p:pic>
      <p:sp>
        <p:nvSpPr>
          <p:cNvPr id="8" name="Proposition">
            <a:extLst xmlns:a="http://schemas.openxmlformats.org/drawingml/2006/main">
              <a:ext uri="{FF2B5EF4-FFF2-40B4-BE49-F238E27FC236}">
                <a16:creationId xmlns:a16="http://schemas.microsoft.com/office/drawing/2014/main" id="{F06E5C54-B3C8-4A8B-96E0-0776F25A53AE}"/>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Proposition</a:t>
            </a:r>
          </a:p>
        </p:txBody>
      </p:sp>
      <p:sp>
        <p:nvSpPr>
          <p:cNvPr id="9" name="Convention">
            <a:extLst xmlns:a="http://schemas.openxmlformats.org/drawingml/2006/main">
              <a:ext uri="{FF2B5EF4-FFF2-40B4-BE49-F238E27FC236}">
                <a16:creationId xmlns:a16="http://schemas.microsoft.com/office/drawing/2014/main" id="{7ADB8014-88F2-4F50-85E8-C4CCE580C377}"/>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Convention</a:t>
            </a:r>
          </a:p>
        </p:txBody>
      </p:sp>
      <p:sp>
        <p:nvSpPr>
          <p:cNvPr id="10" name="Facture">
            <a:extLst xmlns:a="http://schemas.openxmlformats.org/drawingml/2006/main">
              <a:ext uri="{FF2B5EF4-FFF2-40B4-BE49-F238E27FC236}">
                <a16:creationId xmlns:a16="http://schemas.microsoft.com/office/drawing/2014/main" id="{66B4819C-F596-4F2F-8750-08C440CA51FF}"/>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102B40"/>
                </a:solidFill>
                <a:latin typeface="Calibri"/>
                <a:ea typeface="Calibri"/>
                <a:cs typeface="Calibri"/>
              </a:defRPr>
            </a:pPr>
            <a:r>
              <a:rPr sz="2700" b="1">
                <a:solidFill>
                  <a:srgbClr val="102B40"/>
                </a:solidFill>
                <a:latin typeface="Calibri"/>
                <a:ea typeface="Calibri"/>
                <a:cs typeface="Calibri"/>
              </a:rPr>
              <a:t>Facture</a:t>
            </a:r>
          </a:p>
        </p:txBody>
      </p:sp>
      <p:sp>
        <p:nvSpPr>
          <p:cNvPr id="11" name="Exemples fictifs. L’équipe doit valider les données com">
            <a:extLst xmlns:a="http://schemas.openxmlformats.org/drawingml/2006/main">
              <a:ext uri="{FF2B5EF4-FFF2-40B4-BE49-F238E27FC236}">
                <a16:creationId xmlns:a16="http://schemas.microsoft.com/office/drawing/2014/main" id="{CC9886A3-8E53-48AA-A8C9-3040ABF381A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668115591"/>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8"/>
                                  </p:tgtEl>
                                  <p:attrNameLst>
                                    <p:attrName>style.visibility</p:attrName>
                                  </p:attrNameLst>
                                </p:cBhvr>
                                <p:to>
                                  <p:strVal val="visible"/>
                                </p:to>
                              </p:set>
                              <p:animEffect transition="in" filter="fade">
                                <p:cBhvr>
                                  <p:cTn id="10" dur="450" fill="hold"/>
                                  <p:tgtEl>
                                    <p:spTgt spid="8"/>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9"/>
                                  </p:tgtEl>
                                  <p:attrNameLst>
                                    <p:attrName>style.visibility</p:attrName>
                                  </p:attrNameLst>
                                </p:cBhvr>
                                <p:to>
                                  <p:strVal val="visible"/>
                                </p:to>
                              </p:set>
                              <p:animEffect transition="in" filter="fade">
                                <p:cBhvr>
                                  <p:cTn id="14" dur="450" fill="hold"/>
                                  <p:tgtEl>
                                    <p:spTgt spid="9"/>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10"/>
                                  </p:tgtEl>
                                  <p:attrNameLst>
                                    <p:attrName>style.visibility</p:attrName>
                                  </p:attrNameLst>
                                </p:cBhvr>
                                <p:to>
                                  <p:strVal val="visible"/>
                                </p:to>
                              </p:set>
                              <p:animEffect transition="in" filter="fade">
                                <p:cBhvr>
                                  <p:cTn id="18" dur="450" fill="hold"/>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40e3eda79ce443c"/>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CE8C2E8-09A7-456E-9DF3-2A5299D46F3D}"/>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0 / 22">
            <a:extLst xmlns:a="http://schemas.openxmlformats.org/drawingml/2006/main">
              <a:ext uri="{FF2B5EF4-FFF2-40B4-BE49-F238E27FC236}">
                <a16:creationId xmlns:a16="http://schemas.microsoft.com/office/drawing/2014/main" id="{2FE66931-5989-486F-9311-F06F60DB23D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20 / 22</a:t>
            </a:r>
          </a:p>
        </p:txBody>
      </p:sp>
      <p:sp>
        <p:nvSpPr>
          <p:cNvPr id="4" name="Résultats et validation">
            <a:extLst xmlns:a="http://schemas.openxmlformats.org/drawingml/2006/main">
              <a:ext uri="{FF2B5EF4-FFF2-40B4-BE49-F238E27FC236}">
                <a16:creationId xmlns:a16="http://schemas.microsoft.com/office/drawing/2014/main" id="{7D9A3F3A-3245-40F0-B068-F7FAA69B054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5" name="11 tests métier réussis">
            <a:extLst xmlns:a="http://schemas.openxmlformats.org/drawingml/2006/main">
              <a:ext uri="{FF2B5EF4-FFF2-40B4-BE49-F238E27FC236}">
                <a16:creationId xmlns:a16="http://schemas.microsoft.com/office/drawing/2014/main" id="{F29D8205-530E-423B-9008-5432BC7B7C23}"/>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008C9B"/>
                </a:solidFill>
                <a:latin typeface="Calibri"/>
                <a:ea typeface="Calibri"/>
                <a:cs typeface="Calibri"/>
              </a:defRPr>
            </a:pPr>
            <a:r>
              <a:rPr sz="4800" b="1">
                <a:solidFill>
                  <a:srgbClr val="008C9B"/>
                </a:solidFill>
                <a:latin typeface="Calibri"/>
                <a:ea typeface="Calibri"/>
                <a:cs typeface="Calibri"/>
              </a:rPr>
              <a:t>11 tests métier réussis</a:t>
            </a:r>
          </a:p>
        </p:txBody>
      </p:sp>
      <p:sp>
        <p:nvSpPr>
          <p:cNvPr id="6" name="01">
            <a:extLst xmlns:a="http://schemas.openxmlformats.org/drawingml/2006/main">
              <a:ext uri="{FF2B5EF4-FFF2-40B4-BE49-F238E27FC236}">
                <a16:creationId xmlns:a16="http://schemas.microsoft.com/office/drawing/2014/main" id="{2F62DB41-3E20-4060-B815-356E76744984}"/>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01</a:t>
            </a:r>
          </a:p>
        </p:txBody>
      </p:sp>
      <p:sp>
        <p:nvSpPr>
          <p:cNvPr id="7" name="Scoring, routage et sélection de la formation.">
            <a:extLst xmlns:a="http://schemas.openxmlformats.org/drawingml/2006/main">
              <a:ext uri="{FF2B5EF4-FFF2-40B4-BE49-F238E27FC236}">
                <a16:creationId xmlns:a16="http://schemas.microsoft.com/office/drawing/2014/main" id="{3E7E4AD3-70F4-42FE-A24A-09FD375084CD}"/>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Scoring, routage et sélection de la formation.</a:t>
            </a:r>
          </a:p>
        </p:txBody>
      </p:sp>
      <p:sp>
        <p:nvSpPr>
          <p:cNvPr id="8" name="02">
            <a:extLst xmlns:a="http://schemas.openxmlformats.org/drawingml/2006/main">
              <a:ext uri="{FF2B5EF4-FFF2-40B4-BE49-F238E27FC236}">
                <a16:creationId xmlns:a16="http://schemas.microsoft.com/office/drawing/2014/main" id="{26BA0815-FD0D-4679-98E3-9AAB1A834240}"/>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02</a:t>
            </a:r>
          </a:p>
        </p:txBody>
      </p:sp>
      <p:sp>
        <p:nvSpPr>
          <p:cNvPr id="9" name="Prix, références et numérotation des documents.">
            <a:extLst xmlns:a="http://schemas.openxmlformats.org/drawingml/2006/main">
              <a:ext uri="{FF2B5EF4-FFF2-40B4-BE49-F238E27FC236}">
                <a16:creationId xmlns:a16="http://schemas.microsoft.com/office/drawing/2014/main" id="{47577A84-FACF-44EA-83A7-E89F3F6447B9}"/>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Prix, références et numérotation des documents.</a:t>
            </a:r>
          </a:p>
        </p:txBody>
      </p:sp>
      <p:sp>
        <p:nvSpPr>
          <p:cNvPr id="10" name="03">
            <a:extLst xmlns:a="http://schemas.openxmlformats.org/drawingml/2006/main">
              <a:ext uri="{FF2B5EF4-FFF2-40B4-BE49-F238E27FC236}">
                <a16:creationId xmlns:a16="http://schemas.microsoft.com/office/drawing/2014/main" id="{C82A92FC-D984-4D3A-864A-DA499AFEC259}"/>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008C9B"/>
                </a:solidFill>
                <a:latin typeface="Calibri"/>
                <a:ea typeface="Calibri"/>
                <a:cs typeface="Calibri"/>
              </a:defRPr>
            </a:pPr>
            <a:r>
              <a:rPr sz="2100" b="1">
                <a:solidFill>
                  <a:srgbClr val="008C9B"/>
                </a:solidFill>
                <a:latin typeface="Calibri"/>
                <a:ea typeface="Calibri"/>
                <a:cs typeface="Calibri"/>
              </a:rPr>
              <a:t>03</a:t>
            </a:r>
          </a:p>
        </p:txBody>
      </p:sp>
      <p:sp>
        <p:nvSpPr>
          <p:cNvPr id="11" name="Journal d’envoi, reprise CRM et erreurs contrôlées.">
            <a:extLst xmlns:a="http://schemas.openxmlformats.org/drawingml/2006/main">
              <a:ext uri="{FF2B5EF4-FFF2-40B4-BE49-F238E27FC236}">
                <a16:creationId xmlns:a16="http://schemas.microsoft.com/office/drawing/2014/main" id="{B0BD26D7-17D3-4691-8433-4B7E17DC4F75}"/>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102B40"/>
                </a:solidFill>
                <a:latin typeface="Calibri"/>
                <a:ea typeface="Calibri"/>
                <a:cs typeface="Calibri"/>
              </a:defRPr>
            </a:pPr>
            <a:r>
              <a:rPr sz="3075" b="0">
                <a:solidFill>
                  <a:srgbClr val="102B40"/>
                </a:solidFill>
                <a:latin typeface="Calibri"/>
                <a:ea typeface="Calibri"/>
                <a:cs typeface="Calibri"/>
              </a:rPr>
              <a:t>Journal d’envoi, reprise CRM et erreurs contrôlées.</a:t>
            </a:r>
          </a:p>
        </p:txBody>
      </p:sp>
      <p:sp>
        <p:nvSpPr>
          <p:cNvPr id="12" name="28 fichiers Python analysés. Aucun conflit de dépendanc">
            <a:extLst xmlns:a="http://schemas.openxmlformats.org/drawingml/2006/main">
              <a:ext uri="{FF2B5EF4-FFF2-40B4-BE49-F238E27FC236}">
                <a16:creationId xmlns:a16="http://schemas.microsoft.com/office/drawing/2014/main" id="{67B82F50-FD3C-473C-926E-84C674C5D6A5}"/>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102B40"/>
                </a:solidFill>
                <a:latin typeface="Calibri"/>
                <a:ea typeface="Calibri"/>
                <a:cs typeface="Calibri"/>
              </a:defRPr>
            </a:pPr>
            <a:r>
              <a:rPr sz="2550" b="0">
                <a:solidFill>
                  <a:srgbClr val="102B40"/>
                </a:solidFill>
                <a:latin typeface="Calibri"/>
                <a:ea typeface="Calibri"/>
                <a:cs typeface="Calibri"/>
              </a:rPr>
              <a:t>28 fichiers Python analysés. Aucun conflit de dépendances détecté.</a:t>
            </a:r>
          </a:p>
        </p:txBody>
      </p:sp>
      <p:sp>
        <p:nvSpPr>
          <p:cNvPr id="13" name="Vérifications locales du 17 septembre 2026. Les service">
            <a:extLst xmlns:a="http://schemas.openxmlformats.org/drawingml/2006/main">
              <a:ext uri="{FF2B5EF4-FFF2-40B4-BE49-F238E27FC236}">
                <a16:creationId xmlns:a16="http://schemas.microsoft.com/office/drawing/2014/main" id="{877CF7CB-5E24-46FF-83F4-AE3200128A6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490104364"/>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par>
                    <p:cTn id="23" fill="hold">
                      <p:stCondLst>
                        <p:cond delay="550"/>
                      </p:stCondLst>
                      <p:childTnLst>
                        <p:par>
                          <p:cTn id="24" presetID="10" presetClass="entr" presetSubtype="0" fill="hold" nodeType="withEffect">
                            <p:stCondLst>
                              <p:cond delay="0"/>
                            </p:stCondLst>
                            <p:childTnLst>
                              <p:set>
                                <p:cBhvr>
                                  <p:cTn id="25" dur="1" fill="hold"/>
                                  <p:tgtEl>
                                    <p:spTgt spid="9"/>
                                  </p:tgtEl>
                                  <p:attrNameLst>
                                    <p:attrName>style.visibility</p:attrName>
                                  </p:attrNameLst>
                                </p:cBhvr>
                                <p:to>
                                  <p:strVal val="visible"/>
                                </p:to>
                              </p:set>
                              <p:animEffect transition="in" filter="fade">
                                <p:cBhvr>
                                  <p:cTn id="26" dur="450" fill="hold"/>
                                  <p:tgtEl>
                                    <p:spTgt spid="9"/>
                                  </p:tgtEl>
                                </p:cBhvr>
                              </p:animEffect>
                            </p:childTnLst>
                          </p:cTn>
                        </p:par>
                      </p:childTnLst>
                    </p:cTn>
                  </p:par>
                  <p:par>
                    <p:cTn id="27" fill="hold">
                      <p:stCondLst>
                        <p:cond delay="640"/>
                      </p:stCondLst>
                      <p:childTnLst>
                        <p:par>
                          <p:cTn id="28" presetID="10" presetClass="entr" presetSubtype="0" fill="hold" nodeType="withEffect">
                            <p:stCondLst>
                              <p:cond delay="0"/>
                            </p:stCondLst>
                            <p:childTnLst>
                              <p:set>
                                <p:cBhvr>
                                  <p:cTn id="29" dur="1" fill="hold"/>
                                  <p:tgtEl>
                                    <p:spTgt spid="10"/>
                                  </p:tgtEl>
                                  <p:attrNameLst>
                                    <p:attrName>style.visibility</p:attrName>
                                  </p:attrNameLst>
                                </p:cBhvr>
                                <p:to>
                                  <p:strVal val="visible"/>
                                </p:to>
                              </p:set>
                              <p:animEffect transition="in" filter="fade">
                                <p:cBhvr>
                                  <p:cTn id="30" dur="450" fill="hold"/>
                                  <p:tgtEl>
                                    <p:spTgt spid="10"/>
                                  </p:tgtEl>
                                </p:cBhvr>
                              </p:animEffect>
                            </p:childTnLst>
                          </p:cTn>
                        </p:par>
                      </p:childTnLst>
                    </p:cTn>
                  </p:par>
                  <p:par>
                    <p:cTn id="31" fill="hold">
                      <p:stCondLst>
                        <p:cond delay="730"/>
                      </p:stCondLst>
                      <p:childTnLst>
                        <p:par>
                          <p:cTn id="32" presetID="10" presetClass="entr" presetSubtype="0" fill="hold" nodeType="withEffect">
                            <p:stCondLst>
                              <p:cond delay="0"/>
                            </p:stCondLst>
                            <p:childTnLst>
                              <p:set>
                                <p:cBhvr>
                                  <p:cTn id="33" dur="1" fill="hold"/>
                                  <p:tgtEl>
                                    <p:spTgt spid="11"/>
                                  </p:tgtEl>
                                  <p:attrNameLst>
                                    <p:attrName>style.visibility</p:attrName>
                                  </p:attrNameLst>
                                </p:cBhvr>
                                <p:to>
                                  <p:strVal val="visible"/>
                                </p:to>
                              </p:set>
                              <p:animEffect transition="in" filter="fade">
                                <p:cBhvr>
                                  <p:cTn id="34" dur="450" fill="hold"/>
                                  <p:tgtEl>
                                    <p:spTgt spid="11"/>
                                  </p:tgtEl>
                                </p:cBhvr>
                              </p:animEffect>
                            </p:childTnLst>
                          </p:cTn>
                        </p:par>
                      </p:childTnLst>
                    </p:cTn>
                  </p:par>
                  <p:par>
                    <p:cTn id="35" fill="hold">
                      <p:stCondLst>
                        <p:cond delay="730"/>
                      </p:stCondLst>
                      <p:childTnLst>
                        <p:par>
                          <p:cTn id="36" presetID="10" presetClass="entr" presetSubtype="0" fill="hold" nodeType="withEffect">
                            <p:stCondLst>
                              <p:cond delay="0"/>
                            </p:stCondLst>
                            <p:childTnLst>
                              <p:set>
                                <p:cBhvr>
                                  <p:cTn id="37" dur="1" fill="hold"/>
                                  <p:tgtEl>
                                    <p:spTgt spid="12"/>
                                  </p:tgtEl>
                                  <p:attrNameLst>
                                    <p:attrName>style.visibility</p:attrName>
                                  </p:attrNameLst>
                                </p:cBhvr>
                                <p:to>
                                  <p:strVal val="visible"/>
                                </p:to>
                              </p:set>
                              <p:animEffect transition="in" filter="fade">
                                <p:cBhvr>
                                  <p:cTn id="38" dur="450" fill="hold"/>
                                  <p:tgtEl>
                                    <p:spTgt spid="12"/>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871bfc73d7455a"/>
          <a:srcRect xmlns:a="http://schemas.openxmlformats.org/drawingml/2006/main" l="0" t="37044" r="0" b="37044"/>
          <a:stretch xmlns:a="http://schemas.openxmlformats.org/drawingml/2006/main">
            <a:fillRect l="0" t="0" r="0" b="0"/>
          </a:stretch>
        </p:blipFill>
        <p:spPr>
          <a:xfrm xmlns:a="http://schemas.openxmlformats.org/drawingml/2006/main">
            <a:off x="0" y="0"/>
            <a:ext cx="18288000" cy="266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CF7BC4C3-97F7-46DA-B57D-57D3ABC73C0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1 / 22">
            <a:extLst xmlns:a="http://schemas.openxmlformats.org/drawingml/2006/main">
              <a:ext uri="{FF2B5EF4-FFF2-40B4-BE49-F238E27FC236}">
                <a16:creationId xmlns:a16="http://schemas.microsoft.com/office/drawing/2014/main" id="{477C0299-4F84-455E-AAB3-A87CFE49C356}"/>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02B40"/>
                </a:solidFill>
                <a:latin typeface="Calibri"/>
                <a:ea typeface="Calibri"/>
                <a:cs typeface="Calibri"/>
              </a:defRPr>
            </a:pPr>
            <a:r>
              <a:rPr sz="1950" b="1">
                <a:solidFill>
                  <a:srgbClr val="102B40"/>
                </a:solidFill>
                <a:latin typeface="Calibri"/>
                <a:ea typeface="Calibri"/>
                <a:cs typeface="Calibri"/>
              </a:rPr>
              <a:t>21 / 22</a:t>
            </a:r>
          </a:p>
        </p:txBody>
      </p:sp>
      <p:sp>
        <p:nvSpPr>
          <p:cNvPr id="4" name="Limites et perspectives">
            <a:extLst xmlns:a="http://schemas.openxmlformats.org/drawingml/2006/main">
              <a:ext uri="{FF2B5EF4-FFF2-40B4-BE49-F238E27FC236}">
                <a16:creationId xmlns:a16="http://schemas.microsoft.com/office/drawing/2014/main" id="{D07FDE0B-B49D-4DEE-9293-4E6D1F8F5FA9}"/>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11"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FFFFFF"/>
                          </a:solidFill>
                          <a:latin typeface="Calibri"/>
                          <a:ea typeface="Calibri"/>
                          <a:cs typeface="Calibri"/>
                        </a:rPr>
                        <a:t>Priorité</a:t>
                      </a:r>
                    </a:p>
                  </a:txBody>
                  <a:tcPr marL="91440" marR="91440" marT="45720" marB="45720" anchor="ctr">
                    <a:solidFill>
                      <a:srgbClr val="102B40"/>
                    </a:solidFill>
                  </a:tcPr>
                </a:tc>
                <a:tc>
                  <a:txBody>
                    <a:bodyPr lIns="190500" tIns="114300" rIns="190500" bIns="114300"/>
                    <a:lstStyle/>
                    <a:p>
                      <a:r>
                        <a:rPr sz="2625" b="1">
                          <a:solidFill>
                            <a:srgbClr val="FFFFFF"/>
                          </a:solidFill>
                          <a:latin typeface="Calibri"/>
                          <a:ea typeface="Calibri"/>
                          <a:cs typeface="Calibri"/>
                        </a:rPr>
                        <a:t>Amélioration attendue</a:t>
                      </a:r>
                    </a:p>
                  </a:txBody>
                  <a:tcPr marL="91440" marR="91440" marT="45720" marB="45720" anchor="ctr">
                    <a:solidFill>
                      <a:srgbClr val="102B40"/>
                    </a:solidFill>
                  </a:tcPr>
                </a:tc>
              </a:tr>
              <a:tr h="825500">
                <a:tc>
                  <a:txBody>
                    <a:bodyPr lIns="190500" tIns="114300" rIns="190500" bIns="114300"/>
                    <a:lstStyle/>
                    <a:p>
                      <a:r>
                        <a:rPr sz="2625" b="0">
                          <a:solidFill>
                            <a:srgbClr val="102B40"/>
                          </a:solidFill>
                          <a:latin typeface="Calibri"/>
                          <a:ea typeface="Calibri"/>
                          <a:cs typeface="Calibri"/>
                        </a:rPr>
                        <a:t>Fiabilité métier</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Formation obligatoire, prix structurés, règles de TVA validées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Exploitation</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Planification, rattrapage des échéances, suivi des réponses</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Sécurité</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Accès authentifié, gestion des secrets et des habilitations</a:t>
                      </a:r>
                    </a:p>
                  </a:txBody>
                  <a:tcPr marL="91440" marR="91440" marT="45720" marB="45720" anchor="ctr">
                    <a:solidFill>
                      <a:srgbClr val="EAF3F6"/>
                    </a:solidFill>
                  </a:tcPr>
                </a:tc>
              </a:tr>
              <a:tr h="825500">
                <a:tc>
                  <a:txBody>
                    <a:bodyPr lIns="190500" tIns="114300" rIns="190500" bIns="114300"/>
                    <a:lstStyle/>
                    <a:p>
                      <a:r>
                        <a:rPr sz="2625" b="0">
                          <a:solidFill>
                            <a:srgbClr val="102B40"/>
                          </a:solidFill>
                          <a:latin typeface="Calibri"/>
                          <a:ea typeface="Calibri"/>
                          <a:cs typeface="Calibri"/>
                        </a:rPr>
                        <a:t>Montée en charge</a:t>
                      </a:r>
                    </a:p>
                  </a:txBody>
                  <a:tcPr marL="91440" marR="91440" marT="45720" marB="45720" anchor="ctr">
                    <a:solidFill>
                      <a:srgbClr val="FFFFFF"/>
                    </a:solidFill>
                  </a:tcPr>
                </a:tc>
                <a:tc>
                  <a:txBody>
                    <a:bodyPr lIns="190500" tIns="114300" rIns="190500" bIns="114300"/>
                    <a:lstStyle/>
                    <a:p>
                      <a:r>
                        <a:rPr sz="2625" b="0">
                          <a:solidFill>
                            <a:srgbClr val="102B40"/>
                          </a:solidFill>
                          <a:latin typeface="Calibri"/>
                          <a:ea typeface="Calibri"/>
                          <a:cs typeface="Calibri"/>
                        </a:rPr>
                        <a:t>Journal central, verrouillage et tests de concurrence</a:t>
                      </a:r>
                    </a:p>
                  </a:txBody>
                  <a:tcPr marL="91440" marR="91440" marT="45720" marB="45720" anchor="ctr">
                    <a:solidFill>
                      <a:srgbClr val="FFFFFF"/>
                    </a:solidFill>
                  </a:tcPr>
                </a:tc>
              </a:tr>
              <a:tr h="825500">
                <a:tc>
                  <a:txBody>
                    <a:bodyPr lIns="190500" tIns="114300" rIns="190500" bIns="114300"/>
                    <a:lstStyle/>
                    <a:p>
                      <a:r>
                        <a:rPr sz="2625" b="0">
                          <a:solidFill>
                            <a:srgbClr val="102B40"/>
                          </a:solidFill>
                          <a:latin typeface="Calibri"/>
                          <a:ea typeface="Calibri"/>
                          <a:cs typeface="Calibri"/>
                        </a:rPr>
                        <a:t>Périmètre</a:t>
                      </a:r>
                    </a:p>
                  </a:txBody>
                  <a:tcPr marL="91440" marR="91440" marT="45720" marB="45720" anchor="ctr">
                    <a:solidFill>
                      <a:srgbClr val="EAF3F6"/>
                    </a:solidFill>
                  </a:tcPr>
                </a:tc>
                <a:tc>
                  <a:txBody>
                    <a:bodyPr lIns="190500" tIns="114300" rIns="190500" bIns="114300"/>
                    <a:lstStyle/>
                    <a:p>
                      <a:r>
                        <a:rPr sz="2625" b="0">
                          <a:solidFill>
                            <a:srgbClr val="102B40"/>
                          </a:solidFill>
                          <a:latin typeface="Calibri"/>
                          <a:ea typeface="Calibri"/>
                          <a:cs typeface="Calibri"/>
                        </a:rPr>
                        <a:t>Publication sociale E3 et suivi après-vente</a:t>
                      </a:r>
                    </a:p>
                  </a:txBody>
                  <a:tcPr marL="91440" marR="91440" marT="45720" marB="45720" anchor="ctr">
                    <a:solidFill>
                      <a:srgbClr val="EAF3F6"/>
                    </a:solidFill>
                  </a:tcPr>
                </a:tc>
              </a:tr>
            </a:tbl>
          </a:graphicData>
        </a:graphic>
      </p:graphicFrame>
      <p:sp>
        <p:nvSpPr>
          <p:cNvPr id="6" name="Priorité : fiabiliser les parcours existants avant d’aj">
            <a:extLst xmlns:a="http://schemas.openxmlformats.org/drawingml/2006/main">
              <a:ext uri="{FF2B5EF4-FFF2-40B4-BE49-F238E27FC236}">
                <a16:creationId xmlns:a16="http://schemas.microsoft.com/office/drawing/2014/main" id="{7A69D9CA-AB72-4668-A853-28667E16ED98}"/>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06778"/>
                </a:solidFill>
                <a:latin typeface="Calibri"/>
                <a:ea typeface="Calibri"/>
                <a:cs typeface="Calibri"/>
              </a:defRPr>
            </a:pPr>
            <a:r>
              <a:rPr sz="2025" b="0">
                <a:solidFill>
                  <a:srgbClr val="506778"/>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1218810339"/>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p="http://schemas.openxmlformats.org/presentationml/2006/main">
  <p:cSld>
    <p:bg>
      <p:bgPr>
        <a:solidFill xmlns:a="http://schemas.openxmlformats.org/drawingml/2006/main">
          <a:srgbClr val="081827"/>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abe0f39de249cc"/>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6887ADD-B844-413C-A261-4B6E304A5ECB}"/>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63E1E8"/>
                </a:solidFill>
                <a:latin typeface="Calibri"/>
                <a:ea typeface="Calibri"/>
                <a:cs typeface="Calibri"/>
              </a:defRPr>
            </a:pPr>
            <a:r>
              <a:rPr sz="1800" b="1">
                <a:solidFill>
                  <a:srgbClr val="63E1E8"/>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ECC01D66-0990-4E71-ABA8-E397BF4A69C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C76B2710-98C6-4A50-A013-0BFA20CBCA26}"/>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63E1E8"/>
                </a:solidFill>
                <a:latin typeface="Calibri"/>
                <a:ea typeface="Calibri"/>
                <a:cs typeface="Calibri"/>
              </a:defRPr>
            </a:pPr>
            <a:r>
              <a:rPr sz="11850" b="1">
                <a:solidFill>
                  <a:srgbClr val="63E1E8"/>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367767F1-C630-4233-BCD6-358819574131}"/>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F1E7E51F-E399-479A-A7D2-7ED53A4FF892}"/>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692E81E0-D173-4B26-89C2-4D0A1DD68F34}"/>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63E1E8"/>
                </a:solidFill>
                <a:latin typeface="Calibri"/>
                <a:ea typeface="Calibri"/>
                <a:cs typeface="Calibri"/>
              </a:defRPr>
            </a:pPr>
            <a:r>
              <a:rPr sz="3300" b="1">
                <a:solidFill>
                  <a:srgbClr val="63E1E8"/>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6DB854C8-C4BB-458C-8C95-685B307F9EFB}"/>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990218460"/>
      </p:ext>
    </p:extLst>
  </p:cSld>
  <p:transition spd="med" advClick="1">
    <p:fade/>
  </p:transition>
  <p:timing>
    <p:tnLst>
      <p:par>
        <p:cTn id="1" dur="indefinite" restart="never" nodeType="tmRoot">
          <p:childTnLst>
            <p:seq concurrent="1" nextAc="seek">
              <p:cTn id="2" dur="indefinite" nodeType="mainSeq">
                <p:childTnLst>
                  <p:par>
                    <p:cTn id="3" fill="hold">
                      <p:stCondLst>
                        <p:cond delay="100"/>
                      </p:stCondLst>
                      <p:childTnLst>
                        <p:par>
                          <p:cTn id="4" presetID="10" presetClass="entr" presetSubtype="0" fill="hold" nodeType="withEffect">
                            <p:stCondLst>
                              <p:cond delay="0"/>
                            </p:stCondLst>
                            <p:childTnLst>
                              <p:set>
                                <p:cBhvr>
                                  <p:cTn id="5" dur="1" fill="hold"/>
                                  <p:tgtEl>
                                    <p:spTgt spid="4"/>
                                  </p:tgtEl>
                                  <p:attrNameLst>
                                    <p:attrName>style.visibility</p:attrName>
                                  </p:attrNameLst>
                                </p:cBhvr>
                                <p:to>
                                  <p:strVal val="visible"/>
                                </p:to>
                              </p:set>
                              <p:animEffect transition="in" filter="fade">
                                <p:cBhvr>
                                  <p:cTn id="6" dur="450" fill="hold"/>
                                  <p:tgtEl>
                                    <p:spTgt spid="4"/>
                                  </p:tgtEl>
                                </p:cBhvr>
                              </p:animEffect>
                            </p:childTnLst>
                          </p:cTn>
                        </p:par>
                      </p:childTnLst>
                    </p:cTn>
                  </p:par>
                  <p:par>
                    <p:cTn id="7" fill="hold">
                      <p:stCondLst>
                        <p:cond delay="190"/>
                      </p:stCondLst>
                      <p:childTnLst>
                        <p:par>
                          <p:cTn id="8" presetID="10" presetClass="entr" presetSubtype="0" fill="hold" nodeType="withEffect">
                            <p:stCondLst>
                              <p:cond delay="0"/>
                            </p:stCondLst>
                            <p:childTnLst>
                              <p:set>
                                <p:cBhvr>
                                  <p:cTn id="9" dur="1" fill="hold"/>
                                  <p:tgtEl>
                                    <p:spTgt spid="5"/>
                                  </p:tgtEl>
                                  <p:attrNameLst>
                                    <p:attrName>style.visibility</p:attrName>
                                  </p:attrNameLst>
                                </p:cBhvr>
                                <p:to>
                                  <p:strVal val="visible"/>
                                </p:to>
                              </p:set>
                              <p:animEffect transition="in" filter="fade">
                                <p:cBhvr>
                                  <p:cTn id="10" dur="450" fill="hold"/>
                                  <p:tgtEl>
                                    <p:spTgt spid="5"/>
                                  </p:tgtEl>
                                </p:cBhvr>
                              </p:animEffect>
                            </p:childTnLst>
                          </p:cTn>
                        </p:par>
                      </p:childTnLst>
                    </p:cTn>
                  </p:par>
                  <p:par>
                    <p:cTn id="11" fill="hold">
                      <p:stCondLst>
                        <p:cond delay="280"/>
                      </p:stCondLst>
                      <p:childTnLst>
                        <p:par>
                          <p:cTn id="12" presetID="10" presetClass="entr" presetSubtype="0" fill="hold" nodeType="withEffect">
                            <p:stCondLst>
                              <p:cond delay="0"/>
                            </p:stCondLst>
                            <p:childTnLst>
                              <p:set>
                                <p:cBhvr>
                                  <p:cTn id="13" dur="1" fill="hold"/>
                                  <p:tgtEl>
                                    <p:spTgt spid="6"/>
                                  </p:tgtEl>
                                  <p:attrNameLst>
                                    <p:attrName>style.visibility</p:attrName>
                                  </p:attrNameLst>
                                </p:cBhvr>
                                <p:to>
                                  <p:strVal val="visible"/>
                                </p:to>
                              </p:set>
                              <p:animEffect transition="in" filter="fade">
                                <p:cBhvr>
                                  <p:cTn id="14" dur="450" fill="hold"/>
                                  <p:tgtEl>
                                    <p:spTgt spid="6"/>
                                  </p:tgtEl>
                                </p:cBhvr>
                              </p:animEffect>
                            </p:childTnLst>
                          </p:cTn>
                        </p:par>
                      </p:childTnLst>
                    </p:cTn>
                  </p:par>
                  <p:par>
                    <p:cTn id="15" fill="hold">
                      <p:stCondLst>
                        <p:cond delay="370"/>
                      </p:stCondLst>
                      <p:childTnLst>
                        <p:par>
                          <p:cTn id="16" presetID="10" presetClass="entr" presetSubtype="0" fill="hold" nodeType="withEffect">
                            <p:stCondLst>
                              <p:cond delay="0"/>
                            </p:stCondLst>
                            <p:childTnLst>
                              <p:set>
                                <p:cBhvr>
                                  <p:cTn id="17" dur="1" fill="hold"/>
                                  <p:tgtEl>
                                    <p:spTgt spid="7"/>
                                  </p:tgtEl>
                                  <p:attrNameLst>
                                    <p:attrName>style.visibility</p:attrName>
                                  </p:attrNameLst>
                                </p:cBhvr>
                                <p:to>
                                  <p:strVal val="visible"/>
                                </p:to>
                              </p:set>
                              <p:animEffect transition="in" filter="fade">
                                <p:cBhvr>
                                  <p:cTn id="18" dur="450" fill="hold"/>
                                  <p:tgtEl>
                                    <p:spTgt spid="7"/>
                                  </p:tgtEl>
                                </p:cBhvr>
                              </p:animEffect>
                            </p:childTnLst>
                          </p:cTn>
                        </p:par>
                      </p:childTnLst>
                    </p:cTn>
                  </p:par>
                  <p:par>
                    <p:cTn id="19" fill="hold">
                      <p:stCondLst>
                        <p:cond delay="460"/>
                      </p:stCondLst>
                      <p:childTnLst>
                        <p:par>
                          <p:cTn id="20" presetID="10" presetClass="entr" presetSubtype="0" fill="hold" nodeType="withEffect">
                            <p:stCondLst>
                              <p:cond delay="0"/>
                            </p:stCondLst>
                            <p:childTnLst>
                              <p:set>
                                <p:cBhvr>
                                  <p:cTn id="21" dur="1" fill="hold"/>
                                  <p:tgtEl>
                                    <p:spTgt spid="8"/>
                                  </p:tgtEl>
                                  <p:attrNameLst>
                                    <p:attrName>style.visibility</p:attrName>
                                  </p:attrNameLst>
                                </p:cBhvr>
                                <p:to>
                                  <p:strVal val="visible"/>
                                </p:to>
                              </p:set>
                              <p:animEffect transition="in" filter="fade">
                                <p:cBhvr>
                                  <p:cTn id="22" dur="450" fill="hold"/>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2026-09-23T19:35:52.7360000Z</dcterms:created>
  <dcterms:modified xsi:type="dcterms:W3CDTF">2026-09-23T19:35:52.7360000Z</dcterms:modified>
</coreProperties>
</file>