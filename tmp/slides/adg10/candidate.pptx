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0f3e820d304272" /><Relationship Type="http://schemas.openxmlformats.org/officeDocument/2006/relationships/extended-properties" Target="/docProps/app.xml" Id="R7cce22c7e49a4703" /><Relationship Type="http://schemas.openxmlformats.org/officeDocument/2006/relationships/officeDocument" Target="/ppt/presentation.xml" Id="Rfc026d178bf84476" /></Relationships>
</file>

<file path=ppt/presentation.xml><?xml version="1.0" encoding="utf-8"?>
<p:presentation xmlns:p="http://schemas.openxmlformats.org/presentationml/2006/main">
  <p:sldMasterIdLst>
    <p:sldMasterId xmlns:r="http://schemas.openxmlformats.org/officeDocument/2006/relationships" id="2147483648" r:id="Rd35f06f570d148e4"/>
  </p:sldMasterIdLst>
  <p:notesMasterIdLst>
    <p:notesMasterId xmlns:r="http://schemas.openxmlformats.org/officeDocument/2006/relationships" r:id="R778f71d27efa483f"/>
  </p:notesMasterIdLst>
  <p:sldIdLst>
    <p:sldId xmlns:r="http://schemas.openxmlformats.org/officeDocument/2006/relationships" id="256" r:id="Ra9f3af204e5c48c9"/>
    <p:sldId xmlns:r="http://schemas.openxmlformats.org/officeDocument/2006/relationships" id="257" r:id="Ree9fba9d260d40fa"/>
    <p:sldId xmlns:r="http://schemas.openxmlformats.org/officeDocument/2006/relationships" id="258" r:id="R58cb1d910b4341bc"/>
    <p:sldId xmlns:r="http://schemas.openxmlformats.org/officeDocument/2006/relationships" id="259" r:id="Rbc8ce33818074517"/>
    <p:sldId xmlns:r="http://schemas.openxmlformats.org/officeDocument/2006/relationships" id="260" r:id="R4b6f713dc48b4d70"/>
    <p:sldId xmlns:r="http://schemas.openxmlformats.org/officeDocument/2006/relationships" id="261" r:id="R9e92f9a4e8984296"/>
    <p:sldId xmlns:r="http://schemas.openxmlformats.org/officeDocument/2006/relationships" id="262" r:id="R5b67a3a72f774337"/>
    <p:sldId xmlns:r="http://schemas.openxmlformats.org/officeDocument/2006/relationships" id="263" r:id="R2b0df984b7de47eb"/>
    <p:sldId xmlns:r="http://schemas.openxmlformats.org/officeDocument/2006/relationships" id="264" r:id="Rbb0683dc956847cd"/>
    <p:sldId xmlns:r="http://schemas.openxmlformats.org/officeDocument/2006/relationships" id="265" r:id="R94b7090381d04e20"/>
    <p:sldId xmlns:r="http://schemas.openxmlformats.org/officeDocument/2006/relationships" id="266" r:id="Rd023f73155e642fe"/>
    <p:sldId xmlns:r="http://schemas.openxmlformats.org/officeDocument/2006/relationships" id="267" r:id="R303f001ef6b24281"/>
    <p:sldId xmlns:r="http://schemas.openxmlformats.org/officeDocument/2006/relationships" id="268" r:id="R8c791ba8ed5b455c"/>
    <p:sldId xmlns:r="http://schemas.openxmlformats.org/officeDocument/2006/relationships" id="269" r:id="Raeeedfea41854ccf"/>
    <p:sldId xmlns:r="http://schemas.openxmlformats.org/officeDocument/2006/relationships" id="270" r:id="Re2e225e63a784d89"/>
    <p:sldId xmlns:r="http://schemas.openxmlformats.org/officeDocument/2006/relationships" id="271" r:id="R9c501885ad1b4ba0"/>
    <p:sldId xmlns:r="http://schemas.openxmlformats.org/officeDocument/2006/relationships" id="272" r:id="Rd9240e6333f14090"/>
    <p:sldId xmlns:r="http://schemas.openxmlformats.org/officeDocument/2006/relationships" id="273" r:id="Rfc644d4639f04ab5"/>
    <p:sldId xmlns:r="http://schemas.openxmlformats.org/officeDocument/2006/relationships" id="274" r:id="R223105b1a2c4407e"/>
    <p:sldId xmlns:r="http://schemas.openxmlformats.org/officeDocument/2006/relationships" id="275" r:id="R76317f2c2fc9416c"/>
    <p:sldId xmlns:r="http://schemas.openxmlformats.org/officeDocument/2006/relationships" id="276" r:id="R1518249d872a4528"/>
    <p:sldId xmlns:r="http://schemas.openxmlformats.org/officeDocument/2006/relationships" id="277" r:id="R35c5a3c823a149a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p:gridSpacing cx="78028800" cy="78028800"/>
</p:viewPr>
</file>

<file path=ppt/_rels/presentation.xml.rels>&#65279;<?xml version="1.0" encoding="utf-8"?><Relationships xmlns="http://schemas.openxmlformats.org/package/2006/relationships"><Relationship Type="http://schemas.openxmlformats.org/officeDocument/2006/relationships/theme" Target="/ppt/theme/theme1.xml" Id="R66e2e2dac4584dfe" /><Relationship Type="http://schemas.openxmlformats.org/officeDocument/2006/relationships/slideMaster" Target="/ppt/slideMasters/slideMaster1.xml" Id="Rd35f06f570d148e4" /><Relationship Type="http://schemas.openxmlformats.org/officeDocument/2006/relationships/notesMaster" Target="/ppt/notesMasters/notesMaster1.xml" Id="R778f71d27efa483f" /><Relationship Type="http://schemas.openxmlformats.org/officeDocument/2006/relationships/presProps" Target="/ppt/presProps.xml" Id="R91c107f211af47e4" /><Relationship Type="http://schemas.openxmlformats.org/officeDocument/2006/relationships/viewProps" Target="/ppt/viewProps.xml" Id="R07859b1d977847c7" /><Relationship Type="http://schemas.openxmlformats.org/officeDocument/2006/relationships/tableStyles" Target="/ppt/tableStyles.xml" Id="R18259e7252c64706" /><Relationship Type="http://schemas.openxmlformats.org/officeDocument/2006/relationships/slide" Target="/ppt/slides/slide1.xml" Id="Ra9f3af204e5c48c9" /><Relationship Type="http://schemas.openxmlformats.org/officeDocument/2006/relationships/slide" Target="/ppt/slides/slide2.xml" Id="Ree9fba9d260d40fa" /><Relationship Type="http://schemas.openxmlformats.org/officeDocument/2006/relationships/slide" Target="/ppt/slides/slide3.xml" Id="R58cb1d910b4341bc" /><Relationship Type="http://schemas.openxmlformats.org/officeDocument/2006/relationships/slide" Target="/ppt/slides/slide4.xml" Id="Rbc8ce33818074517" /><Relationship Type="http://schemas.openxmlformats.org/officeDocument/2006/relationships/slide" Target="/ppt/slides/slide5.xml" Id="R4b6f713dc48b4d70" /><Relationship Type="http://schemas.openxmlformats.org/officeDocument/2006/relationships/slide" Target="/ppt/slides/slide6.xml" Id="R9e92f9a4e8984296" /><Relationship Type="http://schemas.openxmlformats.org/officeDocument/2006/relationships/slide" Target="/ppt/slides/slide7.xml" Id="R5b67a3a72f774337" /><Relationship Type="http://schemas.openxmlformats.org/officeDocument/2006/relationships/slide" Target="/ppt/slides/slide8.xml" Id="R2b0df984b7de47eb" /><Relationship Type="http://schemas.openxmlformats.org/officeDocument/2006/relationships/slide" Target="/ppt/slides/slide9.xml" Id="Rbb0683dc956847cd" /><Relationship Type="http://schemas.openxmlformats.org/officeDocument/2006/relationships/slide" Target="/ppt/slides/slide10.xml" Id="R94b7090381d04e20" /><Relationship Type="http://schemas.openxmlformats.org/officeDocument/2006/relationships/slide" Target="/ppt/slides/slide11.xml" Id="Rd023f73155e642fe" /><Relationship Type="http://schemas.openxmlformats.org/officeDocument/2006/relationships/slide" Target="/ppt/slides/slide12.xml" Id="R303f001ef6b24281" /><Relationship Type="http://schemas.openxmlformats.org/officeDocument/2006/relationships/slide" Target="/ppt/slides/slide13.xml" Id="R8c791ba8ed5b455c" /><Relationship Type="http://schemas.openxmlformats.org/officeDocument/2006/relationships/slide" Target="/ppt/slides/slide14.xml" Id="Raeeedfea41854ccf" /><Relationship Type="http://schemas.openxmlformats.org/officeDocument/2006/relationships/slide" Target="/ppt/slides/slide15.xml" Id="Re2e225e63a784d89" /><Relationship Type="http://schemas.openxmlformats.org/officeDocument/2006/relationships/slide" Target="/ppt/slides/slide16.xml" Id="R9c501885ad1b4ba0" /><Relationship Type="http://schemas.openxmlformats.org/officeDocument/2006/relationships/slide" Target="/ppt/slides/slide17.xml" Id="Rd9240e6333f14090" /><Relationship Type="http://schemas.openxmlformats.org/officeDocument/2006/relationships/slide" Target="/ppt/slides/slide18.xml" Id="Rfc644d4639f04ab5" /><Relationship Type="http://schemas.openxmlformats.org/officeDocument/2006/relationships/slide" Target="/ppt/slides/slide19.xml" Id="R223105b1a2c4407e" /><Relationship Type="http://schemas.openxmlformats.org/officeDocument/2006/relationships/slide" Target="/ppt/slides/slide20.xml" Id="R76317f2c2fc9416c" /><Relationship Type="http://schemas.openxmlformats.org/officeDocument/2006/relationships/slide" Target="/ppt/slides/slide21.xml" Id="R1518249d872a4528" /><Relationship Type="http://schemas.openxmlformats.org/officeDocument/2006/relationships/slide" Target="/ppt/slides/slide22.xml" Id="R35c5a3c823a149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469f34f1054d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9ebedf9b043ae" /><Relationship Type="http://schemas.openxmlformats.org/officeDocument/2006/relationships/notesMaster" Target="/ppt/notesMasters/notesMaster1.xml" Id="Ra87695f3149b46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951681d4e744d6" /><Relationship Type="http://schemas.openxmlformats.org/officeDocument/2006/relationships/notesMaster" Target="/ppt/notesMasters/notesMaster1.xml" Id="R17cfa0b708c24f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67353479664ffa" /><Relationship Type="http://schemas.openxmlformats.org/officeDocument/2006/relationships/notesMaster" Target="/ppt/notesMasters/notesMaster1.xml" Id="R629cafb19f344a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d00f9a092e4cf5" /><Relationship Type="http://schemas.openxmlformats.org/officeDocument/2006/relationships/notesMaster" Target="/ppt/notesMasters/notesMaster1.xml" Id="R62d644e31feb41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ed8261758f4361" /><Relationship Type="http://schemas.openxmlformats.org/officeDocument/2006/relationships/notesMaster" Target="/ppt/notesMasters/notesMaster1.xml" Id="Rfb1739831f0442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8dc991e70e4511" /><Relationship Type="http://schemas.openxmlformats.org/officeDocument/2006/relationships/notesMaster" Target="/ppt/notesMasters/notesMaster1.xml" Id="Re7879243c5154e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a4ef90268b4301" /><Relationship Type="http://schemas.openxmlformats.org/officeDocument/2006/relationships/notesMaster" Target="/ppt/notesMasters/notesMaster1.xml" Id="R704251d5ed074b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147cb48f1a45df" /><Relationship Type="http://schemas.openxmlformats.org/officeDocument/2006/relationships/notesMaster" Target="/ppt/notesMasters/notesMaster1.xml" Id="Rcbb6b3ba9e1043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7dbc58addf4074" /><Relationship Type="http://schemas.openxmlformats.org/officeDocument/2006/relationships/notesMaster" Target="/ppt/notesMasters/notesMaster1.xml" Id="Rd4ae18a179844a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e60b0dc4f94686" /><Relationship Type="http://schemas.openxmlformats.org/officeDocument/2006/relationships/notesMaster" Target="/ppt/notesMasters/notesMaster1.xml" Id="Rd50ab555d17243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163a38eee74120" /><Relationship Type="http://schemas.openxmlformats.org/officeDocument/2006/relationships/notesMaster" Target="/ppt/notesMasters/notesMaster1.xml" Id="R0f57d39ae90d41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c6431833be4308" /><Relationship Type="http://schemas.openxmlformats.org/officeDocument/2006/relationships/notesMaster" Target="/ppt/notesMasters/notesMaster1.xml" Id="R3510627a797f48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4612e6f96e41b7" /><Relationship Type="http://schemas.openxmlformats.org/officeDocument/2006/relationships/notesMaster" Target="/ppt/notesMasters/notesMaster1.xml" Id="R07a30631238546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211baaed324a2d" /><Relationship Type="http://schemas.openxmlformats.org/officeDocument/2006/relationships/notesMaster" Target="/ppt/notesMasters/notesMaster1.xml" Id="R08eb154f7d9148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2322478a604f26" /><Relationship Type="http://schemas.openxmlformats.org/officeDocument/2006/relationships/notesMaster" Target="/ppt/notesMasters/notesMaster1.xml" Id="Ra3d5b98963b448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9d00761daae44d5" /><Relationship Type="http://schemas.openxmlformats.org/officeDocument/2006/relationships/notesMaster" Target="/ppt/notesMasters/notesMaster1.xml" Id="R90441e9cc9d34c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e4af97b3324e6c" /><Relationship Type="http://schemas.openxmlformats.org/officeDocument/2006/relationships/notesMaster" Target="/ppt/notesMasters/notesMaster1.xml" Id="Rc505756ab1ee48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bd9ecc77d84d7a" /><Relationship Type="http://schemas.openxmlformats.org/officeDocument/2006/relationships/notesMaster" Target="/ppt/notesMasters/notesMaster1.xml" Id="R4455746a28364d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4dbdf768ac4738" /><Relationship Type="http://schemas.openxmlformats.org/officeDocument/2006/relationships/notesMaster" Target="/ppt/notesMasters/notesMaster1.xml" Id="R4ffe15aae01343e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03d406b0384ce3" /><Relationship Type="http://schemas.openxmlformats.org/officeDocument/2006/relationships/notesMaster" Target="/ppt/notesMasters/notesMaster1.xml" Id="R5a74f5c95530474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d19b9b5cbc4891" /><Relationship Type="http://schemas.openxmlformats.org/officeDocument/2006/relationships/notesMaster" Target="/ppt/notesMasters/notesMaster1.xml" Id="Rcdf35cbb5d5a48c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42a70b2a494e9c" /><Relationship Type="http://schemas.openxmlformats.org/officeDocument/2006/relationships/notesMaster" Target="/ppt/notesMasters/notesMaster1.xml" Id="R5f1f3c65004441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244481a7fa44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7f80fae4a54a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995ea5d9604f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32f8b1bf3b4d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6647393ed64f20" /><Relationship Type="http://schemas.openxmlformats.org/officeDocument/2006/relationships/image" Target="/ppt/media/image.png" Id="Rafefb243363d42b0"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132E15AA-E522-4EA6-ADDC-6F929084AFB8}"/>
              </a:ext>
            </a:extLst>
          </p:cNvPr>
          <p:cNvSpPr>
            <a:spLocks xmlns:a="http://schemas.openxmlformats.org/drawingml/2006/main" noGrp="1"/>
          </p:cNvSpPr>
          <p:nvPr>
            <p:ph type="ctrTitle" idx="0"/>
          </p:nvPr>
        </p:nvSpPr>
        <p:spPr>
          <a:xfrm xmlns:a="http://schemas.openxmlformats.org/drawingml/2006/main">
            <a:off x="1371600" y="3188970"/>
            <a:ext cx="15544800" cy="216027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rgbClr val="041C40"/>
                </a:solidFill>
                <a:latin typeface="Times New Roman"/>
                <a:ea typeface="Times New Roman"/>
                <a:cs typeface="Times New Roman"/>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A3BFE79-0EA2-4576-AF6C-5D05B4CCF284}"/>
              </a:ext>
            </a:extLst>
          </p:cNvPr>
          <p:cNvSpPr>
            <a:spLocks xmlns:a="http://schemas.openxmlformats.org/drawingml/2006/main" noGrp="1"/>
          </p:cNvSpPr>
          <p:nvPr>
            <p:ph type="subTitle" idx="4"/>
          </p:nvPr>
        </p:nvSpPr>
        <p:spPr>
          <a:xfrm xmlns:a="http://schemas.openxmlformats.org/drawingml/2006/main">
            <a:off x="2743200" y="5760720"/>
            <a:ext cx="12801600" cy="257175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100" b="0" i="0">
                <a:solidFill>
                  <a:schemeClr val="tx1"/>
                </a:solidFill>
                <a:latin typeface="Times New Roman"/>
                <a:ea typeface="Times New Roman"/>
                <a:cs typeface="Times New Roman"/>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104B2510-130E-4FB2-9676-1F1323FD95B0}"/>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A4A070F-D2D8-4A79-8EF9-3ED6982EFFFB}"/>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168BE820-58E6-42EC-8004-CC0656E83C1D}"/>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buNone/>
              <a:defRPr sz="2500" b="1" i="0">
                <a:solidFill>
                  <a:srgbClr val="0E933F"/>
                </a:solidFill>
                <a:latin typeface="Times New Roman"/>
                <a:ea typeface="Times New Roman"/>
                <a:cs typeface="Times New Roman"/>
              </a:defRPr>
            </a:lvl1pPr>
          </a:lstStyle>
          <a:p xmlns:a="http://schemas.openxmlformats.org/drawingml/2006/main">
            <a:pPr marL="12700">
              <a:lnSpc>
                <a:spcPts val="2390"/>
              </a:lnSpc>
              <a:buNone/>
            </a:pPr>
            <a:fld id="{81D60167-4931-47E6-BA6A-407CBD079E47}" type="slidenum">
              <a:rPr spc="-25"/>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D1B7087D-78BF-4169-BC30-BEB42E117FC4}"/>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4000" b="1" i="0">
                <a:solidFill>
                  <a:srgbClr val="041C40"/>
                </a:solidFill>
                <a:latin typeface="Times New Roman"/>
                <a:ea typeface="Times New Roman"/>
                <a:cs typeface="Times New Roman"/>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8FCF5CCD-79B4-4003-A1CA-9794FA378D49}"/>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sz="2100" b="0" i="0">
                <a:solidFill>
                  <a:schemeClr val="tx1"/>
                </a:solidFill>
                <a:latin typeface="Times New Roman"/>
                <a:ea typeface="Times New Roman"/>
                <a:cs typeface="Times New Roman"/>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92C90EE5-8556-4AFF-B4BF-B358C57BF84E}"/>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207E076F-BF3D-4D70-A150-260DA1D356D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E5339FF3-8E6F-4121-8394-1143259C6E2E}"/>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buNone/>
              <a:defRPr sz="2500" b="1" i="0">
                <a:solidFill>
                  <a:srgbClr val="0E933F"/>
                </a:solidFill>
                <a:latin typeface="Times New Roman"/>
                <a:ea typeface="Times New Roman"/>
                <a:cs typeface="Times New Roman"/>
              </a:defRPr>
            </a:lvl1pPr>
          </a:lstStyle>
          <a:p xmlns:a="http://schemas.openxmlformats.org/drawingml/2006/main">
            <a:pPr marL="12700">
              <a:lnSpc>
                <a:spcPts val="2390"/>
              </a:lnSpc>
              <a:buNone/>
            </a:pPr>
            <a:fld id="{81D60167-4931-47E6-BA6A-407CBD079E47}" type="slidenum">
              <a:rPr spc="-25"/>
              <a:t>#</a:t>
            </a:fld>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30E8B126-F802-45AB-BD55-7CE17848193E}"/>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4000" b="1" i="0">
                <a:solidFill>
                  <a:srgbClr val="041C40"/>
                </a:solidFill>
                <a:latin typeface="Times New Roman"/>
                <a:ea typeface="Times New Roman"/>
                <a:cs typeface="Times New Roman"/>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898EA616-B563-4A36-B874-0B1EB04DF0AD}"/>
              </a:ext>
            </a:extLst>
          </p:cNvPr>
          <p:cNvSpPr>
            <a:spLocks xmlns:a="http://schemas.openxmlformats.org/drawingml/2006/main" noGrp="1"/>
          </p:cNvSpPr>
          <p:nvPr>
            <p:ph idx="2"/>
          </p:nvPr>
        </p:nvSpPr>
        <p:spPr>
          <a:xfrm xmlns:a="http://schemas.openxmlformats.org/drawingml/2006/main">
            <a:off x="914400" y="2366010"/>
            <a:ext cx="7955280" cy="67894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C9D38195-4AD2-4BF6-9F78-08E7C2A2DC13}"/>
              </a:ext>
            </a:extLst>
          </p:cNvPr>
          <p:cNvSpPr>
            <a:spLocks xmlns:a="http://schemas.openxmlformats.org/drawingml/2006/main" noGrp="1"/>
          </p:cNvSpPr>
          <p:nvPr>
            <p:ph idx="3"/>
          </p:nvPr>
        </p:nvSpPr>
        <p:spPr>
          <a:xfrm xmlns:a="http://schemas.openxmlformats.org/drawingml/2006/main">
            <a:off x="9418320" y="2366010"/>
            <a:ext cx="7955280" cy="67894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F7770E1D-C907-4438-84CB-2EEF5A914642}"/>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0B238331-B3A2-4AA0-B177-41806F0AF50D}"/>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7" name="Holder 7">
            <a:extLst xmlns:a="http://schemas.openxmlformats.org/drawingml/2006/main">
              <a:ext uri="{FF2B5EF4-FFF2-40B4-BE49-F238E27FC236}">
                <a16:creationId xmlns:a16="http://schemas.microsoft.com/office/drawing/2014/main" id="{DF1AA0C6-0ECF-4CF0-863E-126AA1122EC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buNone/>
              <a:defRPr sz="2500" b="1" i="0">
                <a:solidFill>
                  <a:srgbClr val="0E933F"/>
                </a:solidFill>
                <a:latin typeface="Times New Roman"/>
                <a:ea typeface="Times New Roman"/>
                <a:cs typeface="Times New Roman"/>
              </a:defRPr>
            </a:lvl1pPr>
          </a:lstStyle>
          <a:p xmlns:a="http://schemas.openxmlformats.org/drawingml/2006/main">
            <a:pPr marL="12700">
              <a:lnSpc>
                <a:spcPts val="2390"/>
              </a:lnSpc>
              <a:buNone/>
            </a:pPr>
            <a:fld id="{81D60167-4931-47E6-BA6A-407CBD079E47}" type="slidenum">
              <a:rPr spc="-25"/>
              <a:t>#</a:t>
            </a:fld>
          </a:p>
        </p:txBody>
      </p:sp>
    </p:spTree>
  </p:cSld>
</p:sldLayout>
</file>

<file path=ppt/slideLayouts/slideLayout4.xml><?xml version="1.0" encoding="utf-8"?>
<p:sldLayout xmlns:p="http://schemas.openxmlformats.org/presentationml/2006/main" showMasterSp="0" type="obj" preserve="1">
  <p:cSld name="Title Only">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bg object 16">
            <a:extLst xmlns:a="http://schemas.openxmlformats.org/drawingml/2006/main">
              <a:ext uri="{FF2B5EF4-FFF2-40B4-BE49-F238E27FC236}">
                <a16:creationId xmlns:a16="http://schemas.microsoft.com/office/drawing/2014/main" id="{74CBB9EF-894E-4B16-8946-8278ABF44082}"/>
              </a:ext>
            </a:extLst>
          </p:cNvPr>
          <p:cNvSpPr>
            <a:spLocks xmlns:a="http://schemas.openxmlformats.org/drawingml/2006/main" noGrp="1"/>
          </p:cNvSpPr>
          <p:nvPr/>
        </p:nvSpPr>
        <p:spPr>
          <a:xfrm xmlns:a="http://schemas.openxmlformats.org/drawingml/2006/main">
            <a:off x="16215788" y="0"/>
            <a:ext cx="2072639" cy="10288270"/>
          </a:xfrm>
          <a:custGeom xmlns:a="http://schemas.openxmlformats.org/drawingml/2006/main">
            <a:rect l="l" t="t" r="r" b="b"/>
            <a:pathLst>
              <a:path w="2072640" h="10288270">
                <a:moveTo>
                  <a:pt x="2072210" y="10288203"/>
                </a:moveTo>
                <a:lnTo>
                  <a:pt x="0" y="10288203"/>
                </a:lnTo>
                <a:lnTo>
                  <a:pt x="0" y="0"/>
                </a:lnTo>
                <a:lnTo>
                  <a:pt x="2072210" y="0"/>
                </a:lnTo>
                <a:lnTo>
                  <a:pt x="2072210" y="10288203"/>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7" name="bg object 17">
            <a:extLst xmlns:a="http://schemas.openxmlformats.org/drawingml/2006/main">
              <a:ext uri="{FF2B5EF4-FFF2-40B4-BE49-F238E27FC236}">
                <a16:creationId xmlns:a16="http://schemas.microsoft.com/office/drawing/2014/main" id="{6D31A020-374B-41B0-B128-2422EDF427C9}"/>
              </a:ext>
            </a:extLst>
          </p:cNvPr>
          <p:cNvSpPr>
            <a:spLocks xmlns:a="http://schemas.openxmlformats.org/drawingml/2006/main" noGrp="1"/>
          </p:cNvSpPr>
          <p:nvPr/>
        </p:nvSpPr>
        <p:spPr>
          <a:xfrm xmlns:a="http://schemas.openxmlformats.org/drawingml/2006/main">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91B272A4-8A63-4FF0-AE95-3E1D151D5014}"/>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4000" b="1" i="0">
                <a:solidFill>
                  <a:srgbClr val="041C40"/>
                </a:solidFill>
                <a:latin typeface="Times New Roman"/>
                <a:ea typeface="Times New Roman"/>
                <a:cs typeface="Times New Roman"/>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C9DAE638-698D-4090-8F26-F12E776285AC}"/>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CBA4E999-D3DE-496A-914F-8AE97B7A2684}"/>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FAD1072F-4993-447A-AD22-B525D9C10D8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buNone/>
              <a:defRPr sz="2500" b="1" i="0">
                <a:solidFill>
                  <a:srgbClr val="0E933F"/>
                </a:solidFill>
                <a:latin typeface="Times New Roman"/>
                <a:ea typeface="Times New Roman"/>
                <a:cs typeface="Times New Roman"/>
              </a:defRPr>
            </a:lvl1pPr>
          </a:lstStyle>
          <a:p xmlns:a="http://schemas.openxmlformats.org/drawingml/2006/main">
            <a:pPr marL="12700">
              <a:lnSpc>
                <a:spcPts val="2390"/>
              </a:lnSpc>
              <a:buNone/>
            </a:pPr>
            <a:fld id="{81D60167-4931-47E6-BA6A-407CBD079E47}" type="slidenum">
              <a:rPr spc="-25"/>
              <a:t>#</a:t>
            </a:fld>
          </a:p>
        </p:txBody>
      </p:sp>
    </p:spTree>
  </p:cSld>
</p:sldLayout>
</file>

<file path=ppt/slideLayouts/slideLayout5.xml><?xml version="1.0" encoding="utf-8"?>
<p:sldLayout xmlns:p="http://schemas.openxmlformats.org/presentationml/2006/main" showMasterSp="0" type="obj" preserve="1">
  <p:cSld name="Blank">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bg object 16">
            <a:extLst xmlns:a="http://schemas.openxmlformats.org/drawingml/2006/main">
              <a:ext uri="{FF2B5EF4-FFF2-40B4-BE49-F238E27FC236}">
                <a16:creationId xmlns:a16="http://schemas.microsoft.com/office/drawing/2014/main" id="{5B87BB9E-0102-4865-8E11-622DE94B207E}"/>
              </a:ext>
            </a:extLst>
          </p:cNvPr>
          <p:cNvSpPr>
            <a:spLocks xmlns:a="http://schemas.openxmlformats.org/drawingml/2006/main" noGrp="1"/>
          </p:cNvSpPr>
          <p:nvPr/>
        </p:nvSpPr>
        <p:spPr>
          <a:xfrm xmlns:a="http://schemas.openxmlformats.org/drawingml/2006/main">
            <a:off x="16215788" y="0"/>
            <a:ext cx="2072639" cy="10288270"/>
          </a:xfrm>
          <a:custGeom xmlns:a="http://schemas.openxmlformats.org/drawingml/2006/main">
            <a:rect l="l" t="t" r="r" b="b"/>
            <a:pathLst>
              <a:path w="2072640" h="10288270">
                <a:moveTo>
                  <a:pt x="2072210" y="10288203"/>
                </a:moveTo>
                <a:lnTo>
                  <a:pt x="0" y="10288203"/>
                </a:lnTo>
                <a:lnTo>
                  <a:pt x="0" y="0"/>
                </a:lnTo>
                <a:lnTo>
                  <a:pt x="2072210" y="0"/>
                </a:lnTo>
                <a:lnTo>
                  <a:pt x="2072210" y="10288203"/>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7" name="bg object 17">
            <a:extLst xmlns:a="http://schemas.openxmlformats.org/drawingml/2006/main">
              <a:ext uri="{FF2B5EF4-FFF2-40B4-BE49-F238E27FC236}">
                <a16:creationId xmlns:a16="http://schemas.microsoft.com/office/drawing/2014/main" id="{68F9942E-F02B-4F65-8033-534E45981D1A}"/>
              </a:ext>
            </a:extLst>
          </p:cNvPr>
          <p:cNvSpPr>
            <a:spLocks xmlns:a="http://schemas.openxmlformats.org/drawingml/2006/main" noGrp="1"/>
          </p:cNvSpPr>
          <p:nvPr/>
        </p:nvSpPr>
        <p:spPr>
          <a:xfrm xmlns:a="http://schemas.openxmlformats.org/drawingml/2006/main">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21" name="bg object 18"/>
          <p:cNvPicPr>
            <a:picLocks xmlns:a="http://schemas.openxmlformats.org/drawingml/2006/main" noChangeAspect="1"/>
          </p:cNvPicPr>
          <p:nvPr/>
        </p:nvPicPr>
        <p:blipFill>
          <a:blip xmlns:r="http://schemas.openxmlformats.org/officeDocument/2006/relationships" xmlns:a="http://schemas.openxmlformats.org/drawingml/2006/main" r:embed="Rafefb243363d42b0"/>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2" name="Holder 2">
            <a:extLst xmlns:a="http://schemas.openxmlformats.org/drawingml/2006/main">
              <a:ext uri="{FF2B5EF4-FFF2-40B4-BE49-F238E27FC236}">
                <a16:creationId xmlns:a16="http://schemas.microsoft.com/office/drawing/2014/main" id="{40D6C2E7-50C4-4550-AB29-0430AE27268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55C407F-354D-4E3B-8A6C-59468645BAE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2A73B66D-CF8B-4D8F-8275-D2153035FBAF}"/>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buNone/>
              <a:defRPr sz="2500" b="1" i="0">
                <a:solidFill>
                  <a:srgbClr val="0E933F"/>
                </a:solidFill>
                <a:latin typeface="Times New Roman"/>
                <a:ea typeface="Times New Roman"/>
                <a:cs typeface="Times New Roman"/>
              </a:defRPr>
            </a:lvl1pPr>
          </a:lstStyle>
          <a:p xmlns:a="http://schemas.openxmlformats.org/drawingml/2006/main">
            <a:pPr marL="12700">
              <a:lnSpc>
                <a:spcPts val="2390"/>
              </a:lnSpc>
              <a:buNone/>
            </a:pPr>
            <a:fld id="{81D60167-4931-47E6-BA6A-407CBD079E47}" type="slidenum">
              <a:rPr spc="-25"/>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ebffbf011d4a87" /><Relationship Type="http://schemas.openxmlformats.org/officeDocument/2006/relationships/slideLayout" Target="/ppt/slideLayouts/slideLayout1.xml" Id="Rf546f3ebfc8e4974" /><Relationship Type="http://schemas.openxmlformats.org/officeDocument/2006/relationships/slideLayout" Target="/ppt/slideLayouts/slideLayout2.xml" Id="R0aa39950e5264178" /><Relationship Type="http://schemas.openxmlformats.org/officeDocument/2006/relationships/slideLayout" Target="/ppt/slideLayouts/slideLayout3.xml" Id="R3f5d9158a6a14518" /><Relationship Type="http://schemas.openxmlformats.org/officeDocument/2006/relationships/slideLayout" Target="/ppt/slideLayouts/slideLayout4.xml" Id="Rd86f9069c72f416b" /><Relationship Type="http://schemas.openxmlformats.org/officeDocument/2006/relationships/slideLayout" Target="/ppt/slideLayouts/slideLayout5.xml" Id="R2c44d7cc534e450f"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bg object 16">
            <a:extLst xmlns:a="http://schemas.openxmlformats.org/drawingml/2006/main">
              <a:ext uri="{FF2B5EF4-FFF2-40B4-BE49-F238E27FC236}">
                <a16:creationId xmlns:a16="http://schemas.microsoft.com/office/drawing/2014/main" id="{F2A78533-CC8B-4A3E-88FE-ABA82295A0FD}"/>
              </a:ext>
            </a:extLst>
          </p:cNvPr>
          <p:cNvSpPr>
            <a:spLocks xmlns:a="http://schemas.openxmlformats.org/drawingml/2006/main" noGrp="1"/>
          </p:cNvSpPr>
          <p:nvPr/>
        </p:nvSpPr>
        <p:spPr>
          <a:xfrm xmlns:a="http://schemas.openxmlformats.org/drawingml/2006/main">
            <a:off x="16215788" y="0"/>
            <a:ext cx="2072639" cy="10288270"/>
          </a:xfrm>
          <a:custGeom xmlns:a="http://schemas.openxmlformats.org/drawingml/2006/main">
            <a:rect l="l" t="t" r="r" b="b"/>
            <a:pathLst>
              <a:path w="2072640" h="10288270">
                <a:moveTo>
                  <a:pt x="2072210" y="10288203"/>
                </a:moveTo>
                <a:lnTo>
                  <a:pt x="0" y="10288203"/>
                </a:lnTo>
                <a:lnTo>
                  <a:pt x="0" y="0"/>
                </a:lnTo>
                <a:lnTo>
                  <a:pt x="2072210" y="0"/>
                </a:lnTo>
                <a:lnTo>
                  <a:pt x="2072210" y="10288203"/>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AC5F81E9-073C-4211-837B-50913A8D4BB9}"/>
              </a:ext>
            </a:extLst>
          </p:cNvPr>
          <p:cNvSpPr>
            <a:spLocks xmlns:a="http://schemas.openxmlformats.org/drawingml/2006/main" noGrp="1"/>
          </p:cNvSpPr>
          <p:nvPr>
            <p:ph type="title" idx="0"/>
          </p:nvPr>
        </p:nvSpPr>
        <p:spPr>
          <a:xfrm xmlns:a="http://schemas.openxmlformats.org/drawingml/2006/main">
            <a:off x="2928533" y="1933730"/>
            <a:ext cx="12430933" cy="1141095"/>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rgbClr val="041C40"/>
                </a:solidFill>
                <a:latin typeface="Times New Roman"/>
                <a:ea typeface="Times New Roman"/>
                <a:cs typeface="Times New Roman"/>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0E5D0D9C-685C-494B-8CFA-761DA9DBF58F}"/>
              </a:ext>
            </a:extLst>
          </p:cNvPr>
          <p:cNvSpPr>
            <a:spLocks xmlns:a="http://schemas.openxmlformats.org/drawingml/2006/main" noGrp="1"/>
          </p:cNvSpPr>
          <p:nvPr>
            <p:ph type="body" idx="1"/>
          </p:nvPr>
        </p:nvSpPr>
        <p:spPr>
          <a:xfrm xmlns:a="http://schemas.openxmlformats.org/drawingml/2006/main">
            <a:off x="1606492" y="3310028"/>
            <a:ext cx="13068935" cy="442595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100" b="0" i="0">
                <a:solidFill>
                  <a:schemeClr val="tx1"/>
                </a:solidFill>
                <a:latin typeface="Times New Roman"/>
                <a:ea typeface="Times New Roman"/>
                <a:cs typeface="Times New Roman"/>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726302D3-5CEE-4CD7-8B89-1B3F86488F3B}"/>
              </a:ext>
            </a:extLst>
          </p:cNvPr>
          <p:cNvSpPr>
            <a:spLocks xmlns:a="http://schemas.openxmlformats.org/drawingml/2006/main" noGrp="1"/>
          </p:cNvSpPr>
          <p:nvPr>
            <p:ph type="ftr" idx="5"/>
          </p:nvPr>
        </p:nvSpPr>
        <p:spPr>
          <a:xfrm xmlns:a="http://schemas.openxmlformats.org/drawingml/2006/main">
            <a:off x="6217920" y="9566910"/>
            <a:ext cx="5852160" cy="51435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EE1A6B2-272E-4C32-8779-DAF87D70514A}"/>
              </a:ext>
            </a:extLst>
          </p:cNvPr>
          <p:cNvSpPr>
            <a:spLocks xmlns:a="http://schemas.openxmlformats.org/drawingml/2006/main" noGrp="1"/>
          </p:cNvSpPr>
          <p:nvPr>
            <p:ph type="dt" idx="6"/>
          </p:nvPr>
        </p:nvSpPr>
        <p:spPr>
          <a:xfrm xmlns:a="http://schemas.openxmlformats.org/drawingml/2006/main">
            <a:off x="914400" y="9566910"/>
            <a:ext cx="4206240" cy="51435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E058A06B-EAB3-4B2F-AF37-E71357D1166D}"/>
              </a:ext>
            </a:extLst>
          </p:cNvPr>
          <p:cNvSpPr>
            <a:spLocks xmlns:a="http://schemas.openxmlformats.org/drawingml/2006/main" noGrp="1"/>
          </p:cNvSpPr>
          <p:nvPr>
            <p:ph type="sldNum" idx="7"/>
          </p:nvPr>
        </p:nvSpPr>
        <p:spPr>
          <a:xfrm xmlns:a="http://schemas.openxmlformats.org/drawingml/2006/main">
            <a:off x="8490018" y="9618012"/>
            <a:ext cx="342900" cy="34290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500" b="1" i="0">
                <a:solidFill>
                  <a:srgbClr val="0E933F"/>
                </a:solidFill>
                <a:latin typeface="Times New Roman"/>
                <a:ea typeface="Times New Roman"/>
                <a:cs typeface="Times New Roman"/>
              </a:defRPr>
            </a:lvl1pPr>
          </a:lstStyle>
          <a:p xmlns:a="http://schemas.openxmlformats.org/drawingml/2006/main">
            <a:pPr marL="12700">
              <a:lnSpc>
                <a:spcPts val="2390"/>
              </a:lnSpc>
              <a:buNone/>
            </a:pPr>
            <a:fld id="{81D60167-4931-47E6-BA6A-407CBD079E47}" type="slidenum">
              <a:rPr spc="-25"/>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46f3ebfc8e4974"/>
    <p:sldLayoutId xmlns:r="http://schemas.openxmlformats.org/officeDocument/2006/relationships" id="2147483650" r:id="R0aa39950e5264178"/>
    <p:sldLayoutId xmlns:r="http://schemas.openxmlformats.org/officeDocument/2006/relationships" id="2147483651" r:id="R3f5d9158a6a14518"/>
    <p:sldLayoutId xmlns:r="http://schemas.openxmlformats.org/officeDocument/2006/relationships" id="2147483652" r:id="Rd86f9069c72f416b"/>
    <p:sldLayoutId xmlns:r="http://schemas.openxmlformats.org/officeDocument/2006/relationships" id="2147483653" r:id="R2c44d7cc534e450f"/>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457200">
        <a:buNone/>
        <a:defRPr>
          <a:latin typeface="+mn-lt"/>
          <a:ea typeface="+mn-lt"/>
          <a:cs typeface="+mn-lt"/>
        </a:defRPr>
      </a:lvl2pPr>
      <a:lvl3pPr xmlns:a="http://schemas.openxmlformats.org/drawingml/2006/main" marL="914400">
        <a:buNone/>
        <a:defRPr>
          <a:latin typeface="+mn-lt"/>
          <a:ea typeface="+mn-lt"/>
          <a:cs typeface="+mn-lt"/>
        </a:defRPr>
      </a:lvl3pPr>
      <a:lvl4pPr xmlns:a="http://schemas.openxmlformats.org/drawingml/2006/main" marL="1371600">
        <a:buNone/>
        <a:defRPr>
          <a:latin typeface="+mn-lt"/>
          <a:ea typeface="+mn-lt"/>
          <a:cs typeface="+mn-lt"/>
        </a:defRPr>
      </a:lvl4pPr>
      <a:lvl5pPr xmlns:a="http://schemas.openxmlformats.org/drawingml/2006/main" marL="1828800">
        <a:buNone/>
        <a:defRPr>
          <a:latin typeface="+mn-lt"/>
          <a:ea typeface="+mn-lt"/>
          <a:cs typeface="+mn-lt"/>
        </a:defRPr>
      </a:lvl5pPr>
      <a:lvl6pPr xmlns:a="http://schemas.openxmlformats.org/drawingml/2006/main" marL="2286000">
        <a:buNone/>
        <a:defRPr>
          <a:latin typeface="+mn-lt"/>
          <a:ea typeface="+mn-lt"/>
          <a:cs typeface="+mn-lt"/>
        </a:defRPr>
      </a:lvl6pPr>
      <a:lvl7pPr xmlns:a="http://schemas.openxmlformats.org/drawingml/2006/main" marL="2743200">
        <a:buNone/>
        <a:defRPr>
          <a:latin typeface="+mn-lt"/>
          <a:ea typeface="+mn-lt"/>
          <a:cs typeface="+mn-lt"/>
        </a:defRPr>
      </a:lvl7pPr>
      <a:lvl8pPr xmlns:a="http://schemas.openxmlformats.org/drawingml/2006/main" marL="3200400">
        <a:buNone/>
        <a:defRPr>
          <a:latin typeface="+mn-lt"/>
          <a:ea typeface="+mn-lt"/>
          <a:cs typeface="+mn-lt"/>
        </a:defRPr>
      </a:lvl8pPr>
      <a:lvl9pPr xmlns:a="http://schemas.openxmlformats.org/drawingml/2006/main" marL="3657600">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457200">
        <a:buNone/>
        <a:defRPr>
          <a:latin typeface="+mn-lt"/>
          <a:ea typeface="+mn-lt"/>
          <a:cs typeface="+mn-lt"/>
        </a:defRPr>
      </a:lvl2pPr>
      <a:lvl3pPr xmlns:a="http://schemas.openxmlformats.org/drawingml/2006/main" marL="914400">
        <a:buNone/>
        <a:defRPr>
          <a:latin typeface="+mn-lt"/>
          <a:ea typeface="+mn-lt"/>
          <a:cs typeface="+mn-lt"/>
        </a:defRPr>
      </a:lvl3pPr>
      <a:lvl4pPr xmlns:a="http://schemas.openxmlformats.org/drawingml/2006/main" marL="1371600">
        <a:buNone/>
        <a:defRPr>
          <a:latin typeface="+mn-lt"/>
          <a:ea typeface="+mn-lt"/>
          <a:cs typeface="+mn-lt"/>
        </a:defRPr>
      </a:lvl4pPr>
      <a:lvl5pPr xmlns:a="http://schemas.openxmlformats.org/drawingml/2006/main" marL="1828800">
        <a:buNone/>
        <a:defRPr>
          <a:latin typeface="+mn-lt"/>
          <a:ea typeface="+mn-lt"/>
          <a:cs typeface="+mn-lt"/>
        </a:defRPr>
      </a:lvl5pPr>
      <a:lvl6pPr xmlns:a="http://schemas.openxmlformats.org/drawingml/2006/main" marL="2286000">
        <a:buNone/>
        <a:defRPr>
          <a:latin typeface="+mn-lt"/>
          <a:ea typeface="+mn-lt"/>
          <a:cs typeface="+mn-lt"/>
        </a:defRPr>
      </a:lvl6pPr>
      <a:lvl7pPr xmlns:a="http://schemas.openxmlformats.org/drawingml/2006/main" marL="2743200">
        <a:buNone/>
        <a:defRPr>
          <a:latin typeface="+mn-lt"/>
          <a:ea typeface="+mn-lt"/>
          <a:cs typeface="+mn-lt"/>
        </a:defRPr>
      </a:lvl7pPr>
      <a:lvl8pPr xmlns:a="http://schemas.openxmlformats.org/drawingml/2006/main" marL="3200400">
        <a:buNone/>
        <a:defRPr>
          <a:latin typeface="+mn-lt"/>
          <a:ea typeface="+mn-lt"/>
          <a:cs typeface="+mn-lt"/>
        </a:defRPr>
      </a:lvl8pPr>
      <a:lvl9pPr xmlns:a="http://schemas.openxmlformats.org/drawingml/2006/main" marL="3657600">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6191016ee48408b" /><Relationship Type="http://schemas.openxmlformats.org/officeDocument/2006/relationships/image" Target="/ppt/media/image2.png" Id="Ra175d57dd7cf45ee" /><Relationship Type="http://schemas.openxmlformats.org/officeDocument/2006/relationships/image" Target="/ppt/media/image.png" Id="R74794ec8e9ec472b" /><Relationship Type="http://schemas.openxmlformats.org/officeDocument/2006/relationships/notesSlide" Target="/ppt/notesSlides/notesSlide1.xml" Id="Rf947a2dff4e34f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895d634a0044a00" /><Relationship Type="http://schemas.openxmlformats.org/officeDocument/2006/relationships/image" Target="/ppt/media/image.jpeg" Id="Rc2b5fd9993054264" /><Relationship Type="http://schemas.openxmlformats.org/officeDocument/2006/relationships/image" Target="/ppt/media/image.png" Id="R542c68846ed24c05" /><Relationship Type="http://schemas.openxmlformats.org/officeDocument/2006/relationships/notesSlide" Target="/ppt/notesSlides/notesSlide2.xml" Id="R049e47b82b9744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ec3bb2640e0c4a6a" /><Relationship Type="http://schemas.openxmlformats.org/officeDocument/2006/relationships/image" Target="/ppt/media/image.png" Id="R2ba061d458d04882" /><Relationship Type="http://schemas.openxmlformats.org/officeDocument/2006/relationships/notesSlide" Target="/ppt/notesSlides/notesSlide3.xml" Id="R02dfe26a230f4c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84c04d61c37a43db" /><Relationship Type="http://schemas.openxmlformats.org/officeDocument/2006/relationships/image" Target="/ppt/media/image.png" Id="R33e56f063f804ddf" /><Relationship Type="http://schemas.openxmlformats.org/officeDocument/2006/relationships/notesSlide" Target="/ppt/notesSlides/notesSlide4.xml" Id="R39b11a7dbb5b45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1f92318d2ae347c9" /><Relationship Type="http://schemas.openxmlformats.org/officeDocument/2006/relationships/image" Target="/ppt/media/image.png" Id="R857da49769a14181" /><Relationship Type="http://schemas.openxmlformats.org/officeDocument/2006/relationships/notesSlide" Target="/ppt/notesSlides/notesSlide5.xml" Id="R173f76606ad64e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7e4647a7a864a74" /><Relationship Type="http://schemas.openxmlformats.org/officeDocument/2006/relationships/image" Target="/ppt/media/image.png" Id="R1d8b3db768ab48f7" /><Relationship Type="http://schemas.openxmlformats.org/officeDocument/2006/relationships/notesSlide" Target="/ppt/notesSlides/notesSlide6.xml" Id="Rd873af8588c748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aeedfd92c3d489e" /><Relationship Type="http://schemas.openxmlformats.org/officeDocument/2006/relationships/image" Target="/ppt/media/image.png" Id="Rcba05b2540e347e4" /><Relationship Type="http://schemas.openxmlformats.org/officeDocument/2006/relationships/notesSlide" Target="/ppt/notesSlides/notesSlide7.xml" Id="R771d3cfe2a9f4e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16c04c5b9dab4c75" /><Relationship Type="http://schemas.openxmlformats.org/officeDocument/2006/relationships/image" Target="/ppt/media/image.png" Id="R3b5303ba243546f8" /><Relationship Type="http://schemas.openxmlformats.org/officeDocument/2006/relationships/notesSlide" Target="/ppt/notesSlides/notesSlide8.xml" Id="R814dcb6b0d2c4e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0d285e34f73f4651" /><Relationship Type="http://schemas.openxmlformats.org/officeDocument/2006/relationships/image" Target="/ppt/media/image.png" Id="Rf5de3d6789074c53" /><Relationship Type="http://schemas.openxmlformats.org/officeDocument/2006/relationships/notesSlide" Target="/ppt/notesSlides/notesSlide9.xml" Id="Rab51da1a6bd942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87ce59e4f5c54a63" /><Relationship Type="http://schemas.openxmlformats.org/officeDocument/2006/relationships/image" Target="/ppt/media/image.png" Id="R1ff13e7faf024ba6" /><Relationship Type="http://schemas.openxmlformats.org/officeDocument/2006/relationships/notesSlide" Target="/ppt/notesSlides/notesSlide10.xml" Id="Rf857e25b0f9141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82f7dd1c9b304368" /><Relationship Type="http://schemas.openxmlformats.org/officeDocument/2006/relationships/image" Target="/ppt/media/image.png" Id="Rff4ba839264d4bf2" /><Relationship Type="http://schemas.openxmlformats.org/officeDocument/2006/relationships/notesSlide" Target="/ppt/notesSlides/notesSlide11.xml" Id="R192245a5a30b40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b61d2378fbd94873" /><Relationship Type="http://schemas.openxmlformats.org/officeDocument/2006/relationships/image" Target="/ppt/media/image.png" Id="Rafc7dbbae9934e65" /><Relationship Type="http://schemas.openxmlformats.org/officeDocument/2006/relationships/notesSlide" Target="/ppt/notesSlides/notesSlide12.xml" Id="R6e1fd1a801b641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959b8f67481845f6" /><Relationship Type="http://schemas.openxmlformats.org/officeDocument/2006/relationships/image" Target="/ppt/media/image.png" Id="Rb27555e4275143a8" /><Relationship Type="http://schemas.openxmlformats.org/officeDocument/2006/relationships/chart" Target="/ppt/slides/charts/chart1.xml" Id="Rdad45e1149ea47ce" /><Relationship Type="http://schemas.openxmlformats.org/officeDocument/2006/relationships/notesSlide" Target="/ppt/notesSlides/notesSlide13.xml" Id="Rf928b7ffd3a449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9da9c00ca87b4a69" /><Relationship Type="http://schemas.openxmlformats.org/officeDocument/2006/relationships/image" Target="/ppt/media/image.png" Id="Rd081949cdf1f4bf6" /><Relationship Type="http://schemas.openxmlformats.org/officeDocument/2006/relationships/notesSlide" Target="/ppt/notesSlides/notesSlide14.xml" Id="R50eb5ef0258f43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5.xml" Id="Ra2252e1037b049e5" /><Relationship Type="http://schemas.openxmlformats.org/officeDocument/2006/relationships/image" Target="/ppt/media/image.png" Id="R6ff63ad5b891451b" /><Relationship Type="http://schemas.openxmlformats.org/officeDocument/2006/relationships/notesSlide" Target="/ppt/notesSlides/notesSlide15.xml" Id="Rb8006584539842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fd092be726084279" /><Relationship Type="http://schemas.openxmlformats.org/officeDocument/2006/relationships/image" Target="/ppt/media/image.png" Id="R82d1be4f8f684612" /><Relationship Type="http://schemas.openxmlformats.org/officeDocument/2006/relationships/notesSlide" Target="/ppt/notesSlides/notesSlide16.xml" Id="R0eec631ff3924a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8d97ae08f54a4493" /><Relationship Type="http://schemas.openxmlformats.org/officeDocument/2006/relationships/image" Target="/ppt/media/image.png" Id="R037850b3dc874a20" /><Relationship Type="http://schemas.openxmlformats.org/officeDocument/2006/relationships/notesSlide" Target="/ppt/notesSlides/notesSlide17.xml" Id="R3e4e035ca7594d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aa909cc4048a4ee3" /><Relationship Type="http://schemas.openxmlformats.org/officeDocument/2006/relationships/image" Target="/ppt/media/image.png" Id="Rc3119dcbd6ef4f58" /><Relationship Type="http://schemas.openxmlformats.org/officeDocument/2006/relationships/image" Target="/ppt/media/image2.jpeg" Id="R452a7201d41940e8" /><Relationship Type="http://schemas.openxmlformats.org/officeDocument/2006/relationships/notesSlide" Target="/ppt/notesSlides/notesSlide18.xml" Id="R75521b865bf248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5ee103eb6c104a87" /><Relationship Type="http://schemas.openxmlformats.org/officeDocument/2006/relationships/image" Target="/ppt/media/image.png" Id="R7b065239aef94c5a" /><Relationship Type="http://schemas.openxmlformats.org/officeDocument/2006/relationships/image" Target="/ppt/media/image3.png" Id="R82cd220a3cc745da" /><Relationship Type="http://schemas.openxmlformats.org/officeDocument/2006/relationships/image" Target="/ppt/media/image4.png" Id="Rc4205141d22f49b3" /><Relationship Type="http://schemas.openxmlformats.org/officeDocument/2006/relationships/image" Target="/ppt/media/image5.png" Id="R21a9151c929d47a9" /><Relationship Type="http://schemas.openxmlformats.org/officeDocument/2006/relationships/notesSlide" Target="/ppt/notesSlides/notesSlide19.xml" Id="R06008115370b47f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33454b3839ab4414" /><Relationship Type="http://schemas.openxmlformats.org/officeDocument/2006/relationships/image" Target="/ppt/media/image.png" Id="R2e624382c98b4af2" /><Relationship Type="http://schemas.openxmlformats.org/officeDocument/2006/relationships/notesSlide" Target="/ppt/notesSlides/notesSlide20.xml" Id="Rf0d403e300e142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57556661823447a7" /><Relationship Type="http://schemas.openxmlformats.org/officeDocument/2006/relationships/image" Target="/ppt/media/image.png" Id="R60737c35f62d4432" /><Relationship Type="http://schemas.openxmlformats.org/officeDocument/2006/relationships/notesSlide" Target="/ppt/notesSlides/notesSlide21.xml" Id="R1621c1389520418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4.xml" Id="R136bb68d968d4f41" /><Relationship Type="http://schemas.openxmlformats.org/officeDocument/2006/relationships/image" Target="/ppt/media/image.png" Id="R023965fdcdae4c35" /><Relationship Type="http://schemas.openxmlformats.org/officeDocument/2006/relationships/notesSlide" Target="/ppt/notesSlides/notesSlide22.xml" Id="R346782f243504475"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0E933F"/>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Times New Roman"/>
                <a:ea typeface="Times New Roman"/>
                <a:cs typeface="Times New Roman"/>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666666"/>
                </a:solidFill>
                <a:latin typeface="Times New Roman"/>
                <a:ea typeface="Times New Roman"/>
                <a:cs typeface="Times New Roman"/>
              </a:defRPr>
            </a:pPr>
          </a:p>
        </c:txPr>
        <c:crossAx val="48650112"/>
        <c:crossBetween val="between"/>
      </c:valAx>
    </c:plotArea>
    <c:plotVisOnly val="1"/>
  </c:chart>
  <c:spPr>
    <a:solidFill xmlns:a="http://schemas.openxmlformats.org/drawingml/2006/main">
      <a:srgbClr val="FFFFFF"/>
    </a:solidFill>
  </c:spPr>
</c:chartSpace>
</file>

<file path=ppt/slides/slide1.xml><?xml version="1.0" encoding="utf-8"?>
<p:sld xmlns:p="http://schemas.openxmlformats.org/presentationml/2006/main" showMasterSp="0">
  <p:cSld>
    <p:spTree>
      <p:nvGrpSpPr>
        <p:cNvPr id="1" name=""/>
        <p:cNvGrpSpPr/>
        <p:nvPr/>
      </p:nvGrpSpPr>
      <p:grpSpPr>
        <a:xfrm xmlns:a="http://schemas.openxmlformats.org/drawingml/2006/main"/>
      </p:grpSpPr>
      <p:sp>
        <p:nvSpPr>
          <p:cNvPr id="2" name="object 2">
            <a:extLst xmlns:a="http://schemas.openxmlformats.org/drawingml/2006/main">
              <a:ext uri="{FF2B5EF4-FFF2-40B4-BE49-F238E27FC236}">
                <a16:creationId xmlns:a16="http://schemas.microsoft.com/office/drawing/2014/main" id="{4C3DB939-3E87-4655-A183-E86D65DF0AEE}"/>
              </a:ext>
            </a:extLst>
          </p:cNvPr>
          <p:cNvSpPr>
            <a:spLocks xmlns:a="http://schemas.openxmlformats.org/drawingml/2006/main" noGrp="1"/>
          </p:cNvSpPr>
          <p:nvPr/>
        </p:nvSpPr>
        <p:spPr>
          <a:xfrm xmlns:a="http://schemas.openxmlformats.org/drawingml/2006/main">
            <a:off x="10313586" y="8704153"/>
            <a:ext cx="7974965" cy="1583055"/>
          </a:xfrm>
          <a:custGeom xmlns:a="http://schemas.openxmlformats.org/drawingml/2006/main">
            <a:rect l="l" t="t" r="r" b="b"/>
            <a:pathLst>
              <a:path w="7974965" h="1583054">
                <a:moveTo>
                  <a:pt x="4372768" y="12699"/>
                </a:moveTo>
                <a:lnTo>
                  <a:pt x="3778099" y="12699"/>
                </a:lnTo>
                <a:lnTo>
                  <a:pt x="3827395" y="0"/>
                </a:lnTo>
                <a:lnTo>
                  <a:pt x="4323472" y="0"/>
                </a:lnTo>
                <a:lnTo>
                  <a:pt x="4372768" y="12699"/>
                </a:lnTo>
                <a:close/>
              </a:path>
              <a:path w="7974965" h="1583054">
                <a:moveTo>
                  <a:pt x="4568858" y="25399"/>
                </a:moveTo>
                <a:lnTo>
                  <a:pt x="3582009" y="25399"/>
                </a:lnTo>
                <a:lnTo>
                  <a:pt x="3630864" y="12699"/>
                </a:lnTo>
                <a:lnTo>
                  <a:pt x="4520003" y="12699"/>
                </a:lnTo>
                <a:lnTo>
                  <a:pt x="4568858" y="25399"/>
                </a:lnTo>
                <a:close/>
              </a:path>
              <a:path w="7974965" h="1583054">
                <a:moveTo>
                  <a:pt x="4714729" y="38099"/>
                </a:moveTo>
                <a:lnTo>
                  <a:pt x="3436139" y="38099"/>
                </a:lnTo>
                <a:lnTo>
                  <a:pt x="3484645" y="25399"/>
                </a:lnTo>
                <a:lnTo>
                  <a:pt x="4666222" y="25399"/>
                </a:lnTo>
                <a:lnTo>
                  <a:pt x="4714729" y="38099"/>
                </a:lnTo>
                <a:close/>
              </a:path>
              <a:path w="7974965" h="1583054">
                <a:moveTo>
                  <a:pt x="4811381" y="50799"/>
                </a:moveTo>
                <a:lnTo>
                  <a:pt x="3339486" y="50799"/>
                </a:lnTo>
                <a:lnTo>
                  <a:pt x="3387752" y="38099"/>
                </a:lnTo>
                <a:lnTo>
                  <a:pt x="4763115" y="38099"/>
                </a:lnTo>
                <a:lnTo>
                  <a:pt x="4811381" y="50799"/>
                </a:lnTo>
                <a:close/>
              </a:path>
              <a:path w="7974965" h="1583054">
                <a:moveTo>
                  <a:pt x="5003200" y="76199"/>
                </a:moveTo>
                <a:lnTo>
                  <a:pt x="3147667" y="76199"/>
                </a:lnTo>
                <a:lnTo>
                  <a:pt x="3243324" y="50799"/>
                </a:lnTo>
                <a:lnTo>
                  <a:pt x="4907543" y="50799"/>
                </a:lnTo>
                <a:lnTo>
                  <a:pt x="5003200" y="76199"/>
                </a:lnTo>
                <a:close/>
              </a:path>
              <a:path w="7974965" h="1583054">
                <a:moveTo>
                  <a:pt x="5098340" y="88899"/>
                </a:moveTo>
                <a:lnTo>
                  <a:pt x="3052527" y="88899"/>
                </a:lnTo>
                <a:lnTo>
                  <a:pt x="3100031" y="76199"/>
                </a:lnTo>
                <a:lnTo>
                  <a:pt x="5050836" y="76199"/>
                </a:lnTo>
                <a:lnTo>
                  <a:pt x="5098340" y="88899"/>
                </a:lnTo>
                <a:close/>
              </a:path>
              <a:path w="7974965" h="1583054">
                <a:moveTo>
                  <a:pt x="5287013" y="126999"/>
                </a:moveTo>
                <a:lnTo>
                  <a:pt x="2863854" y="126999"/>
                </a:lnTo>
                <a:lnTo>
                  <a:pt x="3005156" y="88899"/>
                </a:lnTo>
                <a:lnTo>
                  <a:pt x="5145711" y="88899"/>
                </a:lnTo>
                <a:lnTo>
                  <a:pt x="5287013" y="126999"/>
                </a:lnTo>
                <a:close/>
              </a:path>
              <a:path w="7974965" h="1583054">
                <a:moveTo>
                  <a:pt x="5519704" y="177799"/>
                </a:moveTo>
                <a:lnTo>
                  <a:pt x="2631163" y="177799"/>
                </a:lnTo>
                <a:lnTo>
                  <a:pt x="2817031" y="126999"/>
                </a:lnTo>
                <a:lnTo>
                  <a:pt x="5333836" y="126999"/>
                </a:lnTo>
                <a:lnTo>
                  <a:pt x="5519704" y="177799"/>
                </a:lnTo>
                <a:close/>
              </a:path>
              <a:path w="7974965" h="1583054">
                <a:moveTo>
                  <a:pt x="7974412" y="1582845"/>
                </a:moveTo>
                <a:lnTo>
                  <a:pt x="0" y="1582845"/>
                </a:lnTo>
                <a:lnTo>
                  <a:pt x="17931" y="1562099"/>
                </a:lnTo>
                <a:lnTo>
                  <a:pt x="51119" y="1536699"/>
                </a:lnTo>
                <a:lnTo>
                  <a:pt x="84560" y="1498599"/>
                </a:lnTo>
                <a:lnTo>
                  <a:pt x="152200" y="1447799"/>
                </a:lnTo>
                <a:lnTo>
                  <a:pt x="186394" y="1409699"/>
                </a:lnTo>
                <a:lnTo>
                  <a:pt x="290455" y="1333499"/>
                </a:lnTo>
                <a:lnTo>
                  <a:pt x="325630" y="1295399"/>
                </a:lnTo>
                <a:lnTo>
                  <a:pt x="468720" y="1193799"/>
                </a:lnTo>
                <a:lnTo>
                  <a:pt x="505082" y="1155699"/>
                </a:lnTo>
                <a:lnTo>
                  <a:pt x="652839" y="1054099"/>
                </a:lnTo>
                <a:lnTo>
                  <a:pt x="842607" y="927099"/>
                </a:lnTo>
                <a:lnTo>
                  <a:pt x="920048" y="876299"/>
                </a:lnTo>
                <a:lnTo>
                  <a:pt x="959091" y="863599"/>
                </a:lnTo>
                <a:lnTo>
                  <a:pt x="1117373" y="761999"/>
                </a:lnTo>
                <a:lnTo>
                  <a:pt x="1157462" y="749299"/>
                </a:lnTo>
                <a:lnTo>
                  <a:pt x="1278950" y="673099"/>
                </a:lnTo>
                <a:lnTo>
                  <a:pt x="1319846" y="660399"/>
                </a:lnTo>
                <a:lnTo>
                  <a:pt x="1360940" y="634999"/>
                </a:lnTo>
                <a:lnTo>
                  <a:pt x="1402231" y="622299"/>
                </a:lnTo>
                <a:lnTo>
                  <a:pt x="1485392" y="571499"/>
                </a:lnTo>
                <a:lnTo>
                  <a:pt x="1527260" y="558799"/>
                </a:lnTo>
                <a:lnTo>
                  <a:pt x="1569317" y="533399"/>
                </a:lnTo>
                <a:lnTo>
                  <a:pt x="1611562" y="520699"/>
                </a:lnTo>
                <a:lnTo>
                  <a:pt x="1653993" y="495299"/>
                </a:lnTo>
                <a:lnTo>
                  <a:pt x="1739407" y="469899"/>
                </a:lnTo>
                <a:lnTo>
                  <a:pt x="1782386" y="444499"/>
                </a:lnTo>
                <a:lnTo>
                  <a:pt x="1825544" y="431799"/>
                </a:lnTo>
                <a:lnTo>
                  <a:pt x="1868880" y="406399"/>
                </a:lnTo>
                <a:lnTo>
                  <a:pt x="1999937" y="368299"/>
                </a:lnTo>
                <a:lnTo>
                  <a:pt x="2043967" y="342899"/>
                </a:lnTo>
                <a:lnTo>
                  <a:pt x="2221764" y="292099"/>
                </a:lnTo>
                <a:lnTo>
                  <a:pt x="2266624" y="266699"/>
                </a:lnTo>
                <a:lnTo>
                  <a:pt x="2585061" y="177799"/>
                </a:lnTo>
                <a:lnTo>
                  <a:pt x="5565806" y="177799"/>
                </a:lnTo>
                <a:lnTo>
                  <a:pt x="5884243" y="266699"/>
                </a:lnTo>
                <a:lnTo>
                  <a:pt x="5929103" y="292099"/>
                </a:lnTo>
                <a:lnTo>
                  <a:pt x="6106900" y="342899"/>
                </a:lnTo>
                <a:lnTo>
                  <a:pt x="6150930" y="368299"/>
                </a:lnTo>
                <a:lnTo>
                  <a:pt x="6281987" y="406399"/>
                </a:lnTo>
                <a:lnTo>
                  <a:pt x="6325323" y="431799"/>
                </a:lnTo>
                <a:lnTo>
                  <a:pt x="6368481" y="444499"/>
                </a:lnTo>
                <a:lnTo>
                  <a:pt x="6411460" y="469899"/>
                </a:lnTo>
                <a:lnTo>
                  <a:pt x="6496873" y="495299"/>
                </a:lnTo>
                <a:lnTo>
                  <a:pt x="6539304" y="520699"/>
                </a:lnTo>
                <a:lnTo>
                  <a:pt x="6581549" y="533399"/>
                </a:lnTo>
                <a:lnTo>
                  <a:pt x="6623607" y="558799"/>
                </a:lnTo>
                <a:lnTo>
                  <a:pt x="6665475" y="571499"/>
                </a:lnTo>
                <a:lnTo>
                  <a:pt x="6748636" y="622299"/>
                </a:lnTo>
                <a:lnTo>
                  <a:pt x="6789926" y="634999"/>
                </a:lnTo>
                <a:lnTo>
                  <a:pt x="6831021" y="660399"/>
                </a:lnTo>
                <a:lnTo>
                  <a:pt x="6871917" y="673099"/>
                </a:lnTo>
                <a:lnTo>
                  <a:pt x="6993404" y="749299"/>
                </a:lnTo>
                <a:lnTo>
                  <a:pt x="7033494" y="761999"/>
                </a:lnTo>
                <a:lnTo>
                  <a:pt x="7191775" y="863599"/>
                </a:lnTo>
                <a:lnTo>
                  <a:pt x="7230819" y="876299"/>
                </a:lnTo>
                <a:lnTo>
                  <a:pt x="7308260" y="927099"/>
                </a:lnTo>
                <a:lnTo>
                  <a:pt x="7498028" y="1054099"/>
                </a:lnTo>
                <a:lnTo>
                  <a:pt x="7645785" y="1155699"/>
                </a:lnTo>
                <a:lnTo>
                  <a:pt x="7682147" y="1193799"/>
                </a:lnTo>
                <a:lnTo>
                  <a:pt x="7825237" y="1295399"/>
                </a:lnTo>
                <a:lnTo>
                  <a:pt x="7860412" y="1333499"/>
                </a:lnTo>
                <a:lnTo>
                  <a:pt x="7964473" y="1409699"/>
                </a:lnTo>
                <a:lnTo>
                  <a:pt x="7974412" y="1420774"/>
                </a:lnTo>
                <a:lnTo>
                  <a:pt x="7974412" y="1582845"/>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3" name="object 3">
            <a:extLst xmlns:a="http://schemas.openxmlformats.org/drawingml/2006/main">
              <a:ext uri="{FF2B5EF4-FFF2-40B4-BE49-F238E27FC236}">
                <a16:creationId xmlns:a16="http://schemas.microsoft.com/office/drawing/2014/main" id="{2BAFB147-A574-4535-8319-AF53E55B7010}"/>
              </a:ext>
            </a:extLst>
          </p:cNvPr>
          <p:cNvSpPr>
            <a:spLocks xmlns:a="http://schemas.openxmlformats.org/drawingml/2006/main" noGrp="1"/>
          </p:cNvSpPr>
          <p:nvPr/>
        </p:nvSpPr>
        <p:spPr>
          <a:xfrm xmlns:a="http://schemas.openxmlformats.org/drawingml/2006/main">
            <a:off x="16420314" y="155496"/>
            <a:ext cx="1868170" cy="1861185"/>
          </a:xfrm>
          <a:custGeom xmlns:a="http://schemas.openxmlformats.org/drawingml/2006/main">
            <a:rect l="l" t="t" r="r" b="b"/>
            <a:pathLst>
              <a:path w="1868169" h="1861185">
                <a:moveTo>
                  <a:pt x="1649162" y="1848004"/>
                </a:moveTo>
                <a:lnTo>
                  <a:pt x="1723181" y="1855260"/>
                </a:lnTo>
                <a:lnTo>
                  <a:pt x="1770751" y="1858275"/>
                </a:lnTo>
                <a:lnTo>
                  <a:pt x="1818635" y="1860094"/>
                </a:lnTo>
                <a:lnTo>
                  <a:pt x="1866821" y="1860704"/>
                </a:lnTo>
                <a:lnTo>
                  <a:pt x="1867686" y="1860693"/>
                </a:lnTo>
              </a:path>
              <a:path w="1868169" h="1861185">
                <a:moveTo>
                  <a:pt x="1559038" y="1835304"/>
                </a:moveTo>
                <a:lnTo>
                  <a:pt x="1582511" y="1839193"/>
                </a:lnTo>
                <a:lnTo>
                  <a:pt x="1629046" y="1845705"/>
                </a:lnTo>
                <a:lnTo>
                  <a:pt x="1649162" y="1848004"/>
                </a:lnTo>
              </a:path>
              <a:path w="1868169" h="1861185">
                <a:moveTo>
                  <a:pt x="0" y="0"/>
                </a:moveTo>
                <a:lnTo>
                  <a:pt x="489" y="41991"/>
                </a:lnTo>
                <a:lnTo>
                  <a:pt x="591" y="44602"/>
                </a:lnTo>
                <a:lnTo>
                  <a:pt x="2350" y="89875"/>
                </a:lnTo>
                <a:lnTo>
                  <a:pt x="5365" y="137444"/>
                </a:lnTo>
                <a:lnTo>
                  <a:pt x="9560" y="184684"/>
                </a:lnTo>
                <a:lnTo>
                  <a:pt x="14920" y="231579"/>
                </a:lnTo>
                <a:lnTo>
                  <a:pt x="21432" y="278115"/>
                </a:lnTo>
                <a:lnTo>
                  <a:pt x="29080" y="324277"/>
                </a:lnTo>
                <a:lnTo>
                  <a:pt x="37850" y="370050"/>
                </a:lnTo>
                <a:lnTo>
                  <a:pt x="47727" y="415420"/>
                </a:lnTo>
                <a:lnTo>
                  <a:pt x="58696" y="460372"/>
                </a:lnTo>
                <a:lnTo>
                  <a:pt x="70743" y="504891"/>
                </a:lnTo>
                <a:lnTo>
                  <a:pt x="83853" y="548963"/>
                </a:lnTo>
                <a:lnTo>
                  <a:pt x="98012" y="592573"/>
                </a:lnTo>
                <a:lnTo>
                  <a:pt x="113204" y="635707"/>
                </a:lnTo>
                <a:lnTo>
                  <a:pt x="129416" y="678349"/>
                </a:lnTo>
                <a:lnTo>
                  <a:pt x="146631" y="720486"/>
                </a:lnTo>
                <a:lnTo>
                  <a:pt x="164837" y="762102"/>
                </a:lnTo>
                <a:lnTo>
                  <a:pt x="184018" y="803183"/>
                </a:lnTo>
                <a:lnTo>
                  <a:pt x="204159" y="843713"/>
                </a:lnTo>
                <a:lnTo>
                  <a:pt x="225246" y="883680"/>
                </a:lnTo>
                <a:lnTo>
                  <a:pt x="247264" y="923067"/>
                </a:lnTo>
                <a:lnTo>
                  <a:pt x="270198" y="961860"/>
                </a:lnTo>
                <a:lnTo>
                  <a:pt x="294035" y="1000044"/>
                </a:lnTo>
                <a:lnTo>
                  <a:pt x="318758" y="1037606"/>
                </a:lnTo>
                <a:lnTo>
                  <a:pt x="344354" y="1074529"/>
                </a:lnTo>
                <a:lnTo>
                  <a:pt x="370808" y="1110800"/>
                </a:lnTo>
                <a:lnTo>
                  <a:pt x="398105" y="1146404"/>
                </a:lnTo>
                <a:lnTo>
                  <a:pt x="426230" y="1181326"/>
                </a:lnTo>
                <a:lnTo>
                  <a:pt x="455169" y="1215551"/>
                </a:lnTo>
                <a:lnTo>
                  <a:pt x="484908" y="1249066"/>
                </a:lnTo>
                <a:lnTo>
                  <a:pt x="515431" y="1281854"/>
                </a:lnTo>
                <a:lnTo>
                  <a:pt x="546723" y="1313902"/>
                </a:lnTo>
                <a:lnTo>
                  <a:pt x="578771" y="1345195"/>
                </a:lnTo>
                <a:lnTo>
                  <a:pt x="611560" y="1375717"/>
                </a:lnTo>
                <a:lnTo>
                  <a:pt x="645074" y="1405456"/>
                </a:lnTo>
                <a:lnTo>
                  <a:pt x="679299" y="1434395"/>
                </a:lnTo>
                <a:lnTo>
                  <a:pt x="714221" y="1462520"/>
                </a:lnTo>
                <a:lnTo>
                  <a:pt x="749825" y="1489817"/>
                </a:lnTo>
                <a:lnTo>
                  <a:pt x="786096" y="1516271"/>
                </a:lnTo>
                <a:lnTo>
                  <a:pt x="823019" y="1541867"/>
                </a:lnTo>
                <a:lnTo>
                  <a:pt x="860581" y="1566590"/>
                </a:lnTo>
                <a:lnTo>
                  <a:pt x="898765" y="1590427"/>
                </a:lnTo>
                <a:lnTo>
                  <a:pt x="937559" y="1613361"/>
                </a:lnTo>
                <a:lnTo>
                  <a:pt x="976946" y="1635379"/>
                </a:lnTo>
                <a:lnTo>
                  <a:pt x="1016912" y="1656466"/>
                </a:lnTo>
                <a:lnTo>
                  <a:pt x="1057443" y="1676608"/>
                </a:lnTo>
                <a:lnTo>
                  <a:pt x="1098523" y="1695788"/>
                </a:lnTo>
                <a:lnTo>
                  <a:pt x="1140139" y="1713994"/>
                </a:lnTo>
                <a:lnTo>
                  <a:pt x="1182276" y="1731210"/>
                </a:lnTo>
                <a:lnTo>
                  <a:pt x="1224918" y="1747421"/>
                </a:lnTo>
                <a:lnTo>
                  <a:pt x="1268052" y="1762613"/>
                </a:lnTo>
                <a:lnTo>
                  <a:pt x="1311662" y="1776772"/>
                </a:lnTo>
                <a:lnTo>
                  <a:pt x="1355734" y="1789882"/>
                </a:lnTo>
                <a:lnTo>
                  <a:pt x="1400254" y="1801929"/>
                </a:lnTo>
                <a:lnTo>
                  <a:pt x="1445206" y="1812899"/>
                </a:lnTo>
                <a:lnTo>
                  <a:pt x="1490576" y="1822775"/>
                </a:lnTo>
                <a:lnTo>
                  <a:pt x="1536349" y="1831545"/>
                </a:lnTo>
                <a:lnTo>
                  <a:pt x="1559038" y="1835304"/>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67FC1112-3475-4E20-BD49-444DC1FC21B0}"/>
              </a:ext>
            </a:extLst>
          </p:cNvPr>
          <p:cNvSpPr>
            <a:spLocks xmlns:a="http://schemas.openxmlformats.org/drawingml/2006/main" noGrp="1"/>
          </p:cNvSpPr>
          <p:nvPr/>
        </p:nvSpPr>
        <p:spPr>
          <a:xfrm xmlns:a="http://schemas.openxmlformats.org/drawingml/2006/main">
            <a:off x="747856" y="0"/>
            <a:ext cx="1287145" cy="643890"/>
          </a:xfrm>
          <a:custGeom xmlns:a="http://schemas.openxmlformats.org/drawingml/2006/main">
            <a:rect l="l" t="t" r="r" b="b"/>
            <a:pathLst>
              <a:path w="1287145" h="643890">
                <a:moveTo>
                  <a:pt x="643474" y="643474"/>
                </a:moveTo>
                <a:lnTo>
                  <a:pt x="595451" y="641709"/>
                </a:lnTo>
                <a:lnTo>
                  <a:pt x="548386" y="636498"/>
                </a:lnTo>
                <a:lnTo>
                  <a:pt x="502405" y="627963"/>
                </a:lnTo>
                <a:lnTo>
                  <a:pt x="457630" y="616230"/>
                </a:lnTo>
                <a:lnTo>
                  <a:pt x="414188" y="601424"/>
                </a:lnTo>
                <a:lnTo>
                  <a:pt x="372202" y="583668"/>
                </a:lnTo>
                <a:lnTo>
                  <a:pt x="331796" y="563088"/>
                </a:lnTo>
                <a:lnTo>
                  <a:pt x="293096" y="539807"/>
                </a:lnTo>
                <a:lnTo>
                  <a:pt x="256225" y="513950"/>
                </a:lnTo>
                <a:lnTo>
                  <a:pt x="221308" y="485641"/>
                </a:lnTo>
                <a:lnTo>
                  <a:pt x="188469" y="455005"/>
                </a:lnTo>
                <a:lnTo>
                  <a:pt x="157833" y="422166"/>
                </a:lnTo>
                <a:lnTo>
                  <a:pt x="129524" y="387249"/>
                </a:lnTo>
                <a:lnTo>
                  <a:pt x="103667" y="350378"/>
                </a:lnTo>
                <a:lnTo>
                  <a:pt x="80386" y="311678"/>
                </a:lnTo>
                <a:lnTo>
                  <a:pt x="59806" y="271272"/>
                </a:lnTo>
                <a:lnTo>
                  <a:pt x="42050" y="229286"/>
                </a:lnTo>
                <a:lnTo>
                  <a:pt x="27244" y="185844"/>
                </a:lnTo>
                <a:lnTo>
                  <a:pt x="15511" y="141069"/>
                </a:lnTo>
                <a:lnTo>
                  <a:pt x="6976" y="95088"/>
                </a:lnTo>
                <a:lnTo>
                  <a:pt x="1764" y="48023"/>
                </a:lnTo>
                <a:lnTo>
                  <a:pt x="0" y="0"/>
                </a:lnTo>
                <a:lnTo>
                  <a:pt x="1286949" y="0"/>
                </a:lnTo>
                <a:lnTo>
                  <a:pt x="1285184" y="48023"/>
                </a:lnTo>
                <a:lnTo>
                  <a:pt x="1279972" y="95088"/>
                </a:lnTo>
                <a:lnTo>
                  <a:pt x="1271438" y="141069"/>
                </a:lnTo>
                <a:lnTo>
                  <a:pt x="1259705" y="185844"/>
                </a:lnTo>
                <a:lnTo>
                  <a:pt x="1244899" y="229286"/>
                </a:lnTo>
                <a:lnTo>
                  <a:pt x="1227143" y="271272"/>
                </a:lnTo>
                <a:lnTo>
                  <a:pt x="1206563" y="311678"/>
                </a:lnTo>
                <a:lnTo>
                  <a:pt x="1183281" y="350378"/>
                </a:lnTo>
                <a:lnTo>
                  <a:pt x="1157424" y="387249"/>
                </a:lnTo>
                <a:lnTo>
                  <a:pt x="1129116" y="422166"/>
                </a:lnTo>
                <a:lnTo>
                  <a:pt x="1098480" y="455005"/>
                </a:lnTo>
                <a:lnTo>
                  <a:pt x="1065641" y="485641"/>
                </a:lnTo>
                <a:lnTo>
                  <a:pt x="1030724" y="513950"/>
                </a:lnTo>
                <a:lnTo>
                  <a:pt x="993853" y="539807"/>
                </a:lnTo>
                <a:lnTo>
                  <a:pt x="955153" y="563088"/>
                </a:lnTo>
                <a:lnTo>
                  <a:pt x="914747" y="583668"/>
                </a:lnTo>
                <a:lnTo>
                  <a:pt x="872761" y="601424"/>
                </a:lnTo>
                <a:lnTo>
                  <a:pt x="829318" y="616230"/>
                </a:lnTo>
                <a:lnTo>
                  <a:pt x="784544" y="627963"/>
                </a:lnTo>
                <a:lnTo>
                  <a:pt x="738562" y="636498"/>
                </a:lnTo>
                <a:lnTo>
                  <a:pt x="691498" y="641709"/>
                </a:lnTo>
                <a:lnTo>
                  <a:pt x="643474" y="643474"/>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5" name="object 5">
            <a:extLst xmlns:a="http://schemas.openxmlformats.org/drawingml/2006/main">
              <a:ext uri="{FF2B5EF4-FFF2-40B4-BE49-F238E27FC236}">
                <a16:creationId xmlns:a16="http://schemas.microsoft.com/office/drawing/2014/main" id="{4A23AF04-E426-4384-9E63-1D25F72908A4}"/>
              </a:ext>
            </a:extLst>
          </p:cNvPr>
          <p:cNvSpPr>
            <a:spLocks xmlns:a="http://schemas.openxmlformats.org/drawingml/2006/main" noGrp="1"/>
          </p:cNvSpPr>
          <p:nvPr/>
        </p:nvSpPr>
        <p:spPr>
          <a:xfrm xmlns:a="http://schemas.openxmlformats.org/drawingml/2006/main">
            <a:off x="1775429" y="9926001"/>
            <a:ext cx="29209" cy="361315"/>
          </a:xfrm>
          <a:custGeom xmlns:a="http://schemas.openxmlformats.org/drawingml/2006/main">
            <a:rect l="l" t="t" r="r" b="b"/>
            <a:pathLst>
              <a:path w="29210" h="361315">
                <a:moveTo>
                  <a:pt x="28789" y="360997"/>
                </a:moveTo>
                <a:lnTo>
                  <a:pt x="29097" y="336641"/>
                </a:lnTo>
              </a:path>
              <a:path w="29210" h="361315">
                <a:moveTo>
                  <a:pt x="19570" y="139965"/>
                </a:moveTo>
                <a:lnTo>
                  <a:pt x="19517" y="139591"/>
                </a:lnTo>
              </a:path>
              <a:path w="29210" h="361315">
                <a:moveTo>
                  <a:pt x="60" y="261"/>
                </a:moveTo>
                <a:lnTo>
                  <a:pt x="0"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19" name="object 6"/>
          <p:cNvPicPr>
            <a:picLocks xmlns:a="http://schemas.openxmlformats.org/drawingml/2006/main" noChangeAspect="1"/>
          </p:cNvPicPr>
          <p:nvPr/>
        </p:nvPicPr>
        <p:blipFill>
          <a:blip xmlns:r="http://schemas.openxmlformats.org/officeDocument/2006/relationships" xmlns:a="http://schemas.openxmlformats.org/drawingml/2006/main" r:embed="Ra175d57dd7cf45ee"/>
          <a:stretch xmlns:a="http://schemas.openxmlformats.org/drawingml/2006/main">
            <a:fillRect l="0" t="0" r="0" b="0"/>
          </a:stretch>
        </p:blipFill>
        <p:spPr>
          <a:xfrm xmlns:a="http://schemas.openxmlformats.org/drawingml/2006/main">
            <a:off x="1040130" y="3772306"/>
            <a:ext cx="15885940" cy="2649863"/>
          </a:xfrm>
          <a:prstGeom xmlns:a="http://schemas.openxmlformats.org/drawingml/2006/main" prst="rect">
            <a:avLst/>
          </a:prstGeom>
        </p:spPr>
      </p:pic>
      <p:sp>
        <p:nvSpPr>
          <p:cNvPr id="7" name="object 7">
            <a:extLst xmlns:a="http://schemas.openxmlformats.org/drawingml/2006/main">
              <a:ext uri="{FF2B5EF4-FFF2-40B4-BE49-F238E27FC236}">
                <a16:creationId xmlns:a16="http://schemas.microsoft.com/office/drawing/2014/main" id="{99084036-30A7-41F4-9D5A-0C260568C43D}"/>
              </a:ext>
            </a:extLst>
          </p:cNvPr>
          <p:cNvSpPr>
            <a:spLocks xmlns:a="http://schemas.openxmlformats.org/drawingml/2006/main" noGrp="1"/>
          </p:cNvSpPr>
          <p:nvPr/>
        </p:nvSpPr>
        <p:spPr>
          <a:xfrm xmlns:a="http://schemas.openxmlformats.org/drawingml/2006/main">
            <a:off x="1028700" y="3760851"/>
            <a:ext cx="15906750" cy="2672715"/>
          </a:xfrm>
          <a:prstGeom xmlns:a="http://schemas.openxmlformats.org/drawingml/2006/main" prst="rect">
            <a:avLst/>
          </a:prstGeom>
          <a:ln xmlns:a="http://schemas.openxmlformats.org/drawingml/2006/main" w="76190">
            <a:solidFill>
              <a:srgbClr val="0E933F"/>
            </a:solidFill>
          </a:ln>
        </p:spPr>
        <p:txBody>
          <a:bodyPr xmlns:a="http://schemas.openxmlformats.org/drawingml/2006/main" vert="horz" wrap="square" lIns="228600" tIns="114300" rIns="228600" bIns="114300" anchor="ctr">
            <a:noAutofit/>
          </a:bodyPr>
          <a:lstStyle xmlns:a="http://schemas.openxmlformats.org/drawingml/2006/main"/>
          <a:p xmlns:a="http://schemas.openxmlformats.org/drawingml/2006/main">
            <a:pPr marL="362585" marR="244475" algn="ctr">
              <a:lnSpc>
                <a:spcPct val="116300"/>
              </a:lnSpc>
              <a:spcBef>
                <a:spcPts val="1789"/>
              </a:spcBef>
              <a:buNone/>
              <a:defRPr sz="4950" b="0">
                <a:solidFill>
                  <a:srgbClr val="041C40"/>
                </a:solidFill>
                <a:latin typeface="Times New Roman"/>
                <a:ea typeface="Times New Roman"/>
                <a:cs typeface="Times New Roman"/>
              </a:defRPr>
            </a:pPr>
            <a:r>
              <a:rPr sz="4950" b="0" spc="155">
                <a:solidFill>
                  <a:srgbClr val="041C40"/>
                </a:solidFill>
                <a:latin typeface="Times New Roman"/>
                <a:ea typeface="Times New Roman"/>
                <a:cs typeface="Times New Roman"/>
              </a:rPr>
              <a:t>ADG-10</a:t>
            </a:r>
            <a:endParaRPr sz="5000">
              <a:latin typeface="Times New Roman"/>
              <a:ea typeface="Times New Roman"/>
              <a:cs typeface="Times New Roman"/>
            </a:endParaRPr>
          </a:p>
          <a:p xmlns:a="http://schemas.openxmlformats.org/drawingml/2006/main">
            <a:pPr marL="362585" marR="244475" algn="ctr">
              <a:lnSpc>
                <a:spcPct val="116300"/>
              </a:lnSpc>
              <a:spcBef>
                <a:spcPts val="1789"/>
              </a:spcBef>
              <a:buNone/>
              <a:defRPr sz="4950" b="0">
                <a:solidFill>
                  <a:srgbClr val="041C40"/>
                </a:solidFill>
                <a:latin typeface="Times New Roman"/>
                <a:ea typeface="Times New Roman"/>
                <a:cs typeface="Times New Roman"/>
              </a:defRPr>
            </a:pPr>
            <a:r>
              <a:rPr sz="4950" b="0" spc="155">
                <a:solidFill>
                  <a:srgbClr val="041C40"/>
                </a:solidFill>
                <a:latin typeface="Times New Roman"/>
                <a:ea typeface="Times New Roman"/>
                <a:cs typeface="Times New Roman"/>
              </a:rPr>
              <a:t>Automatisation du cycle commercial des formations</a:t>
            </a:r>
            <a:endParaRPr sz="5000">
              <a:latin typeface="Times New Roman"/>
              <a:ea typeface="Times New Roman"/>
              <a:cs typeface="Times New Roman"/>
            </a:endParaRPr>
          </a:p>
        </p:txBody>
      </p:sp>
      <p:pic>
        <p:nvPicPr>
          <p:cNvPr id="21" name="object 8"/>
          <p:cNvPicPr>
            <a:picLocks xmlns:a="http://schemas.openxmlformats.org/drawingml/2006/main" noChangeAspect="1"/>
          </p:cNvPicPr>
          <p:nvPr/>
        </p:nvPicPr>
        <p:blipFill>
          <a:blip xmlns:r="http://schemas.openxmlformats.org/officeDocument/2006/relationships" xmlns:a="http://schemas.openxmlformats.org/drawingml/2006/main" r:embed="R74794ec8e9ec472b"/>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9" name="object 9">
            <a:extLst xmlns:a="http://schemas.openxmlformats.org/drawingml/2006/main">
              <a:ext uri="{FF2B5EF4-FFF2-40B4-BE49-F238E27FC236}">
                <a16:creationId xmlns:a16="http://schemas.microsoft.com/office/drawing/2014/main" id="{1E9B187E-F611-44CC-83B1-5D3E5CA3A6DD}"/>
              </a:ext>
            </a:extLst>
          </p:cNvPr>
          <p:cNvSpPr>
            <a:spLocks xmlns:a="http://schemas.openxmlformats.org/drawingml/2006/main" noGrp="1"/>
          </p:cNvSpPr>
          <p:nvPr/>
        </p:nvSpPr>
        <p:spPr>
          <a:xfrm xmlns:a="http://schemas.openxmlformats.org/drawingml/2006/main">
            <a:off x="1047750" y="7753350"/>
            <a:ext cx="6953250" cy="809625"/>
          </a:xfrm>
          <a:prstGeom xmlns:a="http://schemas.openxmlformats.org/drawingml/2006/main" prst="rect">
            <a:avLst/>
          </a:prstGeom>
        </p:spPr>
        <p:txBody>
          <a:bodyPr xmlns:a="http://schemas.openxmlformats.org/drawingml/2006/main" vert="horz" wrap="square" lIns="228600" tIns="114300" rIns="228600" bIns="114300" anchor="ctr">
            <a:noAutofit/>
          </a:bodyPr>
          <a:lstStyle xmlns:a="http://schemas.openxmlformats.org/drawingml/2006/main"/>
          <a:p xmlns:a="http://schemas.openxmlformats.org/drawingml/2006/main">
            <a:pPr marL="12700" algn="ctr">
              <a:lnSpc>
                <a:spcPct val="100000"/>
              </a:lnSpc>
              <a:spcBef>
                <a:spcPts val="100"/>
              </a:spcBef>
              <a:buNone/>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Présenté par : Yassine FATNAOUI</a:t>
            </a:r>
            <a:endParaRPr sz="2750">
              <a:latin typeface="Times New Roman"/>
              <a:ea typeface="Times New Roman"/>
              <a:cs typeface="Times New Roman"/>
            </a:endParaRPr>
          </a:p>
        </p:txBody>
      </p:sp>
      <p:sp>
        <p:nvSpPr>
          <p:cNvPr id="10" name="object 10">
            <a:extLst xmlns:a="http://schemas.openxmlformats.org/drawingml/2006/main">
              <a:ext uri="{FF2B5EF4-FFF2-40B4-BE49-F238E27FC236}">
                <a16:creationId xmlns:a16="http://schemas.microsoft.com/office/drawing/2014/main" id="{A5744F66-9511-4013-9B2C-B2CE8E3454C5}"/>
              </a:ext>
            </a:extLst>
          </p:cNvPr>
          <p:cNvSpPr>
            <a:spLocks xmlns:a="http://schemas.openxmlformats.org/drawingml/2006/main" noGrp="1"/>
          </p:cNvSpPr>
          <p:nvPr/>
        </p:nvSpPr>
        <p:spPr>
          <a:xfrm xmlns:a="http://schemas.openxmlformats.org/drawingml/2006/main">
            <a:off x="7477125" y="9525000"/>
            <a:ext cx="2762250" cy="571500"/>
          </a:xfrm>
          <a:prstGeom xmlns:a="http://schemas.openxmlformats.org/drawingml/2006/main" prst="rect">
            <a:avLst/>
          </a:prstGeom>
        </p:spPr>
        <p:txBody>
          <a:bodyPr xmlns:a="http://schemas.openxmlformats.org/drawingml/2006/main" vert="horz" wrap="square" lIns="228600" tIns="114300" rIns="228600" bIns="114300" anchor="ctr">
            <a:noAutofit/>
          </a:bodyPr>
          <a:lstStyle xmlns:a="http://schemas.openxmlformats.org/drawingml/2006/main"/>
          <a:p xmlns:a="http://schemas.openxmlformats.org/drawingml/2006/main">
            <a:pPr marL="12700" algn="ctr">
              <a:lnSpc>
                <a:spcPct val="100000"/>
              </a:lnSpc>
              <a:spcBef>
                <a:spcPts val="100"/>
              </a:spcBef>
              <a:buNone/>
              <a:defRPr sz="2700" b="1">
                <a:solidFill>
                  <a:srgbClr val="041C40"/>
                </a:solidFill>
                <a:latin typeface="Times New Roman"/>
                <a:ea typeface="Times New Roman"/>
                <a:cs typeface="Times New Roman"/>
              </a:defRPr>
            </a:pPr>
            <a:r>
              <a:rPr sz="2700" b="1" spc="-10">
                <a:solidFill>
                  <a:srgbClr val="041C40"/>
                </a:solidFill>
                <a:latin typeface="Times New Roman"/>
                <a:ea typeface="Times New Roman"/>
                <a:cs typeface="Times New Roman"/>
              </a:rPr>
              <a:t>2025-2026</a:t>
            </a:r>
            <a:endParaRPr sz="2700">
              <a:latin typeface="Times New Roman"/>
              <a:ea typeface="Times New Roman"/>
              <a:cs typeface="Times New Roman"/>
            </a:endParaRPr>
          </a:p>
        </p:txBody>
      </p:sp>
      <p:sp>
        <p:nvSpPr>
          <p:cNvPr id="11" name="object 11">
            <a:extLst xmlns:a="http://schemas.openxmlformats.org/drawingml/2006/main">
              <a:ext uri="{FF2B5EF4-FFF2-40B4-BE49-F238E27FC236}">
                <a16:creationId xmlns:a16="http://schemas.microsoft.com/office/drawing/2014/main" id="{1D553642-91E0-4F38-B25F-EF6D678474F3}"/>
              </a:ext>
            </a:extLst>
          </p:cNvPr>
          <p:cNvSpPr>
            <a:spLocks xmlns:a="http://schemas.openxmlformats.org/drawingml/2006/main" noGrp="1"/>
          </p:cNvSpPr>
          <p:nvPr>
            <p:ph type="title" idx="0"/>
          </p:nvPr>
        </p:nvSpPr>
        <p:spPr>
          <a:xfrm xmlns:a="http://schemas.openxmlformats.org/drawingml/2006/main">
            <a:off x="1809750" y="2333625"/>
            <a:ext cx="14382750" cy="1097639"/>
          </a:xfrm>
          <a:prstGeom xmlns:a="http://schemas.openxmlformats.org/drawingml/2006/main" prst="rect">
            <a:avLst/>
          </a:prstGeom>
        </p:spPr>
        <p:txBody>
          <a:bodyPr xmlns:a="http://schemas.openxmlformats.org/drawingml/2006/main" vert="horz" wrap="square" lIns="228600" tIns="114300" rIns="228600" bIns="114300" anchor="ctr">
            <a:noAutofit/>
          </a:bodyPr>
          <a:lstStyle xmlns:a="http://schemas.openxmlformats.org/drawingml/2006/main"/>
          <a:p xmlns:a="http://schemas.openxmlformats.org/drawingml/2006/main">
            <a:pPr marL="1414145" algn="ctr">
              <a:lnSpc>
                <a:spcPct val="100000"/>
              </a:lnSpc>
              <a:spcBef>
                <a:spcPts val="100"/>
              </a:spcBef>
              <a:buNone/>
              <a:defRPr sz="4500" b="1">
                <a:solidFill>
                  <a:srgbClr val="041C40"/>
                </a:solidFill>
                <a:latin typeface="Times New Roman"/>
                <a:ea typeface="Times New Roman"/>
                <a:cs typeface="Times New Roman"/>
              </a:defRPr>
            </a:pPr>
            <a:r>
              <a:rPr sz="4500" b="1" spc="-55">
                <a:solidFill>
                  <a:srgbClr val="041C40"/>
                </a:solidFill>
                <a:latin typeface="Times New Roman"/>
                <a:ea typeface="Times New Roman"/>
                <a:cs typeface="Times New Roman"/>
              </a:rPr>
              <a:t>Soutenance du projet de fin d’année</a:t>
            </a:r>
            <a:endParaRPr sz="5000"/>
          </a:p>
        </p:txBody>
      </p:sp>
      <p:sp>
        <p:nvSpPr>
          <p:cNvPr id="12" name="object 12">
            <a:extLst xmlns:a="http://schemas.openxmlformats.org/drawingml/2006/main">
              <a:ext uri="{FF2B5EF4-FFF2-40B4-BE49-F238E27FC236}">
                <a16:creationId xmlns:a16="http://schemas.microsoft.com/office/drawing/2014/main" id="{135428D3-BAF8-4EEC-8FFE-C179B30F46B0}"/>
              </a:ext>
            </a:extLst>
          </p:cNvPr>
          <p:cNvSpPr>
            <a:spLocks xmlns:a="http://schemas.openxmlformats.org/drawingml/2006/main" noGrp="1"/>
          </p:cNvSpPr>
          <p:nvPr/>
        </p:nvSpPr>
        <p:spPr>
          <a:xfrm xmlns:a="http://schemas.openxmlformats.org/drawingml/2006/main">
            <a:off x="10287000" y="7753350"/>
            <a:ext cx="7143750" cy="809625"/>
          </a:xfrm>
          <a:prstGeom xmlns:a="http://schemas.openxmlformats.org/drawingml/2006/main" prst="rect">
            <a:avLst/>
          </a:prstGeom>
        </p:spPr>
        <p:txBody>
          <a:bodyPr xmlns:a="http://schemas.openxmlformats.org/drawingml/2006/main" vert="horz" wrap="square" lIns="228600" tIns="114300" rIns="228600" bIns="114300" anchor="ctr">
            <a:noAutofit/>
          </a:bodyPr>
          <a:lstStyle xmlns:a="http://schemas.openxmlformats.org/drawingml/2006/main"/>
          <a:p xmlns:a="http://schemas.openxmlformats.org/drawingml/2006/main">
            <a:pPr marL="12700" algn="ctr">
              <a:lnSpc>
                <a:spcPct val="100000"/>
              </a:lnSpc>
              <a:spcBef>
                <a:spcPts val="100"/>
              </a:spcBef>
              <a:buNone/>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Encadré par : Azouguigh El Houssaine</a:t>
            </a:r>
            <a:endParaRPr sz="2750">
              <a:latin typeface="Times New Roman"/>
              <a:ea typeface="Times New Roman"/>
              <a:cs typeface="Times New Roman"/>
            </a:endParaRPr>
          </a:p>
        </p:txBody>
      </p:sp>
    </p:spTree>
    <p:extLst>
      <p:ext uri="{BB962C8B-B14F-4D97-AF65-F5344CB8AC3E}">
        <p14:creationId xmlns:p14="http://schemas.microsoft.com/office/powerpoint/2010/main" val="1479636468"/>
      </p:ext>
    </p:extLst>
  </p:cSld>
</p:sld>
</file>

<file path=ppt/slides/slide2.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AD748646-64CB-4AAC-938E-1B15692E6597}"/>
              </a:ext>
            </a:extLst>
          </p:cNvPr>
          <p:cNvSpPr>
            <a:spLocks xmlns:a="http://schemas.openxmlformats.org/drawingml/2006/main" noGrp="1"/>
          </p:cNvSpPr>
          <p:nvPr/>
        </p:nvSpPr>
        <p:spPr>
          <a:xfrm xmlns:a="http://schemas.openxmlformats.org/drawingml/2006/main" rot="0" flipH="0" flipV="0">
            <a:off x="14517813" y="0"/>
            <a:ext cx="3770629" cy="10287000"/>
          </a:xfrm>
          <a:custGeom xmlns:a="http://schemas.openxmlformats.org/drawingml/2006/main">
            <a:rect l="l" t="t" r="r" b="b"/>
            <a:pathLst>
              <a:path w="3770630" h="10287000">
                <a:moveTo>
                  <a:pt x="3770185" y="10286999"/>
                </a:moveTo>
                <a:lnTo>
                  <a:pt x="0" y="10286999"/>
                </a:lnTo>
                <a:lnTo>
                  <a:pt x="0" y="0"/>
                </a:lnTo>
                <a:lnTo>
                  <a:pt x="3770185" y="0"/>
                </a:lnTo>
                <a:lnTo>
                  <a:pt x="3770185" y="1028699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24" name="object 4"/>
          <p:cNvPicPr>
            <a:picLocks xmlns:a="http://schemas.openxmlformats.org/drawingml/2006/main" noChangeAspect="1"/>
          </p:cNvPicPr>
          <p:nvPr/>
        </p:nvPicPr>
        <p:blipFill>
          <a:blip xmlns:r="http://schemas.openxmlformats.org/officeDocument/2006/relationships" xmlns:a="http://schemas.openxmlformats.org/drawingml/2006/main" r:embed="Rc2b5fd9993054264"/>
          <a:stretch xmlns:a="http://schemas.openxmlformats.org/drawingml/2006/main">
            <a:fillRect l="0" t="0" r="0" b="0"/>
          </a:stretch>
        </p:blipFill>
        <p:spPr>
          <a:xfrm xmlns:a="http://schemas.openxmlformats.org/drawingml/2006/main" rot="0" flipH="0" flipV="0">
            <a:off x="11796731" y="447246"/>
            <a:ext cx="5972174" cy="9391649"/>
          </a:xfrm>
          <a:prstGeom xmlns:a="http://schemas.openxmlformats.org/drawingml/2006/main" prst="rect">
            <a:avLst/>
          </a:prstGeom>
        </p:spPr>
      </p:pic>
      <p:sp>
        <p:nvSpPr>
          <p:cNvPr id="7" name="object 7">
            <a:extLst xmlns:a="http://schemas.openxmlformats.org/drawingml/2006/main">
              <a:ext uri="{FF2B5EF4-FFF2-40B4-BE49-F238E27FC236}">
                <a16:creationId xmlns:a16="http://schemas.microsoft.com/office/drawing/2014/main" id="{F1EFBBCF-2EC5-4011-91D1-580CFF1FA7A2}"/>
              </a:ext>
            </a:extLst>
          </p:cNvPr>
          <p:cNvSpPr>
            <a:spLocks xmlns:a="http://schemas.openxmlformats.org/drawingml/2006/main" noGrp="1"/>
          </p:cNvSpPr>
          <p:nvPr/>
        </p:nvSpPr>
        <p:spPr>
          <a:xfrm xmlns:a="http://schemas.openxmlformats.org/drawingml/2006/main" rot="0" flipH="0" flipV="0">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26" name="object 8"/>
          <p:cNvPicPr>
            <a:picLocks xmlns:a="http://schemas.openxmlformats.org/drawingml/2006/main" noChangeAspect="1"/>
          </p:cNvPicPr>
          <p:nvPr/>
        </p:nvPicPr>
        <p:blipFill>
          <a:blip xmlns:r="http://schemas.openxmlformats.org/officeDocument/2006/relationships" xmlns:a="http://schemas.openxmlformats.org/drawingml/2006/main" r:embed="R542c68846ed24c05"/>
          <a:stretch xmlns:a="http://schemas.openxmlformats.org/drawingml/2006/main">
            <a:fillRect l="0" t="0" r="0" b="0"/>
          </a:stretch>
        </p:blipFill>
        <p:spPr>
          <a:xfrm xmlns:a="http://schemas.openxmlformats.org/drawingml/2006/main" rot="0" flipH="0" flipV="0">
            <a:off x="2441203" y="245027"/>
            <a:ext cx="5267324" cy="1152524"/>
          </a:xfrm>
          <a:prstGeom xmlns:a="http://schemas.openxmlformats.org/drawingml/2006/main" prst="rect">
            <a:avLst/>
          </a:prstGeom>
        </p:spPr>
      </p:pic>
      <p:sp>
        <p:nvSpPr>
          <p:cNvPr id="9" name="object 9">
            <a:extLst xmlns:a="http://schemas.openxmlformats.org/drawingml/2006/main">
              <a:ext uri="{FF2B5EF4-FFF2-40B4-BE49-F238E27FC236}">
                <a16:creationId xmlns:a16="http://schemas.microsoft.com/office/drawing/2014/main" id="{C0AC5EDE-D4ED-46BB-803D-C728E31122B9}"/>
              </a:ext>
            </a:extLst>
          </p:cNvPr>
          <p:cNvSpPr>
            <a:spLocks xmlns:a="http://schemas.openxmlformats.org/drawingml/2006/main" noGrp="1"/>
          </p:cNvSpPr>
          <p:nvPr/>
        </p:nvSpPr>
        <p:spPr>
          <a:xfrm xmlns:a="http://schemas.openxmlformats.org/drawingml/2006/main">
            <a:off x="2941193" y="4483036"/>
            <a:ext cx="453390" cy="510540"/>
          </a:xfrm>
          <a:custGeom xmlns:a="http://schemas.openxmlformats.org/drawingml/2006/main">
            <a:rect l="l" t="t" r="r" b="b"/>
            <a:pathLst>
              <a:path w="453389" h="510539">
                <a:moveTo>
                  <a:pt x="280047" y="252183"/>
                </a:moveTo>
                <a:lnTo>
                  <a:pt x="269430" y="244970"/>
                </a:lnTo>
                <a:lnTo>
                  <a:pt x="269430" y="131864"/>
                </a:lnTo>
                <a:lnTo>
                  <a:pt x="251777" y="119875"/>
                </a:lnTo>
                <a:lnTo>
                  <a:pt x="251777" y="232981"/>
                </a:lnTo>
                <a:lnTo>
                  <a:pt x="225298" y="215011"/>
                </a:lnTo>
                <a:lnTo>
                  <a:pt x="225298" y="101904"/>
                </a:lnTo>
                <a:lnTo>
                  <a:pt x="207632" y="89916"/>
                </a:lnTo>
                <a:lnTo>
                  <a:pt x="207632" y="203022"/>
                </a:lnTo>
                <a:lnTo>
                  <a:pt x="181165" y="185051"/>
                </a:lnTo>
                <a:lnTo>
                  <a:pt x="181165" y="71932"/>
                </a:lnTo>
                <a:lnTo>
                  <a:pt x="163499" y="59931"/>
                </a:lnTo>
                <a:lnTo>
                  <a:pt x="163499" y="173050"/>
                </a:lnTo>
                <a:lnTo>
                  <a:pt x="137020" y="155067"/>
                </a:lnTo>
                <a:lnTo>
                  <a:pt x="137020" y="41960"/>
                </a:lnTo>
                <a:lnTo>
                  <a:pt x="119354" y="29972"/>
                </a:lnTo>
                <a:lnTo>
                  <a:pt x="119354" y="143078"/>
                </a:lnTo>
                <a:lnTo>
                  <a:pt x="92887" y="125107"/>
                </a:lnTo>
                <a:lnTo>
                  <a:pt x="92887" y="11988"/>
                </a:lnTo>
                <a:lnTo>
                  <a:pt x="75222" y="0"/>
                </a:lnTo>
                <a:lnTo>
                  <a:pt x="75222" y="113118"/>
                </a:lnTo>
                <a:lnTo>
                  <a:pt x="0" y="62039"/>
                </a:lnTo>
                <a:lnTo>
                  <a:pt x="25" y="442353"/>
                </a:lnTo>
                <a:lnTo>
                  <a:pt x="75222" y="391299"/>
                </a:lnTo>
                <a:lnTo>
                  <a:pt x="75222" y="443318"/>
                </a:lnTo>
                <a:lnTo>
                  <a:pt x="75222" y="510387"/>
                </a:lnTo>
                <a:lnTo>
                  <a:pt x="92887" y="498398"/>
                </a:lnTo>
                <a:lnTo>
                  <a:pt x="92887" y="379298"/>
                </a:lnTo>
                <a:lnTo>
                  <a:pt x="119354" y="361315"/>
                </a:lnTo>
                <a:lnTo>
                  <a:pt x="119354" y="480402"/>
                </a:lnTo>
                <a:lnTo>
                  <a:pt x="137020" y="468414"/>
                </a:lnTo>
                <a:lnTo>
                  <a:pt x="137020" y="349326"/>
                </a:lnTo>
                <a:lnTo>
                  <a:pt x="163499" y="331343"/>
                </a:lnTo>
                <a:lnTo>
                  <a:pt x="163499" y="450430"/>
                </a:lnTo>
                <a:lnTo>
                  <a:pt x="181165" y="438442"/>
                </a:lnTo>
                <a:lnTo>
                  <a:pt x="181165" y="319341"/>
                </a:lnTo>
                <a:lnTo>
                  <a:pt x="207632" y="301371"/>
                </a:lnTo>
                <a:lnTo>
                  <a:pt x="207632" y="420458"/>
                </a:lnTo>
                <a:lnTo>
                  <a:pt x="225298" y="408470"/>
                </a:lnTo>
                <a:lnTo>
                  <a:pt x="225298" y="289382"/>
                </a:lnTo>
                <a:lnTo>
                  <a:pt x="251777" y="271399"/>
                </a:lnTo>
                <a:lnTo>
                  <a:pt x="251777" y="390486"/>
                </a:lnTo>
                <a:lnTo>
                  <a:pt x="269430" y="378498"/>
                </a:lnTo>
                <a:lnTo>
                  <a:pt x="269430" y="259397"/>
                </a:lnTo>
                <a:lnTo>
                  <a:pt x="280047" y="252183"/>
                </a:lnTo>
                <a:close/>
              </a:path>
              <a:path w="453389" h="510539">
                <a:moveTo>
                  <a:pt x="313563" y="161836"/>
                </a:moveTo>
                <a:lnTo>
                  <a:pt x="295910" y="149834"/>
                </a:lnTo>
                <a:lnTo>
                  <a:pt x="295910" y="360514"/>
                </a:lnTo>
                <a:lnTo>
                  <a:pt x="313563" y="348526"/>
                </a:lnTo>
                <a:lnTo>
                  <a:pt x="313563" y="161836"/>
                </a:lnTo>
                <a:close/>
              </a:path>
              <a:path w="453389" h="510539">
                <a:moveTo>
                  <a:pt x="357708" y="191808"/>
                </a:moveTo>
                <a:lnTo>
                  <a:pt x="340042" y="179819"/>
                </a:lnTo>
                <a:lnTo>
                  <a:pt x="340042" y="330542"/>
                </a:lnTo>
                <a:lnTo>
                  <a:pt x="357708" y="318541"/>
                </a:lnTo>
                <a:lnTo>
                  <a:pt x="357708" y="191808"/>
                </a:lnTo>
                <a:close/>
              </a:path>
              <a:path w="453389" h="510539">
                <a:moveTo>
                  <a:pt x="401853" y="221780"/>
                </a:moveTo>
                <a:lnTo>
                  <a:pt x="384187" y="209778"/>
                </a:lnTo>
                <a:lnTo>
                  <a:pt x="384187" y="300558"/>
                </a:lnTo>
                <a:lnTo>
                  <a:pt x="401853" y="288569"/>
                </a:lnTo>
                <a:lnTo>
                  <a:pt x="401853" y="221780"/>
                </a:lnTo>
                <a:close/>
              </a:path>
              <a:path w="453389" h="510539">
                <a:moveTo>
                  <a:pt x="453364" y="255193"/>
                </a:moveTo>
                <a:lnTo>
                  <a:pt x="428332" y="239763"/>
                </a:lnTo>
                <a:lnTo>
                  <a:pt x="428332" y="270586"/>
                </a:lnTo>
                <a:lnTo>
                  <a:pt x="453364" y="255193"/>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1" name="object 11">
            <a:extLst xmlns:a="http://schemas.openxmlformats.org/drawingml/2006/main">
              <a:ext uri="{FF2B5EF4-FFF2-40B4-BE49-F238E27FC236}">
                <a16:creationId xmlns:a16="http://schemas.microsoft.com/office/drawing/2014/main" id="{DE838062-729C-4F52-B660-04EBF3B5119D}"/>
              </a:ext>
            </a:extLst>
          </p:cNvPr>
          <p:cNvSpPr>
            <a:spLocks xmlns:a="http://schemas.openxmlformats.org/drawingml/2006/main" noGrp="1"/>
          </p:cNvSpPr>
          <p:nvPr/>
        </p:nvSpPr>
        <p:spPr>
          <a:xfrm xmlns:a="http://schemas.openxmlformats.org/drawingml/2006/main">
            <a:off x="2941193" y="5365457"/>
            <a:ext cx="453390" cy="510540"/>
          </a:xfrm>
          <a:custGeom xmlns:a="http://schemas.openxmlformats.org/drawingml/2006/main">
            <a:rect l="l" t="t" r="r" b="b"/>
            <a:pathLst>
              <a:path w="453389" h="510539">
                <a:moveTo>
                  <a:pt x="280047" y="252183"/>
                </a:moveTo>
                <a:lnTo>
                  <a:pt x="269430" y="244970"/>
                </a:lnTo>
                <a:lnTo>
                  <a:pt x="269430" y="131851"/>
                </a:lnTo>
                <a:lnTo>
                  <a:pt x="251777" y="119862"/>
                </a:lnTo>
                <a:lnTo>
                  <a:pt x="251777" y="232981"/>
                </a:lnTo>
                <a:lnTo>
                  <a:pt x="225298" y="214998"/>
                </a:lnTo>
                <a:lnTo>
                  <a:pt x="225298" y="101892"/>
                </a:lnTo>
                <a:lnTo>
                  <a:pt x="207632" y="89903"/>
                </a:lnTo>
                <a:lnTo>
                  <a:pt x="207632" y="203009"/>
                </a:lnTo>
                <a:lnTo>
                  <a:pt x="181165" y="185039"/>
                </a:lnTo>
                <a:lnTo>
                  <a:pt x="181165" y="71920"/>
                </a:lnTo>
                <a:lnTo>
                  <a:pt x="163499" y="59931"/>
                </a:lnTo>
                <a:lnTo>
                  <a:pt x="163499" y="173037"/>
                </a:lnTo>
                <a:lnTo>
                  <a:pt x="137020" y="155054"/>
                </a:lnTo>
                <a:lnTo>
                  <a:pt x="137020" y="41948"/>
                </a:lnTo>
                <a:lnTo>
                  <a:pt x="119354" y="29959"/>
                </a:lnTo>
                <a:lnTo>
                  <a:pt x="119354" y="143078"/>
                </a:lnTo>
                <a:lnTo>
                  <a:pt x="92887" y="125095"/>
                </a:lnTo>
                <a:lnTo>
                  <a:pt x="92887" y="11988"/>
                </a:lnTo>
                <a:lnTo>
                  <a:pt x="75222" y="0"/>
                </a:lnTo>
                <a:lnTo>
                  <a:pt x="75222" y="113106"/>
                </a:lnTo>
                <a:lnTo>
                  <a:pt x="0" y="62039"/>
                </a:lnTo>
                <a:lnTo>
                  <a:pt x="25" y="442341"/>
                </a:lnTo>
                <a:lnTo>
                  <a:pt x="75222" y="391287"/>
                </a:lnTo>
                <a:lnTo>
                  <a:pt x="75222" y="443306"/>
                </a:lnTo>
                <a:lnTo>
                  <a:pt x="75222" y="510374"/>
                </a:lnTo>
                <a:lnTo>
                  <a:pt x="92887" y="498386"/>
                </a:lnTo>
                <a:lnTo>
                  <a:pt x="92887" y="379285"/>
                </a:lnTo>
                <a:lnTo>
                  <a:pt x="119354" y="361315"/>
                </a:lnTo>
                <a:lnTo>
                  <a:pt x="119354" y="480402"/>
                </a:lnTo>
                <a:lnTo>
                  <a:pt x="137020" y="468414"/>
                </a:lnTo>
                <a:lnTo>
                  <a:pt x="137020" y="349326"/>
                </a:lnTo>
                <a:lnTo>
                  <a:pt x="163499" y="331330"/>
                </a:lnTo>
                <a:lnTo>
                  <a:pt x="163499" y="450418"/>
                </a:lnTo>
                <a:lnTo>
                  <a:pt x="181165" y="438429"/>
                </a:lnTo>
                <a:lnTo>
                  <a:pt x="181165" y="319328"/>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39">
                <a:moveTo>
                  <a:pt x="313563" y="161836"/>
                </a:moveTo>
                <a:lnTo>
                  <a:pt x="295910" y="149834"/>
                </a:lnTo>
                <a:lnTo>
                  <a:pt x="295910" y="360502"/>
                </a:lnTo>
                <a:lnTo>
                  <a:pt x="313563" y="348513"/>
                </a:lnTo>
                <a:lnTo>
                  <a:pt x="313563" y="161836"/>
                </a:lnTo>
                <a:close/>
              </a:path>
              <a:path w="453389" h="510539">
                <a:moveTo>
                  <a:pt x="357708" y="191795"/>
                </a:moveTo>
                <a:lnTo>
                  <a:pt x="340042" y="179806"/>
                </a:lnTo>
                <a:lnTo>
                  <a:pt x="340042" y="330542"/>
                </a:lnTo>
                <a:lnTo>
                  <a:pt x="357708" y="318528"/>
                </a:lnTo>
                <a:lnTo>
                  <a:pt x="357708" y="191795"/>
                </a:lnTo>
                <a:close/>
              </a:path>
              <a:path w="453389" h="510539">
                <a:moveTo>
                  <a:pt x="401853" y="221767"/>
                </a:moveTo>
                <a:lnTo>
                  <a:pt x="384187" y="209778"/>
                </a:lnTo>
                <a:lnTo>
                  <a:pt x="384187" y="300558"/>
                </a:lnTo>
                <a:lnTo>
                  <a:pt x="401853" y="288569"/>
                </a:lnTo>
                <a:lnTo>
                  <a:pt x="401853" y="221767"/>
                </a:lnTo>
                <a:close/>
              </a:path>
              <a:path w="453389" h="510539">
                <a:moveTo>
                  <a:pt x="453364" y="255181"/>
                </a:moveTo>
                <a:lnTo>
                  <a:pt x="428332" y="239750"/>
                </a:lnTo>
                <a:lnTo>
                  <a:pt x="428332" y="270573"/>
                </a:lnTo>
                <a:lnTo>
                  <a:pt x="453364" y="255181"/>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2" name="object 12">
            <a:extLst xmlns:a="http://schemas.openxmlformats.org/drawingml/2006/main">
              <a:ext uri="{FF2B5EF4-FFF2-40B4-BE49-F238E27FC236}">
                <a16:creationId xmlns:a16="http://schemas.microsoft.com/office/drawing/2014/main" id="{C6917644-5BC5-4484-B1F1-9081515E18DD}"/>
              </a:ext>
            </a:extLst>
          </p:cNvPr>
          <p:cNvSpPr>
            <a:spLocks xmlns:a="http://schemas.openxmlformats.org/drawingml/2006/main" noGrp="1"/>
          </p:cNvSpPr>
          <p:nvPr/>
        </p:nvSpPr>
        <p:spPr>
          <a:xfrm xmlns:a="http://schemas.openxmlformats.org/drawingml/2006/main">
            <a:off x="2941193" y="6420675"/>
            <a:ext cx="453390" cy="510540"/>
          </a:xfrm>
          <a:custGeom xmlns:a="http://schemas.openxmlformats.org/drawingml/2006/main">
            <a:rect l="l" t="t" r="r" b="b"/>
            <a:pathLst>
              <a:path w="453389" h="510540">
                <a:moveTo>
                  <a:pt x="280047" y="252183"/>
                </a:moveTo>
                <a:lnTo>
                  <a:pt x="269430" y="244970"/>
                </a:lnTo>
                <a:lnTo>
                  <a:pt x="269430" y="131851"/>
                </a:lnTo>
                <a:lnTo>
                  <a:pt x="251777" y="119862"/>
                </a:lnTo>
                <a:lnTo>
                  <a:pt x="251777" y="232981"/>
                </a:lnTo>
                <a:lnTo>
                  <a:pt x="225298" y="214998"/>
                </a:lnTo>
                <a:lnTo>
                  <a:pt x="225298" y="101892"/>
                </a:lnTo>
                <a:lnTo>
                  <a:pt x="207632" y="89903"/>
                </a:lnTo>
                <a:lnTo>
                  <a:pt x="207632" y="203009"/>
                </a:lnTo>
                <a:lnTo>
                  <a:pt x="181165" y="185039"/>
                </a:lnTo>
                <a:lnTo>
                  <a:pt x="181165" y="71920"/>
                </a:lnTo>
                <a:lnTo>
                  <a:pt x="163499" y="59931"/>
                </a:lnTo>
                <a:lnTo>
                  <a:pt x="163499" y="173037"/>
                </a:lnTo>
                <a:lnTo>
                  <a:pt x="137020" y="155054"/>
                </a:lnTo>
                <a:lnTo>
                  <a:pt x="137020" y="41948"/>
                </a:lnTo>
                <a:lnTo>
                  <a:pt x="119354" y="29959"/>
                </a:lnTo>
                <a:lnTo>
                  <a:pt x="119354" y="143078"/>
                </a:lnTo>
                <a:lnTo>
                  <a:pt x="92887" y="125095"/>
                </a:lnTo>
                <a:lnTo>
                  <a:pt x="92887" y="11988"/>
                </a:lnTo>
                <a:lnTo>
                  <a:pt x="75222" y="0"/>
                </a:lnTo>
                <a:lnTo>
                  <a:pt x="75222" y="113106"/>
                </a:lnTo>
                <a:lnTo>
                  <a:pt x="0" y="62039"/>
                </a:lnTo>
                <a:lnTo>
                  <a:pt x="25" y="442341"/>
                </a:lnTo>
                <a:lnTo>
                  <a:pt x="75222" y="391287"/>
                </a:lnTo>
                <a:lnTo>
                  <a:pt x="75222" y="443306"/>
                </a:lnTo>
                <a:lnTo>
                  <a:pt x="75222" y="510374"/>
                </a:lnTo>
                <a:lnTo>
                  <a:pt x="92887" y="498386"/>
                </a:lnTo>
                <a:lnTo>
                  <a:pt x="92887" y="379285"/>
                </a:lnTo>
                <a:lnTo>
                  <a:pt x="119354" y="361315"/>
                </a:lnTo>
                <a:lnTo>
                  <a:pt x="119354" y="480402"/>
                </a:lnTo>
                <a:lnTo>
                  <a:pt x="137020" y="468414"/>
                </a:lnTo>
                <a:lnTo>
                  <a:pt x="137020" y="349326"/>
                </a:lnTo>
                <a:lnTo>
                  <a:pt x="163499" y="331330"/>
                </a:lnTo>
                <a:lnTo>
                  <a:pt x="163499" y="450418"/>
                </a:lnTo>
                <a:lnTo>
                  <a:pt x="181165" y="438429"/>
                </a:lnTo>
                <a:lnTo>
                  <a:pt x="181165" y="319328"/>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40">
                <a:moveTo>
                  <a:pt x="313563" y="161836"/>
                </a:moveTo>
                <a:lnTo>
                  <a:pt x="295910" y="149834"/>
                </a:lnTo>
                <a:lnTo>
                  <a:pt x="295910" y="360502"/>
                </a:lnTo>
                <a:lnTo>
                  <a:pt x="313563" y="348513"/>
                </a:lnTo>
                <a:lnTo>
                  <a:pt x="313563" y="161836"/>
                </a:lnTo>
                <a:close/>
              </a:path>
              <a:path w="453389" h="510540">
                <a:moveTo>
                  <a:pt x="357708" y="191795"/>
                </a:moveTo>
                <a:lnTo>
                  <a:pt x="340042" y="179806"/>
                </a:lnTo>
                <a:lnTo>
                  <a:pt x="340042" y="330542"/>
                </a:lnTo>
                <a:lnTo>
                  <a:pt x="357708" y="318528"/>
                </a:lnTo>
                <a:lnTo>
                  <a:pt x="357708" y="191795"/>
                </a:lnTo>
                <a:close/>
              </a:path>
              <a:path w="453389" h="510540">
                <a:moveTo>
                  <a:pt x="401853" y="221767"/>
                </a:moveTo>
                <a:lnTo>
                  <a:pt x="384187" y="209778"/>
                </a:lnTo>
                <a:lnTo>
                  <a:pt x="384187" y="300558"/>
                </a:lnTo>
                <a:lnTo>
                  <a:pt x="401853" y="288569"/>
                </a:lnTo>
                <a:lnTo>
                  <a:pt x="401853" y="221767"/>
                </a:lnTo>
                <a:close/>
              </a:path>
              <a:path w="453389" h="510540">
                <a:moveTo>
                  <a:pt x="453364" y="255181"/>
                </a:moveTo>
                <a:lnTo>
                  <a:pt x="428332" y="239750"/>
                </a:lnTo>
                <a:lnTo>
                  <a:pt x="428332" y="270573"/>
                </a:lnTo>
                <a:lnTo>
                  <a:pt x="453364" y="255181"/>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3" name="object 13">
            <a:extLst xmlns:a="http://schemas.openxmlformats.org/drawingml/2006/main">
              <a:ext uri="{FF2B5EF4-FFF2-40B4-BE49-F238E27FC236}">
                <a16:creationId xmlns:a16="http://schemas.microsoft.com/office/drawing/2014/main" id="{1B35EF3F-FBEE-4773-BFD4-3AAB59FD8C66}"/>
              </a:ext>
            </a:extLst>
          </p:cNvPr>
          <p:cNvSpPr>
            <a:spLocks xmlns:a="http://schemas.openxmlformats.org/drawingml/2006/main" noGrp="1"/>
          </p:cNvSpPr>
          <p:nvPr/>
        </p:nvSpPr>
        <p:spPr>
          <a:xfrm xmlns:a="http://schemas.openxmlformats.org/drawingml/2006/main">
            <a:off x="2941193" y="7304404"/>
            <a:ext cx="453390" cy="510540"/>
          </a:xfrm>
          <a:custGeom xmlns:a="http://schemas.openxmlformats.org/drawingml/2006/main">
            <a:rect l="l" t="t" r="r" b="b"/>
            <a:pathLst>
              <a:path w="453389" h="510540">
                <a:moveTo>
                  <a:pt x="280047" y="252183"/>
                </a:moveTo>
                <a:lnTo>
                  <a:pt x="269430" y="244970"/>
                </a:lnTo>
                <a:lnTo>
                  <a:pt x="269430" y="131851"/>
                </a:lnTo>
                <a:lnTo>
                  <a:pt x="251777" y="119862"/>
                </a:lnTo>
                <a:lnTo>
                  <a:pt x="251777" y="232981"/>
                </a:lnTo>
                <a:lnTo>
                  <a:pt x="225298" y="214998"/>
                </a:lnTo>
                <a:lnTo>
                  <a:pt x="225298" y="101892"/>
                </a:lnTo>
                <a:lnTo>
                  <a:pt x="207632" y="89903"/>
                </a:lnTo>
                <a:lnTo>
                  <a:pt x="207632" y="203009"/>
                </a:lnTo>
                <a:lnTo>
                  <a:pt x="181165" y="185039"/>
                </a:lnTo>
                <a:lnTo>
                  <a:pt x="181165" y="71920"/>
                </a:lnTo>
                <a:lnTo>
                  <a:pt x="163499" y="59918"/>
                </a:lnTo>
                <a:lnTo>
                  <a:pt x="163499" y="173037"/>
                </a:lnTo>
                <a:lnTo>
                  <a:pt x="137020" y="155054"/>
                </a:lnTo>
                <a:lnTo>
                  <a:pt x="137020" y="41948"/>
                </a:lnTo>
                <a:lnTo>
                  <a:pt x="119354" y="29959"/>
                </a:lnTo>
                <a:lnTo>
                  <a:pt x="119354" y="143065"/>
                </a:lnTo>
                <a:lnTo>
                  <a:pt x="92887" y="125095"/>
                </a:lnTo>
                <a:lnTo>
                  <a:pt x="92887" y="11976"/>
                </a:lnTo>
                <a:lnTo>
                  <a:pt x="75222" y="0"/>
                </a:lnTo>
                <a:lnTo>
                  <a:pt x="75222" y="113106"/>
                </a:lnTo>
                <a:lnTo>
                  <a:pt x="0" y="62039"/>
                </a:lnTo>
                <a:lnTo>
                  <a:pt x="25" y="442341"/>
                </a:lnTo>
                <a:lnTo>
                  <a:pt x="75222" y="391287"/>
                </a:lnTo>
                <a:lnTo>
                  <a:pt x="75222" y="443306"/>
                </a:lnTo>
                <a:lnTo>
                  <a:pt x="75222" y="510374"/>
                </a:lnTo>
                <a:lnTo>
                  <a:pt x="92887" y="498386"/>
                </a:lnTo>
                <a:lnTo>
                  <a:pt x="92887" y="379285"/>
                </a:lnTo>
                <a:lnTo>
                  <a:pt x="119354" y="361315"/>
                </a:lnTo>
                <a:lnTo>
                  <a:pt x="119354" y="480402"/>
                </a:lnTo>
                <a:lnTo>
                  <a:pt x="137020" y="468414"/>
                </a:lnTo>
                <a:lnTo>
                  <a:pt x="137020" y="349326"/>
                </a:lnTo>
                <a:lnTo>
                  <a:pt x="163499" y="331330"/>
                </a:lnTo>
                <a:lnTo>
                  <a:pt x="163499" y="450418"/>
                </a:lnTo>
                <a:lnTo>
                  <a:pt x="181165" y="438429"/>
                </a:lnTo>
                <a:lnTo>
                  <a:pt x="181165" y="319328"/>
                </a:lnTo>
                <a:lnTo>
                  <a:pt x="207632" y="301358"/>
                </a:lnTo>
                <a:lnTo>
                  <a:pt x="207632" y="420446"/>
                </a:lnTo>
                <a:lnTo>
                  <a:pt x="225298" y="408457"/>
                </a:lnTo>
                <a:lnTo>
                  <a:pt x="225298" y="289369"/>
                </a:lnTo>
                <a:lnTo>
                  <a:pt x="251777" y="271386"/>
                </a:lnTo>
                <a:lnTo>
                  <a:pt x="251777" y="390474"/>
                </a:lnTo>
                <a:lnTo>
                  <a:pt x="269430" y="378485"/>
                </a:lnTo>
                <a:lnTo>
                  <a:pt x="269430" y="259397"/>
                </a:lnTo>
                <a:lnTo>
                  <a:pt x="280047" y="252183"/>
                </a:lnTo>
                <a:close/>
              </a:path>
              <a:path w="453389" h="510540">
                <a:moveTo>
                  <a:pt x="313563" y="161823"/>
                </a:moveTo>
                <a:lnTo>
                  <a:pt x="295910" y="149834"/>
                </a:lnTo>
                <a:lnTo>
                  <a:pt x="295910" y="360502"/>
                </a:lnTo>
                <a:lnTo>
                  <a:pt x="313563" y="348513"/>
                </a:lnTo>
                <a:lnTo>
                  <a:pt x="313563" y="161823"/>
                </a:lnTo>
                <a:close/>
              </a:path>
              <a:path w="453389" h="510540">
                <a:moveTo>
                  <a:pt x="357708" y="191795"/>
                </a:moveTo>
                <a:lnTo>
                  <a:pt x="340042" y="179806"/>
                </a:lnTo>
                <a:lnTo>
                  <a:pt x="340042" y="330542"/>
                </a:lnTo>
                <a:lnTo>
                  <a:pt x="357708" y="318528"/>
                </a:lnTo>
                <a:lnTo>
                  <a:pt x="357708" y="191795"/>
                </a:lnTo>
                <a:close/>
              </a:path>
              <a:path w="453389" h="510540">
                <a:moveTo>
                  <a:pt x="401853" y="221767"/>
                </a:moveTo>
                <a:lnTo>
                  <a:pt x="384187" y="209765"/>
                </a:lnTo>
                <a:lnTo>
                  <a:pt x="384187" y="300545"/>
                </a:lnTo>
                <a:lnTo>
                  <a:pt x="401853" y="288556"/>
                </a:lnTo>
                <a:lnTo>
                  <a:pt x="401853" y="221767"/>
                </a:lnTo>
                <a:close/>
              </a:path>
              <a:path w="453389" h="510540">
                <a:moveTo>
                  <a:pt x="453364" y="255181"/>
                </a:moveTo>
                <a:lnTo>
                  <a:pt x="428332" y="239750"/>
                </a:lnTo>
                <a:lnTo>
                  <a:pt x="428332" y="270573"/>
                </a:lnTo>
                <a:lnTo>
                  <a:pt x="453364" y="255181"/>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4" name="object 14">
            <a:extLst xmlns:a="http://schemas.openxmlformats.org/drawingml/2006/main">
              <a:ext uri="{FF2B5EF4-FFF2-40B4-BE49-F238E27FC236}">
                <a16:creationId xmlns:a16="http://schemas.microsoft.com/office/drawing/2014/main" id="{9D544D8C-0B8A-4517-8FC1-60CF329879D0}"/>
              </a:ext>
            </a:extLst>
          </p:cNvPr>
          <p:cNvSpPr>
            <a:spLocks xmlns:a="http://schemas.openxmlformats.org/drawingml/2006/main" noGrp="1"/>
          </p:cNvSpPr>
          <p:nvPr/>
        </p:nvSpPr>
        <p:spPr>
          <a:xfrm xmlns:a="http://schemas.openxmlformats.org/drawingml/2006/main">
            <a:off x="2941193" y="3463530"/>
            <a:ext cx="453390" cy="510540"/>
          </a:xfrm>
          <a:custGeom xmlns:a="http://schemas.openxmlformats.org/drawingml/2006/main">
            <a:rect l="l" t="t" r="r" b="b"/>
            <a:pathLst>
              <a:path w="453389" h="510539">
                <a:moveTo>
                  <a:pt x="280047" y="252183"/>
                </a:moveTo>
                <a:lnTo>
                  <a:pt x="269430" y="244970"/>
                </a:lnTo>
                <a:lnTo>
                  <a:pt x="269430" y="131851"/>
                </a:lnTo>
                <a:lnTo>
                  <a:pt x="251777" y="119862"/>
                </a:lnTo>
                <a:lnTo>
                  <a:pt x="251777" y="232981"/>
                </a:lnTo>
                <a:lnTo>
                  <a:pt x="225298" y="214998"/>
                </a:lnTo>
                <a:lnTo>
                  <a:pt x="225298" y="101892"/>
                </a:lnTo>
                <a:lnTo>
                  <a:pt x="207632" y="89903"/>
                </a:lnTo>
                <a:lnTo>
                  <a:pt x="207632" y="203009"/>
                </a:lnTo>
                <a:lnTo>
                  <a:pt x="181165" y="185039"/>
                </a:lnTo>
                <a:lnTo>
                  <a:pt x="181165" y="71920"/>
                </a:lnTo>
                <a:lnTo>
                  <a:pt x="163499" y="59931"/>
                </a:lnTo>
                <a:lnTo>
                  <a:pt x="163499" y="173037"/>
                </a:lnTo>
                <a:lnTo>
                  <a:pt x="137020" y="155054"/>
                </a:lnTo>
                <a:lnTo>
                  <a:pt x="137020" y="41948"/>
                </a:lnTo>
                <a:lnTo>
                  <a:pt x="119354" y="29959"/>
                </a:lnTo>
                <a:lnTo>
                  <a:pt x="119354" y="143078"/>
                </a:lnTo>
                <a:lnTo>
                  <a:pt x="92887" y="125095"/>
                </a:lnTo>
                <a:lnTo>
                  <a:pt x="92887" y="11988"/>
                </a:lnTo>
                <a:lnTo>
                  <a:pt x="75222" y="0"/>
                </a:lnTo>
                <a:lnTo>
                  <a:pt x="75222" y="113106"/>
                </a:lnTo>
                <a:lnTo>
                  <a:pt x="0" y="62039"/>
                </a:lnTo>
                <a:lnTo>
                  <a:pt x="25" y="442353"/>
                </a:lnTo>
                <a:lnTo>
                  <a:pt x="75222" y="391287"/>
                </a:lnTo>
                <a:lnTo>
                  <a:pt x="75222" y="443306"/>
                </a:lnTo>
                <a:lnTo>
                  <a:pt x="75222" y="510374"/>
                </a:lnTo>
                <a:lnTo>
                  <a:pt x="92887" y="498386"/>
                </a:lnTo>
                <a:lnTo>
                  <a:pt x="92887" y="379285"/>
                </a:lnTo>
                <a:lnTo>
                  <a:pt x="119354" y="361315"/>
                </a:lnTo>
                <a:lnTo>
                  <a:pt x="119354" y="480402"/>
                </a:lnTo>
                <a:lnTo>
                  <a:pt x="137020" y="468414"/>
                </a:lnTo>
                <a:lnTo>
                  <a:pt x="137020" y="349326"/>
                </a:lnTo>
                <a:lnTo>
                  <a:pt x="163499" y="331330"/>
                </a:lnTo>
                <a:lnTo>
                  <a:pt x="163499" y="450418"/>
                </a:lnTo>
                <a:lnTo>
                  <a:pt x="181165" y="438429"/>
                </a:lnTo>
                <a:lnTo>
                  <a:pt x="181165" y="319328"/>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39">
                <a:moveTo>
                  <a:pt x="313563" y="161836"/>
                </a:moveTo>
                <a:lnTo>
                  <a:pt x="295910" y="149834"/>
                </a:lnTo>
                <a:lnTo>
                  <a:pt x="295910" y="360502"/>
                </a:lnTo>
                <a:lnTo>
                  <a:pt x="313563" y="348513"/>
                </a:lnTo>
                <a:lnTo>
                  <a:pt x="313563" y="161836"/>
                </a:lnTo>
                <a:close/>
              </a:path>
              <a:path w="453389" h="510539">
                <a:moveTo>
                  <a:pt x="357708" y="191795"/>
                </a:moveTo>
                <a:lnTo>
                  <a:pt x="340042" y="179806"/>
                </a:lnTo>
                <a:lnTo>
                  <a:pt x="340042" y="330542"/>
                </a:lnTo>
                <a:lnTo>
                  <a:pt x="357708" y="318528"/>
                </a:lnTo>
                <a:lnTo>
                  <a:pt x="357708" y="191795"/>
                </a:lnTo>
                <a:close/>
              </a:path>
              <a:path w="453389" h="510539">
                <a:moveTo>
                  <a:pt x="401853" y="221767"/>
                </a:moveTo>
                <a:lnTo>
                  <a:pt x="384187" y="209778"/>
                </a:lnTo>
                <a:lnTo>
                  <a:pt x="384187" y="300558"/>
                </a:lnTo>
                <a:lnTo>
                  <a:pt x="401853" y="288569"/>
                </a:lnTo>
                <a:lnTo>
                  <a:pt x="401853" y="221767"/>
                </a:lnTo>
                <a:close/>
              </a:path>
              <a:path w="453389" h="510539">
                <a:moveTo>
                  <a:pt x="453364" y="255181"/>
                </a:moveTo>
                <a:lnTo>
                  <a:pt x="428332" y="239750"/>
                </a:lnTo>
                <a:lnTo>
                  <a:pt x="428332" y="270573"/>
                </a:lnTo>
                <a:lnTo>
                  <a:pt x="453364" y="255181"/>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17" name="Plan">
            <a:extLst xmlns:a="http://schemas.openxmlformats.org/drawingml/2006/main">
              <a:ext uri="{FF2B5EF4-FFF2-40B4-BE49-F238E27FC236}">
                <a16:creationId xmlns:a16="http://schemas.microsoft.com/office/drawing/2014/main" id="{3A67500C-D98D-4E2E-99B6-87F95C269B29}"/>
              </a:ext>
            </a:extLst>
          </p:cNvPr>
          <p:cNvSpPr>
            <a:spLocks xmlns:a="http://schemas.openxmlformats.org/drawingml/2006/main" noGrp="1"/>
          </p:cNvSpPr>
          <p:nvPr/>
        </p:nvSpPr>
        <p:spPr>
          <a:xfrm xmlns:a="http://schemas.openxmlformats.org/drawingml/2006/main">
            <a:off x="2952750" y="2076450"/>
            <a:ext cx="714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0">
                <a:solidFill>
                  <a:srgbClr val="041C40"/>
                </a:solidFill>
                <a:latin typeface="Times New Roman"/>
                <a:ea typeface="Times New Roman"/>
                <a:cs typeface="Times New Roman"/>
              </a:defRPr>
            </a:pPr>
            <a:r>
              <a:rPr sz="5250" b="0">
                <a:solidFill>
                  <a:srgbClr val="041C40"/>
                </a:solidFill>
                <a:latin typeface="Times New Roman"/>
                <a:ea typeface="Times New Roman"/>
                <a:cs typeface="Times New Roman"/>
              </a:rPr>
              <a:t>Plan</a:t>
            </a:r>
          </a:p>
        </p:txBody>
      </p:sp>
      <p:sp>
        <p:nvSpPr>
          <p:cNvPr id="18" name="Introduction">
            <a:extLst xmlns:a="http://schemas.openxmlformats.org/drawingml/2006/main">
              <a:ext uri="{FF2B5EF4-FFF2-40B4-BE49-F238E27FC236}">
                <a16:creationId xmlns:a16="http://schemas.microsoft.com/office/drawing/2014/main" id="{F8BACC26-5C2D-4372-9989-0233AFA4CE37}"/>
              </a:ext>
            </a:extLst>
          </p:cNvPr>
          <p:cNvSpPr>
            <a:spLocks xmlns:a="http://schemas.openxmlformats.org/drawingml/2006/main" noGrp="1"/>
          </p:cNvSpPr>
          <p:nvPr/>
        </p:nvSpPr>
        <p:spPr>
          <a:xfrm xmlns:a="http://schemas.openxmlformats.org/drawingml/2006/main">
            <a:off x="3648075" y="3419475"/>
            <a:ext cx="7762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Introduction</a:t>
            </a:r>
          </a:p>
        </p:txBody>
      </p:sp>
      <p:sp>
        <p:nvSpPr>
          <p:cNvPr id="19" name="Contexte général du projet">
            <a:extLst xmlns:a="http://schemas.openxmlformats.org/drawingml/2006/main">
              <a:ext uri="{FF2B5EF4-FFF2-40B4-BE49-F238E27FC236}">
                <a16:creationId xmlns:a16="http://schemas.microsoft.com/office/drawing/2014/main" id="{8A5B314A-B4F2-4E95-9B64-4DE761128BEB}"/>
              </a:ext>
            </a:extLst>
          </p:cNvPr>
          <p:cNvSpPr>
            <a:spLocks xmlns:a="http://schemas.openxmlformats.org/drawingml/2006/main" noGrp="1"/>
          </p:cNvSpPr>
          <p:nvPr/>
        </p:nvSpPr>
        <p:spPr>
          <a:xfrm xmlns:a="http://schemas.openxmlformats.org/drawingml/2006/main">
            <a:off x="3648075" y="4438650"/>
            <a:ext cx="7762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Contexte général du projet</a:t>
            </a:r>
          </a:p>
        </p:txBody>
      </p:sp>
      <p:sp>
        <p:nvSpPr>
          <p:cNvPr id="20" name="Étude conceptuelle de la solution">
            <a:extLst xmlns:a="http://schemas.openxmlformats.org/drawingml/2006/main">
              <a:ext uri="{FF2B5EF4-FFF2-40B4-BE49-F238E27FC236}">
                <a16:creationId xmlns:a16="http://schemas.microsoft.com/office/drawing/2014/main" id="{67431F04-9D2F-46D8-BD90-90CBF7C92576}"/>
              </a:ext>
            </a:extLst>
          </p:cNvPr>
          <p:cNvSpPr>
            <a:spLocks xmlns:a="http://schemas.openxmlformats.org/drawingml/2006/main" noGrp="1"/>
          </p:cNvSpPr>
          <p:nvPr/>
        </p:nvSpPr>
        <p:spPr>
          <a:xfrm xmlns:a="http://schemas.openxmlformats.org/drawingml/2006/main">
            <a:off x="3648075" y="5324475"/>
            <a:ext cx="7762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Étude conceptuelle de la solution</a:t>
            </a:r>
          </a:p>
        </p:txBody>
      </p:sp>
      <p:sp>
        <p:nvSpPr>
          <p:cNvPr id="21" name="Réalisation et mise en œuvre">
            <a:extLst xmlns:a="http://schemas.openxmlformats.org/drawingml/2006/main">
              <a:ext uri="{FF2B5EF4-FFF2-40B4-BE49-F238E27FC236}">
                <a16:creationId xmlns:a16="http://schemas.microsoft.com/office/drawing/2014/main" id="{CC4815D3-762B-46A2-8A44-8110D2A22075}"/>
              </a:ext>
            </a:extLst>
          </p:cNvPr>
          <p:cNvSpPr>
            <a:spLocks xmlns:a="http://schemas.openxmlformats.org/drawingml/2006/main" noGrp="1"/>
          </p:cNvSpPr>
          <p:nvPr/>
        </p:nvSpPr>
        <p:spPr>
          <a:xfrm xmlns:a="http://schemas.openxmlformats.org/drawingml/2006/main">
            <a:off x="3648075" y="6381750"/>
            <a:ext cx="7762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Réalisation et mise en œuvre</a:t>
            </a:r>
          </a:p>
        </p:txBody>
      </p:sp>
      <p:sp>
        <p:nvSpPr>
          <p:cNvPr id="22" name="Conclusion et perspectives">
            <a:extLst xmlns:a="http://schemas.openxmlformats.org/drawingml/2006/main">
              <a:ext uri="{FF2B5EF4-FFF2-40B4-BE49-F238E27FC236}">
                <a16:creationId xmlns:a16="http://schemas.microsoft.com/office/drawing/2014/main" id="{1FE6089B-2540-4C21-9154-960A8E773A4D}"/>
              </a:ext>
            </a:extLst>
          </p:cNvPr>
          <p:cNvSpPr>
            <a:spLocks xmlns:a="http://schemas.openxmlformats.org/drawingml/2006/main" noGrp="1"/>
          </p:cNvSpPr>
          <p:nvPr/>
        </p:nvSpPr>
        <p:spPr>
          <a:xfrm xmlns:a="http://schemas.openxmlformats.org/drawingml/2006/main">
            <a:off x="3648075" y="7267575"/>
            <a:ext cx="7762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Conclusion et perspectives</a:t>
            </a:r>
          </a:p>
        </p:txBody>
      </p:sp>
    </p:spTree>
    <p:extLst>
      <p:ext uri="{BB962C8B-B14F-4D97-AF65-F5344CB8AC3E}">
        <p14:creationId xmlns:p14="http://schemas.microsoft.com/office/powerpoint/2010/main" val="1714133386"/>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6EE6BA53-7F4E-4146-8825-ADDCEC594050}"/>
              </a:ext>
            </a:extLst>
          </p:cNvPr>
          <p:cNvSpPr>
            <a:spLocks xmlns:a="http://schemas.openxmlformats.org/drawingml/2006/main" noGrp="1"/>
          </p:cNvSpPr>
          <p:nvPr/>
        </p:nvSpPr>
        <p:spPr>
          <a:xfrm xmlns:a="http://schemas.openxmlformats.org/drawingml/2006/main">
            <a:off x="12398911" y="0"/>
            <a:ext cx="5890260" cy="757555"/>
          </a:xfrm>
          <a:custGeom xmlns:a="http://schemas.openxmlformats.org/drawingml/2006/main">
            <a:rect l="l" t="t" r="r" b="b"/>
            <a:pathLst>
              <a:path w="5890259" h="757555">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62DA005D-76F9-47C1-B32D-A18E8E6D1DF5}"/>
              </a:ext>
            </a:extLst>
          </p:cNvPr>
          <p:cNvSpPr>
            <a:spLocks xmlns:a="http://schemas.openxmlformats.org/drawingml/2006/main" noGrp="1"/>
          </p:cNvSpPr>
          <p:nvPr/>
        </p:nvSpPr>
        <p:spPr>
          <a:xfrm xmlns:a="http://schemas.openxmlformats.org/drawingml/2006/main">
            <a:off x="12398911" y="9530040"/>
            <a:ext cx="5890260" cy="757555"/>
          </a:xfrm>
          <a:custGeom xmlns:a="http://schemas.openxmlformats.org/drawingml/2006/main">
            <a:rect l="l" t="t" r="r" b="b"/>
            <a:pathLst>
              <a:path w="5890259" h="757554">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11" name="object 5"/>
          <p:cNvPicPr>
            <a:picLocks xmlns:a="http://schemas.openxmlformats.org/drawingml/2006/main" noChangeAspect="1"/>
          </p:cNvPicPr>
          <p:nvPr/>
        </p:nvPicPr>
        <p:blipFill>
          <a:blip xmlns:r="http://schemas.openxmlformats.org/officeDocument/2006/relationships" xmlns:a="http://schemas.openxmlformats.org/drawingml/2006/main" r:embed="R2ba061d458d04882"/>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6" name="INTRODUCTION">
            <a:extLst xmlns:a="http://schemas.openxmlformats.org/drawingml/2006/main">
              <a:ext uri="{FF2B5EF4-FFF2-40B4-BE49-F238E27FC236}">
                <a16:creationId xmlns:a16="http://schemas.microsoft.com/office/drawing/2014/main" id="{611E697F-8764-4805-A9FA-E8A7596D3038}"/>
              </a:ext>
            </a:extLst>
          </p:cNvPr>
          <p:cNvSpPr>
            <a:spLocks xmlns:a="http://schemas.openxmlformats.org/drawingml/2006/main" noGrp="1"/>
          </p:cNvSpPr>
          <p:nvPr/>
        </p:nvSpPr>
        <p:spPr>
          <a:xfrm xmlns:a="http://schemas.openxmlformats.org/drawingml/2006/main">
            <a:off x="1952625" y="4095750"/>
            <a:ext cx="1228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200" b="1">
                <a:solidFill>
                  <a:srgbClr val="041C40"/>
                </a:solidFill>
                <a:latin typeface="Times New Roman"/>
                <a:ea typeface="Times New Roman"/>
                <a:cs typeface="Times New Roman"/>
              </a:defRPr>
            </a:pPr>
            <a:r>
              <a:rPr sz="4200" b="1">
                <a:solidFill>
                  <a:srgbClr val="041C40"/>
                </a:solidFill>
                <a:latin typeface="Times New Roman"/>
                <a:ea typeface="Times New Roman"/>
                <a:cs typeface="Times New Roman"/>
              </a:rPr>
              <a:t>INTRODUCTION</a:t>
            </a:r>
          </a:p>
        </p:txBody>
      </p:sp>
      <p:sp>
        <p:nvSpPr>
          <p:cNvPr id="7" name="Comment assurer un suivi cohérent&#10;du premier contact au">
            <a:extLst xmlns:a="http://schemas.openxmlformats.org/drawingml/2006/main">
              <a:ext uri="{FF2B5EF4-FFF2-40B4-BE49-F238E27FC236}">
                <a16:creationId xmlns:a16="http://schemas.microsoft.com/office/drawing/2014/main" id="{B0513014-A9ED-4BAB-9727-BEFCC262C2E2}"/>
              </a:ext>
            </a:extLst>
          </p:cNvPr>
          <p:cNvSpPr>
            <a:spLocks xmlns:a="http://schemas.openxmlformats.org/drawingml/2006/main" noGrp="1"/>
          </p:cNvSpPr>
          <p:nvPr/>
        </p:nvSpPr>
        <p:spPr>
          <a:xfrm xmlns:a="http://schemas.openxmlformats.org/drawingml/2006/main">
            <a:off x="2428875" y="5524500"/>
            <a:ext cx="1133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Comment assurer un suivi cohérent</a:t>
            </a:r>
          </a:p>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du premier contact aux documents commerciaux ?</a:t>
            </a:r>
          </a:p>
        </p:txBody>
      </p:sp>
      <p:sp>
        <p:nvSpPr>
          <p:cNvPr id="8" name="3">
            <a:extLst xmlns:a="http://schemas.openxmlformats.org/drawingml/2006/main">
              <a:ext uri="{FF2B5EF4-FFF2-40B4-BE49-F238E27FC236}">
                <a16:creationId xmlns:a16="http://schemas.microsoft.com/office/drawing/2014/main" id="{776743D3-033D-4C43-A320-71D113397A5B}"/>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3</a:t>
            </a:r>
          </a:p>
        </p:txBody>
      </p:sp>
    </p:spTree>
    <p:extLst>
      <p:ext uri="{BB962C8B-B14F-4D97-AF65-F5344CB8AC3E}">
        <p14:creationId xmlns:p14="http://schemas.microsoft.com/office/powerpoint/2010/main" val="1500171726"/>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2" name="object 2">
            <a:extLst xmlns:a="http://schemas.openxmlformats.org/drawingml/2006/main">
              <a:ext uri="{FF2B5EF4-FFF2-40B4-BE49-F238E27FC236}">
                <a16:creationId xmlns:a16="http://schemas.microsoft.com/office/drawing/2014/main" id="{275DE7F4-7A92-4033-8CC5-A2C3679CAA6B}"/>
              </a:ext>
            </a:extLst>
          </p:cNvPr>
          <p:cNvSpPr>
            <a:spLocks xmlns:a="http://schemas.openxmlformats.org/drawingml/2006/main" noGrp="1"/>
          </p:cNvSpPr>
          <p:nvPr/>
        </p:nvSpPr>
        <p:spPr>
          <a:xfrm xmlns:a="http://schemas.openxmlformats.org/drawingml/2006/main">
            <a:off x="16215788" y="0"/>
            <a:ext cx="2072639" cy="10288270"/>
          </a:xfrm>
          <a:custGeom xmlns:a="http://schemas.openxmlformats.org/drawingml/2006/main">
            <a:rect l="l" t="t" r="r" b="b"/>
            <a:pathLst>
              <a:path w="2072640" h="10288270">
                <a:moveTo>
                  <a:pt x="2072210" y="10288203"/>
                </a:moveTo>
                <a:lnTo>
                  <a:pt x="0" y="10288203"/>
                </a:lnTo>
                <a:lnTo>
                  <a:pt x="0" y="0"/>
                </a:lnTo>
                <a:lnTo>
                  <a:pt x="2072210" y="0"/>
                </a:lnTo>
                <a:lnTo>
                  <a:pt x="2072210" y="10288203"/>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3" name="object 3">
            <a:extLst xmlns:a="http://schemas.openxmlformats.org/drawingml/2006/main">
              <a:ext uri="{FF2B5EF4-FFF2-40B4-BE49-F238E27FC236}">
                <a16:creationId xmlns:a16="http://schemas.microsoft.com/office/drawing/2014/main" id="{69449B00-88F5-4041-9C65-41546A937170}"/>
              </a:ext>
            </a:extLst>
          </p:cNvPr>
          <p:cNvSpPr>
            <a:spLocks xmlns:a="http://schemas.openxmlformats.org/drawingml/2006/main" noGrp="1"/>
          </p:cNvSpPr>
          <p:nvPr/>
        </p:nvSpPr>
        <p:spPr>
          <a:xfrm xmlns:a="http://schemas.openxmlformats.org/drawingml/2006/main">
            <a:off x="1476375" y="3143250"/>
            <a:ext cx="13211175" cy="5857875"/>
          </a:xfrm>
          <a:custGeom xmlns:a="http://schemas.openxmlformats.org/drawingml/2006/main">
            <a:rect l="l" t="t" r="r" b="b"/>
            <a:pathLst>
              <a:path w="13213715" h="6530340">
                <a:moveTo>
                  <a:pt x="13090579" y="6530151"/>
                </a:moveTo>
                <a:lnTo>
                  <a:pt x="133350" y="6530151"/>
                </a:lnTo>
                <a:lnTo>
                  <a:pt x="91201" y="6523353"/>
                </a:lnTo>
                <a:lnTo>
                  <a:pt x="54595" y="6504422"/>
                </a:lnTo>
                <a:lnTo>
                  <a:pt x="25728" y="6475555"/>
                </a:lnTo>
                <a:lnTo>
                  <a:pt x="6798" y="6438950"/>
                </a:lnTo>
                <a:lnTo>
                  <a:pt x="0" y="6396801"/>
                </a:lnTo>
                <a:lnTo>
                  <a:pt x="0" y="133350"/>
                </a:lnTo>
                <a:lnTo>
                  <a:pt x="6798" y="91201"/>
                </a:lnTo>
                <a:lnTo>
                  <a:pt x="25728" y="54595"/>
                </a:lnTo>
                <a:lnTo>
                  <a:pt x="54595" y="25728"/>
                </a:lnTo>
                <a:lnTo>
                  <a:pt x="91201" y="6798"/>
                </a:lnTo>
                <a:lnTo>
                  <a:pt x="133350" y="0"/>
                </a:lnTo>
                <a:lnTo>
                  <a:pt x="13090579" y="0"/>
                </a:lnTo>
                <a:lnTo>
                  <a:pt x="13132728" y="6798"/>
                </a:lnTo>
                <a:lnTo>
                  <a:pt x="13169334" y="25728"/>
                </a:lnTo>
                <a:lnTo>
                  <a:pt x="13198200" y="54595"/>
                </a:lnTo>
                <a:lnTo>
                  <a:pt x="13213353" y="83895"/>
                </a:lnTo>
                <a:lnTo>
                  <a:pt x="13213353" y="6446255"/>
                </a:lnTo>
                <a:lnTo>
                  <a:pt x="13198200" y="6475555"/>
                </a:lnTo>
                <a:lnTo>
                  <a:pt x="13169334" y="6504422"/>
                </a:lnTo>
                <a:lnTo>
                  <a:pt x="13132728" y="6523353"/>
                </a:lnTo>
                <a:lnTo>
                  <a:pt x="13090579" y="6530151"/>
                </a:lnTo>
                <a:close/>
              </a:path>
            </a:pathLst>
          </a:custGeom>
          <a:solidFill xmlns:a="http://schemas.openxmlformats.org/drawingml/2006/main">
            <a:srgbClr val="D9D9D9"/>
          </a:solidFill>
        </p:spPr>
        <p:txBody>
          <a:bodyPr xmlns:a="http://schemas.openxmlformats.org/drawingml/2006/main" wrap="square" lIns="0" tIns="0" rIns="0" bIns="0"/>
          <a:lstStyle xmlns:a="http://schemas.openxmlformats.org/drawingml/2006/main"/>
          <a:p xmlns:a="http://schemas.openxmlformats.org/drawingml/2006/main"/>
        </p:txBody>
      </p:sp>
      <p:sp>
        <p:nvSpPr>
          <p:cNvPr id="6" name="object 6">
            <a:extLst xmlns:a="http://schemas.openxmlformats.org/drawingml/2006/main">
              <a:ext uri="{FF2B5EF4-FFF2-40B4-BE49-F238E27FC236}">
                <a16:creationId xmlns:a16="http://schemas.microsoft.com/office/drawing/2014/main" id="{F1993651-7C4F-4BF2-BD76-905614BE7A83}"/>
              </a:ext>
            </a:extLst>
          </p:cNvPr>
          <p:cNvSpPr>
            <a:spLocks xmlns:a="http://schemas.openxmlformats.org/drawingml/2006/main" noGrp="1"/>
          </p:cNvSpPr>
          <p:nvPr/>
        </p:nvSpPr>
        <p:spPr>
          <a:xfrm xmlns:a="http://schemas.openxmlformats.org/drawingml/2006/main" rot="0" flipH="0" flipV="0">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18" name="object 7"/>
          <p:cNvPicPr>
            <a:picLocks xmlns:a="http://schemas.openxmlformats.org/drawingml/2006/main" noChangeAspect="1"/>
          </p:cNvPicPr>
          <p:nvPr/>
        </p:nvPicPr>
        <p:blipFill>
          <a:blip xmlns:r="http://schemas.openxmlformats.org/officeDocument/2006/relationships" xmlns:a="http://schemas.openxmlformats.org/drawingml/2006/main" r:embed="R33e56f063f804ddf"/>
          <a:stretch xmlns:a="http://schemas.openxmlformats.org/drawingml/2006/main">
            <a:fillRect l="0" t="0" r="0" b="0"/>
          </a:stretch>
        </p:blipFill>
        <p:spPr>
          <a:xfrm xmlns:a="http://schemas.openxmlformats.org/drawingml/2006/main" rot="0" flipH="0" flipV="0">
            <a:off x="2441203" y="245027"/>
            <a:ext cx="5267324" cy="1152524"/>
          </a:xfrm>
          <a:prstGeom xmlns:a="http://schemas.openxmlformats.org/drawingml/2006/main" prst="rect">
            <a:avLst/>
          </a:prstGeom>
        </p:spPr>
      </p:pic>
      <p:sp>
        <p:nvSpPr>
          <p:cNvPr id="10" name="Organisme d’accueil et besoin métier">
            <a:extLst xmlns:a="http://schemas.openxmlformats.org/drawingml/2006/main">
              <a:ext uri="{FF2B5EF4-FFF2-40B4-BE49-F238E27FC236}">
                <a16:creationId xmlns:a16="http://schemas.microsoft.com/office/drawing/2014/main" id="{FE9BB268-B078-409B-8604-531E18AEF5CA}"/>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Organisme d’accueil et besoin métier</a:t>
            </a:r>
          </a:p>
        </p:txBody>
      </p:sp>
      <p:sp>
        <p:nvSpPr>
          <p:cNvPr id="11" name="ADBCENTER LOGISPLAN, dans l’environnement&#10;Adaoui Busine">
            <a:extLst xmlns:a="http://schemas.openxmlformats.org/drawingml/2006/main">
              <a:ext uri="{FF2B5EF4-FFF2-40B4-BE49-F238E27FC236}">
                <a16:creationId xmlns:a16="http://schemas.microsoft.com/office/drawing/2014/main" id="{6C07B8E5-FD56-4B7A-A8B6-5208495881D8}"/>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041C40"/>
                </a:solidFill>
                <a:latin typeface="Times New Roman"/>
                <a:ea typeface="Times New Roman"/>
                <a:cs typeface="Times New Roman"/>
              </a:defRPr>
            </a:pPr>
            <a:r>
              <a:rPr sz="3225" b="0">
                <a:solidFill>
                  <a:srgbClr val="041C40"/>
                </a:solidFill>
                <a:latin typeface="Times New Roman"/>
                <a:ea typeface="Times New Roman"/>
                <a:cs typeface="Times New Roman"/>
              </a:rPr>
              <a:t>ADBCENTER LOGISPLAN, dans l’environnement</a:t>
            </a:r>
          </a:p>
          <a:p xmlns:a="http://schemas.openxmlformats.org/drawingml/2006/main">
            <a:pPr algn="l">
              <a:defRPr sz="3225" b="0">
                <a:solidFill>
                  <a:srgbClr val="041C40"/>
                </a:solidFill>
                <a:latin typeface="Times New Roman"/>
                <a:ea typeface="Times New Roman"/>
                <a:cs typeface="Times New Roman"/>
              </a:defRPr>
            </a:pPr>
            <a:r>
              <a:rPr sz="3225" b="0">
                <a:solidFill>
                  <a:srgbClr val="041C40"/>
                </a:solidFill>
                <a:latin typeface="Times New Roman"/>
                <a:ea typeface="Times New Roman"/>
                <a:cs typeface="Times New Roman"/>
              </a:rPr>
              <a:t>Adaoui Business Centre à Agadir.</a:t>
            </a:r>
          </a:p>
        </p:txBody>
      </p:sp>
      <p:sp>
        <p:nvSpPr>
          <p:cNvPr id="12" name="Activité : formation et accompagnement professionnel&#10;po">
            <a:extLst xmlns:a="http://schemas.openxmlformats.org/drawingml/2006/main">
              <a:ext uri="{FF2B5EF4-FFF2-40B4-BE49-F238E27FC236}">
                <a16:creationId xmlns:a16="http://schemas.microsoft.com/office/drawing/2014/main" id="{8115BEFE-402E-4FAA-A798-D2C36A5A47A7}"/>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041C40"/>
                </a:solidFill>
                <a:latin typeface="Times New Roman"/>
                <a:ea typeface="Times New Roman"/>
                <a:cs typeface="Times New Roman"/>
              </a:defRPr>
            </a:pPr>
            <a:r>
              <a:rPr sz="3225" b="0">
                <a:solidFill>
                  <a:srgbClr val="041C40"/>
                </a:solidFill>
                <a:latin typeface="Times New Roman"/>
                <a:ea typeface="Times New Roman"/>
                <a:cs typeface="Times New Roman"/>
              </a:rPr>
              <a:t>Activité : formation et accompagnement professionnel</a:t>
            </a:r>
          </a:p>
          <a:p xmlns:a="http://schemas.openxmlformats.org/drawingml/2006/main">
            <a:pPr algn="l">
              <a:defRPr sz="3225" b="0">
                <a:solidFill>
                  <a:srgbClr val="041C40"/>
                </a:solidFill>
                <a:latin typeface="Times New Roman"/>
                <a:ea typeface="Times New Roman"/>
                <a:cs typeface="Times New Roman"/>
              </a:defRPr>
            </a:pPr>
            <a:r>
              <a:rPr sz="3225" b="0">
                <a:solidFill>
                  <a:srgbClr val="041C40"/>
                </a:solidFill>
                <a:latin typeface="Times New Roman"/>
                <a:ea typeface="Times New Roman"/>
                <a:cs typeface="Times New Roman"/>
              </a:rPr>
              <a:t>pour les salariés, les cadres et les entreprises.</a:t>
            </a:r>
          </a:p>
        </p:txBody>
      </p:sp>
      <p:sp>
        <p:nvSpPr>
          <p:cNvPr id="13" name="Besoin : retrouver les informations du prospect et&#10;prép">
            <a:extLst xmlns:a="http://schemas.openxmlformats.org/drawingml/2006/main">
              <a:ext uri="{FF2B5EF4-FFF2-40B4-BE49-F238E27FC236}">
                <a16:creationId xmlns:a16="http://schemas.microsoft.com/office/drawing/2014/main" id="{E8168351-BC97-447D-BBED-6A1B9553BCE3}"/>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041C40"/>
                </a:solidFill>
                <a:latin typeface="Times New Roman"/>
                <a:ea typeface="Times New Roman"/>
                <a:cs typeface="Times New Roman"/>
              </a:defRPr>
            </a:pPr>
            <a:r>
              <a:rPr sz="3225" b="0">
                <a:solidFill>
                  <a:srgbClr val="041C40"/>
                </a:solidFill>
                <a:latin typeface="Times New Roman"/>
                <a:ea typeface="Times New Roman"/>
                <a:cs typeface="Times New Roman"/>
              </a:rPr>
              <a:t>Besoin : retrouver les informations du prospect et</a:t>
            </a:r>
          </a:p>
          <a:p xmlns:a="http://schemas.openxmlformats.org/drawingml/2006/main">
            <a:pPr algn="l">
              <a:defRPr sz="3225" b="0">
                <a:solidFill>
                  <a:srgbClr val="041C40"/>
                </a:solidFill>
                <a:latin typeface="Times New Roman"/>
                <a:ea typeface="Times New Roman"/>
                <a:cs typeface="Times New Roman"/>
              </a:defRPr>
            </a:pPr>
            <a:r>
              <a:rPr sz="3225" b="0">
                <a:solidFill>
                  <a:srgbClr val="041C40"/>
                </a:solidFill>
                <a:latin typeface="Times New Roman"/>
                <a:ea typeface="Times New Roman"/>
                <a:cs typeface="Times New Roman"/>
              </a:rPr>
              <a:t>préparer la prochaine action sans refaire tout le dossier.</a:t>
            </a:r>
          </a:p>
        </p:txBody>
      </p:sp>
      <p:sp>
        <p:nvSpPr>
          <p:cNvPr id="14" name="4">
            <a:extLst xmlns:a="http://schemas.openxmlformats.org/drawingml/2006/main">
              <a:ext uri="{FF2B5EF4-FFF2-40B4-BE49-F238E27FC236}">
                <a16:creationId xmlns:a16="http://schemas.microsoft.com/office/drawing/2014/main" id="{4ED98433-7C6D-4082-9E5A-5F75393D921C}"/>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4</a:t>
            </a:r>
          </a:p>
        </p:txBody>
      </p:sp>
    </p:spTree>
    <p:extLst>
      <p:ext uri="{BB962C8B-B14F-4D97-AF65-F5344CB8AC3E}">
        <p14:creationId xmlns:p14="http://schemas.microsoft.com/office/powerpoint/2010/main" val="955561230"/>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109F7EAC-9735-4781-8396-FF7EC653F65C}"/>
              </a:ext>
            </a:extLst>
          </p:cNvPr>
          <p:cNvSpPr>
            <a:spLocks xmlns:a="http://schemas.openxmlformats.org/drawingml/2006/main" noGrp="1"/>
          </p:cNvSpPr>
          <p:nvPr/>
        </p:nvSpPr>
        <p:spPr>
          <a:xfrm xmlns:a="http://schemas.openxmlformats.org/drawingml/2006/main">
            <a:off x="12398911" y="0"/>
            <a:ext cx="5890260" cy="757555"/>
          </a:xfrm>
          <a:custGeom xmlns:a="http://schemas.openxmlformats.org/drawingml/2006/main">
            <a:rect l="l" t="t" r="r" b="b"/>
            <a:pathLst>
              <a:path w="5890259" h="757555">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FC48F552-A53E-4D16-B6F7-D9EFAFE601A9}"/>
              </a:ext>
            </a:extLst>
          </p:cNvPr>
          <p:cNvSpPr>
            <a:spLocks xmlns:a="http://schemas.openxmlformats.org/drawingml/2006/main" noGrp="1"/>
          </p:cNvSpPr>
          <p:nvPr/>
        </p:nvSpPr>
        <p:spPr>
          <a:xfrm xmlns:a="http://schemas.openxmlformats.org/drawingml/2006/main">
            <a:off x="12398911" y="9530040"/>
            <a:ext cx="5890260" cy="757555"/>
          </a:xfrm>
          <a:custGeom xmlns:a="http://schemas.openxmlformats.org/drawingml/2006/main">
            <a:rect l="l" t="t" r="r" b="b"/>
            <a:pathLst>
              <a:path w="5890259" h="757554">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13" name="object 5"/>
          <p:cNvPicPr>
            <a:picLocks xmlns:a="http://schemas.openxmlformats.org/drawingml/2006/main" noChangeAspect="1"/>
          </p:cNvPicPr>
          <p:nvPr/>
        </p:nvPicPr>
        <p:blipFill>
          <a:blip xmlns:r="http://schemas.openxmlformats.org/officeDocument/2006/relationships" xmlns:a="http://schemas.openxmlformats.org/drawingml/2006/main" r:embed="R857da49769a14181"/>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8" name="CONTEXTE GÉNÉRAL DU PROJET">
            <a:extLst xmlns:a="http://schemas.openxmlformats.org/drawingml/2006/main">
              <a:ext uri="{FF2B5EF4-FFF2-40B4-BE49-F238E27FC236}">
                <a16:creationId xmlns:a16="http://schemas.microsoft.com/office/drawing/2014/main" id="{52AEA7CB-CE0F-4D65-AB26-50C03F225B6E}"/>
              </a:ext>
            </a:extLst>
          </p:cNvPr>
          <p:cNvSpPr>
            <a:spLocks xmlns:a="http://schemas.openxmlformats.org/drawingml/2006/main" noGrp="1"/>
          </p:cNvSpPr>
          <p:nvPr/>
        </p:nvSpPr>
        <p:spPr>
          <a:xfrm xmlns:a="http://schemas.openxmlformats.org/drawingml/2006/main">
            <a:off x="1952625" y="4095750"/>
            <a:ext cx="1228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200" b="1">
                <a:solidFill>
                  <a:srgbClr val="041C40"/>
                </a:solidFill>
                <a:latin typeface="Times New Roman"/>
                <a:ea typeface="Times New Roman"/>
                <a:cs typeface="Times New Roman"/>
              </a:defRPr>
            </a:pPr>
            <a:r>
              <a:rPr sz="4200" b="1">
                <a:solidFill>
                  <a:srgbClr val="041C40"/>
                </a:solidFill>
                <a:latin typeface="Times New Roman"/>
                <a:ea typeface="Times New Roman"/>
                <a:cs typeface="Times New Roman"/>
              </a:rPr>
              <a:t>CONTEXTE GÉNÉRAL DU PROJET</a:t>
            </a:r>
          </a:p>
        </p:txBody>
      </p:sp>
      <p:sp>
        <p:nvSpPr>
          <p:cNvPr id="9" name="Des tâches répétitives à structurer&#10;et des décisions co">
            <a:extLst xmlns:a="http://schemas.openxmlformats.org/drawingml/2006/main">
              <a:ext uri="{FF2B5EF4-FFF2-40B4-BE49-F238E27FC236}">
                <a16:creationId xmlns:a16="http://schemas.microsoft.com/office/drawing/2014/main" id="{162F2912-B3D8-432F-974F-05842511A63B}"/>
              </a:ext>
            </a:extLst>
          </p:cNvPr>
          <p:cNvSpPr>
            <a:spLocks xmlns:a="http://schemas.openxmlformats.org/drawingml/2006/main" noGrp="1"/>
          </p:cNvSpPr>
          <p:nvPr/>
        </p:nvSpPr>
        <p:spPr>
          <a:xfrm xmlns:a="http://schemas.openxmlformats.org/drawingml/2006/main">
            <a:off x="2428875" y="5524500"/>
            <a:ext cx="1133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Des tâches répétitives à structurer</a:t>
            </a:r>
          </a:p>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et des décisions commerciales à conserver</a:t>
            </a:r>
          </a:p>
        </p:txBody>
      </p:sp>
      <p:sp>
        <p:nvSpPr>
          <p:cNvPr id="10" name="5">
            <a:extLst xmlns:a="http://schemas.openxmlformats.org/drawingml/2006/main">
              <a:ext uri="{FF2B5EF4-FFF2-40B4-BE49-F238E27FC236}">
                <a16:creationId xmlns:a16="http://schemas.microsoft.com/office/drawing/2014/main" id="{4D572341-DAEE-4B6B-91A9-860CA7B55C04}"/>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5</a:t>
            </a:r>
          </a:p>
        </p:txBody>
      </p:sp>
    </p:spTree>
    <p:extLst>
      <p:ext uri="{BB962C8B-B14F-4D97-AF65-F5344CB8AC3E}">
        <p14:creationId xmlns:p14="http://schemas.microsoft.com/office/powerpoint/2010/main" val="2620945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1D9376F1-A410-4427-A864-AA2D17CBEB63}"/>
              </a:ext>
            </a:extLst>
          </p:cNvPr>
          <p:cNvSpPr>
            <a:spLocks xmlns:a="http://schemas.openxmlformats.org/drawingml/2006/main" noGrp="1"/>
          </p:cNvSpPr>
          <p:nvPr/>
        </p:nvSpPr>
        <p:spPr>
          <a:xfrm xmlns:a="http://schemas.openxmlformats.org/drawingml/2006/main">
            <a:off x="1581092" y="3231308"/>
            <a:ext cx="13119735" cy="5572125"/>
          </a:xfrm>
          <a:custGeom xmlns:a="http://schemas.openxmlformats.org/drawingml/2006/main">
            <a:rect l="l" t="t" r="r" b="b"/>
            <a:pathLst>
              <a:path w="13119735" h="5572125">
                <a:moveTo>
                  <a:pt x="12986234" y="5571937"/>
                </a:moveTo>
                <a:lnTo>
                  <a:pt x="133349" y="5571937"/>
                </a:lnTo>
                <a:lnTo>
                  <a:pt x="91201" y="5565139"/>
                </a:lnTo>
                <a:lnTo>
                  <a:pt x="54595" y="5546208"/>
                </a:lnTo>
                <a:lnTo>
                  <a:pt x="25728" y="5517342"/>
                </a:lnTo>
                <a:lnTo>
                  <a:pt x="6798" y="5480736"/>
                </a:lnTo>
                <a:lnTo>
                  <a:pt x="0" y="5438587"/>
                </a:lnTo>
                <a:lnTo>
                  <a:pt x="0" y="133349"/>
                </a:lnTo>
                <a:lnTo>
                  <a:pt x="6798" y="91201"/>
                </a:lnTo>
                <a:lnTo>
                  <a:pt x="25728" y="54595"/>
                </a:lnTo>
                <a:lnTo>
                  <a:pt x="54595" y="25728"/>
                </a:lnTo>
                <a:lnTo>
                  <a:pt x="91201" y="6798"/>
                </a:lnTo>
                <a:lnTo>
                  <a:pt x="133349" y="0"/>
                </a:lnTo>
                <a:lnTo>
                  <a:pt x="12986234" y="0"/>
                </a:lnTo>
                <a:lnTo>
                  <a:pt x="13028383" y="6798"/>
                </a:lnTo>
                <a:lnTo>
                  <a:pt x="13064988" y="25728"/>
                </a:lnTo>
                <a:lnTo>
                  <a:pt x="13093855" y="54595"/>
                </a:lnTo>
                <a:lnTo>
                  <a:pt x="13112786" y="91201"/>
                </a:lnTo>
                <a:lnTo>
                  <a:pt x="13119584" y="133349"/>
                </a:lnTo>
                <a:lnTo>
                  <a:pt x="13119584" y="5438587"/>
                </a:lnTo>
                <a:lnTo>
                  <a:pt x="13112786" y="5480736"/>
                </a:lnTo>
                <a:lnTo>
                  <a:pt x="13093855" y="5517342"/>
                </a:lnTo>
                <a:lnTo>
                  <a:pt x="13064988" y="5546208"/>
                </a:lnTo>
                <a:lnTo>
                  <a:pt x="13028383" y="5565139"/>
                </a:lnTo>
                <a:lnTo>
                  <a:pt x="12986234" y="5571937"/>
                </a:lnTo>
                <a:close/>
              </a:path>
            </a:pathLst>
          </a:custGeom>
          <a:solidFill xmlns:a="http://schemas.openxmlformats.org/drawingml/2006/main">
            <a:srgbClr val="D9D9D9"/>
          </a:solidFill>
        </p:spPr>
        <p:txBody>
          <a:bodyPr xmlns:a="http://schemas.openxmlformats.org/drawingml/2006/main" wrap="square" lIns="0" tIns="0" rIns="0" bIns="0"/>
          <a:lstStyle xmlns:a="http://schemas.openxmlformats.org/drawingml/2006/main"/>
          <a:p xmlns:a="http://schemas.openxmlformats.org/drawingml/2006/main"/>
        </p:txBody>
      </p:sp>
      <p:sp>
        <p:nvSpPr>
          <p:cNvPr id="6" name="object 6">
            <a:extLst xmlns:a="http://schemas.openxmlformats.org/drawingml/2006/main">
              <a:ext uri="{FF2B5EF4-FFF2-40B4-BE49-F238E27FC236}">
                <a16:creationId xmlns:a16="http://schemas.microsoft.com/office/drawing/2014/main" id="{0BF69A57-5351-49A2-84C2-3EA90821FC69}"/>
              </a:ext>
            </a:extLst>
          </p:cNvPr>
          <p:cNvSpPr>
            <a:spLocks xmlns:a="http://schemas.openxmlformats.org/drawingml/2006/main" noGrp="1"/>
          </p:cNvSpPr>
          <p:nvPr/>
        </p:nvSpPr>
        <p:spPr>
          <a:xfrm xmlns:a="http://schemas.openxmlformats.org/drawingml/2006/main" rot="0" flipH="0" flipV="0">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17" name="object 7"/>
          <p:cNvPicPr>
            <a:picLocks xmlns:a="http://schemas.openxmlformats.org/drawingml/2006/main" noChangeAspect="1"/>
          </p:cNvPicPr>
          <p:nvPr/>
        </p:nvPicPr>
        <p:blipFill>
          <a:blip xmlns:r="http://schemas.openxmlformats.org/officeDocument/2006/relationships" xmlns:a="http://schemas.openxmlformats.org/drawingml/2006/main" r:embed="R1d8b3db768ab48f7"/>
          <a:stretch xmlns:a="http://schemas.openxmlformats.org/drawingml/2006/main">
            <a:fillRect l="0" t="0" r="0" b="0"/>
          </a:stretch>
        </p:blipFill>
        <p:spPr>
          <a:xfrm xmlns:a="http://schemas.openxmlformats.org/drawingml/2006/main" rot="0" flipH="0" flipV="0">
            <a:off x="2441203" y="245027"/>
            <a:ext cx="5267324" cy="1152524"/>
          </a:xfrm>
          <a:prstGeom xmlns:a="http://schemas.openxmlformats.org/drawingml/2006/main" prst="rect">
            <a:avLst/>
          </a:prstGeom>
        </p:spPr>
      </p:pic>
      <p:sp>
        <p:nvSpPr>
          <p:cNvPr id="10" name="Problématique">
            <a:extLst xmlns:a="http://schemas.openxmlformats.org/drawingml/2006/main">
              <a:ext uri="{FF2B5EF4-FFF2-40B4-BE49-F238E27FC236}">
                <a16:creationId xmlns:a16="http://schemas.microsoft.com/office/drawing/2014/main" id="{28B00250-A028-4FD9-9610-A1F1AF919F3B}"/>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Problématique</a:t>
            </a:r>
          </a:p>
        </p:txBody>
      </p:sp>
      <p:sp>
        <p:nvSpPr>
          <p:cNvPr id="11" name="Des informations réparties entre le CRM,&#10;les messages e">
            <a:extLst xmlns:a="http://schemas.openxmlformats.org/drawingml/2006/main">
              <a:ext uri="{FF2B5EF4-FFF2-40B4-BE49-F238E27FC236}">
                <a16:creationId xmlns:a16="http://schemas.microsoft.com/office/drawing/2014/main" id="{B0AFAEFB-7665-410E-B397-81B575E66ABB}"/>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041C40"/>
                </a:solidFill>
                <a:latin typeface="Times New Roman"/>
                <a:ea typeface="Times New Roman"/>
                <a:cs typeface="Times New Roman"/>
              </a:defRPr>
            </a:pPr>
            <a:r>
              <a:rPr sz="3375" b="0">
                <a:solidFill>
                  <a:srgbClr val="041C40"/>
                </a:solidFill>
                <a:latin typeface="Times New Roman"/>
                <a:ea typeface="Times New Roman"/>
                <a:cs typeface="Times New Roman"/>
              </a:rPr>
              <a:t>Des informations réparties entre le CRM,</a:t>
            </a:r>
          </a:p>
          <a:p xmlns:a="http://schemas.openxmlformats.org/drawingml/2006/main">
            <a:pPr algn="l">
              <a:defRPr sz="3375" b="0">
                <a:solidFill>
                  <a:srgbClr val="041C40"/>
                </a:solidFill>
                <a:latin typeface="Times New Roman"/>
                <a:ea typeface="Times New Roman"/>
                <a:cs typeface="Times New Roman"/>
              </a:defRPr>
            </a:pPr>
            <a:r>
              <a:rPr sz="3375" b="0">
                <a:solidFill>
                  <a:srgbClr val="041C40"/>
                </a:solidFill>
                <a:latin typeface="Times New Roman"/>
                <a:ea typeface="Times New Roman"/>
                <a:cs typeface="Times New Roman"/>
              </a:rPr>
              <a:t>les messages et les fichiers.</a:t>
            </a:r>
          </a:p>
        </p:txBody>
      </p:sp>
      <p:sp>
        <p:nvSpPr>
          <p:cNvPr id="12" name="Des relances difficiles à suivre et un risque&#10;de renvoy">
            <a:extLst xmlns:a="http://schemas.openxmlformats.org/drawingml/2006/main">
              <a:ext uri="{FF2B5EF4-FFF2-40B4-BE49-F238E27FC236}">
                <a16:creationId xmlns:a16="http://schemas.microsoft.com/office/drawing/2014/main" id="{7460D511-FADC-4E9D-9B51-9AFF141DE270}"/>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041C40"/>
                </a:solidFill>
                <a:latin typeface="Times New Roman"/>
                <a:ea typeface="Times New Roman"/>
                <a:cs typeface="Times New Roman"/>
              </a:defRPr>
            </a:pPr>
            <a:r>
              <a:rPr sz="3375" b="0">
                <a:solidFill>
                  <a:srgbClr val="041C40"/>
                </a:solidFill>
                <a:latin typeface="Times New Roman"/>
                <a:ea typeface="Times New Roman"/>
                <a:cs typeface="Times New Roman"/>
              </a:rPr>
              <a:t>Des relances difficiles à suivre et un risque</a:t>
            </a:r>
          </a:p>
          <a:p xmlns:a="http://schemas.openxmlformats.org/drawingml/2006/main">
            <a:pPr algn="l">
              <a:defRPr sz="3375" b="0">
                <a:solidFill>
                  <a:srgbClr val="041C40"/>
                </a:solidFill>
                <a:latin typeface="Times New Roman"/>
                <a:ea typeface="Times New Roman"/>
                <a:cs typeface="Times New Roman"/>
              </a:defRPr>
            </a:pPr>
            <a:r>
              <a:rPr sz="3375" b="0">
                <a:solidFill>
                  <a:srgbClr val="041C40"/>
                </a:solidFill>
                <a:latin typeface="Times New Roman"/>
                <a:ea typeface="Times New Roman"/>
                <a:cs typeface="Times New Roman"/>
              </a:rPr>
              <a:t>de renvoyer une action déjà effectuée.</a:t>
            </a:r>
          </a:p>
        </p:txBody>
      </p:sp>
      <p:sp>
        <p:nvSpPr>
          <p:cNvPr id="13" name="Comment fiabiliser le parcours sans perdre&#10;la personnal">
            <a:extLst xmlns:a="http://schemas.openxmlformats.org/drawingml/2006/main">
              <a:ext uri="{FF2B5EF4-FFF2-40B4-BE49-F238E27FC236}">
                <a16:creationId xmlns:a16="http://schemas.microsoft.com/office/drawing/2014/main" id="{2A565DE0-0F99-4D64-8C3E-4FB44CB45D17}"/>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041C40"/>
                </a:solidFill>
                <a:latin typeface="Times New Roman"/>
                <a:ea typeface="Times New Roman"/>
                <a:cs typeface="Times New Roman"/>
              </a:defRPr>
            </a:pPr>
            <a:r>
              <a:rPr sz="3375" b="0">
                <a:solidFill>
                  <a:srgbClr val="041C40"/>
                </a:solidFill>
                <a:latin typeface="Times New Roman"/>
                <a:ea typeface="Times New Roman"/>
                <a:cs typeface="Times New Roman"/>
              </a:rPr>
              <a:t>Comment fiabiliser le parcours sans perdre</a:t>
            </a:r>
          </a:p>
          <a:p xmlns:a="http://schemas.openxmlformats.org/drawingml/2006/main">
            <a:pPr algn="l">
              <a:defRPr sz="3375" b="0">
                <a:solidFill>
                  <a:srgbClr val="041C40"/>
                </a:solidFill>
                <a:latin typeface="Times New Roman"/>
                <a:ea typeface="Times New Roman"/>
                <a:cs typeface="Times New Roman"/>
              </a:defRPr>
            </a:pPr>
            <a:r>
              <a:rPr sz="3375" b="0">
                <a:solidFill>
                  <a:srgbClr val="041C40"/>
                </a:solidFill>
                <a:latin typeface="Times New Roman"/>
                <a:ea typeface="Times New Roman"/>
                <a:cs typeface="Times New Roman"/>
              </a:rPr>
              <a:t>la personnalisation de la relation commerciale ?</a:t>
            </a:r>
          </a:p>
        </p:txBody>
      </p:sp>
      <p:sp>
        <p:nvSpPr>
          <p:cNvPr id="14" name="6">
            <a:extLst xmlns:a="http://schemas.openxmlformats.org/drawingml/2006/main">
              <a:ext uri="{FF2B5EF4-FFF2-40B4-BE49-F238E27FC236}">
                <a16:creationId xmlns:a16="http://schemas.microsoft.com/office/drawing/2014/main" id="{F6E91A0B-CF19-4D5C-A84F-BF6E67B9D6BC}"/>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6</a:t>
            </a:r>
          </a:p>
        </p:txBody>
      </p:sp>
    </p:spTree>
    <p:extLst>
      <p:ext uri="{BB962C8B-B14F-4D97-AF65-F5344CB8AC3E}">
        <p14:creationId xmlns:p14="http://schemas.microsoft.com/office/powerpoint/2010/main" val="13476758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object 4">
            <a:extLst xmlns:a="http://schemas.openxmlformats.org/drawingml/2006/main">
              <a:ext uri="{FF2B5EF4-FFF2-40B4-BE49-F238E27FC236}">
                <a16:creationId xmlns:a16="http://schemas.microsoft.com/office/drawing/2014/main" id="{1707EBE4-7253-42EB-9CC5-381FCDD63AA2}"/>
              </a:ext>
            </a:extLst>
          </p:cNvPr>
          <p:cNvSpPr>
            <a:spLocks xmlns:a="http://schemas.openxmlformats.org/drawingml/2006/main" noGrp="1"/>
          </p:cNvSpPr>
          <p:nvPr/>
        </p:nvSpPr>
        <p:spPr>
          <a:xfrm xmlns:a="http://schemas.openxmlformats.org/drawingml/2006/main" rot="0" flipH="0" flipV="0">
            <a:off x="1581092" y="3134169"/>
            <a:ext cx="13111480" cy="5286375"/>
          </a:xfrm>
          <a:custGeom xmlns:a="http://schemas.openxmlformats.org/drawingml/2006/main">
            <a:rect l="l" t="t" r="r" b="b"/>
            <a:pathLst>
              <a:path w="13111480" h="5286375">
                <a:moveTo>
                  <a:pt x="12986234" y="5285786"/>
                </a:moveTo>
                <a:lnTo>
                  <a:pt x="133350" y="5285786"/>
                </a:lnTo>
                <a:lnTo>
                  <a:pt x="91201" y="5278988"/>
                </a:lnTo>
                <a:lnTo>
                  <a:pt x="54595" y="5260058"/>
                </a:lnTo>
                <a:lnTo>
                  <a:pt x="25728" y="5231191"/>
                </a:lnTo>
                <a:lnTo>
                  <a:pt x="6798" y="5194585"/>
                </a:lnTo>
                <a:lnTo>
                  <a:pt x="0" y="5152436"/>
                </a:lnTo>
                <a:lnTo>
                  <a:pt x="0" y="133350"/>
                </a:lnTo>
                <a:lnTo>
                  <a:pt x="6798" y="91201"/>
                </a:lnTo>
                <a:lnTo>
                  <a:pt x="25728" y="54595"/>
                </a:lnTo>
                <a:lnTo>
                  <a:pt x="54595" y="25728"/>
                </a:lnTo>
                <a:lnTo>
                  <a:pt x="91201" y="6798"/>
                </a:lnTo>
                <a:lnTo>
                  <a:pt x="133350" y="0"/>
                </a:lnTo>
                <a:lnTo>
                  <a:pt x="12986234" y="0"/>
                </a:lnTo>
                <a:lnTo>
                  <a:pt x="13028382" y="6798"/>
                </a:lnTo>
                <a:lnTo>
                  <a:pt x="13064988" y="25728"/>
                </a:lnTo>
                <a:lnTo>
                  <a:pt x="13093855" y="54595"/>
                </a:lnTo>
                <a:lnTo>
                  <a:pt x="13111228" y="88189"/>
                </a:lnTo>
                <a:lnTo>
                  <a:pt x="13111228" y="5197597"/>
                </a:lnTo>
                <a:lnTo>
                  <a:pt x="13093855" y="5231191"/>
                </a:lnTo>
                <a:lnTo>
                  <a:pt x="13064988" y="5260058"/>
                </a:lnTo>
                <a:lnTo>
                  <a:pt x="13028382" y="5278988"/>
                </a:lnTo>
                <a:lnTo>
                  <a:pt x="12986234" y="5285786"/>
                </a:lnTo>
                <a:close/>
              </a:path>
            </a:pathLst>
          </a:custGeom>
          <a:solidFill xmlns:a="http://schemas.openxmlformats.org/drawingml/2006/main">
            <a:srgbClr val="D9D9D9"/>
          </a:solidFill>
        </p:spPr>
        <p:txBody>
          <a:bodyPr xmlns:a="http://schemas.openxmlformats.org/drawingml/2006/main" wrap="square" lIns="0" tIns="0" rIns="0" bIns="0"/>
          <a:lstStyle xmlns:a="http://schemas.openxmlformats.org/drawingml/2006/main"/>
          <a:p xmlns:a="http://schemas.openxmlformats.org/drawingml/2006/main"/>
        </p:txBody>
      </p:sp>
      <p:sp>
        <p:nvSpPr>
          <p:cNvPr id="12" name="object 12">
            <a:extLst xmlns:a="http://schemas.openxmlformats.org/drawingml/2006/main">
              <a:ext uri="{FF2B5EF4-FFF2-40B4-BE49-F238E27FC236}">
                <a16:creationId xmlns:a16="http://schemas.microsoft.com/office/drawing/2014/main" id="{9404C1A4-BB29-4286-A309-588832641CC0}"/>
              </a:ext>
            </a:extLst>
          </p:cNvPr>
          <p:cNvSpPr>
            <a:spLocks xmlns:a="http://schemas.openxmlformats.org/drawingml/2006/main" noGrp="1"/>
          </p:cNvSpPr>
          <p:nvPr/>
        </p:nvSpPr>
        <p:spPr>
          <a:xfrm xmlns:a="http://schemas.openxmlformats.org/drawingml/2006/main" rot="0" flipH="0" flipV="0">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30" name="object 13"/>
          <p:cNvPicPr>
            <a:picLocks xmlns:a="http://schemas.openxmlformats.org/drawingml/2006/main" noChangeAspect="1"/>
          </p:cNvPicPr>
          <p:nvPr/>
        </p:nvPicPr>
        <p:blipFill>
          <a:blip xmlns:r="http://schemas.openxmlformats.org/officeDocument/2006/relationships" xmlns:a="http://schemas.openxmlformats.org/drawingml/2006/main" r:embed="Rcba05b2540e347e4"/>
          <a:stretch xmlns:a="http://schemas.openxmlformats.org/drawingml/2006/main">
            <a:fillRect l="0" t="0" r="0" b="0"/>
          </a:stretch>
        </p:blipFill>
        <p:spPr>
          <a:xfrm xmlns:a="http://schemas.openxmlformats.org/drawingml/2006/main" rot="0" flipH="0" flipV="0">
            <a:off x="2441203" y="245027"/>
            <a:ext cx="5267324" cy="1152524"/>
          </a:xfrm>
          <a:prstGeom xmlns:a="http://schemas.openxmlformats.org/drawingml/2006/main" prst="rect">
            <a:avLst/>
          </a:prstGeom>
        </p:spPr>
      </p:pic>
      <p:sp>
        <p:nvSpPr>
          <p:cNvPr id="21" name="Objectifs et périmètre">
            <a:extLst xmlns:a="http://schemas.openxmlformats.org/drawingml/2006/main">
              <a:ext uri="{FF2B5EF4-FFF2-40B4-BE49-F238E27FC236}">
                <a16:creationId xmlns:a16="http://schemas.microsoft.com/office/drawing/2014/main" id="{AF3E9520-F881-4358-BC80-A08ACAF6782C}"/>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Objectifs et périmètre</a:t>
            </a:r>
          </a:p>
        </p:txBody>
      </p:sp>
      <p:sp>
        <p:nvSpPr>
          <p:cNvPr id="22" name="Centraliser les formations et les prospects dans Airtab">
            <a:extLst xmlns:a="http://schemas.openxmlformats.org/drawingml/2006/main">
              <a:ext uri="{FF2B5EF4-FFF2-40B4-BE49-F238E27FC236}">
                <a16:creationId xmlns:a16="http://schemas.microsoft.com/office/drawing/2014/main" id="{56144796-2287-4700-B371-4C25C1085240}"/>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041C40"/>
                </a:solidFill>
                <a:latin typeface="Times New Roman"/>
                <a:ea typeface="Times New Roman"/>
                <a:cs typeface="Times New Roman"/>
              </a:defRPr>
            </a:pPr>
            <a:r>
              <a:rPr sz="3150" b="0">
                <a:solidFill>
                  <a:srgbClr val="041C40"/>
                </a:solidFill>
                <a:latin typeface="Times New Roman"/>
                <a:ea typeface="Times New Roman"/>
                <a:cs typeface="Times New Roman"/>
              </a:rPr>
              <a:t>Centraliser les formations et les prospects dans Airtable.</a:t>
            </a:r>
          </a:p>
        </p:txBody>
      </p:sp>
      <p:sp>
        <p:nvSpPr>
          <p:cNvPr id="23" name="Prioriser les leads avec un score explicable.">
            <a:extLst xmlns:a="http://schemas.openxmlformats.org/drawingml/2006/main">
              <a:ext uri="{FF2B5EF4-FFF2-40B4-BE49-F238E27FC236}">
                <a16:creationId xmlns:a16="http://schemas.microsoft.com/office/drawing/2014/main" id="{44C77843-7E1B-4BF2-B292-2F55120AFADE}"/>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041C40"/>
                </a:solidFill>
                <a:latin typeface="Times New Roman"/>
                <a:ea typeface="Times New Roman"/>
                <a:cs typeface="Times New Roman"/>
              </a:defRPr>
            </a:pPr>
            <a:r>
              <a:rPr sz="3150" b="0">
                <a:solidFill>
                  <a:srgbClr val="041C40"/>
                </a:solidFill>
                <a:latin typeface="Times New Roman"/>
                <a:ea typeface="Times New Roman"/>
                <a:cs typeface="Times New Roman"/>
              </a:rPr>
              <a:t>Prioriser les leads avec un score explicable.</a:t>
            </a:r>
          </a:p>
        </p:txBody>
      </p:sp>
      <p:sp>
        <p:nvSpPr>
          <p:cNvPr id="24" name="Préparer des messages et des documents cohérents.">
            <a:extLst xmlns:a="http://schemas.openxmlformats.org/drawingml/2006/main">
              <a:ext uri="{FF2B5EF4-FFF2-40B4-BE49-F238E27FC236}">
                <a16:creationId xmlns:a16="http://schemas.microsoft.com/office/drawing/2014/main" id="{B7B73A80-3705-4797-B735-68B017E8CC45}"/>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041C40"/>
                </a:solidFill>
                <a:latin typeface="Times New Roman"/>
                <a:ea typeface="Times New Roman"/>
                <a:cs typeface="Times New Roman"/>
              </a:defRPr>
            </a:pPr>
            <a:r>
              <a:rPr sz="3150" b="0">
                <a:solidFill>
                  <a:srgbClr val="041C40"/>
                </a:solidFill>
                <a:latin typeface="Times New Roman"/>
                <a:ea typeface="Times New Roman"/>
                <a:cs typeface="Times New Roman"/>
              </a:rPr>
              <a:t>Préparer des messages et des documents cohérents.</a:t>
            </a:r>
          </a:p>
        </p:txBody>
      </p:sp>
      <p:sp>
        <p:nvSpPr>
          <p:cNvPr id="25" name="Piloter les traitements depuis un tableau de bord.">
            <a:extLst xmlns:a="http://schemas.openxmlformats.org/drawingml/2006/main">
              <a:ext uri="{FF2B5EF4-FFF2-40B4-BE49-F238E27FC236}">
                <a16:creationId xmlns:a16="http://schemas.microsoft.com/office/drawing/2014/main" id="{FCE63DDD-808F-4820-97B8-A8C6D2C487DC}"/>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041C40"/>
                </a:solidFill>
                <a:latin typeface="Times New Roman"/>
                <a:ea typeface="Times New Roman"/>
                <a:cs typeface="Times New Roman"/>
              </a:defRPr>
            </a:pPr>
            <a:r>
              <a:rPr sz="3150" b="0">
                <a:solidFill>
                  <a:srgbClr val="041C40"/>
                </a:solidFill>
                <a:latin typeface="Times New Roman"/>
                <a:ea typeface="Times New Roman"/>
                <a:cs typeface="Times New Roman"/>
              </a:rPr>
              <a:t>Piloter les traitements depuis un tableau de bord.</a:t>
            </a:r>
          </a:p>
        </p:txBody>
      </p:sp>
      <p:sp>
        <p:nvSpPr>
          <p:cNvPr id="26" name="La validation commerciale, la signature et le paiement ">
            <a:extLst xmlns:a="http://schemas.openxmlformats.org/drawingml/2006/main">
              <a:ext uri="{FF2B5EF4-FFF2-40B4-BE49-F238E27FC236}">
                <a16:creationId xmlns:a16="http://schemas.microsoft.com/office/drawing/2014/main" id="{F0D3775E-1045-4066-B317-B1398BF42835}"/>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La validation commerciale, la signature et le paiement restent hors automatisation complète.</a:t>
            </a:r>
          </a:p>
        </p:txBody>
      </p:sp>
      <p:sp>
        <p:nvSpPr>
          <p:cNvPr id="27" name="7">
            <a:extLst xmlns:a="http://schemas.openxmlformats.org/drawingml/2006/main">
              <a:ext uri="{FF2B5EF4-FFF2-40B4-BE49-F238E27FC236}">
                <a16:creationId xmlns:a16="http://schemas.microsoft.com/office/drawing/2014/main" id="{8A0E777F-D4E6-411B-A05F-4ABD39FD85B1}"/>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7</a:t>
            </a:r>
          </a:p>
        </p:txBody>
      </p:sp>
    </p:spTree>
    <p:extLst>
      <p:ext uri="{BB962C8B-B14F-4D97-AF65-F5344CB8AC3E}">
        <p14:creationId xmlns:p14="http://schemas.microsoft.com/office/powerpoint/2010/main" val="20693287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2" name="object 4"/>
          <p:cNvPicPr>
            <a:picLocks xmlns:a="http://schemas.openxmlformats.org/drawingml/2006/main" noChangeAspect="1"/>
          </p:cNvPicPr>
          <p:nvPr/>
        </p:nvPicPr>
        <p:blipFill>
          <a:blip xmlns:r="http://schemas.openxmlformats.org/officeDocument/2006/relationships" xmlns:a="http://schemas.openxmlformats.org/drawingml/2006/main" r:embed="R3b5303ba243546f8"/>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8" name="Conduite du projet">
            <a:extLst xmlns:a="http://schemas.openxmlformats.org/drawingml/2006/main">
              <a:ext uri="{FF2B5EF4-FFF2-40B4-BE49-F238E27FC236}">
                <a16:creationId xmlns:a16="http://schemas.microsoft.com/office/drawing/2014/main" id="{F0CE15C6-501D-4F31-870A-8FB553698AA0}"/>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Conduite du projet</a:t>
            </a:r>
          </a:p>
        </p:txBody>
      </p:sp>
      <p:graphicFrame>
        <p:nvGraphicFramePr>
          <p:cNvPr id="14" name=""/>
          <p:cNvGraphicFramePr/>
          <p:nvPr/>
        </p:nvGraphicFramePr>
        <p:xfrm>
          <a:off xmlns:a="http://schemas.openxmlformats.org/drawingml/2006/main" x="1571625" y="3286125"/>
          <a:ext xmlns:a="http://schemas.openxmlformats.org/drawingml/2006/main" cx="13239750" cy="4476750"/>
        </p:xfrm>
        <a:graphic xmlns:a="http://schemas.openxmlformats.org/drawingml/2006/main">
          <a:graphicData uri="http://schemas.openxmlformats.org/drawingml/2006/table">
            <a:tbl>
              <a:tblPr/>
              <a:tblGrid>
                <a:gridCol w="2714625"/>
                <a:gridCol w="5476875"/>
                <a:gridCol w="5048250"/>
              </a:tblGrid>
              <a:tr h="895350">
                <a:tc>
                  <a:txBody>
                    <a:bodyPr lIns="142875" tIns="76200" rIns="142875" bIns="76200"/>
                    <a:lstStyle/>
                    <a:p>
                      <a:r>
                        <a:rPr sz="2700" b="1">
                          <a:solidFill>
                            <a:srgbClr val="FFFFFF"/>
                          </a:solidFill>
                          <a:latin typeface="Times New Roman"/>
                          <a:ea typeface="Times New Roman"/>
                          <a:cs typeface="Times New Roman"/>
                        </a:rPr>
                        <a:t>Phase</a:t>
                      </a:r>
                    </a:p>
                  </a:txBody>
                  <a:tcPr marL="91440" marR="91440" marT="45720" marB="45720" anchor="ctr">
                    <a:solidFill>
                      <a:srgbClr val="0E933F"/>
                    </a:solidFill>
                  </a:tcPr>
                </a:tc>
                <a:tc>
                  <a:txBody>
                    <a:bodyPr lIns="142875" tIns="76200" rIns="142875" bIns="76200"/>
                    <a:lstStyle/>
                    <a:p>
                      <a:r>
                        <a:rPr sz="2700" b="1">
                          <a:solidFill>
                            <a:srgbClr val="FFFFFF"/>
                          </a:solidFill>
                          <a:latin typeface="Times New Roman"/>
                          <a:ea typeface="Times New Roman"/>
                          <a:cs typeface="Times New Roman"/>
                        </a:rPr>
                        <a:t>Travaux</a:t>
                      </a:r>
                    </a:p>
                  </a:txBody>
                  <a:tcPr marL="91440" marR="91440" marT="45720" marB="45720" anchor="ctr">
                    <a:solidFill>
                      <a:srgbClr val="0E933F"/>
                    </a:solidFill>
                  </a:tcPr>
                </a:tc>
                <a:tc>
                  <a:txBody>
                    <a:bodyPr lIns="142875" tIns="76200" rIns="142875" bIns="76200"/>
                    <a:lstStyle/>
                    <a:p>
                      <a:r>
                        <a:rPr sz="2700" b="1">
                          <a:solidFill>
                            <a:srgbClr val="FFFFFF"/>
                          </a:solidFill>
                          <a:latin typeface="Times New Roman"/>
                          <a:ea typeface="Times New Roman"/>
                          <a:cs typeface="Times New Roman"/>
                        </a:rPr>
                        <a:t>Livrable</a:t>
                      </a:r>
                    </a:p>
                  </a:txBody>
                  <a:tcPr marL="91440" marR="91440" marT="45720" marB="45720" anchor="ctr">
                    <a:solidFill>
                      <a:srgbClr val="0E933F"/>
                    </a:solidFill>
                  </a:tcPr>
                </a:tc>
              </a:tr>
              <a:tr h="895350">
                <a:tc>
                  <a:txBody>
                    <a:bodyPr lIns="142875" tIns="76200" rIns="142875" bIns="76200"/>
                    <a:lstStyle/>
                    <a:p>
                      <a:r>
                        <a:rPr sz="2700" b="0">
                          <a:solidFill>
                            <a:srgbClr val="041C40"/>
                          </a:solidFill>
                          <a:latin typeface="Times New Roman"/>
                          <a:ea typeface="Times New Roman"/>
                          <a:cs typeface="Times New Roman"/>
                        </a:rPr>
                        <a:t>Cadrage</a:t>
                      </a:r>
                    </a:p>
                  </a:txBody>
                  <a:tcPr marL="91440" marR="91440" marT="45720" marB="45720" anchor="ctr">
                    <a:solidFill>
                      <a:srgbClr val="F0F4F1"/>
                    </a:solidFill>
                  </a:tcPr>
                </a:tc>
                <a:tc>
                  <a:txBody>
                    <a:bodyPr lIns="142875" tIns="76200" rIns="142875" bIns="76200"/>
                    <a:lstStyle/>
                    <a:p>
                      <a:r>
                        <a:rPr sz="2700" b="0">
                          <a:solidFill>
                            <a:srgbClr val="041C40"/>
                          </a:solidFill>
                          <a:latin typeface="Times New Roman"/>
                          <a:ea typeface="Times New Roman"/>
                          <a:cs typeface="Times New Roman"/>
                        </a:rPr>
                        <a:t>Parcours commercial et besoins</a:t>
                      </a:r>
                    </a:p>
                  </a:txBody>
                  <a:tcPr marL="91440" marR="91440" marT="45720" marB="45720" anchor="ctr">
                    <a:solidFill>
                      <a:srgbClr val="F0F4F1"/>
                    </a:solidFill>
                  </a:tcPr>
                </a:tc>
                <a:tc>
                  <a:txBody>
                    <a:bodyPr lIns="142875" tIns="76200" rIns="142875" bIns="76200"/>
                    <a:lstStyle/>
                    <a:p>
                      <a:r>
                        <a:rPr sz="2700" b="0">
                          <a:solidFill>
                            <a:srgbClr val="041C40"/>
                          </a:solidFill>
                          <a:latin typeface="Times New Roman"/>
                          <a:ea typeface="Times New Roman"/>
                          <a:cs typeface="Times New Roman"/>
                        </a:rPr>
                        <a:t>Périmètre E1 à E8</a:t>
                      </a:r>
                    </a:p>
                  </a:txBody>
                  <a:tcPr marL="91440" marR="91440" marT="45720" marB="45720" anchor="ctr">
                    <a:solidFill>
                      <a:srgbClr val="F0F4F1"/>
                    </a:solidFill>
                  </a:tcPr>
                </a:tc>
              </a:tr>
              <a:tr h="895350">
                <a:tc>
                  <a:txBody>
                    <a:bodyPr lIns="142875" tIns="76200" rIns="142875" bIns="76200"/>
                    <a:lstStyle/>
                    <a:p>
                      <a:r>
                        <a:rPr sz="2700" b="0">
                          <a:solidFill>
                            <a:srgbClr val="041C40"/>
                          </a:solidFill>
                          <a:latin typeface="Times New Roman"/>
                          <a:ea typeface="Times New Roman"/>
                          <a:cs typeface="Times New Roman"/>
                        </a:rPr>
                        <a:t>Conception</a:t>
                      </a:r>
                    </a:p>
                  </a:txBody>
                  <a:tcPr marL="91440" marR="91440" marT="45720" marB="45720" anchor="ctr">
                    <a:solidFill>
                      <a:srgbClr val="FFFFFF"/>
                    </a:solidFill>
                  </a:tcPr>
                </a:tc>
                <a:tc>
                  <a:txBody>
                    <a:bodyPr lIns="142875" tIns="76200" rIns="142875" bIns="76200"/>
                    <a:lstStyle/>
                    <a:p>
                      <a:r>
                        <a:rPr sz="2700" b="0">
                          <a:solidFill>
                            <a:srgbClr val="041C40"/>
                          </a:solidFill>
                          <a:latin typeface="Times New Roman"/>
                          <a:ea typeface="Times New Roman"/>
                          <a:cs typeface="Times New Roman"/>
                        </a:rPr>
                        <a:t>Données, règles et interactions</a:t>
                      </a:r>
                    </a:p>
                  </a:txBody>
                  <a:tcPr marL="91440" marR="91440" marT="45720" marB="45720" anchor="ctr">
                    <a:solidFill>
                      <a:srgbClr val="FFFFFF"/>
                    </a:solidFill>
                  </a:tcPr>
                </a:tc>
                <a:tc>
                  <a:txBody>
                    <a:bodyPr lIns="142875" tIns="76200" rIns="142875" bIns="76200"/>
                    <a:lstStyle/>
                    <a:p>
                      <a:r>
                        <a:rPr sz="2700" b="0">
                          <a:solidFill>
                            <a:srgbClr val="041C40"/>
                          </a:solidFill>
                          <a:latin typeface="Times New Roman"/>
                          <a:ea typeface="Times New Roman"/>
                          <a:cs typeface="Times New Roman"/>
                        </a:rPr>
                        <a:t>Modèles et scénarios</a:t>
                      </a:r>
                    </a:p>
                  </a:txBody>
                  <a:tcPr marL="91440" marR="91440" marT="45720" marB="45720" anchor="ctr">
                    <a:solidFill>
                      <a:srgbClr val="FFFFFF"/>
                    </a:solidFill>
                  </a:tcPr>
                </a:tc>
              </a:tr>
              <a:tr h="895350">
                <a:tc>
                  <a:txBody>
                    <a:bodyPr lIns="142875" tIns="76200" rIns="142875" bIns="76200"/>
                    <a:lstStyle/>
                    <a:p>
                      <a:r>
                        <a:rPr sz="2700" b="0">
                          <a:solidFill>
                            <a:srgbClr val="041C40"/>
                          </a:solidFill>
                          <a:latin typeface="Times New Roman"/>
                          <a:ea typeface="Times New Roman"/>
                          <a:cs typeface="Times New Roman"/>
                        </a:rPr>
                        <a:t>Réalisation</a:t>
                      </a:r>
                    </a:p>
                  </a:txBody>
                  <a:tcPr marL="91440" marR="91440" marT="45720" marB="45720" anchor="ctr">
                    <a:solidFill>
                      <a:srgbClr val="F0F4F1"/>
                    </a:solidFill>
                  </a:tcPr>
                </a:tc>
                <a:tc>
                  <a:txBody>
                    <a:bodyPr lIns="142875" tIns="76200" rIns="142875" bIns="76200"/>
                    <a:lstStyle/>
                    <a:p>
                      <a:r>
                        <a:rPr sz="2700" b="0">
                          <a:solidFill>
                            <a:srgbClr val="041C40"/>
                          </a:solidFill>
                          <a:latin typeface="Times New Roman"/>
                          <a:ea typeface="Times New Roman"/>
                          <a:cs typeface="Times New Roman"/>
                        </a:rPr>
                        <a:t>Scripts, documents et interface</a:t>
                      </a:r>
                    </a:p>
                  </a:txBody>
                  <a:tcPr marL="91440" marR="91440" marT="45720" marB="45720" anchor="ctr">
                    <a:solidFill>
                      <a:srgbClr val="F0F4F1"/>
                    </a:solidFill>
                  </a:tcPr>
                </a:tc>
                <a:tc>
                  <a:txBody>
                    <a:bodyPr lIns="142875" tIns="76200" rIns="142875" bIns="76200"/>
                    <a:lstStyle/>
                    <a:p>
                      <a:r>
                        <a:rPr sz="2700" b="0">
                          <a:solidFill>
                            <a:srgbClr val="041C40"/>
                          </a:solidFill>
                          <a:latin typeface="Times New Roman"/>
                          <a:ea typeface="Times New Roman"/>
                          <a:cs typeface="Times New Roman"/>
                        </a:rPr>
                        <a:t>Prototype intégré</a:t>
                      </a:r>
                    </a:p>
                  </a:txBody>
                  <a:tcPr marL="91440" marR="91440" marT="45720" marB="45720" anchor="ctr">
                    <a:solidFill>
                      <a:srgbClr val="F0F4F1"/>
                    </a:solidFill>
                  </a:tcPr>
                </a:tc>
              </a:tr>
              <a:tr h="895350">
                <a:tc>
                  <a:txBody>
                    <a:bodyPr lIns="142875" tIns="76200" rIns="142875" bIns="76200"/>
                    <a:lstStyle/>
                    <a:p>
                      <a:r>
                        <a:rPr sz="2700" b="0">
                          <a:solidFill>
                            <a:srgbClr val="041C40"/>
                          </a:solidFill>
                          <a:latin typeface="Times New Roman"/>
                          <a:ea typeface="Times New Roman"/>
                          <a:cs typeface="Times New Roman"/>
                        </a:rPr>
                        <a:t>Validation</a:t>
                      </a:r>
                    </a:p>
                  </a:txBody>
                  <a:tcPr marL="91440" marR="91440" marT="45720" marB="45720" anchor="ctr">
                    <a:solidFill>
                      <a:srgbClr val="FFFFFF"/>
                    </a:solidFill>
                  </a:tcPr>
                </a:tc>
                <a:tc>
                  <a:txBody>
                    <a:bodyPr lIns="142875" tIns="76200" rIns="142875" bIns="76200"/>
                    <a:lstStyle/>
                    <a:p>
                      <a:r>
                        <a:rPr sz="2700" b="0">
                          <a:solidFill>
                            <a:srgbClr val="041C40"/>
                          </a:solidFill>
                          <a:latin typeface="Times New Roman"/>
                          <a:ea typeface="Times New Roman"/>
                          <a:cs typeface="Times New Roman"/>
                        </a:rPr>
                        <a:t>Tests locaux et démonstration</a:t>
                      </a:r>
                    </a:p>
                  </a:txBody>
                  <a:tcPr marL="91440" marR="91440" marT="45720" marB="45720" anchor="ctr">
                    <a:solidFill>
                      <a:srgbClr val="FFFFFF"/>
                    </a:solidFill>
                  </a:tcPr>
                </a:tc>
                <a:tc>
                  <a:txBody>
                    <a:bodyPr lIns="142875" tIns="76200" rIns="142875" bIns="76200"/>
                    <a:lstStyle/>
                    <a:p>
                      <a:r>
                        <a:rPr sz="2700" b="0">
                          <a:solidFill>
                            <a:srgbClr val="041C40"/>
                          </a:solidFill>
                          <a:latin typeface="Times New Roman"/>
                          <a:ea typeface="Times New Roman"/>
                          <a:cs typeface="Times New Roman"/>
                        </a:rPr>
                        <a:t>Résultats et limites</a:t>
                      </a:r>
                    </a:p>
                  </a:txBody>
                  <a:tcPr marL="91440" marR="91440" marT="45720" marB="45720" anchor="ctr">
                    <a:solidFill>
                      <a:srgbClr val="FFFFFF"/>
                    </a:solidFill>
                  </a:tcPr>
                </a:tc>
              </a:tr>
            </a:tbl>
          </a:graphicData>
        </a:graphic>
      </p:graphicFrame>
      <p:sp>
        <p:nvSpPr>
          <p:cNvPr id="10" name="Démarche itérative, avec validation des données et des ">
            <a:extLst xmlns:a="http://schemas.openxmlformats.org/drawingml/2006/main">
              <a:ext uri="{FF2B5EF4-FFF2-40B4-BE49-F238E27FC236}">
                <a16:creationId xmlns:a16="http://schemas.microsoft.com/office/drawing/2014/main" id="{149686DB-468E-4AEB-92C2-F90B4C2AACAC}"/>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Démarche itérative, avec validation des données et des fonctions à chaque phase.</a:t>
            </a:r>
          </a:p>
        </p:txBody>
      </p:sp>
      <p:sp>
        <p:nvSpPr>
          <p:cNvPr id="11" name="8">
            <a:extLst xmlns:a="http://schemas.openxmlformats.org/drawingml/2006/main">
              <a:ext uri="{FF2B5EF4-FFF2-40B4-BE49-F238E27FC236}">
                <a16:creationId xmlns:a16="http://schemas.microsoft.com/office/drawing/2014/main" id="{163AB80B-1AD2-4130-B8CC-EF0A9F8B2A22}"/>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8</a:t>
            </a:r>
          </a:p>
        </p:txBody>
      </p:sp>
    </p:spTree>
    <p:extLst>
      <p:ext uri="{BB962C8B-B14F-4D97-AF65-F5344CB8AC3E}">
        <p14:creationId xmlns:p14="http://schemas.microsoft.com/office/powerpoint/2010/main" val="1765169795"/>
      </p:ext>
    </p:extLst>
  </p:cSld>
</p:sld>
</file>

<file path=ppt/slides/slide9.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504F8549-6589-4807-8AE1-F7A3FA7019ED}"/>
              </a:ext>
            </a:extLst>
          </p:cNvPr>
          <p:cNvSpPr>
            <a:spLocks xmlns:a="http://schemas.openxmlformats.org/drawingml/2006/main" noGrp="1"/>
          </p:cNvSpPr>
          <p:nvPr/>
        </p:nvSpPr>
        <p:spPr>
          <a:xfrm xmlns:a="http://schemas.openxmlformats.org/drawingml/2006/main">
            <a:off x="12398911" y="0"/>
            <a:ext cx="5890260" cy="757555"/>
          </a:xfrm>
          <a:custGeom xmlns:a="http://schemas.openxmlformats.org/drawingml/2006/main">
            <a:rect l="l" t="t" r="r" b="b"/>
            <a:pathLst>
              <a:path w="5890259" h="757555">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8246EE49-A779-4AED-8645-1FA2FBBAF746}"/>
              </a:ext>
            </a:extLst>
          </p:cNvPr>
          <p:cNvSpPr>
            <a:spLocks xmlns:a="http://schemas.openxmlformats.org/drawingml/2006/main" noGrp="1"/>
          </p:cNvSpPr>
          <p:nvPr/>
        </p:nvSpPr>
        <p:spPr>
          <a:xfrm xmlns:a="http://schemas.openxmlformats.org/drawingml/2006/main">
            <a:off x="12398911" y="9530040"/>
            <a:ext cx="5890260" cy="757555"/>
          </a:xfrm>
          <a:custGeom xmlns:a="http://schemas.openxmlformats.org/drawingml/2006/main">
            <a:rect l="l" t="t" r="r" b="b"/>
            <a:pathLst>
              <a:path w="5890259" h="757554">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13" name="object 5"/>
          <p:cNvPicPr>
            <a:picLocks xmlns:a="http://schemas.openxmlformats.org/drawingml/2006/main" noChangeAspect="1"/>
          </p:cNvPicPr>
          <p:nvPr/>
        </p:nvPicPr>
        <p:blipFill>
          <a:blip xmlns:r="http://schemas.openxmlformats.org/officeDocument/2006/relationships" xmlns:a="http://schemas.openxmlformats.org/drawingml/2006/main" r:embed="Rf5de3d6789074c53"/>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8" name="ÉTUDE CONCEPTUELLE DE LA SOLUTION">
            <a:extLst xmlns:a="http://schemas.openxmlformats.org/drawingml/2006/main">
              <a:ext uri="{FF2B5EF4-FFF2-40B4-BE49-F238E27FC236}">
                <a16:creationId xmlns:a16="http://schemas.microsoft.com/office/drawing/2014/main" id="{8425B99E-B989-4DD6-802D-C065B2B6A5F7}"/>
              </a:ext>
            </a:extLst>
          </p:cNvPr>
          <p:cNvSpPr>
            <a:spLocks xmlns:a="http://schemas.openxmlformats.org/drawingml/2006/main" noGrp="1"/>
          </p:cNvSpPr>
          <p:nvPr/>
        </p:nvSpPr>
        <p:spPr>
          <a:xfrm xmlns:a="http://schemas.openxmlformats.org/drawingml/2006/main">
            <a:off x="1952625" y="4095750"/>
            <a:ext cx="1228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200" b="1">
                <a:solidFill>
                  <a:srgbClr val="041C40"/>
                </a:solidFill>
                <a:latin typeface="Times New Roman"/>
                <a:ea typeface="Times New Roman"/>
                <a:cs typeface="Times New Roman"/>
              </a:defRPr>
            </a:pPr>
            <a:r>
              <a:rPr sz="4200" b="1">
                <a:solidFill>
                  <a:srgbClr val="041C40"/>
                </a:solidFill>
                <a:latin typeface="Times New Roman"/>
                <a:ea typeface="Times New Roman"/>
                <a:cs typeface="Times New Roman"/>
              </a:rPr>
              <a:t>ÉTUDE CONCEPTUELLE DE LA SOLUTION</a:t>
            </a:r>
          </a:p>
        </p:txBody>
      </p:sp>
      <p:sp>
        <p:nvSpPr>
          <p:cNvPr id="9" name="Le parcours commercial, les acteurs&#10;et la circulation d">
            <a:extLst xmlns:a="http://schemas.openxmlformats.org/drawingml/2006/main">
              <a:ext uri="{FF2B5EF4-FFF2-40B4-BE49-F238E27FC236}">
                <a16:creationId xmlns:a16="http://schemas.microsoft.com/office/drawing/2014/main" id="{175803A0-6AC9-45AF-8F34-CAFAB79B72F3}"/>
              </a:ext>
            </a:extLst>
          </p:cNvPr>
          <p:cNvSpPr>
            <a:spLocks xmlns:a="http://schemas.openxmlformats.org/drawingml/2006/main" noGrp="1"/>
          </p:cNvSpPr>
          <p:nvPr/>
        </p:nvSpPr>
        <p:spPr>
          <a:xfrm xmlns:a="http://schemas.openxmlformats.org/drawingml/2006/main">
            <a:off x="2428875" y="5524500"/>
            <a:ext cx="1133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Le parcours commercial, les acteurs</a:t>
            </a:r>
          </a:p>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et la circulation des données</a:t>
            </a:r>
          </a:p>
        </p:txBody>
      </p:sp>
      <p:sp>
        <p:nvSpPr>
          <p:cNvPr id="10" name="9">
            <a:extLst xmlns:a="http://schemas.openxmlformats.org/drawingml/2006/main">
              <a:ext uri="{FF2B5EF4-FFF2-40B4-BE49-F238E27FC236}">
                <a16:creationId xmlns:a16="http://schemas.microsoft.com/office/drawing/2014/main" id="{5C72E3D8-7A08-4E38-8174-AE94255F6F01}"/>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9</a:t>
            </a:r>
          </a:p>
        </p:txBody>
      </p:sp>
    </p:spTree>
    <p:extLst>
      <p:ext uri="{BB962C8B-B14F-4D97-AF65-F5344CB8AC3E}">
        <p14:creationId xmlns:p14="http://schemas.microsoft.com/office/powerpoint/2010/main" val="5917359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0" name="object 2"/>
          <p:cNvPicPr>
            <a:picLocks xmlns:a="http://schemas.openxmlformats.org/drawingml/2006/main" noChangeAspect="1"/>
          </p:cNvPicPr>
          <p:nvPr/>
        </p:nvPicPr>
        <p:blipFill>
          <a:blip xmlns:r="http://schemas.openxmlformats.org/officeDocument/2006/relationships" xmlns:a="http://schemas.openxmlformats.org/drawingml/2006/main" r:embed="R1ff13e7faf024ba6"/>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6" name="Le parcours ADG-10">
            <a:extLst xmlns:a="http://schemas.openxmlformats.org/drawingml/2006/main">
              <a:ext uri="{FF2B5EF4-FFF2-40B4-BE49-F238E27FC236}">
                <a16:creationId xmlns:a16="http://schemas.microsoft.com/office/drawing/2014/main" id="{0DD0120B-2D4D-4119-A3A3-2496A5DB326D}"/>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Le parcours ADG-10</a:t>
            </a:r>
          </a:p>
        </p:txBody>
      </p:sp>
      <p:graphicFrame>
        <p:nvGraphicFramePr>
          <p:cNvPr id="12" name=""/>
          <p:cNvGraphicFramePr/>
          <p:nvPr/>
        </p:nvGraphicFramePr>
        <p:xfrm>
          <a:off xmlns:a="http://schemas.openxmlformats.org/drawingml/2006/main" x="1571625" y="3238500"/>
          <a:ext xmlns:a="http://schemas.openxmlformats.org/drawingml/2006/main" cx="13239750" cy="5000625"/>
        </p:xfrm>
        <a:graphic xmlns:a="http://schemas.openxmlformats.org/drawingml/2006/main">
          <a:graphicData uri="http://schemas.openxmlformats.org/drawingml/2006/table">
            <a:tbl>
              <a:tblPr/>
              <a:tblGrid>
                <a:gridCol w="2286000"/>
                <a:gridCol w="6048375"/>
                <a:gridCol w="4905375"/>
              </a:tblGrid>
              <a:tr h="833438">
                <a:tc>
                  <a:txBody>
                    <a:bodyPr lIns="142875" tIns="76200" rIns="142875" bIns="76200"/>
                    <a:lstStyle/>
                    <a:p>
                      <a:r>
                        <a:rPr sz="2550" b="1">
                          <a:solidFill>
                            <a:srgbClr val="FFFFFF"/>
                          </a:solidFill>
                          <a:latin typeface="Times New Roman"/>
                          <a:ea typeface="Times New Roman"/>
                          <a:cs typeface="Times New Roman"/>
                        </a:rPr>
                        <a:t>Étape</a:t>
                      </a:r>
                    </a:p>
                  </a:txBody>
                  <a:tcPr marL="91440" marR="91440" marT="45720" marB="45720" anchor="ctr">
                    <a:solidFill>
                      <a:srgbClr val="0E933F"/>
                    </a:solidFill>
                  </a:tcPr>
                </a:tc>
                <a:tc>
                  <a:txBody>
                    <a:bodyPr lIns="142875" tIns="76200" rIns="142875" bIns="76200"/>
                    <a:lstStyle/>
                    <a:p>
                      <a:r>
                        <a:rPr sz="2550" b="1">
                          <a:solidFill>
                            <a:srgbClr val="FFFFFF"/>
                          </a:solidFill>
                          <a:latin typeface="Times New Roman"/>
                          <a:ea typeface="Times New Roman"/>
                          <a:cs typeface="Times New Roman"/>
                        </a:rPr>
                        <a:t>Fonction</a:t>
                      </a:r>
                    </a:p>
                  </a:txBody>
                  <a:tcPr marL="91440" marR="91440" marT="45720" marB="45720" anchor="ctr">
                    <a:solidFill>
                      <a:srgbClr val="0E933F"/>
                    </a:solidFill>
                  </a:tcPr>
                </a:tc>
                <a:tc>
                  <a:txBody>
                    <a:bodyPr lIns="142875" tIns="76200" rIns="142875" bIns="76200"/>
                    <a:lstStyle/>
                    <a:p>
                      <a:r>
                        <a:rPr sz="2550" b="1">
                          <a:solidFill>
                            <a:srgbClr val="FFFFFF"/>
                          </a:solidFill>
                          <a:latin typeface="Times New Roman"/>
                          <a:ea typeface="Times New Roman"/>
                          <a:cs typeface="Times New Roman"/>
                        </a:rPr>
                        <a:t>État dans le prototype</a:t>
                      </a:r>
                    </a:p>
                  </a:txBody>
                  <a:tcPr marL="91440" marR="91440" marT="45720" marB="45720" anchor="ctr">
                    <a:solidFill>
                      <a:srgbClr val="0E933F"/>
                    </a:solidFill>
                  </a:tcPr>
                </a:tc>
              </a:tr>
              <a:tr h="833438">
                <a:tc>
                  <a:txBody>
                    <a:bodyPr lIns="142875" tIns="76200" rIns="142875" bIns="76200"/>
                    <a:lstStyle/>
                    <a:p>
                      <a:r>
                        <a:rPr sz="2550" b="0">
                          <a:solidFill>
                            <a:srgbClr val="041C40"/>
                          </a:solidFill>
                          <a:latin typeface="Times New Roman"/>
                          <a:ea typeface="Times New Roman"/>
                          <a:cs typeface="Times New Roman"/>
                        </a:rPr>
                        <a:t>E1 / E2</a:t>
                      </a:r>
                    </a:p>
                  </a:txBody>
                  <a:tcPr marL="91440" marR="91440" marT="45720" marB="45720" anchor="ctr">
                    <a:solidFill>
                      <a:srgbClr val="F0F4F1"/>
                    </a:solidFill>
                  </a:tcPr>
                </a:tc>
                <a:tc>
                  <a:txBody>
                    <a:bodyPr lIns="142875" tIns="76200" rIns="142875" bIns="76200"/>
                    <a:lstStyle/>
                    <a:p>
                      <a:r>
                        <a:rPr sz="2550" b="0">
                          <a:solidFill>
                            <a:srgbClr val="041C40"/>
                          </a:solidFill>
                          <a:latin typeface="Times New Roman"/>
                          <a:ea typeface="Times New Roman"/>
                          <a:cs typeface="Times New Roman"/>
                        </a:rPr>
                        <a:t>Contenu IA et textes LinkedIn / WhatsApp</a:t>
                      </a:r>
                    </a:p>
                  </a:txBody>
                  <a:tcPr marL="91440" marR="91440" marT="45720" marB="45720" anchor="ctr">
                    <a:solidFill>
                      <a:srgbClr val="F0F4F1"/>
                    </a:solidFill>
                  </a:tcPr>
                </a:tc>
                <a:tc>
                  <a:txBody>
                    <a:bodyPr lIns="142875" tIns="76200" rIns="142875" bIns="76200"/>
                    <a:lstStyle/>
                    <a:p>
                      <a:r>
                        <a:rPr sz="2550" b="0">
                          <a:solidFill>
                            <a:srgbClr val="041C40"/>
                          </a:solidFill>
                          <a:latin typeface="Times New Roman"/>
                          <a:ea typeface="Times New Roman"/>
                          <a:cs typeface="Times New Roman"/>
                        </a:rPr>
                        <a:t>Génération disponible</a:t>
                      </a:r>
                    </a:p>
                  </a:txBody>
                  <a:tcPr marL="91440" marR="91440" marT="45720" marB="45720" anchor="ctr">
                    <a:solidFill>
                      <a:srgbClr val="F0F4F1"/>
                    </a:solidFill>
                  </a:tcPr>
                </a:tc>
              </a:tr>
              <a:tr h="833438">
                <a:tc>
                  <a:txBody>
                    <a:bodyPr lIns="142875" tIns="76200" rIns="142875" bIns="76200"/>
                    <a:lstStyle/>
                    <a:p>
                      <a:r>
                        <a:rPr sz="2550" b="0">
                          <a:solidFill>
                            <a:srgbClr val="041C40"/>
                          </a:solidFill>
                          <a:latin typeface="Times New Roman"/>
                          <a:ea typeface="Times New Roman"/>
                          <a:cs typeface="Times New Roman"/>
                        </a:rPr>
                        <a:t>E3</a:t>
                      </a:r>
                    </a:p>
                  </a:txBody>
                  <a:tcPr marL="91440" marR="91440" marT="45720" marB="45720" anchor="ctr">
                    <a:solidFill>
                      <a:srgbClr val="FFFFFF"/>
                    </a:solidFill>
                  </a:tcPr>
                </a:tc>
                <a:tc>
                  <a:txBody>
                    <a:bodyPr lIns="142875" tIns="76200" rIns="142875" bIns="76200"/>
                    <a:lstStyle/>
                    <a:p>
                      <a:r>
                        <a:rPr sz="2550" b="0">
                          <a:solidFill>
                            <a:srgbClr val="041C40"/>
                          </a:solidFill>
                          <a:latin typeface="Times New Roman"/>
                          <a:ea typeface="Times New Roman"/>
                          <a:cs typeface="Times New Roman"/>
                        </a:rPr>
                        <a:t>Publication sociale</a:t>
                      </a:r>
                    </a:p>
                  </a:txBody>
                  <a:tcPr marL="91440" marR="91440" marT="45720" marB="45720" anchor="ctr">
                    <a:solidFill>
                      <a:srgbClr val="FFFFFF"/>
                    </a:solidFill>
                  </a:tcPr>
                </a:tc>
                <a:tc>
                  <a:txBody>
                    <a:bodyPr lIns="142875" tIns="76200" rIns="142875" bIns="76200"/>
                    <a:lstStyle/>
                    <a:p>
                      <a:r>
                        <a:rPr sz="2550" b="0">
                          <a:solidFill>
                            <a:srgbClr val="041C40"/>
                          </a:solidFill>
                          <a:latin typeface="Times New Roman"/>
                          <a:ea typeface="Times New Roman"/>
                          <a:cs typeface="Times New Roman"/>
                        </a:rPr>
                        <a:t>À développer</a:t>
                      </a:r>
                    </a:p>
                  </a:txBody>
                  <a:tcPr marL="91440" marR="91440" marT="45720" marB="45720" anchor="ctr">
                    <a:solidFill>
                      <a:srgbClr val="FFFFFF"/>
                    </a:solidFill>
                  </a:tcPr>
                </a:tc>
              </a:tr>
              <a:tr h="833438">
                <a:tc>
                  <a:txBody>
                    <a:bodyPr lIns="142875" tIns="76200" rIns="142875" bIns="76200"/>
                    <a:lstStyle/>
                    <a:p>
                      <a:r>
                        <a:rPr sz="2550" b="0">
                          <a:solidFill>
                            <a:srgbClr val="041C40"/>
                          </a:solidFill>
                          <a:latin typeface="Times New Roman"/>
                          <a:ea typeface="Times New Roman"/>
                          <a:cs typeface="Times New Roman"/>
                        </a:rPr>
                        <a:t>E4 / E5</a:t>
                      </a:r>
                    </a:p>
                  </a:txBody>
                  <a:tcPr marL="91440" marR="91440" marT="45720" marB="45720" anchor="ctr">
                    <a:solidFill>
                      <a:srgbClr val="F0F4F1"/>
                    </a:solidFill>
                  </a:tcPr>
                </a:tc>
                <a:tc>
                  <a:txBody>
                    <a:bodyPr lIns="142875" tIns="76200" rIns="142875" bIns="76200"/>
                    <a:lstStyle/>
                    <a:p>
                      <a:r>
                        <a:rPr sz="2550" b="0">
                          <a:solidFill>
                            <a:srgbClr val="041C40"/>
                          </a:solidFill>
                          <a:latin typeface="Times New Roman"/>
                          <a:ea typeface="Times New Roman"/>
                          <a:cs typeface="Times New Roman"/>
                        </a:rPr>
                        <a:t>Scoring et entretien du contact</a:t>
                      </a:r>
                    </a:p>
                  </a:txBody>
                  <a:tcPr marL="91440" marR="91440" marT="45720" marB="45720" anchor="ctr">
                    <a:solidFill>
                      <a:srgbClr val="F0F4F1"/>
                    </a:solidFill>
                  </a:tcPr>
                </a:tc>
                <a:tc>
                  <a:txBody>
                    <a:bodyPr lIns="142875" tIns="76200" rIns="142875" bIns="76200"/>
                    <a:lstStyle/>
                    <a:p>
                      <a:r>
                        <a:rPr sz="2550" b="0">
                          <a:solidFill>
                            <a:srgbClr val="041C40"/>
                          </a:solidFill>
                          <a:latin typeface="Times New Roman"/>
                          <a:ea typeface="Times New Roman"/>
                          <a:cs typeface="Times New Roman"/>
                        </a:rPr>
                        <a:t>Règles et séquences disponibles</a:t>
                      </a:r>
                    </a:p>
                  </a:txBody>
                  <a:tcPr marL="91440" marR="91440" marT="45720" marB="45720" anchor="ctr">
                    <a:solidFill>
                      <a:srgbClr val="F0F4F1"/>
                    </a:solidFill>
                  </a:tcPr>
                </a:tc>
              </a:tr>
              <a:tr h="833438">
                <a:tc>
                  <a:txBody>
                    <a:bodyPr lIns="142875" tIns="76200" rIns="142875" bIns="76200"/>
                    <a:lstStyle/>
                    <a:p>
                      <a:r>
                        <a:rPr sz="2550" b="0">
                          <a:solidFill>
                            <a:srgbClr val="041C40"/>
                          </a:solidFill>
                          <a:latin typeface="Times New Roman"/>
                          <a:ea typeface="Times New Roman"/>
                          <a:cs typeface="Times New Roman"/>
                        </a:rPr>
                        <a:t>E6 / E7</a:t>
                      </a:r>
                    </a:p>
                  </a:txBody>
                  <a:tcPr marL="91440" marR="91440" marT="45720" marB="45720" anchor="ctr">
                    <a:solidFill>
                      <a:srgbClr val="FFFFFF"/>
                    </a:solidFill>
                  </a:tcPr>
                </a:tc>
                <a:tc>
                  <a:txBody>
                    <a:bodyPr lIns="142875" tIns="76200" rIns="142875" bIns="76200"/>
                    <a:lstStyle/>
                    <a:p>
                      <a:r>
                        <a:rPr sz="2550" b="0">
                          <a:solidFill>
                            <a:srgbClr val="041C40"/>
                          </a:solidFill>
                          <a:latin typeface="Times New Roman"/>
                          <a:ea typeface="Times New Roman"/>
                          <a:cs typeface="Times New Roman"/>
                        </a:rPr>
                        <a:t>Proposition et relances de closing</a:t>
                      </a:r>
                    </a:p>
                  </a:txBody>
                  <a:tcPr marL="91440" marR="91440" marT="45720" marB="45720" anchor="ctr">
                    <a:solidFill>
                      <a:srgbClr val="FFFFFF"/>
                    </a:solidFill>
                  </a:tcPr>
                </a:tc>
                <a:tc>
                  <a:txBody>
                    <a:bodyPr lIns="142875" tIns="76200" rIns="142875" bIns="76200"/>
                    <a:lstStyle/>
                    <a:p>
                      <a:r>
                        <a:rPr sz="2550" b="0">
                          <a:solidFill>
                            <a:srgbClr val="041C40"/>
                          </a:solidFill>
                          <a:latin typeface="Times New Roman"/>
                          <a:ea typeface="Times New Roman"/>
                          <a:cs typeface="Times New Roman"/>
                        </a:rPr>
                        <a:t>PDF, e-mail et jalons disponibles</a:t>
                      </a:r>
                    </a:p>
                  </a:txBody>
                  <a:tcPr marL="91440" marR="91440" marT="45720" marB="45720" anchor="ctr">
                    <a:solidFill>
                      <a:srgbClr val="FFFFFF"/>
                    </a:solidFill>
                  </a:tcPr>
                </a:tc>
              </a:tr>
              <a:tr h="833438">
                <a:tc>
                  <a:txBody>
                    <a:bodyPr lIns="142875" tIns="76200" rIns="142875" bIns="76200"/>
                    <a:lstStyle/>
                    <a:p>
                      <a:r>
                        <a:rPr sz="2550" b="0">
                          <a:solidFill>
                            <a:srgbClr val="041C40"/>
                          </a:solidFill>
                          <a:latin typeface="Times New Roman"/>
                          <a:ea typeface="Times New Roman"/>
                          <a:cs typeface="Times New Roman"/>
                        </a:rPr>
                        <a:t>E8</a:t>
                      </a:r>
                    </a:p>
                  </a:txBody>
                  <a:tcPr marL="91440" marR="91440" marT="45720" marB="45720" anchor="ctr">
                    <a:solidFill>
                      <a:srgbClr val="F0F4F1"/>
                    </a:solidFill>
                  </a:tcPr>
                </a:tc>
                <a:tc>
                  <a:txBody>
                    <a:bodyPr lIns="142875" tIns="76200" rIns="142875" bIns="76200"/>
                    <a:lstStyle/>
                    <a:p>
                      <a:r>
                        <a:rPr sz="2550" b="0">
                          <a:solidFill>
                            <a:srgbClr val="041C40"/>
                          </a:solidFill>
                          <a:latin typeface="Times New Roman"/>
                          <a:ea typeface="Times New Roman"/>
                          <a:cs typeface="Times New Roman"/>
                        </a:rPr>
                        <a:t>Convention et facture</a:t>
                      </a:r>
                    </a:p>
                  </a:txBody>
                  <a:tcPr marL="91440" marR="91440" marT="45720" marB="45720" anchor="ctr">
                    <a:solidFill>
                      <a:srgbClr val="F0F4F1"/>
                    </a:solidFill>
                  </a:tcPr>
                </a:tc>
                <a:tc>
                  <a:txBody>
                    <a:bodyPr lIns="142875" tIns="76200" rIns="142875" bIns="76200"/>
                    <a:lstStyle/>
                    <a:p>
                      <a:r>
                        <a:rPr sz="2550" b="0">
                          <a:solidFill>
                            <a:srgbClr val="041C40"/>
                          </a:solidFill>
                          <a:latin typeface="Times New Roman"/>
                          <a:ea typeface="Times New Roman"/>
                          <a:cs typeface="Times New Roman"/>
                        </a:rPr>
                        <a:t>Génération et envoi disponibles</a:t>
                      </a:r>
                    </a:p>
                  </a:txBody>
                  <a:tcPr marL="91440" marR="91440" marT="45720" marB="45720" anchor="ctr">
                    <a:solidFill>
                      <a:srgbClr val="F0F4F1"/>
                    </a:solidFill>
                  </a:tcPr>
                </a:tc>
              </a:tr>
            </a:tbl>
          </a:graphicData>
        </a:graphic>
      </p:graphicFrame>
      <p:sp>
        <p:nvSpPr>
          <p:cNvPr id="8" name="Les scripts doivent s’exécuter aux échéances prévues. L">
            <a:extLst xmlns:a="http://schemas.openxmlformats.org/drawingml/2006/main">
              <a:ext uri="{FF2B5EF4-FFF2-40B4-BE49-F238E27FC236}">
                <a16:creationId xmlns:a16="http://schemas.microsoft.com/office/drawing/2014/main" id="{99548D27-3642-41A2-9B40-992DEBB5F1BD}"/>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Les scripts doivent s’exécuter aux échéances prévues. Les réponses du prospect nécessitent un suivi humain.</a:t>
            </a:r>
          </a:p>
        </p:txBody>
      </p:sp>
      <p:sp>
        <p:nvSpPr>
          <p:cNvPr id="9" name="10">
            <a:extLst xmlns:a="http://schemas.openxmlformats.org/drawingml/2006/main">
              <a:ext uri="{FF2B5EF4-FFF2-40B4-BE49-F238E27FC236}">
                <a16:creationId xmlns:a16="http://schemas.microsoft.com/office/drawing/2014/main" id="{E18D3508-6633-4FB1-9CE8-4C78825A8A0A}"/>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10</a:t>
            </a:r>
          </a:p>
        </p:txBody>
      </p:sp>
    </p:spTree>
    <p:extLst>
      <p:ext uri="{BB962C8B-B14F-4D97-AF65-F5344CB8AC3E}">
        <p14:creationId xmlns:p14="http://schemas.microsoft.com/office/powerpoint/2010/main" val="66000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3" name="object 2"/>
          <p:cNvPicPr>
            <a:picLocks xmlns:a="http://schemas.openxmlformats.org/drawingml/2006/main" noChangeAspect="1"/>
          </p:cNvPicPr>
          <p:nvPr/>
        </p:nvPicPr>
        <p:blipFill>
          <a:blip xmlns:r="http://schemas.openxmlformats.org/officeDocument/2006/relationships" xmlns:a="http://schemas.openxmlformats.org/drawingml/2006/main" r:embed="Rff4ba839264d4bf2"/>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2" name="Cas d’utilisation">
            <a:extLst xmlns:a="http://schemas.openxmlformats.org/drawingml/2006/main">
              <a:ext uri="{FF2B5EF4-FFF2-40B4-BE49-F238E27FC236}">
                <a16:creationId xmlns:a16="http://schemas.microsoft.com/office/drawing/2014/main" id="{79C8F1B0-0040-4D2E-8655-8EAB273EFDF3}"/>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Cas d’utilisation</a:t>
            </a:r>
          </a:p>
        </p:txBody>
      </p:sp>
      <p:sp>
        <p:nvSpPr>
          <p:cNvPr id="3" name="Commercial">
            <a:extLst xmlns:a="http://schemas.openxmlformats.org/drawingml/2006/main">
              <a:ext uri="{FF2B5EF4-FFF2-40B4-BE49-F238E27FC236}">
                <a16:creationId xmlns:a16="http://schemas.microsoft.com/office/drawing/2014/main" id="{6CF81DCF-AD8F-47AB-B3AF-28134831E228}"/>
              </a:ext>
            </a:extLst>
          </p:cNvPr>
          <p:cNvSpPr>
            <a:spLocks xmlns:a="http://schemas.openxmlformats.org/drawingml/2006/main" noGrp="1"/>
          </p:cNvSpPr>
          <p:nvPr/>
        </p:nvSpPr>
        <p:spPr>
          <a:xfrm xmlns:a="http://schemas.openxmlformats.org/drawingml/2006/main">
            <a:off x="1476375" y="4714875"/>
            <a:ext cx="2619375"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Commercial</a:t>
            </a:r>
          </a:p>
        </p:txBody>
      </p:sp>
      <p:sp>
        <p:nvSpPr>
          <p:cNvPr id="4" name="Consulter et filtrer les prospects">
            <a:extLst xmlns:a="http://schemas.openxmlformats.org/drawingml/2006/main">
              <a:ext uri="{FF2B5EF4-FFF2-40B4-BE49-F238E27FC236}">
                <a16:creationId xmlns:a16="http://schemas.microsoft.com/office/drawing/2014/main" id="{0BD452E4-21C2-4C50-B77C-E07FA4995C38}"/>
              </a:ext>
            </a:extLst>
          </p:cNvPr>
          <p:cNvSpPr>
            <a:spLocks xmlns:a="http://schemas.openxmlformats.org/drawingml/2006/main" noGrp="1"/>
          </p:cNvSpPr>
          <p:nvPr/>
        </p:nvSpPr>
        <p:spPr>
          <a:xfrm xmlns:a="http://schemas.openxmlformats.org/drawingml/2006/main">
            <a:off x="5429250" y="3190875"/>
            <a:ext cx="7429500" cy="1047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Consulter et filtrer les prospects</a:t>
            </a:r>
          </a:p>
        </p:txBody>
      </p:sp>
      <p:sp>
        <p:nvSpPr>
          <p:cNvPr id="5" name="Choisir et lancer un traitement">
            <a:extLst xmlns:a="http://schemas.openxmlformats.org/drawingml/2006/main">
              <a:ext uri="{FF2B5EF4-FFF2-40B4-BE49-F238E27FC236}">
                <a16:creationId xmlns:a16="http://schemas.microsoft.com/office/drawing/2014/main" id="{AAF93BCE-A215-45EC-8BCC-938F105AB6DC}"/>
              </a:ext>
            </a:extLst>
          </p:cNvPr>
          <p:cNvSpPr>
            <a:spLocks xmlns:a="http://schemas.openxmlformats.org/drawingml/2006/main" noGrp="1"/>
          </p:cNvSpPr>
          <p:nvPr/>
        </p:nvSpPr>
        <p:spPr>
          <a:xfrm xmlns:a="http://schemas.openxmlformats.org/drawingml/2006/main">
            <a:off x="5429250" y="4714875"/>
            <a:ext cx="7429500" cy="1047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Choisir et lancer un traitement</a:t>
            </a:r>
          </a:p>
        </p:txBody>
      </p:sp>
      <p:sp>
        <p:nvSpPr>
          <p:cNvPr id="6" name="Vérifier les documents et le résultat">
            <a:extLst xmlns:a="http://schemas.openxmlformats.org/drawingml/2006/main">
              <a:ext uri="{FF2B5EF4-FFF2-40B4-BE49-F238E27FC236}">
                <a16:creationId xmlns:a16="http://schemas.microsoft.com/office/drawing/2014/main" id="{A7F74415-AB6F-4B7B-8C6B-7DED13C54B3D}"/>
              </a:ext>
            </a:extLst>
          </p:cNvPr>
          <p:cNvSpPr>
            <a:spLocks xmlns:a="http://schemas.openxmlformats.org/drawingml/2006/main" noGrp="1"/>
          </p:cNvSpPr>
          <p:nvPr/>
        </p:nvSpPr>
        <p:spPr>
          <a:xfrm xmlns:a="http://schemas.openxmlformats.org/drawingml/2006/main">
            <a:off x="5429250" y="6238875"/>
            <a:ext cx="7429500" cy="1047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Vérifier les documents et le résultat</a:t>
            </a:r>
          </a:p>
        </p:txBody>
      </p:sp>
      <p:cxnSp>
        <p:nvCxnSpPr>
          <p:cNvPr id="19" name=""/>
          <p:cNvCxnSpPr>
            <a:stCxn xmlns:a="http://schemas.openxmlformats.org/drawingml/2006/main" id="3" idx="3"/>
            <a:endCxn xmlns:a="http://schemas.openxmlformats.org/drawingml/2006/main" id="4" idx="2"/>
          </p:cNvCxnSpPr>
          <p:nvPr/>
        </p:nvCxnSpPr>
        <p:spPr>
          <a:xfrm xmlns:a="http://schemas.openxmlformats.org/drawingml/2006/main" flipV="1">
            <a:off x="4095750" y="3714750"/>
            <a:ext cx="1333500" cy="1619250"/>
          </a:xfrm>
          <a:prstGeom xmlns:a="http://schemas.openxmlformats.org/drawingml/2006/main" prst="straightConnector1">
            <a:avLst/>
          </a:prstGeom>
          <a:ln xmlns:a="http://schemas.openxmlformats.org/drawingml/2006/main" w="28575">
            <a:solidFill>
              <a:srgbClr val="0E933F"/>
            </a:solidFill>
            <a:tailEnd type="triangle" w="sm" len="sm"/>
          </a:ln>
        </p:spPr>
      </p:cxnSp>
      <p:cxnSp>
        <p:nvCxnSpPr>
          <p:cNvPr id="20" name=""/>
          <p:cNvCxnSpPr>
            <a:stCxn xmlns:a="http://schemas.openxmlformats.org/drawingml/2006/main" id="3" idx="3"/>
            <a:endCxn xmlns:a="http://schemas.openxmlformats.org/drawingml/2006/main" id="5" idx="2"/>
          </p:cNvCxnSpPr>
          <p:nvPr/>
        </p:nvCxnSpPr>
        <p:spPr>
          <a:xfrm xmlns:a="http://schemas.openxmlformats.org/drawingml/2006/main" flipV="1">
            <a:off x="4095750" y="5238750"/>
            <a:ext cx="1333500" cy="95250"/>
          </a:xfrm>
          <a:prstGeom xmlns:a="http://schemas.openxmlformats.org/drawingml/2006/main" prst="straightConnector1">
            <a:avLst/>
          </a:prstGeom>
          <a:ln xmlns:a="http://schemas.openxmlformats.org/drawingml/2006/main" w="28575">
            <a:solidFill>
              <a:srgbClr val="0E933F"/>
            </a:solidFill>
            <a:tailEnd type="triangle" w="sm" len="sm"/>
          </a:ln>
        </p:spPr>
      </p:cxnSp>
      <p:cxnSp>
        <p:nvCxnSpPr>
          <p:cNvPr id="21" name=""/>
          <p:cNvCxnSpPr>
            <a:stCxn xmlns:a="http://schemas.openxmlformats.org/drawingml/2006/main" id="3" idx="3"/>
            <a:endCxn xmlns:a="http://schemas.openxmlformats.org/drawingml/2006/main" id="6" idx="2"/>
          </p:cNvCxnSpPr>
          <p:nvPr/>
        </p:nvCxnSpPr>
        <p:spPr>
          <a:xfrm xmlns:a="http://schemas.openxmlformats.org/drawingml/2006/main">
            <a:off x="4095750" y="5334000"/>
            <a:ext cx="1333500" cy="142875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10" name="Administrateur : configuration et contrôle des accès">
            <a:extLst xmlns:a="http://schemas.openxmlformats.org/drawingml/2006/main">
              <a:ext uri="{FF2B5EF4-FFF2-40B4-BE49-F238E27FC236}">
                <a16:creationId xmlns:a16="http://schemas.microsoft.com/office/drawing/2014/main" id="{3E5475AD-59ED-455C-B7E3-C59D4FC82705}"/>
              </a:ext>
            </a:extLst>
          </p:cNvPr>
          <p:cNvSpPr>
            <a:spLocks xmlns:a="http://schemas.openxmlformats.org/drawingml/2006/main" noGrp="1"/>
          </p:cNvSpPr>
          <p:nvPr/>
        </p:nvSpPr>
        <p:spPr>
          <a:xfrm xmlns:a="http://schemas.openxmlformats.org/drawingml/2006/main">
            <a:off x="2190750" y="8001000"/>
            <a:ext cx="1228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0">
                <a:solidFill>
                  <a:srgbClr val="041C40"/>
                </a:solidFill>
                <a:latin typeface="Times New Roman"/>
                <a:ea typeface="Times New Roman"/>
                <a:cs typeface="Times New Roman"/>
              </a:defRPr>
            </a:pPr>
            <a:r>
              <a:rPr sz="2700" b="0">
                <a:solidFill>
                  <a:srgbClr val="041C40"/>
                </a:solidFill>
                <a:latin typeface="Times New Roman"/>
                <a:ea typeface="Times New Roman"/>
                <a:cs typeface="Times New Roman"/>
              </a:rPr>
              <a:t>Administrateur : configuration et contrôle des accès</a:t>
            </a:r>
          </a:p>
        </p:txBody>
      </p:sp>
      <p:sp>
        <p:nvSpPr>
          <p:cNvPr id="11" name="Rôles métier représentés. Le prototype ne dispose pas e">
            <a:extLst xmlns:a="http://schemas.openxmlformats.org/drawingml/2006/main">
              <a:ext uri="{FF2B5EF4-FFF2-40B4-BE49-F238E27FC236}">
                <a16:creationId xmlns:a16="http://schemas.microsoft.com/office/drawing/2014/main" id="{D9D97C9B-11E9-44D2-A201-DDD5BDD8D33B}"/>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Rôles métier représentés. Le prototype ne dispose pas encore de comptes applicatifs distincts.</a:t>
            </a:r>
          </a:p>
        </p:txBody>
      </p:sp>
      <p:sp>
        <p:nvSpPr>
          <p:cNvPr id="12" name="11">
            <a:extLst xmlns:a="http://schemas.openxmlformats.org/drawingml/2006/main">
              <a:ext uri="{FF2B5EF4-FFF2-40B4-BE49-F238E27FC236}">
                <a16:creationId xmlns:a16="http://schemas.microsoft.com/office/drawing/2014/main" id="{2851ECCE-F077-4B64-8E7F-EBDC7327A927}"/>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11</a:t>
            </a:r>
          </a:p>
        </p:txBody>
      </p:sp>
    </p:spTree>
    <p:extLst>
      <p:ext uri="{BB962C8B-B14F-4D97-AF65-F5344CB8AC3E}">
        <p14:creationId xmlns:p14="http://schemas.microsoft.com/office/powerpoint/2010/main" val="210093202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7" name="object 2"/>
          <p:cNvPicPr>
            <a:picLocks xmlns:a="http://schemas.openxmlformats.org/drawingml/2006/main" noChangeAspect="1"/>
          </p:cNvPicPr>
          <p:nvPr/>
        </p:nvPicPr>
        <p:blipFill>
          <a:blip xmlns:r="http://schemas.openxmlformats.org/officeDocument/2006/relationships" xmlns:a="http://schemas.openxmlformats.org/drawingml/2006/main" r:embed="Rafc7dbbae9934e65"/>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6" name="Modèle de données">
            <a:extLst xmlns:a="http://schemas.openxmlformats.org/drawingml/2006/main">
              <a:ext uri="{FF2B5EF4-FFF2-40B4-BE49-F238E27FC236}">
                <a16:creationId xmlns:a16="http://schemas.microsoft.com/office/drawing/2014/main" id="{20939758-3368-41DA-A0CD-2F7060681CF1}"/>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Modèle de données</a:t>
            </a:r>
          </a:p>
        </p:txBody>
      </p:sp>
      <p:sp>
        <p:nvSpPr>
          <p:cNvPr id="7" name="Formation&#10;Titre, durée, public&#10;Tarif et contenus">
            <a:extLst xmlns:a="http://schemas.openxmlformats.org/drawingml/2006/main">
              <a:ext uri="{FF2B5EF4-FFF2-40B4-BE49-F238E27FC236}">
                <a16:creationId xmlns:a16="http://schemas.microsoft.com/office/drawing/2014/main" id="{CE767435-845F-48BE-BEF4-8AF395DC48D1}"/>
              </a:ext>
            </a:extLst>
          </p:cNvPr>
          <p:cNvSpPr>
            <a:spLocks xmlns:a="http://schemas.openxmlformats.org/drawingml/2006/main" noGrp="1"/>
          </p:cNvSpPr>
          <p:nvPr/>
        </p:nvSpPr>
        <p:spPr>
          <a:xfrm xmlns:a="http://schemas.openxmlformats.org/drawingml/2006/main">
            <a:off x="1666875" y="3429000"/>
            <a:ext cx="5095875" cy="21907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Formation</a:t>
            </a:r>
          </a:p>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Titre, durée, public</a:t>
            </a:r>
          </a:p>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Tarif et contenus</a:t>
            </a:r>
          </a:p>
        </p:txBody>
      </p:sp>
      <p:sp>
        <p:nvSpPr>
          <p:cNvPr id="8" name="Lead&#10;Contact, entreprise, score&#10;Statut et dates de suiv">
            <a:extLst xmlns:a="http://schemas.openxmlformats.org/drawingml/2006/main">
              <a:ext uri="{FF2B5EF4-FFF2-40B4-BE49-F238E27FC236}">
                <a16:creationId xmlns:a16="http://schemas.microsoft.com/office/drawing/2014/main" id="{8346709F-A1DA-4049-BBFC-C7A2BF4716BD}"/>
              </a:ext>
            </a:extLst>
          </p:cNvPr>
          <p:cNvSpPr>
            <a:spLocks xmlns:a="http://schemas.openxmlformats.org/drawingml/2006/main" noGrp="1"/>
          </p:cNvSpPr>
          <p:nvPr/>
        </p:nvSpPr>
        <p:spPr>
          <a:xfrm xmlns:a="http://schemas.openxmlformats.org/drawingml/2006/main">
            <a:off x="9001125" y="3429000"/>
            <a:ext cx="5857875" cy="21907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Lead</a:t>
            </a:r>
          </a:p>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Contact, entreprise, score</a:t>
            </a:r>
          </a:p>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Statut et dates de suivi</a:t>
            </a:r>
          </a:p>
        </p:txBody>
      </p:sp>
      <p:cxnSp>
        <p:nvCxnSpPr>
          <p:cNvPr id="21" name=""/>
          <p:cNvCxnSpPr>
            <a:stCxn xmlns:a="http://schemas.openxmlformats.org/drawingml/2006/main" id="7" idx="3"/>
            <a:endCxn xmlns:a="http://schemas.openxmlformats.org/drawingml/2006/main" id="8" idx="1"/>
          </p:cNvCxnSpPr>
          <p:nvPr/>
        </p:nvCxnSpPr>
        <p:spPr>
          <a:xfrm xmlns:a="http://schemas.openxmlformats.org/drawingml/2006/main">
            <a:off x="6762750" y="4524375"/>
            <a:ext cx="2238375" cy="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10" name="1 formation&#10;plusieurs leads">
            <a:extLst xmlns:a="http://schemas.openxmlformats.org/drawingml/2006/main">
              <a:ext uri="{FF2B5EF4-FFF2-40B4-BE49-F238E27FC236}">
                <a16:creationId xmlns:a16="http://schemas.microsoft.com/office/drawing/2014/main" id="{1BD7ECF0-5C61-42A7-A6BF-1B7AF08A7865}"/>
              </a:ext>
            </a:extLst>
          </p:cNvPr>
          <p:cNvSpPr>
            <a:spLocks xmlns:a="http://schemas.openxmlformats.org/drawingml/2006/main" noGrp="1"/>
          </p:cNvSpPr>
          <p:nvPr/>
        </p:nvSpPr>
        <p:spPr>
          <a:xfrm xmlns:a="http://schemas.openxmlformats.org/drawingml/2006/main">
            <a:off x="6838950" y="3305175"/>
            <a:ext cx="209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041C40"/>
                </a:solidFill>
                <a:latin typeface="Times New Roman"/>
                <a:ea typeface="Times New Roman"/>
                <a:cs typeface="Times New Roman"/>
              </a:defRPr>
            </a:pPr>
            <a:r>
              <a:rPr sz="2325" b="0">
                <a:solidFill>
                  <a:srgbClr val="041C40"/>
                </a:solidFill>
                <a:latin typeface="Times New Roman"/>
                <a:ea typeface="Times New Roman"/>
                <a:cs typeface="Times New Roman"/>
              </a:rPr>
              <a:t>1 formation</a:t>
            </a:r>
          </a:p>
          <a:p xmlns:a="http://schemas.openxmlformats.org/drawingml/2006/main">
            <a:pPr algn="ctr">
              <a:defRPr sz="2325" b="0">
                <a:solidFill>
                  <a:srgbClr val="041C40"/>
                </a:solidFill>
                <a:latin typeface="Times New Roman"/>
                <a:ea typeface="Times New Roman"/>
                <a:cs typeface="Times New Roman"/>
              </a:defRPr>
            </a:pPr>
            <a:r>
              <a:rPr sz="2325" b="0">
                <a:solidFill>
                  <a:srgbClr val="041C40"/>
                </a:solidFill>
                <a:latin typeface="Times New Roman"/>
                <a:ea typeface="Times New Roman"/>
                <a:cs typeface="Times New Roman"/>
              </a:rPr>
              <a:t>plusieurs leads</a:t>
            </a:r>
          </a:p>
        </p:txBody>
      </p:sp>
      <p:sp>
        <p:nvSpPr>
          <p:cNvPr id="11" name="Documents PDF&#10;Proposition, convention, facture">
            <a:extLst xmlns:a="http://schemas.openxmlformats.org/drawingml/2006/main">
              <a:ext uri="{FF2B5EF4-FFF2-40B4-BE49-F238E27FC236}">
                <a16:creationId xmlns:a16="http://schemas.microsoft.com/office/drawing/2014/main" id="{27B4CC4F-CDA7-43D8-AEC0-CFEE9B955A99}"/>
              </a:ext>
            </a:extLst>
          </p:cNvPr>
          <p:cNvSpPr>
            <a:spLocks xmlns:a="http://schemas.openxmlformats.org/drawingml/2006/main" noGrp="1"/>
          </p:cNvSpPr>
          <p:nvPr/>
        </p:nvSpPr>
        <p:spPr>
          <a:xfrm xmlns:a="http://schemas.openxmlformats.org/drawingml/2006/main">
            <a:off x="1666875" y="6762750"/>
            <a:ext cx="5810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Documents PDF</a:t>
            </a:r>
          </a:p>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Proposition, convention, facture</a:t>
            </a:r>
          </a:p>
        </p:txBody>
      </p:sp>
      <p:sp>
        <p:nvSpPr>
          <p:cNvPr id="12" name="Journal local JSON&#10;Action, canal et date d’envoi">
            <a:extLst xmlns:a="http://schemas.openxmlformats.org/drawingml/2006/main">
              <a:ext uri="{FF2B5EF4-FFF2-40B4-BE49-F238E27FC236}">
                <a16:creationId xmlns:a16="http://schemas.microsoft.com/office/drawing/2014/main" id="{101F9F57-03E8-4FA5-81DF-B8B6874C92C1}"/>
              </a:ext>
            </a:extLst>
          </p:cNvPr>
          <p:cNvSpPr>
            <a:spLocks xmlns:a="http://schemas.openxmlformats.org/drawingml/2006/main" noGrp="1"/>
          </p:cNvSpPr>
          <p:nvPr/>
        </p:nvSpPr>
        <p:spPr>
          <a:xfrm xmlns:a="http://schemas.openxmlformats.org/drawingml/2006/main">
            <a:off x="9001125" y="6762750"/>
            <a:ext cx="5857875"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Journal local JSON</a:t>
            </a:r>
          </a:p>
          <a:p xmlns:a="http://schemas.openxmlformats.org/drawingml/2006/main">
            <a:pPr algn="ctr">
              <a:defRPr sz="2850">
                <a:solidFill>
                  <a:srgbClr val="041C40"/>
                </a:solidFill>
                <a:latin typeface="Times New Roman"/>
                <a:ea typeface="Times New Roman"/>
                <a:cs typeface="Times New Roman"/>
              </a:defRPr>
            </a:pPr>
            <a:r>
              <a:rPr sz="2850">
                <a:solidFill>
                  <a:srgbClr val="041C40"/>
                </a:solidFill>
                <a:latin typeface="Times New Roman"/>
                <a:ea typeface="Times New Roman"/>
                <a:cs typeface="Times New Roman"/>
              </a:rPr>
              <a:t>Action, canal et date d’envoi</a:t>
            </a:r>
          </a:p>
        </p:txBody>
      </p:sp>
      <p:cxnSp>
        <p:nvCxnSpPr>
          <p:cNvPr id="25" name=""/>
          <p:cNvCxnSpPr>
            <a:stCxn xmlns:a="http://schemas.openxmlformats.org/drawingml/2006/main" id="8" idx="2"/>
            <a:endCxn xmlns:a="http://schemas.openxmlformats.org/drawingml/2006/main" id="12" idx="0"/>
          </p:cNvCxnSpPr>
          <p:nvPr/>
        </p:nvCxnSpPr>
        <p:spPr>
          <a:xfrm xmlns:a="http://schemas.openxmlformats.org/drawingml/2006/main">
            <a:off x="11930063" y="5619750"/>
            <a:ext cx="0" cy="1143000"/>
          </a:xfrm>
          <a:prstGeom xmlns:a="http://schemas.openxmlformats.org/drawingml/2006/main" prst="straightConnector1">
            <a:avLst/>
          </a:prstGeom>
          <a:ln xmlns:a="http://schemas.openxmlformats.org/drawingml/2006/main" w="28575">
            <a:solidFill>
              <a:srgbClr val="0E933F"/>
            </a:solidFill>
            <a:tailEnd type="triangle" w="sm" len="sm"/>
          </a:ln>
        </p:spPr>
      </p:cxnSp>
      <p:cxnSp>
        <p:nvCxnSpPr>
          <p:cNvPr id="26" name=""/>
          <p:cNvCxnSpPr>
            <a:stCxn xmlns:a="http://schemas.openxmlformats.org/drawingml/2006/main" id="7" idx="2"/>
            <a:endCxn xmlns:a="http://schemas.openxmlformats.org/drawingml/2006/main" id="11" idx="0"/>
          </p:cNvCxnSpPr>
          <p:nvPr/>
        </p:nvCxnSpPr>
        <p:spPr>
          <a:xfrm xmlns:a="http://schemas.openxmlformats.org/drawingml/2006/main">
            <a:off x="4214813" y="5619750"/>
            <a:ext cx="357188" cy="114300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15" name="Modèle conceptuel. Airtable conserve les fiches métier,">
            <a:extLst xmlns:a="http://schemas.openxmlformats.org/drawingml/2006/main">
              <a:ext uri="{FF2B5EF4-FFF2-40B4-BE49-F238E27FC236}">
                <a16:creationId xmlns:a16="http://schemas.microsoft.com/office/drawing/2014/main" id="{427C1FF4-EF9B-43EA-A0B6-EF823123853F}"/>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Modèle conceptuel. Airtable conserve les fiches métier, le poste conserve les PDF et le journal.</a:t>
            </a:r>
          </a:p>
        </p:txBody>
      </p:sp>
      <p:sp>
        <p:nvSpPr>
          <p:cNvPr id="16" name="12">
            <a:extLst xmlns:a="http://schemas.openxmlformats.org/drawingml/2006/main">
              <a:ext uri="{FF2B5EF4-FFF2-40B4-BE49-F238E27FC236}">
                <a16:creationId xmlns:a16="http://schemas.microsoft.com/office/drawing/2014/main" id="{979B8D69-DC87-4B47-B25E-61021A75CA44}"/>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12</a:t>
            </a:r>
          </a:p>
        </p:txBody>
      </p:sp>
    </p:spTree>
    <p:extLst>
      <p:ext uri="{BB962C8B-B14F-4D97-AF65-F5344CB8AC3E}">
        <p14:creationId xmlns:p14="http://schemas.microsoft.com/office/powerpoint/2010/main" val="51716679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9" name="object 2"/>
          <p:cNvPicPr>
            <a:picLocks xmlns:a="http://schemas.openxmlformats.org/drawingml/2006/main" noChangeAspect="1"/>
          </p:cNvPicPr>
          <p:nvPr/>
        </p:nvPicPr>
        <p:blipFill>
          <a:blip xmlns:r="http://schemas.openxmlformats.org/officeDocument/2006/relationships" xmlns:a="http://schemas.openxmlformats.org/drawingml/2006/main" r:embed="Rb27555e4275143a8"/>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2" name="Scoring et routage des prospects">
            <a:extLst xmlns:a="http://schemas.openxmlformats.org/drawingml/2006/main">
              <a:ext uri="{FF2B5EF4-FFF2-40B4-BE49-F238E27FC236}">
                <a16:creationId xmlns:a16="http://schemas.microsoft.com/office/drawing/2014/main" id="{2DEFA25D-F3E1-421F-8427-679EC851C75C}"/>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Scoring et routage des prospects</a:t>
            </a:r>
          </a:p>
        </p:txBody>
      </p:sp>
      <p:sp>
        <p:nvSpPr>
          <p:cNvPr id="3" name="Pondération des critères (%)">
            <a:extLst xmlns:a="http://schemas.openxmlformats.org/drawingml/2006/main">
              <a:ext uri="{FF2B5EF4-FFF2-40B4-BE49-F238E27FC236}">
                <a16:creationId xmlns:a16="http://schemas.microsoft.com/office/drawing/2014/main" id="{22B67AD5-3F32-4633-8336-CE0FBED8195F}"/>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041C40"/>
                </a:solidFill>
                <a:latin typeface="Times New Roman"/>
                <a:ea typeface="Times New Roman"/>
                <a:cs typeface="Times New Roman"/>
              </a:defRPr>
            </a:pPr>
            <a:r>
              <a:rPr sz="2250" b="0">
                <a:solidFill>
                  <a:srgbClr val="041C40"/>
                </a:solidFill>
                <a:latin typeface="Times New Roman"/>
                <a:ea typeface="Times New Roman"/>
                <a:cs typeface="Times New Roman"/>
              </a:rPr>
              <a:t>Pondération des critères (%)</a:t>
            </a:r>
          </a:p>
        </p:txBody>
      </p:sp>
      <p:graphicFrame>
        <p:nvGraphicFramePr>
          <p:cNvPr id="12"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dad45e1149ea47ce"/>
          </a:graphicData>
        </a:graphic>
      </p:graphicFrame>
      <p:sp>
        <p:nvSpPr>
          <p:cNvPr id="5" name="Score ≥ 8 : priorité commerciale&#10;&#10;5 ≤ score &lt; 8 : quali">
            <a:extLst xmlns:a="http://schemas.openxmlformats.org/drawingml/2006/main">
              <a:ext uri="{FF2B5EF4-FFF2-40B4-BE49-F238E27FC236}">
                <a16:creationId xmlns:a16="http://schemas.microsoft.com/office/drawing/2014/main" id="{AD79A8B8-3CEA-4FBA-B8CF-6926AA63695E}"/>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Score ≥ 8 : priorité commerciale</a:t>
            </a:r>
          </a:p>
          <a:p xmlns:a="http://schemas.openxmlformats.org/drawingml/2006/main">
            <a:r>
              <a:t/>
            </a:r>
          </a:p>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5 ≤ score &lt; 8 : qualification</a:t>
            </a:r>
          </a:p>
          <a:p xmlns:a="http://schemas.openxmlformats.org/drawingml/2006/main">
            <a:r>
              <a:t/>
            </a:r>
          </a:p>
          <a:p xmlns:a="http://schemas.openxmlformats.org/drawingml/2006/main">
            <a:pPr algn="l">
              <a:defRPr sz="3000" b="0">
                <a:solidFill>
                  <a:srgbClr val="041C40"/>
                </a:solidFill>
                <a:latin typeface="Times New Roman"/>
                <a:ea typeface="Times New Roman"/>
                <a:cs typeface="Times New Roman"/>
              </a:defRPr>
            </a:pPr>
            <a:r>
              <a:rPr sz="3000" b="0">
                <a:solidFill>
                  <a:srgbClr val="041C40"/>
                </a:solidFill>
                <a:latin typeface="Times New Roman"/>
                <a:ea typeface="Times New Roman"/>
                <a:cs typeface="Times New Roman"/>
              </a:rPr>
              <a:t>Score &lt; 5 : nurturing</a:t>
            </a:r>
          </a:p>
        </p:txBody>
      </p:sp>
      <p:sp>
        <p:nvSpPr>
          <p:cNvPr id="6" name="Exemple fictif : 9,5 / 10&#10;Budget 6 000 MAD, besoin urge">
            <a:extLst xmlns:a="http://schemas.openxmlformats.org/drawingml/2006/main">
              <a:ext uri="{FF2B5EF4-FFF2-40B4-BE49-F238E27FC236}">
                <a16:creationId xmlns:a16="http://schemas.microsoft.com/office/drawing/2014/main" id="{2028B442-B558-4736-A5DB-976FA8F04BDB}"/>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041C40"/>
                </a:solidFill>
                <a:latin typeface="Times New Roman"/>
                <a:ea typeface="Times New Roman"/>
                <a:cs typeface="Times New Roman"/>
              </a:defRPr>
            </a:pPr>
            <a:r>
              <a:rPr sz="2625" b="0">
                <a:solidFill>
                  <a:srgbClr val="041C40"/>
                </a:solidFill>
                <a:latin typeface="Times New Roman"/>
                <a:ea typeface="Times New Roman"/>
                <a:cs typeface="Times New Roman"/>
              </a:rPr>
              <a:t>Exemple fictif : 9,5 / 10</a:t>
            </a:r>
          </a:p>
          <a:p xmlns:a="http://schemas.openxmlformats.org/drawingml/2006/main">
            <a:pPr algn="l">
              <a:defRPr sz="2625" b="0">
                <a:solidFill>
                  <a:srgbClr val="041C40"/>
                </a:solidFill>
                <a:latin typeface="Times New Roman"/>
                <a:ea typeface="Times New Roman"/>
                <a:cs typeface="Times New Roman"/>
              </a:defRPr>
            </a:pPr>
            <a:r>
              <a:rPr sz="2625" b="0">
                <a:solidFill>
                  <a:srgbClr val="041C40"/>
                </a:solidFill>
                <a:latin typeface="Times New Roman"/>
                <a:ea typeface="Times New Roman"/>
                <a:cs typeface="Times New Roman"/>
              </a:rPr>
              <a:t>Budget 6 000 MAD, besoin urgent, DRH, PME, e-mail direct.</a:t>
            </a:r>
          </a:p>
        </p:txBody>
      </p:sp>
      <p:sp>
        <p:nvSpPr>
          <p:cNvPr id="7" name="Le score exprime une priorité de traitement. Il ne mesu">
            <a:extLst xmlns:a="http://schemas.openxmlformats.org/drawingml/2006/main">
              <a:ext uri="{FF2B5EF4-FFF2-40B4-BE49-F238E27FC236}">
                <a16:creationId xmlns:a16="http://schemas.microsoft.com/office/drawing/2014/main" id="{DA597D0B-F007-4667-AE89-966EBAA75DC7}"/>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Le score exprime une priorité de traitement. Il ne mesure pas une probabilité de vente.</a:t>
            </a:r>
          </a:p>
        </p:txBody>
      </p:sp>
      <p:sp>
        <p:nvSpPr>
          <p:cNvPr id="8" name="13">
            <a:extLst xmlns:a="http://schemas.openxmlformats.org/drawingml/2006/main">
              <a:ext uri="{FF2B5EF4-FFF2-40B4-BE49-F238E27FC236}">
                <a16:creationId xmlns:a16="http://schemas.microsoft.com/office/drawing/2014/main" id="{D89AA81A-5179-4E0C-8B8A-1EFB933FC0C8}"/>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13</a:t>
            </a:r>
          </a:p>
        </p:txBody>
      </p:sp>
    </p:spTree>
    <p:extLst>
      <p:ext uri="{BB962C8B-B14F-4D97-AF65-F5344CB8AC3E}">
        <p14:creationId xmlns:p14="http://schemas.microsoft.com/office/powerpoint/2010/main" val="92122103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41" name="object 2"/>
          <p:cNvPicPr>
            <a:picLocks xmlns:a="http://schemas.openxmlformats.org/drawingml/2006/main" noChangeAspect="1"/>
          </p:cNvPicPr>
          <p:nvPr/>
        </p:nvPicPr>
        <p:blipFill>
          <a:blip xmlns:r="http://schemas.openxmlformats.org/officeDocument/2006/relationships" xmlns:a="http://schemas.openxmlformats.org/drawingml/2006/main" r:embed="Rd081949cdf1f4bf6"/>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6" name="Séquence d’envoi d’une proposition">
            <a:extLst xmlns:a="http://schemas.openxmlformats.org/drawingml/2006/main">
              <a:ext uri="{FF2B5EF4-FFF2-40B4-BE49-F238E27FC236}">
                <a16:creationId xmlns:a16="http://schemas.microsoft.com/office/drawing/2014/main" id="{8E1D7D76-614F-4505-AAD7-7BAC986AFA3D}"/>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Séquence d’envoi d’une proposition</a:t>
            </a:r>
          </a:p>
        </p:txBody>
      </p:sp>
      <p:sp>
        <p:nvSpPr>
          <p:cNvPr id="7" name="Script E6">
            <a:extLst xmlns:a="http://schemas.openxmlformats.org/drawingml/2006/main">
              <a:ext uri="{FF2B5EF4-FFF2-40B4-BE49-F238E27FC236}">
                <a16:creationId xmlns:a16="http://schemas.microsoft.com/office/drawing/2014/main" id="{34DEDB2A-CA30-4298-8967-89485EC33E23}"/>
              </a:ext>
            </a:extLst>
          </p:cNvPr>
          <p:cNvSpPr>
            <a:spLocks xmlns:a="http://schemas.openxmlformats.org/drawingml/2006/main" noGrp="1"/>
          </p:cNvSpPr>
          <p:nvPr/>
        </p:nvSpPr>
        <p:spPr>
          <a:xfrm xmlns:a="http://schemas.openxmlformats.org/drawingml/2006/main">
            <a:off x="1190625" y="3238500"/>
            <a:ext cx="2762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041C40"/>
                </a:solidFill>
                <a:latin typeface="Times New Roman"/>
                <a:ea typeface="Times New Roman"/>
                <a:cs typeface="Times New Roman"/>
              </a:defRPr>
            </a:pPr>
            <a:r>
              <a:rPr sz="2775">
                <a:solidFill>
                  <a:srgbClr val="041C40"/>
                </a:solidFill>
                <a:latin typeface="Times New Roman"/>
                <a:ea typeface="Times New Roman"/>
                <a:cs typeface="Times New Roman"/>
              </a:rPr>
              <a:t>Script E6</a:t>
            </a:r>
          </a:p>
        </p:txBody>
      </p:sp>
      <p:sp>
        <p:nvSpPr>
          <p:cNvPr id="8" name="Airtable">
            <a:extLst xmlns:a="http://schemas.openxmlformats.org/drawingml/2006/main">
              <a:ext uri="{FF2B5EF4-FFF2-40B4-BE49-F238E27FC236}">
                <a16:creationId xmlns:a16="http://schemas.microsoft.com/office/drawing/2014/main" id="{D4B85B55-7A67-42C2-8DE6-48560B5C36BD}"/>
              </a:ext>
            </a:extLst>
          </p:cNvPr>
          <p:cNvSpPr>
            <a:spLocks xmlns:a="http://schemas.openxmlformats.org/drawingml/2006/main" noGrp="1"/>
          </p:cNvSpPr>
          <p:nvPr/>
        </p:nvSpPr>
        <p:spPr>
          <a:xfrm xmlns:a="http://schemas.openxmlformats.org/drawingml/2006/main">
            <a:off x="4953000" y="3238500"/>
            <a:ext cx="2762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041C40"/>
                </a:solidFill>
                <a:latin typeface="Times New Roman"/>
                <a:ea typeface="Times New Roman"/>
                <a:cs typeface="Times New Roman"/>
              </a:defRPr>
            </a:pPr>
            <a:r>
              <a:rPr sz="2775">
                <a:solidFill>
                  <a:srgbClr val="041C40"/>
                </a:solidFill>
                <a:latin typeface="Times New Roman"/>
                <a:ea typeface="Times New Roman"/>
                <a:cs typeface="Times New Roman"/>
              </a:rPr>
              <a:t>Airtable</a:t>
            </a:r>
          </a:p>
        </p:txBody>
      </p:sp>
      <p:sp>
        <p:nvSpPr>
          <p:cNvPr id="9" name="Journal local">
            <a:extLst xmlns:a="http://schemas.openxmlformats.org/drawingml/2006/main">
              <a:ext uri="{FF2B5EF4-FFF2-40B4-BE49-F238E27FC236}">
                <a16:creationId xmlns:a16="http://schemas.microsoft.com/office/drawing/2014/main" id="{C3AC86FE-C56D-4909-9365-CF041241EC36}"/>
              </a:ext>
            </a:extLst>
          </p:cNvPr>
          <p:cNvSpPr>
            <a:spLocks xmlns:a="http://schemas.openxmlformats.org/drawingml/2006/main" noGrp="1"/>
          </p:cNvSpPr>
          <p:nvPr/>
        </p:nvSpPr>
        <p:spPr>
          <a:xfrm xmlns:a="http://schemas.openxmlformats.org/drawingml/2006/main">
            <a:off x="8715375" y="3238500"/>
            <a:ext cx="2762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041C40"/>
                </a:solidFill>
                <a:latin typeface="Times New Roman"/>
                <a:ea typeface="Times New Roman"/>
                <a:cs typeface="Times New Roman"/>
              </a:defRPr>
            </a:pPr>
            <a:r>
              <a:rPr sz="2775">
                <a:solidFill>
                  <a:srgbClr val="041C40"/>
                </a:solidFill>
                <a:latin typeface="Times New Roman"/>
                <a:ea typeface="Times New Roman"/>
                <a:cs typeface="Times New Roman"/>
              </a:rPr>
              <a:t>Journal local</a:t>
            </a:r>
          </a:p>
        </p:txBody>
      </p:sp>
      <p:sp>
        <p:nvSpPr>
          <p:cNvPr id="10" name="PDF / SMTP">
            <a:extLst xmlns:a="http://schemas.openxmlformats.org/drawingml/2006/main">
              <a:ext uri="{FF2B5EF4-FFF2-40B4-BE49-F238E27FC236}">
                <a16:creationId xmlns:a16="http://schemas.microsoft.com/office/drawing/2014/main" id="{74A9252E-32B0-4041-92A3-6E42C6851AFB}"/>
              </a:ext>
            </a:extLst>
          </p:cNvPr>
          <p:cNvSpPr>
            <a:spLocks xmlns:a="http://schemas.openxmlformats.org/drawingml/2006/main" noGrp="1"/>
          </p:cNvSpPr>
          <p:nvPr/>
        </p:nvSpPr>
        <p:spPr>
          <a:xfrm xmlns:a="http://schemas.openxmlformats.org/drawingml/2006/main">
            <a:off x="12477750" y="3238500"/>
            <a:ext cx="2762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041C40"/>
                </a:solidFill>
                <a:latin typeface="Times New Roman"/>
                <a:ea typeface="Times New Roman"/>
                <a:cs typeface="Times New Roman"/>
              </a:defRPr>
            </a:pPr>
            <a:r>
              <a:rPr sz="2775">
                <a:solidFill>
                  <a:srgbClr val="041C40"/>
                </a:solidFill>
                <a:latin typeface="Times New Roman"/>
                <a:ea typeface="Times New Roman"/>
                <a:cs typeface="Times New Roman"/>
              </a:rPr>
              <a:t>PDF / SMTP</a:t>
            </a:r>
          </a:p>
        </p:txBody>
      </p:sp>
      <p:sp>
        <p:nvSpPr>
          <p:cNvPr id="11" name="">
            <a:extLst xmlns:a="http://schemas.openxmlformats.org/drawingml/2006/main">
              <a:ext uri="{FF2B5EF4-FFF2-40B4-BE49-F238E27FC236}">
                <a16:creationId xmlns:a16="http://schemas.microsoft.com/office/drawing/2014/main" id="{39B9C4A0-850D-4559-9BF5-01D410674446}"/>
              </a:ext>
            </a:extLst>
          </p:cNvPr>
          <p:cNvSpPr>
            <a:spLocks xmlns:a="http://schemas.openxmlformats.org/drawingml/2006/main" noGrp="1"/>
          </p:cNvSpPr>
          <p:nvPr/>
        </p:nvSpPr>
        <p:spPr>
          <a:xfrm xmlns:a="http://schemas.openxmlformats.org/drawingml/2006/main">
            <a:off x="2562225" y="86677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48" name=""/>
          <p:cNvCxnSpPr>
            <a:stCxn xmlns:a="http://schemas.openxmlformats.org/drawingml/2006/main" id="7" idx="2"/>
            <a:endCxn xmlns:a="http://schemas.openxmlformats.org/drawingml/2006/main" id="11" idx="0"/>
          </p:cNvCxnSpPr>
          <p:nvPr/>
        </p:nvCxnSpPr>
        <p:spPr>
          <a:xfrm xmlns:a="http://schemas.openxmlformats.org/drawingml/2006/main">
            <a:off x="2571750"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3" name="">
            <a:extLst xmlns:a="http://schemas.openxmlformats.org/drawingml/2006/main">
              <a:ext uri="{FF2B5EF4-FFF2-40B4-BE49-F238E27FC236}">
                <a16:creationId xmlns:a16="http://schemas.microsoft.com/office/drawing/2014/main" id="{37FBB996-F8D0-4B7E-A5CB-A88DB0436C23}"/>
              </a:ext>
            </a:extLst>
          </p:cNvPr>
          <p:cNvSpPr>
            <a:spLocks xmlns:a="http://schemas.openxmlformats.org/drawingml/2006/main" noGrp="1"/>
          </p:cNvSpPr>
          <p:nvPr/>
        </p:nvSpPr>
        <p:spPr>
          <a:xfrm xmlns:a="http://schemas.openxmlformats.org/drawingml/2006/main">
            <a:off x="6324600" y="86677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0" name=""/>
          <p:cNvCxnSpPr>
            <a:stCxn xmlns:a="http://schemas.openxmlformats.org/drawingml/2006/main" id="8" idx="2"/>
            <a:endCxn xmlns:a="http://schemas.openxmlformats.org/drawingml/2006/main" id="13" idx="0"/>
          </p:cNvCxnSpPr>
          <p:nvPr/>
        </p:nvCxnSpPr>
        <p:spPr>
          <a:xfrm xmlns:a="http://schemas.openxmlformats.org/drawingml/2006/main">
            <a:off x="6334125"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5" name="">
            <a:extLst xmlns:a="http://schemas.openxmlformats.org/drawingml/2006/main">
              <a:ext uri="{FF2B5EF4-FFF2-40B4-BE49-F238E27FC236}">
                <a16:creationId xmlns:a16="http://schemas.microsoft.com/office/drawing/2014/main" id="{7B9F85A9-2CB1-480D-B6B4-413483A815D1}"/>
              </a:ext>
            </a:extLst>
          </p:cNvPr>
          <p:cNvSpPr>
            <a:spLocks xmlns:a="http://schemas.openxmlformats.org/drawingml/2006/main" noGrp="1"/>
          </p:cNvSpPr>
          <p:nvPr/>
        </p:nvSpPr>
        <p:spPr>
          <a:xfrm xmlns:a="http://schemas.openxmlformats.org/drawingml/2006/main">
            <a:off x="10086975" y="86677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2" name=""/>
          <p:cNvCxnSpPr>
            <a:stCxn xmlns:a="http://schemas.openxmlformats.org/drawingml/2006/main" id="9" idx="2"/>
            <a:endCxn xmlns:a="http://schemas.openxmlformats.org/drawingml/2006/main" id="15" idx="0"/>
          </p:cNvCxnSpPr>
          <p:nvPr/>
        </p:nvCxnSpPr>
        <p:spPr>
          <a:xfrm xmlns:a="http://schemas.openxmlformats.org/drawingml/2006/main">
            <a:off x="10096500"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7" name="">
            <a:extLst xmlns:a="http://schemas.openxmlformats.org/drawingml/2006/main">
              <a:ext uri="{FF2B5EF4-FFF2-40B4-BE49-F238E27FC236}">
                <a16:creationId xmlns:a16="http://schemas.microsoft.com/office/drawing/2014/main" id="{0CF717B7-5ADA-45CC-9EFE-E791E2B7D229}"/>
              </a:ext>
            </a:extLst>
          </p:cNvPr>
          <p:cNvSpPr>
            <a:spLocks xmlns:a="http://schemas.openxmlformats.org/drawingml/2006/main" noGrp="1"/>
          </p:cNvSpPr>
          <p:nvPr/>
        </p:nvSpPr>
        <p:spPr>
          <a:xfrm xmlns:a="http://schemas.openxmlformats.org/drawingml/2006/main">
            <a:off x="13849350" y="86677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4" name=""/>
          <p:cNvCxnSpPr>
            <a:stCxn xmlns:a="http://schemas.openxmlformats.org/drawingml/2006/main" id="10" idx="2"/>
            <a:endCxn xmlns:a="http://schemas.openxmlformats.org/drawingml/2006/main" id="17" idx="0"/>
          </p:cNvCxnSpPr>
          <p:nvPr/>
        </p:nvCxnSpPr>
        <p:spPr>
          <a:xfrm xmlns:a="http://schemas.openxmlformats.org/drawingml/2006/main">
            <a:off x="13858875" y="3981450"/>
            <a:ext cx="0" cy="4686300"/>
          </a:xfrm>
          <a:prstGeom xmlns:a="http://schemas.openxmlformats.org/drawingml/2006/main" prst="straightConnector1">
            <a:avLst/>
          </a:prstGeom>
          <a:ln xmlns:a="http://schemas.openxmlformats.org/drawingml/2006/main" w="19050">
            <a:solidFill>
              <a:srgbClr val="A3B4A8"/>
            </a:solidFill>
            <a:prstDash val="dash"/>
          </a:ln>
        </p:spPr>
      </p:cxnSp>
      <p:sp>
        <p:nvSpPr>
          <p:cNvPr id="19" name="">
            <a:extLst xmlns:a="http://schemas.openxmlformats.org/drawingml/2006/main">
              <a:ext uri="{FF2B5EF4-FFF2-40B4-BE49-F238E27FC236}">
                <a16:creationId xmlns:a16="http://schemas.microsoft.com/office/drawing/2014/main" id="{9EB5E5AE-E5AB-4041-A1BA-F6B64A8599BA}"/>
              </a:ext>
            </a:extLst>
          </p:cNvPr>
          <p:cNvSpPr>
            <a:spLocks xmlns:a="http://schemas.openxmlformats.org/drawingml/2006/main" noGrp="1"/>
          </p:cNvSpPr>
          <p:nvPr/>
        </p:nvSpPr>
        <p:spPr>
          <a:xfrm xmlns:a="http://schemas.openxmlformats.org/drawingml/2006/main">
            <a:off x="2562225" y="45529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12C9F84B-A79C-4F40-A27A-615DE6074329}"/>
              </a:ext>
            </a:extLst>
          </p:cNvPr>
          <p:cNvSpPr>
            <a:spLocks xmlns:a="http://schemas.openxmlformats.org/drawingml/2006/main" noGrp="1"/>
          </p:cNvSpPr>
          <p:nvPr/>
        </p:nvSpPr>
        <p:spPr>
          <a:xfrm xmlns:a="http://schemas.openxmlformats.org/drawingml/2006/main">
            <a:off x="6324600" y="45529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7" name=""/>
          <p:cNvCxnSpPr>
            <a:stCxn xmlns:a="http://schemas.openxmlformats.org/drawingml/2006/main" id="19" idx="3"/>
            <a:endCxn xmlns:a="http://schemas.openxmlformats.org/drawingml/2006/main" id="20" idx="1"/>
          </p:cNvCxnSpPr>
          <p:nvPr/>
        </p:nvCxnSpPr>
        <p:spPr>
          <a:xfrm xmlns:a="http://schemas.openxmlformats.org/drawingml/2006/main">
            <a:off x="2581275" y="4562475"/>
            <a:ext cx="3743325" cy="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22" name="1. Lire les données">
            <a:extLst xmlns:a="http://schemas.openxmlformats.org/drawingml/2006/main">
              <a:ext uri="{FF2B5EF4-FFF2-40B4-BE49-F238E27FC236}">
                <a16:creationId xmlns:a16="http://schemas.microsoft.com/office/drawing/2014/main" id="{DCC2B489-0434-478C-8891-68B62C1C448A}"/>
              </a:ext>
            </a:extLst>
          </p:cNvPr>
          <p:cNvSpPr>
            <a:spLocks xmlns:a="http://schemas.openxmlformats.org/drawingml/2006/main" noGrp="1"/>
          </p:cNvSpPr>
          <p:nvPr/>
        </p:nvSpPr>
        <p:spPr>
          <a:xfrm xmlns:a="http://schemas.openxmlformats.org/drawingml/2006/main">
            <a:off x="2724150" y="4152900"/>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041C40"/>
                </a:solidFill>
                <a:latin typeface="Times New Roman"/>
                <a:ea typeface="Times New Roman"/>
                <a:cs typeface="Times New Roman"/>
              </a:defRPr>
            </a:pPr>
            <a:r>
              <a:rPr sz="2175" b="0">
                <a:solidFill>
                  <a:srgbClr val="041C40"/>
                </a:solidFill>
                <a:latin typeface="Times New Roman"/>
                <a:ea typeface="Times New Roman"/>
                <a:cs typeface="Times New Roman"/>
              </a:rPr>
              <a:t>1. Lire les données</a:t>
            </a:r>
          </a:p>
        </p:txBody>
      </p:sp>
      <p:sp>
        <p:nvSpPr>
          <p:cNvPr id="23" name="">
            <a:extLst xmlns:a="http://schemas.openxmlformats.org/drawingml/2006/main">
              <a:ext uri="{FF2B5EF4-FFF2-40B4-BE49-F238E27FC236}">
                <a16:creationId xmlns:a16="http://schemas.microsoft.com/office/drawing/2014/main" id="{9BE5428A-F624-4FE7-809A-C66F7B9AA6DE}"/>
              </a:ext>
            </a:extLst>
          </p:cNvPr>
          <p:cNvSpPr>
            <a:spLocks xmlns:a="http://schemas.openxmlformats.org/drawingml/2006/main" noGrp="1"/>
          </p:cNvSpPr>
          <p:nvPr/>
        </p:nvSpPr>
        <p:spPr>
          <a:xfrm xmlns:a="http://schemas.openxmlformats.org/drawingml/2006/main">
            <a:off x="2562225" y="53911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6C0E357F-6740-44F1-A4F7-7FB457F342B5}"/>
              </a:ext>
            </a:extLst>
          </p:cNvPr>
          <p:cNvSpPr>
            <a:spLocks xmlns:a="http://schemas.openxmlformats.org/drawingml/2006/main" noGrp="1"/>
          </p:cNvSpPr>
          <p:nvPr/>
        </p:nvSpPr>
        <p:spPr>
          <a:xfrm xmlns:a="http://schemas.openxmlformats.org/drawingml/2006/main">
            <a:off x="10086975" y="53911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2581275" y="5400675"/>
            <a:ext cx="7505700" cy="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26" name="2. Vérifier un éventuel envoi antérieur">
            <a:extLst xmlns:a="http://schemas.openxmlformats.org/drawingml/2006/main">
              <a:ext uri="{FF2B5EF4-FFF2-40B4-BE49-F238E27FC236}">
                <a16:creationId xmlns:a16="http://schemas.microsoft.com/office/drawing/2014/main" id="{A7E86DAE-4507-4661-A34D-06229AEC2A45}"/>
              </a:ext>
            </a:extLst>
          </p:cNvPr>
          <p:cNvSpPr>
            <a:spLocks xmlns:a="http://schemas.openxmlformats.org/drawingml/2006/main" noGrp="1"/>
          </p:cNvSpPr>
          <p:nvPr/>
        </p:nvSpPr>
        <p:spPr>
          <a:xfrm xmlns:a="http://schemas.openxmlformats.org/drawingml/2006/main">
            <a:off x="2724150" y="4991100"/>
            <a:ext cx="727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041C40"/>
                </a:solidFill>
                <a:latin typeface="Times New Roman"/>
                <a:ea typeface="Times New Roman"/>
                <a:cs typeface="Times New Roman"/>
              </a:defRPr>
            </a:pPr>
            <a:r>
              <a:rPr sz="2175" b="0">
                <a:solidFill>
                  <a:srgbClr val="041C40"/>
                </a:solidFill>
                <a:latin typeface="Times New Roman"/>
                <a:ea typeface="Times New Roman"/>
                <a:cs typeface="Times New Roman"/>
              </a:rPr>
              <a:t>2. Vérifier un éventuel envoi antérieur</a:t>
            </a:r>
          </a:p>
        </p:txBody>
      </p:sp>
      <p:sp>
        <p:nvSpPr>
          <p:cNvPr id="27" name="">
            <a:extLst xmlns:a="http://schemas.openxmlformats.org/drawingml/2006/main">
              <a:ext uri="{FF2B5EF4-FFF2-40B4-BE49-F238E27FC236}">
                <a16:creationId xmlns:a16="http://schemas.microsoft.com/office/drawing/2014/main" id="{077CEA74-FDE1-4901-A7FF-617C59D3E4B8}"/>
              </a:ext>
            </a:extLst>
          </p:cNvPr>
          <p:cNvSpPr>
            <a:spLocks xmlns:a="http://schemas.openxmlformats.org/drawingml/2006/main" noGrp="1"/>
          </p:cNvSpPr>
          <p:nvPr/>
        </p:nvSpPr>
        <p:spPr>
          <a:xfrm xmlns:a="http://schemas.openxmlformats.org/drawingml/2006/main">
            <a:off x="2562225" y="62293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FB6D353D-EF11-46B1-8E9D-77AA0650A139}"/>
              </a:ext>
            </a:extLst>
          </p:cNvPr>
          <p:cNvSpPr>
            <a:spLocks xmlns:a="http://schemas.openxmlformats.org/drawingml/2006/main" noGrp="1"/>
          </p:cNvSpPr>
          <p:nvPr/>
        </p:nvSpPr>
        <p:spPr>
          <a:xfrm xmlns:a="http://schemas.openxmlformats.org/drawingml/2006/main">
            <a:off x="13849350" y="62293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5" name=""/>
          <p:cNvCxnSpPr>
            <a:stCxn xmlns:a="http://schemas.openxmlformats.org/drawingml/2006/main" id="27" idx="3"/>
            <a:endCxn xmlns:a="http://schemas.openxmlformats.org/drawingml/2006/main" id="28" idx="1"/>
          </p:cNvCxnSpPr>
          <p:nvPr/>
        </p:nvCxnSpPr>
        <p:spPr>
          <a:xfrm xmlns:a="http://schemas.openxmlformats.org/drawingml/2006/main">
            <a:off x="2581275" y="6238875"/>
            <a:ext cx="11268075" cy="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30" name="3. Générer et envoyer la proposition">
            <a:extLst xmlns:a="http://schemas.openxmlformats.org/drawingml/2006/main">
              <a:ext uri="{FF2B5EF4-FFF2-40B4-BE49-F238E27FC236}">
                <a16:creationId xmlns:a16="http://schemas.microsoft.com/office/drawing/2014/main" id="{6E819E87-680E-4A66-9732-B9ACDF7CBD5F}"/>
              </a:ext>
            </a:extLst>
          </p:cNvPr>
          <p:cNvSpPr>
            <a:spLocks xmlns:a="http://schemas.openxmlformats.org/drawingml/2006/main" noGrp="1"/>
          </p:cNvSpPr>
          <p:nvPr/>
        </p:nvSpPr>
        <p:spPr>
          <a:xfrm xmlns:a="http://schemas.openxmlformats.org/drawingml/2006/main">
            <a:off x="2724150" y="5829300"/>
            <a:ext cx="11039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041C40"/>
                </a:solidFill>
                <a:latin typeface="Times New Roman"/>
                <a:ea typeface="Times New Roman"/>
                <a:cs typeface="Times New Roman"/>
              </a:defRPr>
            </a:pPr>
            <a:r>
              <a:rPr sz="2175" b="0">
                <a:solidFill>
                  <a:srgbClr val="041C40"/>
                </a:solidFill>
                <a:latin typeface="Times New Roman"/>
                <a:ea typeface="Times New Roman"/>
                <a:cs typeface="Times New Roman"/>
              </a:rPr>
              <a:t>3. Générer et envoyer la proposition</a:t>
            </a:r>
          </a:p>
        </p:txBody>
      </p:sp>
      <p:sp>
        <p:nvSpPr>
          <p:cNvPr id="31" name="">
            <a:extLst xmlns:a="http://schemas.openxmlformats.org/drawingml/2006/main">
              <a:ext uri="{FF2B5EF4-FFF2-40B4-BE49-F238E27FC236}">
                <a16:creationId xmlns:a16="http://schemas.microsoft.com/office/drawing/2014/main" id="{71E57667-213B-4554-A8C4-62C5D6600647}"/>
              </a:ext>
            </a:extLst>
          </p:cNvPr>
          <p:cNvSpPr>
            <a:spLocks xmlns:a="http://schemas.openxmlformats.org/drawingml/2006/main" noGrp="1"/>
          </p:cNvSpPr>
          <p:nvPr/>
        </p:nvSpPr>
        <p:spPr>
          <a:xfrm xmlns:a="http://schemas.openxmlformats.org/drawingml/2006/main">
            <a:off x="2562225" y="70675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32" name="">
            <a:extLst xmlns:a="http://schemas.openxmlformats.org/drawingml/2006/main">
              <a:ext uri="{FF2B5EF4-FFF2-40B4-BE49-F238E27FC236}">
                <a16:creationId xmlns:a16="http://schemas.microsoft.com/office/drawing/2014/main" id="{E3423478-D685-4E9F-BBD6-5D984F0C0C63}"/>
              </a:ext>
            </a:extLst>
          </p:cNvPr>
          <p:cNvSpPr>
            <a:spLocks xmlns:a="http://schemas.openxmlformats.org/drawingml/2006/main" noGrp="1"/>
          </p:cNvSpPr>
          <p:nvPr/>
        </p:nvSpPr>
        <p:spPr>
          <a:xfrm xmlns:a="http://schemas.openxmlformats.org/drawingml/2006/main">
            <a:off x="10086975" y="70675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9" name=""/>
          <p:cNvCxnSpPr>
            <a:stCxn xmlns:a="http://schemas.openxmlformats.org/drawingml/2006/main" id="31" idx="3"/>
            <a:endCxn xmlns:a="http://schemas.openxmlformats.org/drawingml/2006/main" id="32" idx="1"/>
          </p:cNvCxnSpPr>
          <p:nvPr/>
        </p:nvCxnSpPr>
        <p:spPr>
          <a:xfrm xmlns:a="http://schemas.openxmlformats.org/drawingml/2006/main">
            <a:off x="2581275" y="7077075"/>
            <a:ext cx="7505700" cy="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34" name="4. Enregistrer le succès d’envoi">
            <a:extLst xmlns:a="http://schemas.openxmlformats.org/drawingml/2006/main">
              <a:ext uri="{FF2B5EF4-FFF2-40B4-BE49-F238E27FC236}">
                <a16:creationId xmlns:a16="http://schemas.microsoft.com/office/drawing/2014/main" id="{F2BC92F7-2B61-4774-A7B5-1561A20010BD}"/>
              </a:ext>
            </a:extLst>
          </p:cNvPr>
          <p:cNvSpPr>
            <a:spLocks xmlns:a="http://schemas.openxmlformats.org/drawingml/2006/main" noGrp="1"/>
          </p:cNvSpPr>
          <p:nvPr/>
        </p:nvSpPr>
        <p:spPr>
          <a:xfrm xmlns:a="http://schemas.openxmlformats.org/drawingml/2006/main">
            <a:off x="2724150" y="6667500"/>
            <a:ext cx="727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041C40"/>
                </a:solidFill>
                <a:latin typeface="Times New Roman"/>
                <a:ea typeface="Times New Roman"/>
                <a:cs typeface="Times New Roman"/>
              </a:defRPr>
            </a:pPr>
            <a:r>
              <a:rPr sz="2175" b="0">
                <a:solidFill>
                  <a:srgbClr val="041C40"/>
                </a:solidFill>
                <a:latin typeface="Times New Roman"/>
                <a:ea typeface="Times New Roman"/>
                <a:cs typeface="Times New Roman"/>
              </a:rPr>
              <a:t>4. Enregistrer le succès d’envoi</a:t>
            </a:r>
          </a:p>
        </p:txBody>
      </p:sp>
      <p:sp>
        <p:nvSpPr>
          <p:cNvPr id="35" name="">
            <a:extLst xmlns:a="http://schemas.openxmlformats.org/drawingml/2006/main">
              <a:ext uri="{FF2B5EF4-FFF2-40B4-BE49-F238E27FC236}">
                <a16:creationId xmlns:a16="http://schemas.microsoft.com/office/drawing/2014/main" id="{9CF6D872-45E5-418F-B8E5-DD0727DC9977}"/>
              </a:ext>
            </a:extLst>
          </p:cNvPr>
          <p:cNvSpPr>
            <a:spLocks xmlns:a="http://schemas.openxmlformats.org/drawingml/2006/main" noGrp="1"/>
          </p:cNvSpPr>
          <p:nvPr/>
        </p:nvSpPr>
        <p:spPr>
          <a:xfrm xmlns:a="http://schemas.openxmlformats.org/drawingml/2006/main">
            <a:off x="2562225" y="79057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72505971-2A4F-495F-BF3F-C9065C07A49A}"/>
              </a:ext>
            </a:extLst>
          </p:cNvPr>
          <p:cNvSpPr>
            <a:spLocks xmlns:a="http://schemas.openxmlformats.org/drawingml/2006/main" noGrp="1"/>
          </p:cNvSpPr>
          <p:nvPr/>
        </p:nvSpPr>
        <p:spPr>
          <a:xfrm xmlns:a="http://schemas.openxmlformats.org/drawingml/2006/main">
            <a:off x="6324600" y="79057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73" name=""/>
          <p:cNvCxnSpPr>
            <a:stCxn xmlns:a="http://schemas.openxmlformats.org/drawingml/2006/main" id="35" idx="3"/>
            <a:endCxn xmlns:a="http://schemas.openxmlformats.org/drawingml/2006/main" id="36" idx="1"/>
          </p:cNvCxnSpPr>
          <p:nvPr/>
        </p:nvCxnSpPr>
        <p:spPr>
          <a:xfrm xmlns:a="http://schemas.openxmlformats.org/drawingml/2006/main">
            <a:off x="2581275" y="7915275"/>
            <a:ext cx="3743325" cy="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38" name="5. Mettre à jour le CRM">
            <a:extLst xmlns:a="http://schemas.openxmlformats.org/drawingml/2006/main">
              <a:ext uri="{FF2B5EF4-FFF2-40B4-BE49-F238E27FC236}">
                <a16:creationId xmlns:a16="http://schemas.microsoft.com/office/drawing/2014/main" id="{B972ED2D-CBDC-49BD-821F-A3241B9C64A9}"/>
              </a:ext>
            </a:extLst>
          </p:cNvPr>
          <p:cNvSpPr>
            <a:spLocks xmlns:a="http://schemas.openxmlformats.org/drawingml/2006/main" noGrp="1"/>
          </p:cNvSpPr>
          <p:nvPr/>
        </p:nvSpPr>
        <p:spPr>
          <a:xfrm xmlns:a="http://schemas.openxmlformats.org/drawingml/2006/main">
            <a:off x="2724150" y="7505700"/>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041C40"/>
                </a:solidFill>
                <a:latin typeface="Times New Roman"/>
                <a:ea typeface="Times New Roman"/>
                <a:cs typeface="Times New Roman"/>
              </a:defRPr>
            </a:pPr>
            <a:r>
              <a:rPr sz="2175" b="0">
                <a:solidFill>
                  <a:srgbClr val="041C40"/>
                </a:solidFill>
                <a:latin typeface="Times New Roman"/>
                <a:ea typeface="Times New Roman"/>
                <a:cs typeface="Times New Roman"/>
              </a:rPr>
              <a:t>5. Mettre à jour le CRM</a:t>
            </a:r>
          </a:p>
        </p:txBody>
      </p:sp>
      <p:sp>
        <p:nvSpPr>
          <p:cNvPr id="39" name="Après un échec CRM : le journal permet de réconcilier c">
            <a:extLst xmlns:a="http://schemas.openxmlformats.org/drawingml/2006/main">
              <a:ext uri="{FF2B5EF4-FFF2-40B4-BE49-F238E27FC236}">
                <a16:creationId xmlns:a16="http://schemas.microsoft.com/office/drawing/2014/main" id="{EF065C43-69D6-43C7-93CE-1D1E5B9B7F47}"/>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Après un échec CRM : le journal permet de réconcilier certains dossiers sans renvoyer le message.</a:t>
            </a:r>
          </a:p>
        </p:txBody>
      </p:sp>
      <p:sp>
        <p:nvSpPr>
          <p:cNvPr id="40" name="14">
            <a:extLst xmlns:a="http://schemas.openxmlformats.org/drawingml/2006/main">
              <a:ext uri="{FF2B5EF4-FFF2-40B4-BE49-F238E27FC236}">
                <a16:creationId xmlns:a16="http://schemas.microsoft.com/office/drawing/2014/main" id="{06BBCDC1-AFBC-4BA3-AFCD-74228169F641}"/>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14</a:t>
            </a:r>
          </a:p>
        </p:txBody>
      </p:sp>
    </p:spTree>
    <p:extLst>
      <p:ext uri="{BB962C8B-B14F-4D97-AF65-F5344CB8AC3E}">
        <p14:creationId xmlns:p14="http://schemas.microsoft.com/office/powerpoint/2010/main" val="204190966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4" name="object 2"/>
          <p:cNvPicPr>
            <a:picLocks xmlns:a="http://schemas.openxmlformats.org/drawingml/2006/main" noChangeAspect="1"/>
          </p:cNvPicPr>
          <p:nvPr/>
        </p:nvPicPr>
        <p:blipFill>
          <a:blip xmlns:r="http://schemas.openxmlformats.org/officeDocument/2006/relationships" xmlns:a="http://schemas.openxmlformats.org/drawingml/2006/main" r:embed="R6ff63ad5b891451b"/>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2" name="Architecture technique">
            <a:extLst xmlns:a="http://schemas.openxmlformats.org/drawingml/2006/main">
              <a:ext uri="{FF2B5EF4-FFF2-40B4-BE49-F238E27FC236}">
                <a16:creationId xmlns:a16="http://schemas.microsoft.com/office/drawing/2014/main" id="{BF0088E1-7941-4C7D-A9FE-305E53AC7D3E}"/>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Architecture technique</a:t>
            </a:r>
          </a:p>
        </p:txBody>
      </p:sp>
      <p:sp>
        <p:nvSpPr>
          <p:cNvPr id="3" name="Interface Streamlit&#10;Consultation et lancement des comma">
            <a:extLst xmlns:a="http://schemas.openxmlformats.org/drawingml/2006/main">
              <a:ext uri="{FF2B5EF4-FFF2-40B4-BE49-F238E27FC236}">
                <a16:creationId xmlns:a16="http://schemas.microsoft.com/office/drawing/2014/main" id="{1FE9B5AD-8C2F-49D1-9CBE-9446CEF680C5}"/>
              </a:ext>
            </a:extLst>
          </p:cNvPr>
          <p:cNvSpPr>
            <a:spLocks xmlns:a="http://schemas.openxmlformats.org/drawingml/2006/main" noGrp="1"/>
          </p:cNvSpPr>
          <p:nvPr/>
        </p:nvSpPr>
        <p:spPr>
          <a:xfrm xmlns:a="http://schemas.openxmlformats.org/drawingml/2006/main">
            <a:off x="4143375" y="3171825"/>
            <a:ext cx="8334375" cy="1066800"/>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Interface Streamlit</a:t>
            </a:r>
          </a:p>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Consultation et lancement des commandes</a:t>
            </a:r>
          </a:p>
        </p:txBody>
      </p:sp>
      <p:sp>
        <p:nvSpPr>
          <p:cNvPr id="4" name="Scripts Python et règles métier&#10;Scoring, séquences et g">
            <a:extLst xmlns:a="http://schemas.openxmlformats.org/drawingml/2006/main">
              <a:ext uri="{FF2B5EF4-FFF2-40B4-BE49-F238E27FC236}">
                <a16:creationId xmlns:a16="http://schemas.microsoft.com/office/drawing/2014/main" id="{9A7E2241-ACCA-472F-A47C-F0108CC08ABC}"/>
              </a:ext>
            </a:extLst>
          </p:cNvPr>
          <p:cNvSpPr>
            <a:spLocks xmlns:a="http://schemas.openxmlformats.org/drawingml/2006/main" noGrp="1"/>
          </p:cNvSpPr>
          <p:nvPr/>
        </p:nvSpPr>
        <p:spPr>
          <a:xfrm xmlns:a="http://schemas.openxmlformats.org/drawingml/2006/main">
            <a:off x="4143375" y="4924425"/>
            <a:ext cx="8334375"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Scripts Python et règles métier</a:t>
            </a:r>
          </a:p>
          <a:p xmlns:a="http://schemas.openxmlformats.org/drawingml/2006/main">
            <a:pPr algn="ctr">
              <a:defRPr sz="3150">
                <a:solidFill>
                  <a:srgbClr val="041C40"/>
                </a:solidFill>
                <a:latin typeface="Times New Roman"/>
                <a:ea typeface="Times New Roman"/>
                <a:cs typeface="Times New Roman"/>
              </a:defRPr>
            </a:pPr>
            <a:r>
              <a:rPr sz="3150">
                <a:solidFill>
                  <a:srgbClr val="041C40"/>
                </a:solidFill>
                <a:latin typeface="Times New Roman"/>
                <a:ea typeface="Times New Roman"/>
                <a:cs typeface="Times New Roman"/>
              </a:rPr>
              <a:t>Scoring, séquences et génération documentaire</a:t>
            </a:r>
          </a:p>
        </p:txBody>
      </p:sp>
      <p:cxnSp>
        <p:nvCxnSpPr>
          <p:cNvPr id="18" name=""/>
          <p:cNvCxnSpPr>
            <a:stCxn xmlns:a="http://schemas.openxmlformats.org/drawingml/2006/main" id="3" idx="2"/>
            <a:endCxn xmlns:a="http://schemas.openxmlformats.org/drawingml/2006/main" id="4" idx="0"/>
          </p:cNvCxnSpPr>
          <p:nvPr/>
        </p:nvCxnSpPr>
        <p:spPr>
          <a:xfrm xmlns:a="http://schemas.openxmlformats.org/drawingml/2006/main">
            <a:off x="8310563" y="4238625"/>
            <a:ext cx="0" cy="685800"/>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6" name="Airtable et Groq&#10;CRM et contenus IA">
            <a:extLst xmlns:a="http://schemas.openxmlformats.org/drawingml/2006/main">
              <a:ext uri="{FF2B5EF4-FFF2-40B4-BE49-F238E27FC236}">
                <a16:creationId xmlns:a16="http://schemas.microsoft.com/office/drawing/2014/main" id="{5EBAB1E5-E9DB-405C-9188-4DFC52BEEB32}"/>
              </a:ext>
            </a:extLst>
          </p:cNvPr>
          <p:cNvSpPr>
            <a:spLocks xmlns:a="http://schemas.openxmlformats.org/drawingml/2006/main" noGrp="1"/>
          </p:cNvSpPr>
          <p:nvPr/>
        </p:nvSpPr>
        <p:spPr>
          <a:xfrm xmlns:a="http://schemas.openxmlformats.org/drawingml/2006/main">
            <a:off x="1381125" y="7286625"/>
            <a:ext cx="42862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041C40"/>
                </a:solidFill>
                <a:latin typeface="Times New Roman"/>
                <a:ea typeface="Times New Roman"/>
                <a:cs typeface="Times New Roman"/>
              </a:defRPr>
            </a:pPr>
            <a:r>
              <a:rPr sz="2700">
                <a:solidFill>
                  <a:srgbClr val="041C40"/>
                </a:solidFill>
                <a:latin typeface="Times New Roman"/>
                <a:ea typeface="Times New Roman"/>
                <a:cs typeface="Times New Roman"/>
              </a:rPr>
              <a:t>Airtable et Groq</a:t>
            </a:r>
          </a:p>
          <a:p xmlns:a="http://schemas.openxmlformats.org/drawingml/2006/main">
            <a:pPr algn="ctr">
              <a:defRPr sz="2700">
                <a:solidFill>
                  <a:srgbClr val="041C40"/>
                </a:solidFill>
                <a:latin typeface="Times New Roman"/>
                <a:ea typeface="Times New Roman"/>
                <a:cs typeface="Times New Roman"/>
              </a:defRPr>
            </a:pPr>
            <a:r>
              <a:rPr sz="2700">
                <a:solidFill>
                  <a:srgbClr val="041C40"/>
                </a:solidFill>
                <a:latin typeface="Times New Roman"/>
                <a:ea typeface="Times New Roman"/>
                <a:cs typeface="Times New Roman"/>
              </a:rPr>
              <a:t>CRM et contenus IA</a:t>
            </a:r>
          </a:p>
        </p:txBody>
      </p:sp>
      <p:sp>
        <p:nvSpPr>
          <p:cNvPr id="7" name="SMTP et WhatsApp&#10;Communication">
            <a:extLst xmlns:a="http://schemas.openxmlformats.org/drawingml/2006/main">
              <a:ext uri="{FF2B5EF4-FFF2-40B4-BE49-F238E27FC236}">
                <a16:creationId xmlns:a16="http://schemas.microsoft.com/office/drawing/2014/main" id="{ACBB7F3F-3FFE-41DB-91DE-A6DB90E6935B}"/>
              </a:ext>
            </a:extLst>
          </p:cNvPr>
          <p:cNvSpPr>
            <a:spLocks xmlns:a="http://schemas.openxmlformats.org/drawingml/2006/main" noGrp="1"/>
          </p:cNvSpPr>
          <p:nvPr/>
        </p:nvSpPr>
        <p:spPr>
          <a:xfrm xmlns:a="http://schemas.openxmlformats.org/drawingml/2006/main">
            <a:off x="6238875" y="7286625"/>
            <a:ext cx="42862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041C40"/>
                </a:solidFill>
                <a:latin typeface="Times New Roman"/>
                <a:ea typeface="Times New Roman"/>
                <a:cs typeface="Times New Roman"/>
              </a:defRPr>
            </a:pPr>
            <a:r>
              <a:rPr sz="2700">
                <a:solidFill>
                  <a:srgbClr val="041C40"/>
                </a:solidFill>
                <a:latin typeface="Times New Roman"/>
                <a:ea typeface="Times New Roman"/>
                <a:cs typeface="Times New Roman"/>
              </a:rPr>
              <a:t>SMTP et WhatsApp</a:t>
            </a:r>
          </a:p>
          <a:p xmlns:a="http://schemas.openxmlformats.org/drawingml/2006/main">
            <a:pPr algn="ctr">
              <a:defRPr sz="2700">
                <a:solidFill>
                  <a:srgbClr val="041C40"/>
                </a:solidFill>
                <a:latin typeface="Times New Roman"/>
                <a:ea typeface="Times New Roman"/>
                <a:cs typeface="Times New Roman"/>
              </a:defRPr>
            </a:pPr>
            <a:r>
              <a:rPr sz="2700">
                <a:solidFill>
                  <a:srgbClr val="041C40"/>
                </a:solidFill>
                <a:latin typeface="Times New Roman"/>
                <a:ea typeface="Times New Roman"/>
                <a:cs typeface="Times New Roman"/>
              </a:rPr>
              <a:t>Communication</a:t>
            </a:r>
          </a:p>
        </p:txBody>
      </p:sp>
      <p:sp>
        <p:nvSpPr>
          <p:cNvPr id="8" name="ReportLab et JSON&#10;PDF et état local">
            <a:extLst xmlns:a="http://schemas.openxmlformats.org/drawingml/2006/main">
              <a:ext uri="{FF2B5EF4-FFF2-40B4-BE49-F238E27FC236}">
                <a16:creationId xmlns:a16="http://schemas.microsoft.com/office/drawing/2014/main" id="{74C2BA79-B1BE-4E48-B410-AACFC8CFDA16}"/>
              </a:ext>
            </a:extLst>
          </p:cNvPr>
          <p:cNvSpPr>
            <a:spLocks xmlns:a="http://schemas.openxmlformats.org/drawingml/2006/main" noGrp="1"/>
          </p:cNvSpPr>
          <p:nvPr/>
        </p:nvSpPr>
        <p:spPr>
          <a:xfrm xmlns:a="http://schemas.openxmlformats.org/drawingml/2006/main">
            <a:off x="11096625" y="7286625"/>
            <a:ext cx="42862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0E933F"/>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041C40"/>
                </a:solidFill>
                <a:latin typeface="Times New Roman"/>
                <a:ea typeface="Times New Roman"/>
                <a:cs typeface="Times New Roman"/>
              </a:defRPr>
            </a:pPr>
            <a:r>
              <a:rPr sz="2700">
                <a:solidFill>
                  <a:srgbClr val="041C40"/>
                </a:solidFill>
                <a:latin typeface="Times New Roman"/>
                <a:ea typeface="Times New Roman"/>
                <a:cs typeface="Times New Roman"/>
              </a:rPr>
              <a:t>ReportLab et JSON</a:t>
            </a:r>
          </a:p>
          <a:p xmlns:a="http://schemas.openxmlformats.org/drawingml/2006/main">
            <a:pPr algn="ctr">
              <a:defRPr sz="2700">
                <a:solidFill>
                  <a:srgbClr val="041C40"/>
                </a:solidFill>
                <a:latin typeface="Times New Roman"/>
                <a:ea typeface="Times New Roman"/>
                <a:cs typeface="Times New Roman"/>
              </a:defRPr>
            </a:pPr>
            <a:r>
              <a:rPr sz="2700">
                <a:solidFill>
                  <a:srgbClr val="041C40"/>
                </a:solidFill>
                <a:latin typeface="Times New Roman"/>
                <a:ea typeface="Times New Roman"/>
                <a:cs typeface="Times New Roman"/>
              </a:rPr>
              <a:t>PDF et état local</a:t>
            </a:r>
          </a:p>
        </p:txBody>
      </p:sp>
      <p:cxnSp>
        <p:nvCxnSpPr>
          <p:cNvPr id="22" name=""/>
          <p:cNvCxnSpPr>
            <a:stCxn xmlns:a="http://schemas.openxmlformats.org/drawingml/2006/main" id="4" idx="2"/>
            <a:endCxn xmlns:a="http://schemas.openxmlformats.org/drawingml/2006/main" id="6" idx="0"/>
          </p:cNvCxnSpPr>
          <p:nvPr/>
        </p:nvCxnSpPr>
        <p:spPr>
          <a:xfrm xmlns:a="http://schemas.openxmlformats.org/drawingml/2006/main" flipH="1">
            <a:off x="3524250" y="6115050"/>
            <a:ext cx="4786313" cy="1171575"/>
          </a:xfrm>
          <a:prstGeom xmlns:a="http://schemas.openxmlformats.org/drawingml/2006/main" prst="straightConnector1">
            <a:avLst/>
          </a:prstGeom>
          <a:ln xmlns:a="http://schemas.openxmlformats.org/drawingml/2006/main" w="28575">
            <a:solidFill>
              <a:srgbClr val="0E933F"/>
            </a:solidFill>
            <a:tailEnd type="triangle" w="sm" len="sm"/>
          </a:ln>
        </p:spPr>
      </p:cxnSp>
      <p:cxnSp>
        <p:nvCxnSpPr>
          <p:cNvPr id="23" name=""/>
          <p:cNvCxnSpPr>
            <a:stCxn xmlns:a="http://schemas.openxmlformats.org/drawingml/2006/main" id="4" idx="2"/>
            <a:endCxn xmlns:a="http://schemas.openxmlformats.org/drawingml/2006/main" id="7" idx="0"/>
          </p:cNvCxnSpPr>
          <p:nvPr/>
        </p:nvCxnSpPr>
        <p:spPr>
          <a:xfrm xmlns:a="http://schemas.openxmlformats.org/drawingml/2006/main">
            <a:off x="8310563" y="6115050"/>
            <a:ext cx="71438" cy="1171575"/>
          </a:xfrm>
          <a:prstGeom xmlns:a="http://schemas.openxmlformats.org/drawingml/2006/main" prst="straightConnector1">
            <a:avLst/>
          </a:prstGeom>
          <a:ln xmlns:a="http://schemas.openxmlformats.org/drawingml/2006/main" w="28575">
            <a:solidFill>
              <a:srgbClr val="0E933F"/>
            </a:solidFill>
            <a:tailEnd type="triangle" w="sm" len="sm"/>
          </a:ln>
        </p:spPr>
      </p:cxnSp>
      <p:cxnSp>
        <p:nvCxnSpPr>
          <p:cNvPr id="24" name=""/>
          <p:cNvCxnSpPr>
            <a:stCxn xmlns:a="http://schemas.openxmlformats.org/drawingml/2006/main" id="4" idx="2"/>
            <a:endCxn xmlns:a="http://schemas.openxmlformats.org/drawingml/2006/main" id="8" idx="0"/>
          </p:cNvCxnSpPr>
          <p:nvPr/>
        </p:nvCxnSpPr>
        <p:spPr>
          <a:xfrm xmlns:a="http://schemas.openxmlformats.org/drawingml/2006/main">
            <a:off x="8310563" y="6115050"/>
            <a:ext cx="4929188" cy="1171575"/>
          </a:xfrm>
          <a:prstGeom xmlns:a="http://schemas.openxmlformats.org/drawingml/2006/main" prst="straightConnector1">
            <a:avLst/>
          </a:prstGeom>
          <a:ln xmlns:a="http://schemas.openxmlformats.org/drawingml/2006/main" w="28575">
            <a:solidFill>
              <a:srgbClr val="0E933F"/>
            </a:solidFill>
            <a:tailEnd type="triangle" w="sm" len="sm"/>
          </a:ln>
        </p:spPr>
      </p:cxnSp>
      <p:sp>
        <p:nvSpPr>
          <p:cNvPr id="12" name="Configuration centralisée et simulation par défaut. Arc">
            <a:extLst xmlns:a="http://schemas.openxmlformats.org/drawingml/2006/main">
              <a:ext uri="{FF2B5EF4-FFF2-40B4-BE49-F238E27FC236}">
                <a16:creationId xmlns:a16="http://schemas.microsoft.com/office/drawing/2014/main" id="{B1467BC8-8A2E-42CD-A6D6-478BDEC93AD3}"/>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Configuration centralisée et simulation par défaut. Architecture modulaire sur un poste local.</a:t>
            </a:r>
          </a:p>
        </p:txBody>
      </p:sp>
      <p:sp>
        <p:nvSpPr>
          <p:cNvPr id="13" name="15">
            <a:extLst xmlns:a="http://schemas.openxmlformats.org/drawingml/2006/main">
              <a:ext uri="{FF2B5EF4-FFF2-40B4-BE49-F238E27FC236}">
                <a16:creationId xmlns:a16="http://schemas.microsoft.com/office/drawing/2014/main" id="{A22217BA-BA80-4A36-B504-BAB8FD096342}"/>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15</a:t>
            </a:r>
          </a:p>
        </p:txBody>
      </p:sp>
    </p:spTree>
    <p:extLst>
      <p:ext uri="{BB962C8B-B14F-4D97-AF65-F5344CB8AC3E}">
        <p14:creationId xmlns:p14="http://schemas.microsoft.com/office/powerpoint/2010/main" val="1107112988"/>
      </p:ext>
    </p:extLst>
  </p:cSld>
</p:sld>
</file>

<file path=ppt/slides/slide16.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27FA6A52-7A34-4301-9232-EB1792095955}"/>
              </a:ext>
            </a:extLst>
          </p:cNvPr>
          <p:cNvSpPr>
            <a:spLocks xmlns:a="http://schemas.openxmlformats.org/drawingml/2006/main" noGrp="1"/>
          </p:cNvSpPr>
          <p:nvPr/>
        </p:nvSpPr>
        <p:spPr>
          <a:xfrm xmlns:a="http://schemas.openxmlformats.org/drawingml/2006/main">
            <a:off x="12398911" y="0"/>
            <a:ext cx="5890260" cy="757555"/>
          </a:xfrm>
          <a:custGeom xmlns:a="http://schemas.openxmlformats.org/drawingml/2006/main">
            <a:rect l="l" t="t" r="r" b="b"/>
            <a:pathLst>
              <a:path w="5890259" h="757555">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25B39B7C-7424-47F5-B438-67C9E4384853}"/>
              </a:ext>
            </a:extLst>
          </p:cNvPr>
          <p:cNvSpPr>
            <a:spLocks xmlns:a="http://schemas.openxmlformats.org/drawingml/2006/main" noGrp="1"/>
          </p:cNvSpPr>
          <p:nvPr/>
        </p:nvSpPr>
        <p:spPr>
          <a:xfrm xmlns:a="http://schemas.openxmlformats.org/drawingml/2006/main">
            <a:off x="12398911" y="9530040"/>
            <a:ext cx="5890260" cy="757555"/>
          </a:xfrm>
          <a:custGeom xmlns:a="http://schemas.openxmlformats.org/drawingml/2006/main">
            <a:rect l="l" t="t" r="r" b="b"/>
            <a:pathLst>
              <a:path w="5890259" h="757554">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13" name="object 5"/>
          <p:cNvPicPr>
            <a:picLocks xmlns:a="http://schemas.openxmlformats.org/drawingml/2006/main" noChangeAspect="1"/>
          </p:cNvPicPr>
          <p:nvPr/>
        </p:nvPicPr>
        <p:blipFill>
          <a:blip xmlns:r="http://schemas.openxmlformats.org/officeDocument/2006/relationships" xmlns:a="http://schemas.openxmlformats.org/drawingml/2006/main" r:embed="R82d1be4f8f684612"/>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8" name="RÉALISATION ET MISE EN ŒUVRE">
            <a:extLst xmlns:a="http://schemas.openxmlformats.org/drawingml/2006/main">
              <a:ext uri="{FF2B5EF4-FFF2-40B4-BE49-F238E27FC236}">
                <a16:creationId xmlns:a16="http://schemas.microsoft.com/office/drawing/2014/main" id="{31744A24-16F1-4238-94F9-5D77CD9C551C}"/>
              </a:ext>
            </a:extLst>
          </p:cNvPr>
          <p:cNvSpPr>
            <a:spLocks xmlns:a="http://schemas.openxmlformats.org/drawingml/2006/main" noGrp="1"/>
          </p:cNvSpPr>
          <p:nvPr/>
        </p:nvSpPr>
        <p:spPr>
          <a:xfrm xmlns:a="http://schemas.openxmlformats.org/drawingml/2006/main">
            <a:off x="1952625" y="4095750"/>
            <a:ext cx="1228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200" b="1">
                <a:solidFill>
                  <a:srgbClr val="041C40"/>
                </a:solidFill>
                <a:latin typeface="Times New Roman"/>
                <a:ea typeface="Times New Roman"/>
                <a:cs typeface="Times New Roman"/>
              </a:defRPr>
            </a:pPr>
            <a:r>
              <a:rPr sz="4200" b="1">
                <a:solidFill>
                  <a:srgbClr val="041C40"/>
                </a:solidFill>
                <a:latin typeface="Times New Roman"/>
                <a:ea typeface="Times New Roman"/>
                <a:cs typeface="Times New Roman"/>
              </a:rPr>
              <a:t>RÉALISATION ET MISE EN ŒUVRE</a:t>
            </a:r>
          </a:p>
        </p:txBody>
      </p:sp>
      <p:sp>
        <p:nvSpPr>
          <p:cNvPr id="9" name="Les fonctions développées&#10;et leurs résultats visibles">
            <a:extLst xmlns:a="http://schemas.openxmlformats.org/drawingml/2006/main">
              <a:ext uri="{FF2B5EF4-FFF2-40B4-BE49-F238E27FC236}">
                <a16:creationId xmlns:a16="http://schemas.microsoft.com/office/drawing/2014/main" id="{428FD6B5-678E-4EEB-A535-F2A9CE0C232F}"/>
              </a:ext>
            </a:extLst>
          </p:cNvPr>
          <p:cNvSpPr>
            <a:spLocks xmlns:a="http://schemas.openxmlformats.org/drawingml/2006/main" noGrp="1"/>
          </p:cNvSpPr>
          <p:nvPr/>
        </p:nvSpPr>
        <p:spPr>
          <a:xfrm xmlns:a="http://schemas.openxmlformats.org/drawingml/2006/main">
            <a:off x="2428875" y="5524500"/>
            <a:ext cx="1133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Les fonctions développées</a:t>
            </a:r>
          </a:p>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et leurs résultats visibles</a:t>
            </a:r>
          </a:p>
        </p:txBody>
      </p:sp>
      <p:sp>
        <p:nvSpPr>
          <p:cNvPr id="10" name="16">
            <a:extLst xmlns:a="http://schemas.openxmlformats.org/drawingml/2006/main">
              <a:ext uri="{FF2B5EF4-FFF2-40B4-BE49-F238E27FC236}">
                <a16:creationId xmlns:a16="http://schemas.microsoft.com/office/drawing/2014/main" id="{770CCAE7-4027-41A1-91B6-5C275A9DB9A8}"/>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16</a:t>
            </a:r>
          </a:p>
        </p:txBody>
      </p:sp>
    </p:spTree>
    <p:extLst>
      <p:ext uri="{BB962C8B-B14F-4D97-AF65-F5344CB8AC3E}">
        <p14:creationId xmlns:p14="http://schemas.microsoft.com/office/powerpoint/2010/main" val="5744774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6" name="object 2"/>
          <p:cNvPicPr>
            <a:picLocks xmlns:a="http://schemas.openxmlformats.org/drawingml/2006/main" noChangeAspect="1"/>
          </p:cNvPicPr>
          <p:nvPr/>
        </p:nvPicPr>
        <p:blipFill>
          <a:blip xmlns:r="http://schemas.openxmlformats.org/officeDocument/2006/relationships" xmlns:a="http://schemas.openxmlformats.org/drawingml/2006/main" r:embed="R037850b3dc874a20"/>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22" name="Choix techniques">
            <a:extLst xmlns:a="http://schemas.openxmlformats.org/drawingml/2006/main">
              <a:ext uri="{FF2B5EF4-FFF2-40B4-BE49-F238E27FC236}">
                <a16:creationId xmlns:a16="http://schemas.microsoft.com/office/drawing/2014/main" id="{7241C95F-A3F7-4D3D-B28A-4EECEDC6F019}"/>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Choix techniques</a:t>
            </a:r>
          </a:p>
        </p:txBody>
      </p:sp>
      <p:graphicFrame>
        <p:nvGraphicFramePr>
          <p:cNvPr id="28" name=""/>
          <p:cNvGraphicFramePr/>
          <p:nvPr/>
        </p:nvGraphicFramePr>
        <p:xfrm>
          <a:off xmlns:a="http://schemas.openxmlformats.org/drawingml/2006/main" x="1571625" y="3238500"/>
          <a:ext xmlns:a="http://schemas.openxmlformats.org/drawingml/2006/main" cx="13239750" cy="5143500"/>
        </p:xfrm>
        <a:graphic xmlns:a="http://schemas.openxmlformats.org/drawingml/2006/main">
          <a:graphicData uri="http://schemas.openxmlformats.org/drawingml/2006/table">
            <a:tbl>
              <a:tblPr/>
              <a:tblGrid>
                <a:gridCol w="2667000"/>
                <a:gridCol w="5286375"/>
                <a:gridCol w="5286375"/>
              </a:tblGrid>
              <a:tr h="857250">
                <a:tc>
                  <a:txBody>
                    <a:bodyPr lIns="142875" tIns="76200" rIns="142875" bIns="76200"/>
                    <a:lstStyle/>
                    <a:p>
                      <a:r>
                        <a:rPr sz="2625" b="1">
                          <a:solidFill>
                            <a:srgbClr val="FFFFFF"/>
                          </a:solidFill>
                          <a:latin typeface="Times New Roman"/>
                          <a:ea typeface="Times New Roman"/>
                          <a:cs typeface="Times New Roman"/>
                        </a:rPr>
                        <a:t>Technologie</a:t>
                      </a:r>
                    </a:p>
                  </a:txBody>
                  <a:tcPr marL="91440" marR="91440" marT="45720" marB="45720" anchor="ctr">
                    <a:solidFill>
                      <a:srgbClr val="0E933F"/>
                    </a:solidFill>
                  </a:tcPr>
                </a:tc>
                <a:tc>
                  <a:txBody>
                    <a:bodyPr lIns="142875" tIns="76200" rIns="142875" bIns="76200"/>
                    <a:lstStyle/>
                    <a:p>
                      <a:r>
                        <a:rPr sz="2625" b="1">
                          <a:solidFill>
                            <a:srgbClr val="FFFFFF"/>
                          </a:solidFill>
                          <a:latin typeface="Times New Roman"/>
                          <a:ea typeface="Times New Roman"/>
                          <a:cs typeface="Times New Roman"/>
                        </a:rPr>
                        <a:t>Rôle dans ADG-10</a:t>
                      </a:r>
                    </a:p>
                  </a:txBody>
                  <a:tcPr marL="91440" marR="91440" marT="45720" marB="45720" anchor="ctr">
                    <a:solidFill>
                      <a:srgbClr val="0E933F"/>
                    </a:solidFill>
                  </a:tcPr>
                </a:tc>
                <a:tc>
                  <a:txBody>
                    <a:bodyPr lIns="142875" tIns="76200" rIns="142875" bIns="76200"/>
                    <a:lstStyle/>
                    <a:p>
                      <a:r>
                        <a:rPr sz="2625" b="1">
                          <a:solidFill>
                            <a:srgbClr val="FFFFFF"/>
                          </a:solidFill>
                          <a:latin typeface="Times New Roman"/>
                          <a:ea typeface="Times New Roman"/>
                          <a:cs typeface="Times New Roman"/>
                        </a:rPr>
                        <a:t>Justification</a:t>
                      </a:r>
                    </a:p>
                  </a:txBody>
                  <a:tcPr marL="91440" marR="91440" marT="45720" marB="45720" anchor="ctr">
                    <a:solidFill>
                      <a:srgbClr val="0E933F"/>
                    </a:solidFill>
                  </a:tcPr>
                </a:tc>
              </a:tr>
              <a:tr h="857250">
                <a:tc>
                  <a:txBody>
                    <a:bodyPr lIns="142875" tIns="76200" rIns="142875" bIns="76200"/>
                    <a:lstStyle/>
                    <a:p>
                      <a:r>
                        <a:rPr sz="2625" b="0">
                          <a:solidFill>
                            <a:srgbClr val="041C40"/>
                          </a:solidFill>
                          <a:latin typeface="Times New Roman"/>
                          <a:ea typeface="Times New Roman"/>
                          <a:cs typeface="Times New Roman"/>
                        </a:rPr>
                        <a:t>Python</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Scripts et règles métier</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Modules lisibles et testables</a:t>
                      </a:r>
                    </a:p>
                  </a:txBody>
                  <a:tcPr marL="91440" marR="91440" marT="45720" marB="45720" anchor="ctr">
                    <a:solidFill>
                      <a:srgbClr val="F0F4F1"/>
                    </a:solidFill>
                  </a:tcPr>
                </a:tc>
              </a:tr>
              <a:tr h="857250">
                <a:tc>
                  <a:txBody>
                    <a:bodyPr lIns="142875" tIns="76200" rIns="142875" bIns="76200"/>
                    <a:lstStyle/>
                    <a:p>
                      <a:r>
                        <a:rPr sz="2625" b="0">
                          <a:solidFill>
                            <a:srgbClr val="041C40"/>
                          </a:solidFill>
                          <a:latin typeface="Times New Roman"/>
                          <a:ea typeface="Times New Roman"/>
                          <a:cs typeface="Times New Roman"/>
                        </a:rPr>
                        <a:t>Airtable</a:t>
                      </a:r>
                    </a:p>
                  </a:txBody>
                  <a:tcPr marL="91440" marR="91440" marT="45720" marB="45720" anchor="ctr">
                    <a:solidFill>
                      <a:srgbClr val="FFFFFF"/>
                    </a:solidFill>
                  </a:tcPr>
                </a:tc>
                <a:tc>
                  <a:txBody>
                    <a:bodyPr lIns="142875" tIns="76200" rIns="142875" bIns="76200"/>
                    <a:lstStyle/>
                    <a:p>
                      <a:r>
                        <a:rPr sz="2625" b="0">
                          <a:solidFill>
                            <a:srgbClr val="041C40"/>
                          </a:solidFill>
                          <a:latin typeface="Times New Roman"/>
                          <a:ea typeface="Times New Roman"/>
                          <a:cs typeface="Times New Roman"/>
                        </a:rPr>
                        <a:t>Catalogue et prospects</a:t>
                      </a:r>
                    </a:p>
                  </a:txBody>
                  <a:tcPr marL="91440" marR="91440" marT="45720" marB="45720" anchor="ctr">
                    <a:solidFill>
                      <a:srgbClr val="FFFFFF"/>
                    </a:solidFill>
                  </a:tcPr>
                </a:tc>
                <a:tc>
                  <a:txBody>
                    <a:bodyPr lIns="142875" tIns="76200" rIns="142875" bIns="76200"/>
                    <a:lstStyle/>
                    <a:p>
                      <a:r>
                        <a:rPr sz="2625" b="0">
                          <a:solidFill>
                            <a:srgbClr val="041C40"/>
                          </a:solidFill>
                          <a:latin typeface="Times New Roman"/>
                          <a:ea typeface="Times New Roman"/>
                          <a:cs typeface="Times New Roman"/>
                        </a:rPr>
                        <a:t>Données accessibles à l’équipe</a:t>
                      </a:r>
                    </a:p>
                  </a:txBody>
                  <a:tcPr marL="91440" marR="91440" marT="45720" marB="45720" anchor="ctr">
                    <a:solidFill>
                      <a:srgbClr val="FFFFFF"/>
                    </a:solidFill>
                  </a:tcPr>
                </a:tc>
              </a:tr>
              <a:tr h="857250">
                <a:tc>
                  <a:txBody>
                    <a:bodyPr lIns="142875" tIns="76200" rIns="142875" bIns="76200"/>
                    <a:lstStyle/>
                    <a:p>
                      <a:r>
                        <a:rPr sz="2625" b="0">
                          <a:solidFill>
                            <a:srgbClr val="041C40"/>
                          </a:solidFill>
                          <a:latin typeface="Times New Roman"/>
                          <a:ea typeface="Times New Roman"/>
                          <a:cs typeface="Times New Roman"/>
                        </a:rPr>
                        <a:t>Groq</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Génération des contenus</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Réponse JSON contrôlée</a:t>
                      </a:r>
                    </a:p>
                  </a:txBody>
                  <a:tcPr marL="91440" marR="91440" marT="45720" marB="45720" anchor="ctr">
                    <a:solidFill>
                      <a:srgbClr val="F0F4F1"/>
                    </a:solidFill>
                  </a:tcPr>
                </a:tc>
              </a:tr>
              <a:tr h="857250">
                <a:tc>
                  <a:txBody>
                    <a:bodyPr lIns="142875" tIns="76200" rIns="142875" bIns="76200"/>
                    <a:lstStyle/>
                    <a:p>
                      <a:r>
                        <a:rPr sz="2625" b="0">
                          <a:solidFill>
                            <a:srgbClr val="041C40"/>
                          </a:solidFill>
                          <a:latin typeface="Times New Roman"/>
                          <a:ea typeface="Times New Roman"/>
                          <a:cs typeface="Times New Roman"/>
                        </a:rPr>
                        <a:t>Streamlit</a:t>
                      </a:r>
                    </a:p>
                  </a:txBody>
                  <a:tcPr marL="91440" marR="91440" marT="45720" marB="45720" anchor="ctr">
                    <a:solidFill>
                      <a:srgbClr val="FFFFFF"/>
                    </a:solidFill>
                  </a:tcPr>
                </a:tc>
                <a:tc>
                  <a:txBody>
                    <a:bodyPr lIns="142875" tIns="76200" rIns="142875" bIns="76200"/>
                    <a:lstStyle/>
                    <a:p>
                      <a:r>
                        <a:rPr sz="2625" b="0">
                          <a:solidFill>
                            <a:srgbClr val="041C40"/>
                          </a:solidFill>
                          <a:latin typeface="Times New Roman"/>
                          <a:ea typeface="Times New Roman"/>
                          <a:cs typeface="Times New Roman"/>
                        </a:rPr>
                        <a:t>Interface de pilotage</a:t>
                      </a:r>
                    </a:p>
                  </a:txBody>
                  <a:tcPr marL="91440" marR="91440" marT="45720" marB="45720" anchor="ctr">
                    <a:solidFill>
                      <a:srgbClr val="FFFFFF"/>
                    </a:solidFill>
                  </a:tcPr>
                </a:tc>
                <a:tc>
                  <a:txBody>
                    <a:bodyPr lIns="142875" tIns="76200" rIns="142875" bIns="76200"/>
                    <a:lstStyle/>
                    <a:p>
                      <a:r>
                        <a:rPr sz="2625" b="0">
                          <a:solidFill>
                            <a:srgbClr val="041C40"/>
                          </a:solidFill>
                          <a:latin typeface="Times New Roman"/>
                          <a:ea typeface="Times New Roman"/>
                          <a:cs typeface="Times New Roman"/>
                        </a:rPr>
                        <a:t>Dashboard directement en Python</a:t>
                      </a:r>
                    </a:p>
                  </a:txBody>
                  <a:tcPr marL="91440" marR="91440" marT="45720" marB="45720" anchor="ctr">
                    <a:solidFill>
                      <a:srgbClr val="FFFFFF"/>
                    </a:solidFill>
                  </a:tcPr>
                </a:tc>
              </a:tr>
              <a:tr h="857250">
                <a:tc>
                  <a:txBody>
                    <a:bodyPr lIns="142875" tIns="76200" rIns="142875" bIns="76200"/>
                    <a:lstStyle/>
                    <a:p>
                      <a:r>
                        <a:rPr sz="2625" b="0">
                          <a:solidFill>
                            <a:srgbClr val="041C40"/>
                          </a:solidFill>
                          <a:latin typeface="Times New Roman"/>
                          <a:ea typeface="Times New Roman"/>
                          <a:cs typeface="Times New Roman"/>
                        </a:rPr>
                        <a:t>ReportLab</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Offres, conventions et factures</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Thème documentaire partagé</a:t>
                      </a:r>
                    </a:p>
                  </a:txBody>
                  <a:tcPr marL="91440" marR="91440" marT="45720" marB="45720" anchor="ctr">
                    <a:solidFill>
                      <a:srgbClr val="F0F4F1"/>
                    </a:solidFill>
                  </a:tcPr>
                </a:tc>
              </a:tr>
            </a:tbl>
          </a:graphicData>
        </a:graphic>
      </p:graphicFrame>
      <p:sp>
        <p:nvSpPr>
          <p:cNvPr id="24" name="SMTP gère l’e-mail. WhatsApp repose sur l’automatisatio">
            <a:extLst xmlns:a="http://schemas.openxmlformats.org/drawingml/2006/main">
              <a:ext uri="{FF2B5EF4-FFF2-40B4-BE49-F238E27FC236}">
                <a16:creationId xmlns:a16="http://schemas.microsoft.com/office/drawing/2014/main" id="{F1ECA213-2914-49A3-8EEA-03CD6BB35F9C}"/>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SMTP gère l’e-mail. WhatsApp repose sur l’automatisation du navigateur avec PyWhatKit.</a:t>
            </a:r>
          </a:p>
        </p:txBody>
      </p:sp>
      <p:sp>
        <p:nvSpPr>
          <p:cNvPr id="25" name="17">
            <a:extLst xmlns:a="http://schemas.openxmlformats.org/drawingml/2006/main">
              <a:ext uri="{FF2B5EF4-FFF2-40B4-BE49-F238E27FC236}">
                <a16:creationId xmlns:a16="http://schemas.microsoft.com/office/drawing/2014/main" id="{5DAD7E7D-9BCD-4229-B311-7E9BB1E2256C}"/>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17</a:t>
            </a:r>
          </a:p>
        </p:txBody>
      </p:sp>
    </p:spTree>
    <p:extLst>
      <p:ext uri="{BB962C8B-B14F-4D97-AF65-F5344CB8AC3E}">
        <p14:creationId xmlns:p14="http://schemas.microsoft.com/office/powerpoint/2010/main" val="210956831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1" name="object 2"/>
          <p:cNvPicPr>
            <a:picLocks xmlns:a="http://schemas.openxmlformats.org/drawingml/2006/main" noChangeAspect="1"/>
          </p:cNvPicPr>
          <p:nvPr/>
        </p:nvPicPr>
        <p:blipFill>
          <a:blip xmlns:r="http://schemas.openxmlformats.org/officeDocument/2006/relationships" xmlns:a="http://schemas.openxmlformats.org/drawingml/2006/main" r:embed="Rc3119dcbd6ef4f58"/>
          <a:stretch xmlns:a="http://schemas.openxmlformats.org/drawingml/2006/main">
            <a:fillRect l="0" t="0" r="0" b="0"/>
          </a:stretch>
        </p:blipFill>
        <p:spPr>
          <a:xfrm xmlns:a="http://schemas.openxmlformats.org/drawingml/2006/main">
            <a:off x="2441203" y="245027"/>
            <a:ext cx="5267324" cy="1152524"/>
          </a:xfrm>
          <a:prstGeom xmlns:a="http://schemas.openxmlformats.org/drawingml/2006/main" prst="rect">
            <a:avLst/>
          </a:prstGeom>
        </p:spPr>
      </p:pic>
      <p:sp>
        <p:nvSpPr>
          <p:cNvPr id="6" name="Démonstration du tableau de bord">
            <a:extLst xmlns:a="http://schemas.openxmlformats.org/drawingml/2006/main">
              <a:ext uri="{FF2B5EF4-FFF2-40B4-BE49-F238E27FC236}">
                <a16:creationId xmlns:a16="http://schemas.microsoft.com/office/drawing/2014/main" id="{85544F4C-89B8-4B02-9A9A-3CAE917D4D71}"/>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Démonstration du tableau de bord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2a7201d41940e8"/>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8" name="1. Consulter les indicateurs&#10;&#10;2. Rechercher un prospect">
            <a:extLst xmlns:a="http://schemas.openxmlformats.org/drawingml/2006/main">
              <a:ext uri="{FF2B5EF4-FFF2-40B4-BE49-F238E27FC236}">
                <a16:creationId xmlns:a16="http://schemas.microsoft.com/office/drawing/2014/main" id="{7FC8A2BD-EAFF-425B-AA4A-F12732A4183C}"/>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1. Consulter les indicateurs</a:t>
            </a:r>
          </a:p>
          <a:p xmlns:a="http://schemas.openxmlformats.org/drawingml/2006/main">
            <a:r>
              <a:t/>
            </a:r>
          </a:p>
          <a:p xmlns:a="http://schemas.openxmlformats.org/drawingml/2006/main">
            <a:pPr algn="l">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2. Rechercher un prospect</a:t>
            </a:r>
          </a:p>
          <a:p xmlns:a="http://schemas.openxmlformats.org/drawingml/2006/main">
            <a:r>
              <a:t/>
            </a:r>
          </a:p>
          <a:p xmlns:a="http://schemas.openxmlformats.org/drawingml/2006/main">
            <a:pPr algn="l">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3. Choisir la simulation</a:t>
            </a:r>
          </a:p>
          <a:p xmlns:a="http://schemas.openxmlformats.org/drawingml/2006/main">
            <a:r>
              <a:t/>
            </a:r>
          </a:p>
          <a:p xmlns:a="http://schemas.openxmlformats.org/drawingml/2006/main">
            <a:pPr algn="l">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4. Lancer et vérifier</a:t>
            </a:r>
          </a:p>
        </p:txBody>
      </p:sp>
      <p:sp>
        <p:nvSpPr>
          <p:cNvPr id="9" name="Capture de l’application réelle avec six prospects fict">
            <a:extLst xmlns:a="http://schemas.openxmlformats.org/drawingml/2006/main">
              <a:ext uri="{FF2B5EF4-FFF2-40B4-BE49-F238E27FC236}">
                <a16:creationId xmlns:a16="http://schemas.microsoft.com/office/drawing/2014/main" id="{3EBBACF7-0355-473F-B8AA-AD01E8E4D235}"/>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Capture de l’application réelle avec six prospects fictifs. Aucun envoi réel dans cette démonstration.</a:t>
            </a:r>
          </a:p>
        </p:txBody>
      </p:sp>
      <p:sp>
        <p:nvSpPr>
          <p:cNvPr id="10" name="18">
            <a:extLst xmlns:a="http://schemas.openxmlformats.org/drawingml/2006/main">
              <a:ext uri="{FF2B5EF4-FFF2-40B4-BE49-F238E27FC236}">
                <a16:creationId xmlns:a16="http://schemas.microsoft.com/office/drawing/2014/main" id="{67D6ED3E-34F9-4C27-AFA8-8A015881EA2B}"/>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18</a:t>
            </a:r>
          </a:p>
        </p:txBody>
      </p:sp>
    </p:spTree>
    <p:extLst>
      <p:ext uri="{BB962C8B-B14F-4D97-AF65-F5344CB8AC3E}">
        <p14:creationId xmlns:p14="http://schemas.microsoft.com/office/powerpoint/2010/main" val="1491653707"/>
      </p:ext>
    </p:extLst>
  </p:cSld>
</p:sld>
</file>

<file path=ppt/slides/slide19.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EDA1FAD5-B521-4D16-A8DB-10CE6B27A8AC}"/>
              </a:ext>
            </a:extLst>
          </p:cNvPr>
          <p:cNvSpPr>
            <a:spLocks xmlns:a="http://schemas.openxmlformats.org/drawingml/2006/main" noGrp="1"/>
          </p:cNvSpPr>
          <p:nvPr/>
        </p:nvSpPr>
        <p:spPr>
          <a:xfrm xmlns:a="http://schemas.openxmlformats.org/drawingml/2006/main">
            <a:off x="12398911" y="0"/>
            <a:ext cx="5890260" cy="757555"/>
          </a:xfrm>
          <a:custGeom xmlns:a="http://schemas.openxmlformats.org/drawingml/2006/main">
            <a:rect l="l" t="t" r="r" b="b"/>
            <a:pathLst>
              <a:path w="5890259" h="757555">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80246977-F40E-4297-8777-58448A518529}"/>
              </a:ext>
            </a:extLst>
          </p:cNvPr>
          <p:cNvSpPr>
            <a:spLocks xmlns:a="http://schemas.openxmlformats.org/drawingml/2006/main" noGrp="1"/>
          </p:cNvSpPr>
          <p:nvPr/>
        </p:nvSpPr>
        <p:spPr>
          <a:xfrm xmlns:a="http://schemas.openxmlformats.org/drawingml/2006/main">
            <a:off x="12398911" y="9530040"/>
            <a:ext cx="5890260" cy="757555"/>
          </a:xfrm>
          <a:custGeom xmlns:a="http://schemas.openxmlformats.org/drawingml/2006/main">
            <a:rect l="l" t="t" r="r" b="b"/>
            <a:pathLst>
              <a:path w="5890259" h="757554">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19" name="object 5"/>
          <p:cNvPicPr>
            <a:picLocks xmlns:a="http://schemas.openxmlformats.org/drawingml/2006/main" noChangeAspect="1"/>
          </p:cNvPicPr>
          <p:nvPr/>
        </p:nvPicPr>
        <p:blipFill>
          <a:blip xmlns:r="http://schemas.openxmlformats.org/officeDocument/2006/relationships" xmlns:a="http://schemas.openxmlformats.org/drawingml/2006/main" r:embed="R7b065239aef94c5a"/>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8" name="Documents et communications">
            <a:extLst xmlns:a="http://schemas.openxmlformats.org/drawingml/2006/main">
              <a:ext uri="{FF2B5EF4-FFF2-40B4-BE49-F238E27FC236}">
                <a16:creationId xmlns:a16="http://schemas.microsoft.com/office/drawing/2014/main" id="{AF14F2AA-EDA2-4762-8B52-24075772AC86}"/>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Documents et communications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2cd220a3cc745da"/>
          <a:stretch xmlns:a="http://schemas.openxmlformats.org/drawingml/2006/main"/>
        </p:blipFill>
        <p:spPr>
          <a:xfrm xmlns:a="http://schemas.openxmlformats.org/drawingml/2006/main">
            <a:off x="1550988" y="3067050"/>
            <a:ext cx="4041775" cy="57150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4205141d22f49b3"/>
          <a:stretch xmlns:a="http://schemas.openxmlformats.org/drawingml/2006/main"/>
        </p:blipFill>
        <p:spPr>
          <a:xfrm xmlns:a="http://schemas.openxmlformats.org/drawingml/2006/main">
            <a:off x="6551613" y="3067050"/>
            <a:ext cx="4041775" cy="57150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1a9151c929d47a9"/>
          <a:stretch xmlns:a="http://schemas.openxmlformats.org/drawingml/2006/main"/>
        </p:blipFill>
        <p:spPr>
          <a:xfrm xmlns:a="http://schemas.openxmlformats.org/drawingml/2006/main">
            <a:off x="11552238" y="3067050"/>
            <a:ext cx="4041775" cy="5715000"/>
          </a:xfrm>
          <a:prstGeom xmlns:a="http://schemas.openxmlformats.org/drawingml/2006/main" prst="rect">
            <a:avLst/>
          </a:prstGeom>
        </p:spPr>
      </p:pic>
      <p:sp>
        <p:nvSpPr>
          <p:cNvPr id="12" name="Proposition">
            <a:extLst xmlns:a="http://schemas.openxmlformats.org/drawingml/2006/main">
              <a:ext uri="{FF2B5EF4-FFF2-40B4-BE49-F238E27FC236}">
                <a16:creationId xmlns:a16="http://schemas.microsoft.com/office/drawing/2014/main" id="{3771FB6F-9878-465F-BF07-57268D106927}"/>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041C40"/>
                </a:solidFill>
                <a:latin typeface="Times New Roman"/>
                <a:ea typeface="Times New Roman"/>
                <a:cs typeface="Times New Roman"/>
              </a:defRPr>
            </a:pPr>
            <a:r>
              <a:rPr sz="2700" b="1">
                <a:solidFill>
                  <a:srgbClr val="041C40"/>
                </a:solidFill>
                <a:latin typeface="Times New Roman"/>
                <a:ea typeface="Times New Roman"/>
                <a:cs typeface="Times New Roman"/>
              </a:rPr>
              <a:t>Proposition</a:t>
            </a:r>
          </a:p>
        </p:txBody>
      </p:sp>
      <p:sp>
        <p:nvSpPr>
          <p:cNvPr id="13" name="Convention">
            <a:extLst xmlns:a="http://schemas.openxmlformats.org/drawingml/2006/main">
              <a:ext uri="{FF2B5EF4-FFF2-40B4-BE49-F238E27FC236}">
                <a16:creationId xmlns:a16="http://schemas.microsoft.com/office/drawing/2014/main" id="{0DA0FD76-9378-40E6-8762-15378B7D24E8}"/>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041C40"/>
                </a:solidFill>
                <a:latin typeface="Times New Roman"/>
                <a:ea typeface="Times New Roman"/>
                <a:cs typeface="Times New Roman"/>
              </a:defRPr>
            </a:pPr>
            <a:r>
              <a:rPr sz="2700" b="1">
                <a:solidFill>
                  <a:srgbClr val="041C40"/>
                </a:solidFill>
                <a:latin typeface="Times New Roman"/>
                <a:ea typeface="Times New Roman"/>
                <a:cs typeface="Times New Roman"/>
              </a:rPr>
              <a:t>Convention</a:t>
            </a:r>
          </a:p>
        </p:txBody>
      </p:sp>
      <p:sp>
        <p:nvSpPr>
          <p:cNvPr id="14" name="Facture">
            <a:extLst xmlns:a="http://schemas.openxmlformats.org/drawingml/2006/main">
              <a:ext uri="{FF2B5EF4-FFF2-40B4-BE49-F238E27FC236}">
                <a16:creationId xmlns:a16="http://schemas.microsoft.com/office/drawing/2014/main" id="{CFF1F04A-4BCE-4C89-8B3D-546CC00293E1}"/>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041C40"/>
                </a:solidFill>
                <a:latin typeface="Times New Roman"/>
                <a:ea typeface="Times New Roman"/>
                <a:cs typeface="Times New Roman"/>
              </a:defRPr>
            </a:pPr>
            <a:r>
              <a:rPr sz="2700" b="1">
                <a:solidFill>
                  <a:srgbClr val="041C40"/>
                </a:solidFill>
                <a:latin typeface="Times New Roman"/>
                <a:ea typeface="Times New Roman"/>
                <a:cs typeface="Times New Roman"/>
              </a:rPr>
              <a:t>Facture</a:t>
            </a:r>
          </a:p>
        </p:txBody>
      </p:sp>
      <p:sp>
        <p:nvSpPr>
          <p:cNvPr id="15" name="Exemples fictifs. L’équipe doit valider les données com">
            <a:extLst xmlns:a="http://schemas.openxmlformats.org/drawingml/2006/main">
              <a:ext uri="{FF2B5EF4-FFF2-40B4-BE49-F238E27FC236}">
                <a16:creationId xmlns:a16="http://schemas.microsoft.com/office/drawing/2014/main" id="{3CE0D393-BF24-47EB-A43C-EBC94E59F9B5}"/>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Exemples fictifs. L’équipe doit valider les données commerciales, contractuelles et fiscales avant émission.</a:t>
            </a:r>
          </a:p>
        </p:txBody>
      </p:sp>
      <p:sp>
        <p:nvSpPr>
          <p:cNvPr id="16" name="19">
            <a:extLst xmlns:a="http://schemas.openxmlformats.org/drawingml/2006/main">
              <a:ext uri="{FF2B5EF4-FFF2-40B4-BE49-F238E27FC236}">
                <a16:creationId xmlns:a16="http://schemas.microsoft.com/office/drawing/2014/main" id="{88E207EB-17E0-46BB-9337-C3747D445058}"/>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19</a:t>
            </a:r>
          </a:p>
        </p:txBody>
      </p:sp>
    </p:spTree>
    <p:extLst>
      <p:ext uri="{BB962C8B-B14F-4D97-AF65-F5344CB8AC3E}">
        <p14:creationId xmlns:p14="http://schemas.microsoft.com/office/powerpoint/2010/main" val="94285164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91FEEFE6-7C7E-4757-87AA-FD244DEC59A8}"/>
              </a:ext>
            </a:extLst>
          </p:cNvPr>
          <p:cNvSpPr>
            <a:spLocks xmlns:a="http://schemas.openxmlformats.org/drawingml/2006/main" noGrp="1"/>
          </p:cNvSpPr>
          <p:nvPr/>
        </p:nvSpPr>
        <p:spPr>
          <a:xfrm xmlns:a="http://schemas.openxmlformats.org/drawingml/2006/main" rot="0" flipH="0" flipV="0">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19" name="object 4"/>
          <p:cNvPicPr>
            <a:picLocks xmlns:a="http://schemas.openxmlformats.org/drawingml/2006/main" noChangeAspect="1"/>
          </p:cNvPicPr>
          <p:nvPr/>
        </p:nvPicPr>
        <p:blipFill>
          <a:blip xmlns:r="http://schemas.openxmlformats.org/officeDocument/2006/relationships" xmlns:a="http://schemas.openxmlformats.org/drawingml/2006/main" r:embed="R2e624382c98b4af2"/>
          <a:stretch xmlns:a="http://schemas.openxmlformats.org/drawingml/2006/main">
            <a:fillRect l="0" t="0" r="0" b="0"/>
          </a:stretch>
        </p:blipFill>
        <p:spPr>
          <a:xfrm xmlns:a="http://schemas.openxmlformats.org/drawingml/2006/main" rot="0" flipH="0" flipV="0">
            <a:off x="2441203" y="245027"/>
            <a:ext cx="5267324" cy="1152524"/>
          </a:xfrm>
          <a:prstGeom xmlns:a="http://schemas.openxmlformats.org/drawingml/2006/main" prst="rect">
            <a:avLst/>
          </a:prstGeom>
        </p:spPr>
      </p:pic>
      <p:sp>
        <p:nvSpPr>
          <p:cNvPr id="10" name="Résultats et validation">
            <a:extLst xmlns:a="http://schemas.openxmlformats.org/drawingml/2006/main">
              <a:ext uri="{FF2B5EF4-FFF2-40B4-BE49-F238E27FC236}">
                <a16:creationId xmlns:a16="http://schemas.microsoft.com/office/drawing/2014/main" id="{E990C2BC-EE63-4482-B05C-78E354F9C3CE}"/>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Résultats et validation</a:t>
            </a:r>
          </a:p>
        </p:txBody>
      </p:sp>
      <p:sp>
        <p:nvSpPr>
          <p:cNvPr id="11" name="11 tests métier réussis">
            <a:extLst xmlns:a="http://schemas.openxmlformats.org/drawingml/2006/main">
              <a:ext uri="{FF2B5EF4-FFF2-40B4-BE49-F238E27FC236}">
                <a16:creationId xmlns:a16="http://schemas.microsoft.com/office/drawing/2014/main" id="{09147A5B-B8CA-4B23-9E77-C9F63D549B51}"/>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0E933F"/>
                </a:solidFill>
                <a:latin typeface="Times New Roman"/>
                <a:ea typeface="Times New Roman"/>
                <a:cs typeface="Times New Roman"/>
              </a:defRPr>
            </a:pPr>
            <a:r>
              <a:rPr sz="4800" b="1">
                <a:solidFill>
                  <a:srgbClr val="0E933F"/>
                </a:solidFill>
                <a:latin typeface="Times New Roman"/>
                <a:ea typeface="Times New Roman"/>
                <a:cs typeface="Times New Roman"/>
              </a:rPr>
              <a:t>11 tests métier réussis</a:t>
            </a:r>
          </a:p>
        </p:txBody>
      </p:sp>
      <p:sp>
        <p:nvSpPr>
          <p:cNvPr id="12" name="Scoring, routage et sélection de la formation.">
            <a:extLst xmlns:a="http://schemas.openxmlformats.org/drawingml/2006/main">
              <a:ext uri="{FF2B5EF4-FFF2-40B4-BE49-F238E27FC236}">
                <a16:creationId xmlns:a16="http://schemas.microsoft.com/office/drawing/2014/main" id="{F3A46919-D7BA-453D-B565-F672CC8CF075}"/>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041C40"/>
                </a:solidFill>
                <a:latin typeface="Times New Roman"/>
                <a:ea typeface="Times New Roman"/>
                <a:cs typeface="Times New Roman"/>
              </a:defRPr>
            </a:pPr>
            <a:r>
              <a:rPr sz="3075" b="0">
                <a:solidFill>
                  <a:srgbClr val="041C40"/>
                </a:solidFill>
                <a:latin typeface="Times New Roman"/>
                <a:ea typeface="Times New Roman"/>
                <a:cs typeface="Times New Roman"/>
              </a:rPr>
              <a:t>Scoring, routage et sélection de la formation.</a:t>
            </a:r>
          </a:p>
        </p:txBody>
      </p:sp>
      <p:sp>
        <p:nvSpPr>
          <p:cNvPr id="13" name="Prix, références et numérotation des documents.">
            <a:extLst xmlns:a="http://schemas.openxmlformats.org/drawingml/2006/main">
              <a:ext uri="{FF2B5EF4-FFF2-40B4-BE49-F238E27FC236}">
                <a16:creationId xmlns:a16="http://schemas.microsoft.com/office/drawing/2014/main" id="{5B2DA663-C8EA-41E0-915A-5F1925CD73AC}"/>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041C40"/>
                </a:solidFill>
                <a:latin typeface="Times New Roman"/>
                <a:ea typeface="Times New Roman"/>
                <a:cs typeface="Times New Roman"/>
              </a:defRPr>
            </a:pPr>
            <a:r>
              <a:rPr sz="3075" b="0">
                <a:solidFill>
                  <a:srgbClr val="041C40"/>
                </a:solidFill>
                <a:latin typeface="Times New Roman"/>
                <a:ea typeface="Times New Roman"/>
                <a:cs typeface="Times New Roman"/>
              </a:rPr>
              <a:t>Prix, références et numérotation des documents.</a:t>
            </a:r>
          </a:p>
        </p:txBody>
      </p:sp>
      <p:sp>
        <p:nvSpPr>
          <p:cNvPr id="14" name="Journal d’envoi, reprise CRM et erreurs contrôlées.">
            <a:extLst xmlns:a="http://schemas.openxmlformats.org/drawingml/2006/main">
              <a:ext uri="{FF2B5EF4-FFF2-40B4-BE49-F238E27FC236}">
                <a16:creationId xmlns:a16="http://schemas.microsoft.com/office/drawing/2014/main" id="{A9FF7D0B-C06B-479C-9410-D37361183E48}"/>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041C40"/>
                </a:solidFill>
                <a:latin typeface="Times New Roman"/>
                <a:ea typeface="Times New Roman"/>
                <a:cs typeface="Times New Roman"/>
              </a:defRPr>
            </a:pPr>
            <a:r>
              <a:rPr sz="3075" b="0">
                <a:solidFill>
                  <a:srgbClr val="041C40"/>
                </a:solidFill>
                <a:latin typeface="Times New Roman"/>
                <a:ea typeface="Times New Roman"/>
                <a:cs typeface="Times New Roman"/>
              </a:rPr>
              <a:t>Journal d’envoi, reprise CRM et erreurs contrôlées.</a:t>
            </a:r>
          </a:p>
        </p:txBody>
      </p:sp>
      <p:sp>
        <p:nvSpPr>
          <p:cNvPr id="15" name="28 fichiers Python analysés. Aucun conflit de dépendanc">
            <a:extLst xmlns:a="http://schemas.openxmlformats.org/drawingml/2006/main">
              <a:ext uri="{FF2B5EF4-FFF2-40B4-BE49-F238E27FC236}">
                <a16:creationId xmlns:a16="http://schemas.microsoft.com/office/drawing/2014/main" id="{EFD36B80-C3E0-4269-865F-703C93E77CBF}"/>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041C40"/>
                </a:solidFill>
                <a:latin typeface="Times New Roman"/>
                <a:ea typeface="Times New Roman"/>
                <a:cs typeface="Times New Roman"/>
              </a:defRPr>
            </a:pPr>
            <a:r>
              <a:rPr sz="2550" b="0">
                <a:solidFill>
                  <a:srgbClr val="041C40"/>
                </a:solidFill>
                <a:latin typeface="Times New Roman"/>
                <a:ea typeface="Times New Roman"/>
                <a:cs typeface="Times New Roman"/>
              </a:rPr>
              <a:t>28 fichiers Python analysés. Aucun conflit de dépendances détecté.</a:t>
            </a:r>
          </a:p>
        </p:txBody>
      </p:sp>
      <p:sp>
        <p:nvSpPr>
          <p:cNvPr id="16" name="Vérifications locales du 17 septembre 2026. Les service">
            <a:extLst xmlns:a="http://schemas.openxmlformats.org/drawingml/2006/main">
              <a:ext uri="{FF2B5EF4-FFF2-40B4-BE49-F238E27FC236}">
                <a16:creationId xmlns:a16="http://schemas.microsoft.com/office/drawing/2014/main" id="{257ADF39-ECEF-4F30-980B-DFB0A3DAAE9B}"/>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Vérifications locales du 17 septembre 2026. Les services externes restent à valider en conditions réelles.</a:t>
            </a:r>
          </a:p>
        </p:txBody>
      </p:sp>
      <p:sp>
        <p:nvSpPr>
          <p:cNvPr id="17" name="20">
            <a:extLst xmlns:a="http://schemas.openxmlformats.org/drawingml/2006/main">
              <a:ext uri="{FF2B5EF4-FFF2-40B4-BE49-F238E27FC236}">
                <a16:creationId xmlns:a16="http://schemas.microsoft.com/office/drawing/2014/main" id="{9F95130A-EDA2-4B38-9982-0C95DA8474E9}"/>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20</a:t>
            </a:r>
          </a:p>
        </p:txBody>
      </p:sp>
    </p:spTree>
    <p:extLst>
      <p:ext uri="{BB962C8B-B14F-4D97-AF65-F5344CB8AC3E}">
        <p14:creationId xmlns:p14="http://schemas.microsoft.com/office/powerpoint/2010/main" val="169822644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0B9AF26A-9F62-4581-9438-E434C31DF058}"/>
              </a:ext>
            </a:extLst>
          </p:cNvPr>
          <p:cNvSpPr>
            <a:spLocks xmlns:a="http://schemas.openxmlformats.org/drawingml/2006/main" noGrp="1"/>
          </p:cNvSpPr>
          <p:nvPr/>
        </p:nvSpPr>
        <p:spPr>
          <a:xfrm xmlns:a="http://schemas.openxmlformats.org/drawingml/2006/main" rot="0" flipH="0" flipV="0">
            <a:off x="0" y="61805"/>
            <a:ext cx="1866264" cy="2058035"/>
          </a:xfrm>
          <a:custGeom xmlns:a="http://schemas.openxmlformats.org/drawingml/2006/main">
            <a:rect l="l" t="t" r="r" b="b"/>
            <a:pathLst>
              <a:path w="1866264" h="2058035">
                <a:moveTo>
                  <a:pt x="0" y="2057765"/>
                </a:moveTo>
                <a:lnTo>
                  <a:pt x="47319" y="2057166"/>
                </a:lnTo>
                <a:lnTo>
                  <a:pt x="95204" y="2055347"/>
                </a:lnTo>
                <a:lnTo>
                  <a:pt x="142774" y="2052333"/>
                </a:lnTo>
                <a:lnTo>
                  <a:pt x="190014" y="2048138"/>
                </a:lnTo>
                <a:lnTo>
                  <a:pt x="216793" y="2045076"/>
                </a:lnTo>
              </a:path>
              <a:path w="1866264" h="2058035">
                <a:moveTo>
                  <a:pt x="216793" y="2045076"/>
                </a:moveTo>
                <a:lnTo>
                  <a:pt x="236909" y="2042777"/>
                </a:lnTo>
                <a:lnTo>
                  <a:pt x="283444" y="2036265"/>
                </a:lnTo>
                <a:lnTo>
                  <a:pt x="306917" y="2032376"/>
                </a:lnTo>
              </a:path>
              <a:path w="1866264" h="2058035">
                <a:moveTo>
                  <a:pt x="306917" y="2032376"/>
                </a:moveTo>
                <a:lnTo>
                  <a:pt x="375379" y="2019847"/>
                </a:lnTo>
                <a:lnTo>
                  <a:pt x="420749" y="2009971"/>
                </a:lnTo>
                <a:lnTo>
                  <a:pt x="465701" y="1999001"/>
                </a:lnTo>
                <a:lnTo>
                  <a:pt x="510221" y="1986954"/>
                </a:lnTo>
                <a:lnTo>
                  <a:pt x="554293" y="1973844"/>
                </a:lnTo>
                <a:lnTo>
                  <a:pt x="597903" y="1959686"/>
                </a:lnTo>
                <a:lnTo>
                  <a:pt x="641037" y="1944493"/>
                </a:lnTo>
                <a:lnTo>
                  <a:pt x="683679" y="1928282"/>
                </a:lnTo>
                <a:lnTo>
                  <a:pt x="725816" y="1911066"/>
                </a:lnTo>
                <a:lnTo>
                  <a:pt x="767431" y="1892860"/>
                </a:lnTo>
                <a:lnTo>
                  <a:pt x="808512" y="1873680"/>
                </a:lnTo>
                <a:lnTo>
                  <a:pt x="849043" y="1853538"/>
                </a:lnTo>
                <a:lnTo>
                  <a:pt x="889009" y="1832451"/>
                </a:lnTo>
                <a:lnTo>
                  <a:pt x="928396" y="1810433"/>
                </a:lnTo>
                <a:lnTo>
                  <a:pt x="967189" y="1787499"/>
                </a:lnTo>
                <a:lnTo>
                  <a:pt x="1005374" y="1763663"/>
                </a:lnTo>
                <a:lnTo>
                  <a:pt x="1042935" y="1738939"/>
                </a:lnTo>
                <a:lnTo>
                  <a:pt x="1079859" y="1713343"/>
                </a:lnTo>
                <a:lnTo>
                  <a:pt x="1116130" y="1686889"/>
                </a:lnTo>
                <a:lnTo>
                  <a:pt x="1151734" y="1659592"/>
                </a:lnTo>
                <a:lnTo>
                  <a:pt x="1186656" y="1631467"/>
                </a:lnTo>
                <a:lnTo>
                  <a:pt x="1220881" y="1602528"/>
                </a:lnTo>
                <a:lnTo>
                  <a:pt x="1254395" y="1572789"/>
                </a:lnTo>
                <a:lnTo>
                  <a:pt x="1287184" y="1542267"/>
                </a:lnTo>
                <a:lnTo>
                  <a:pt x="1319231" y="1510974"/>
                </a:lnTo>
                <a:lnTo>
                  <a:pt x="1350524" y="1478926"/>
                </a:lnTo>
                <a:lnTo>
                  <a:pt x="1381047" y="1446138"/>
                </a:lnTo>
                <a:lnTo>
                  <a:pt x="1410785" y="1412623"/>
                </a:lnTo>
                <a:lnTo>
                  <a:pt x="1439725" y="1378398"/>
                </a:lnTo>
                <a:lnTo>
                  <a:pt x="1467850" y="1343476"/>
                </a:lnTo>
                <a:lnTo>
                  <a:pt x="1495147" y="1307872"/>
                </a:lnTo>
                <a:lnTo>
                  <a:pt x="1521601" y="1271601"/>
                </a:lnTo>
                <a:lnTo>
                  <a:pt x="1547197" y="1234678"/>
                </a:lnTo>
                <a:lnTo>
                  <a:pt x="1571920" y="1197116"/>
                </a:lnTo>
                <a:lnTo>
                  <a:pt x="1595756" y="1158932"/>
                </a:lnTo>
                <a:lnTo>
                  <a:pt x="1618691" y="1120139"/>
                </a:lnTo>
                <a:lnTo>
                  <a:pt x="1640709" y="1080752"/>
                </a:lnTo>
                <a:lnTo>
                  <a:pt x="1661796" y="1040785"/>
                </a:lnTo>
                <a:lnTo>
                  <a:pt x="1681937" y="1000255"/>
                </a:lnTo>
                <a:lnTo>
                  <a:pt x="1701118" y="959174"/>
                </a:lnTo>
                <a:lnTo>
                  <a:pt x="1719323" y="917558"/>
                </a:lnTo>
                <a:lnTo>
                  <a:pt x="1736539" y="875422"/>
                </a:lnTo>
                <a:lnTo>
                  <a:pt x="1752751" y="832779"/>
                </a:lnTo>
                <a:lnTo>
                  <a:pt x="1767943" y="789645"/>
                </a:lnTo>
                <a:lnTo>
                  <a:pt x="1782102" y="746035"/>
                </a:lnTo>
                <a:lnTo>
                  <a:pt x="1795212" y="701963"/>
                </a:lnTo>
                <a:lnTo>
                  <a:pt x="1807259" y="657444"/>
                </a:lnTo>
                <a:lnTo>
                  <a:pt x="1818228" y="612492"/>
                </a:lnTo>
                <a:lnTo>
                  <a:pt x="1828105" y="567122"/>
                </a:lnTo>
                <a:lnTo>
                  <a:pt x="1836875" y="521349"/>
                </a:lnTo>
                <a:lnTo>
                  <a:pt x="1844523" y="475187"/>
                </a:lnTo>
                <a:lnTo>
                  <a:pt x="1851035" y="428651"/>
                </a:lnTo>
                <a:lnTo>
                  <a:pt x="1856395" y="381756"/>
                </a:lnTo>
                <a:lnTo>
                  <a:pt x="1860590" y="334516"/>
                </a:lnTo>
                <a:lnTo>
                  <a:pt x="1863605" y="286947"/>
                </a:lnTo>
                <a:lnTo>
                  <a:pt x="1865325" y="241673"/>
                </a:lnTo>
                <a:lnTo>
                  <a:pt x="1865373" y="239061"/>
                </a:lnTo>
                <a:lnTo>
                  <a:pt x="1865953" y="196797"/>
                </a:lnTo>
              </a:path>
              <a:path w="1866264" h="2058035">
                <a:moveTo>
                  <a:pt x="1856429" y="374"/>
                </a:moveTo>
                <a:lnTo>
                  <a:pt x="1856376" y="0"/>
                </a:lnTo>
              </a:path>
            </a:pathLst>
          </a:custGeom>
          <a:ln xmlns:a="http://schemas.openxmlformats.org/drawingml/2006/main" w="1904164">
            <a:solidFill>
              <a:srgbClr val="0E933F"/>
            </a:solidFill>
          </a:ln>
        </p:spPr>
        <p:txBody>
          <a:bodyPr xmlns:a="http://schemas.openxmlformats.org/drawingml/2006/main" wrap="square" lIns="0" tIns="0" rIns="0" bIns="0"/>
          <a:lstStyle xmlns:a="http://schemas.openxmlformats.org/drawingml/2006/main"/>
          <a:p xmlns:a="http://schemas.openxmlformats.org/drawingml/2006/main"/>
        </p:txBody>
      </p:sp>
      <p:pic>
        <p:nvPicPr>
          <p:cNvPr id="19" name="object 4"/>
          <p:cNvPicPr>
            <a:picLocks xmlns:a="http://schemas.openxmlformats.org/drawingml/2006/main" noChangeAspect="1"/>
          </p:cNvPicPr>
          <p:nvPr/>
        </p:nvPicPr>
        <p:blipFill>
          <a:blip xmlns:r="http://schemas.openxmlformats.org/officeDocument/2006/relationships" xmlns:a="http://schemas.openxmlformats.org/drawingml/2006/main" r:embed="R60737c35f62d4432"/>
          <a:stretch xmlns:a="http://schemas.openxmlformats.org/drawingml/2006/main">
            <a:fillRect l="0" t="0" r="0" b="0"/>
          </a:stretch>
        </p:blipFill>
        <p:spPr>
          <a:xfrm xmlns:a="http://schemas.openxmlformats.org/drawingml/2006/main" rot="0" flipH="0" flipV="0">
            <a:off x="2441203" y="245027"/>
            <a:ext cx="5267324" cy="1152524"/>
          </a:xfrm>
          <a:prstGeom xmlns:a="http://schemas.openxmlformats.org/drawingml/2006/main" prst="rect">
            <a:avLst/>
          </a:prstGeom>
        </p:spPr>
      </p:pic>
      <p:sp>
        <p:nvSpPr>
          <p:cNvPr id="14" name="Limites et perspectives">
            <a:extLst xmlns:a="http://schemas.openxmlformats.org/drawingml/2006/main">
              <a:ext uri="{FF2B5EF4-FFF2-40B4-BE49-F238E27FC236}">
                <a16:creationId xmlns:a16="http://schemas.microsoft.com/office/drawing/2014/main" id="{AB77A706-667B-40AF-A64A-5B20A115D221}"/>
              </a:ext>
            </a:extLst>
          </p:cNvPr>
          <p:cNvSpPr>
            <a:spLocks xmlns:a="http://schemas.openxmlformats.org/drawingml/2006/main" noGrp="1"/>
          </p:cNvSpPr>
          <p:nvPr/>
        </p:nvSpPr>
        <p:spPr>
          <a:xfrm xmlns:a="http://schemas.openxmlformats.org/drawingml/2006/main">
            <a:off x="1571625" y="1971675"/>
            <a:ext cx="1314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041C40"/>
                </a:solidFill>
                <a:latin typeface="Times New Roman"/>
                <a:ea typeface="Times New Roman"/>
                <a:cs typeface="Times New Roman"/>
              </a:defRPr>
            </a:pPr>
            <a:r>
              <a:rPr sz="3900" b="1">
                <a:solidFill>
                  <a:srgbClr val="041C40"/>
                </a:solidFill>
                <a:latin typeface="Times New Roman"/>
                <a:ea typeface="Times New Roman"/>
                <a:cs typeface="Times New Roman"/>
              </a:rPr>
              <a:t>Limites et perspectives</a:t>
            </a:r>
          </a:p>
        </p:txBody>
      </p:sp>
      <p:graphicFrame>
        <p:nvGraphicFramePr>
          <p:cNvPr id="21" name=""/>
          <p:cNvGraphicFramePr/>
          <p:nvPr/>
        </p:nvGraphicFramePr>
        <p:xfrm>
          <a:off xmlns:a="http://schemas.openxmlformats.org/drawingml/2006/main" x="1571625" y="3333750"/>
          <a:ext xmlns:a="http://schemas.openxmlformats.org/drawingml/2006/main" cx="13239750" cy="4953000"/>
        </p:xfrm>
        <a:graphic xmlns:a="http://schemas.openxmlformats.org/drawingml/2006/main">
          <a:graphicData uri="http://schemas.openxmlformats.org/drawingml/2006/table">
            <a:tbl>
              <a:tblPr/>
              <a:tblGrid>
                <a:gridCol w="3143250"/>
                <a:gridCol w="10096500"/>
              </a:tblGrid>
              <a:tr h="825500">
                <a:tc>
                  <a:txBody>
                    <a:bodyPr lIns="142875" tIns="76200" rIns="142875" bIns="76200"/>
                    <a:lstStyle/>
                    <a:p>
                      <a:r>
                        <a:rPr sz="2625" b="1">
                          <a:solidFill>
                            <a:srgbClr val="FFFFFF"/>
                          </a:solidFill>
                          <a:latin typeface="Times New Roman"/>
                          <a:ea typeface="Times New Roman"/>
                          <a:cs typeface="Times New Roman"/>
                        </a:rPr>
                        <a:t>Priorité</a:t>
                      </a:r>
                    </a:p>
                  </a:txBody>
                  <a:tcPr marL="91440" marR="91440" marT="45720" marB="45720" anchor="ctr">
                    <a:solidFill>
                      <a:srgbClr val="0E933F"/>
                    </a:solidFill>
                  </a:tcPr>
                </a:tc>
                <a:tc>
                  <a:txBody>
                    <a:bodyPr lIns="142875" tIns="76200" rIns="142875" bIns="76200"/>
                    <a:lstStyle/>
                    <a:p>
                      <a:r>
                        <a:rPr sz="2625" b="1">
                          <a:solidFill>
                            <a:srgbClr val="FFFFFF"/>
                          </a:solidFill>
                          <a:latin typeface="Times New Roman"/>
                          <a:ea typeface="Times New Roman"/>
                          <a:cs typeface="Times New Roman"/>
                        </a:rPr>
                        <a:t>Amélioration attendue</a:t>
                      </a:r>
                    </a:p>
                  </a:txBody>
                  <a:tcPr marL="91440" marR="91440" marT="45720" marB="45720" anchor="ctr">
                    <a:solidFill>
                      <a:srgbClr val="0E933F"/>
                    </a:solidFill>
                  </a:tcPr>
                </a:tc>
              </a:tr>
              <a:tr h="825500">
                <a:tc>
                  <a:txBody>
                    <a:bodyPr lIns="142875" tIns="76200" rIns="142875" bIns="76200"/>
                    <a:lstStyle/>
                    <a:p>
                      <a:r>
                        <a:rPr sz="2625" b="0">
                          <a:solidFill>
                            <a:srgbClr val="041C40"/>
                          </a:solidFill>
                          <a:latin typeface="Times New Roman"/>
                          <a:ea typeface="Times New Roman"/>
                          <a:cs typeface="Times New Roman"/>
                        </a:rPr>
                        <a:t>Fiabilité métier</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Formation obligatoire, prix structurés, règles de TVA validées</a:t>
                      </a:r>
                    </a:p>
                  </a:txBody>
                  <a:tcPr marL="91440" marR="91440" marT="45720" marB="45720" anchor="ctr">
                    <a:solidFill>
                      <a:srgbClr val="F0F4F1"/>
                    </a:solidFill>
                  </a:tcPr>
                </a:tc>
              </a:tr>
              <a:tr h="825500">
                <a:tc>
                  <a:txBody>
                    <a:bodyPr lIns="142875" tIns="76200" rIns="142875" bIns="76200"/>
                    <a:lstStyle/>
                    <a:p>
                      <a:r>
                        <a:rPr sz="2625" b="0">
                          <a:solidFill>
                            <a:srgbClr val="041C40"/>
                          </a:solidFill>
                          <a:latin typeface="Times New Roman"/>
                          <a:ea typeface="Times New Roman"/>
                          <a:cs typeface="Times New Roman"/>
                        </a:rPr>
                        <a:t>Exploitation</a:t>
                      </a:r>
                    </a:p>
                  </a:txBody>
                  <a:tcPr marL="91440" marR="91440" marT="45720" marB="45720" anchor="ctr">
                    <a:solidFill>
                      <a:srgbClr val="FFFFFF"/>
                    </a:solidFill>
                  </a:tcPr>
                </a:tc>
                <a:tc>
                  <a:txBody>
                    <a:bodyPr lIns="142875" tIns="76200" rIns="142875" bIns="76200"/>
                    <a:lstStyle/>
                    <a:p>
                      <a:r>
                        <a:rPr sz="2625" b="0">
                          <a:solidFill>
                            <a:srgbClr val="041C40"/>
                          </a:solidFill>
                          <a:latin typeface="Times New Roman"/>
                          <a:ea typeface="Times New Roman"/>
                          <a:cs typeface="Times New Roman"/>
                        </a:rPr>
                        <a:t>Planification, rattrapage des échéances, suivi des réponses</a:t>
                      </a:r>
                    </a:p>
                  </a:txBody>
                  <a:tcPr marL="91440" marR="91440" marT="45720" marB="45720" anchor="ctr">
                    <a:solidFill>
                      <a:srgbClr val="FFFFFF"/>
                    </a:solidFill>
                  </a:tcPr>
                </a:tc>
              </a:tr>
              <a:tr h="825500">
                <a:tc>
                  <a:txBody>
                    <a:bodyPr lIns="142875" tIns="76200" rIns="142875" bIns="76200"/>
                    <a:lstStyle/>
                    <a:p>
                      <a:r>
                        <a:rPr sz="2625" b="0">
                          <a:solidFill>
                            <a:srgbClr val="041C40"/>
                          </a:solidFill>
                          <a:latin typeface="Times New Roman"/>
                          <a:ea typeface="Times New Roman"/>
                          <a:cs typeface="Times New Roman"/>
                        </a:rPr>
                        <a:t>Sécurité</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Accès authentifié, gestion des secrets et des habilitations</a:t>
                      </a:r>
                    </a:p>
                  </a:txBody>
                  <a:tcPr marL="91440" marR="91440" marT="45720" marB="45720" anchor="ctr">
                    <a:solidFill>
                      <a:srgbClr val="F0F4F1"/>
                    </a:solidFill>
                  </a:tcPr>
                </a:tc>
              </a:tr>
              <a:tr h="825500">
                <a:tc>
                  <a:txBody>
                    <a:bodyPr lIns="142875" tIns="76200" rIns="142875" bIns="76200"/>
                    <a:lstStyle/>
                    <a:p>
                      <a:r>
                        <a:rPr sz="2625" b="0">
                          <a:solidFill>
                            <a:srgbClr val="041C40"/>
                          </a:solidFill>
                          <a:latin typeface="Times New Roman"/>
                          <a:ea typeface="Times New Roman"/>
                          <a:cs typeface="Times New Roman"/>
                        </a:rPr>
                        <a:t>Montée en charge</a:t>
                      </a:r>
                    </a:p>
                  </a:txBody>
                  <a:tcPr marL="91440" marR="91440" marT="45720" marB="45720" anchor="ctr">
                    <a:solidFill>
                      <a:srgbClr val="FFFFFF"/>
                    </a:solidFill>
                  </a:tcPr>
                </a:tc>
                <a:tc>
                  <a:txBody>
                    <a:bodyPr lIns="142875" tIns="76200" rIns="142875" bIns="76200"/>
                    <a:lstStyle/>
                    <a:p>
                      <a:r>
                        <a:rPr sz="2625" b="0">
                          <a:solidFill>
                            <a:srgbClr val="041C40"/>
                          </a:solidFill>
                          <a:latin typeface="Times New Roman"/>
                          <a:ea typeface="Times New Roman"/>
                          <a:cs typeface="Times New Roman"/>
                        </a:rPr>
                        <a:t>Journal central, verrouillage et tests de concurrence</a:t>
                      </a:r>
                    </a:p>
                  </a:txBody>
                  <a:tcPr marL="91440" marR="91440" marT="45720" marB="45720" anchor="ctr">
                    <a:solidFill>
                      <a:srgbClr val="FFFFFF"/>
                    </a:solidFill>
                  </a:tcPr>
                </a:tc>
              </a:tr>
              <a:tr h="825500">
                <a:tc>
                  <a:txBody>
                    <a:bodyPr lIns="142875" tIns="76200" rIns="142875" bIns="76200"/>
                    <a:lstStyle/>
                    <a:p>
                      <a:r>
                        <a:rPr sz="2625" b="0">
                          <a:solidFill>
                            <a:srgbClr val="041C40"/>
                          </a:solidFill>
                          <a:latin typeface="Times New Roman"/>
                          <a:ea typeface="Times New Roman"/>
                          <a:cs typeface="Times New Roman"/>
                        </a:rPr>
                        <a:t>Périmètre</a:t>
                      </a:r>
                    </a:p>
                  </a:txBody>
                  <a:tcPr marL="91440" marR="91440" marT="45720" marB="45720" anchor="ctr">
                    <a:solidFill>
                      <a:srgbClr val="F0F4F1"/>
                    </a:solidFill>
                  </a:tcPr>
                </a:tc>
                <a:tc>
                  <a:txBody>
                    <a:bodyPr lIns="142875" tIns="76200" rIns="142875" bIns="76200"/>
                    <a:lstStyle/>
                    <a:p>
                      <a:r>
                        <a:rPr sz="2625" b="0">
                          <a:solidFill>
                            <a:srgbClr val="041C40"/>
                          </a:solidFill>
                          <a:latin typeface="Times New Roman"/>
                          <a:ea typeface="Times New Roman"/>
                          <a:cs typeface="Times New Roman"/>
                        </a:rPr>
                        <a:t>Publication sociale E3 et suivi après-vente</a:t>
                      </a:r>
                    </a:p>
                  </a:txBody>
                  <a:tcPr marL="91440" marR="91440" marT="45720" marB="45720" anchor="ctr">
                    <a:solidFill>
                      <a:srgbClr val="F0F4F1"/>
                    </a:solidFill>
                  </a:tcPr>
                </a:tc>
              </a:tr>
            </a:tbl>
          </a:graphicData>
        </a:graphic>
      </p:graphicFrame>
      <p:sp>
        <p:nvSpPr>
          <p:cNvPr id="16" name="Priorité : fiabiliser les parcours existants avant d’aj">
            <a:extLst xmlns:a="http://schemas.openxmlformats.org/drawingml/2006/main">
              <a:ext uri="{FF2B5EF4-FFF2-40B4-BE49-F238E27FC236}">
                <a16:creationId xmlns:a16="http://schemas.microsoft.com/office/drawing/2014/main" id="{C5B4375D-325B-49BB-BBB7-1D72F1281A39}"/>
              </a:ext>
            </a:extLst>
          </p:cNvPr>
          <p:cNvSpPr>
            <a:spLocks xmlns:a="http://schemas.openxmlformats.org/drawingml/2006/main" noGrp="1"/>
          </p:cNvSpPr>
          <p:nvPr/>
        </p:nvSpPr>
        <p:spPr>
          <a:xfrm xmlns:a="http://schemas.openxmlformats.org/drawingml/2006/main">
            <a:off x="1571625" y="8991600"/>
            <a:ext cx="1304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45544B"/>
                </a:solidFill>
                <a:latin typeface="Times New Roman"/>
                <a:ea typeface="Times New Roman"/>
                <a:cs typeface="Times New Roman"/>
              </a:defRPr>
            </a:pPr>
            <a:r>
              <a:rPr sz="2100" b="0">
                <a:solidFill>
                  <a:srgbClr val="45544B"/>
                </a:solidFill>
                <a:latin typeface="Times New Roman"/>
                <a:ea typeface="Times New Roman"/>
                <a:cs typeface="Times New Roman"/>
              </a:rPr>
              <a:t>Priorité : fiabiliser les parcours existants avant d’ajouter de nouveaux canaux.</a:t>
            </a:r>
          </a:p>
        </p:txBody>
      </p:sp>
      <p:sp>
        <p:nvSpPr>
          <p:cNvPr id="17" name="21">
            <a:extLst xmlns:a="http://schemas.openxmlformats.org/drawingml/2006/main">
              <a:ext uri="{FF2B5EF4-FFF2-40B4-BE49-F238E27FC236}">
                <a16:creationId xmlns:a16="http://schemas.microsoft.com/office/drawing/2014/main" id="{83333A8C-3F86-4DE8-A90B-45F9CFE74ABB}"/>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21</a:t>
            </a:r>
          </a:p>
        </p:txBody>
      </p:sp>
    </p:spTree>
    <p:extLst>
      <p:ext uri="{BB962C8B-B14F-4D97-AF65-F5344CB8AC3E}">
        <p14:creationId xmlns:p14="http://schemas.microsoft.com/office/powerpoint/2010/main" val="2032035911"/>
      </p:ext>
    </p:extLst>
  </p:cSld>
</p:sld>
</file>

<file path=ppt/slides/slide22.xml><?xml version="1.0" encoding="utf-8"?>
<p:sld xmlns:p="http://schemas.openxmlformats.org/presentationml/2006/main" showMasterSp="0">
  <p:cSld>
    <p:spTree>
      <p:nvGrpSpPr>
        <p:cNvPr id="1" name=""/>
        <p:cNvGrpSpPr/>
        <p:nvPr/>
      </p:nvGrpSpPr>
      <p:grpSpPr>
        <a:xfrm xmlns:a="http://schemas.openxmlformats.org/drawingml/2006/main"/>
      </p:grpSpPr>
      <p:sp>
        <p:nvSpPr>
          <p:cNvPr id="3" name="object 3">
            <a:extLst xmlns:a="http://schemas.openxmlformats.org/drawingml/2006/main">
              <a:ext uri="{FF2B5EF4-FFF2-40B4-BE49-F238E27FC236}">
                <a16:creationId xmlns:a16="http://schemas.microsoft.com/office/drawing/2014/main" id="{03ED53C3-A6B2-43B3-956D-A5F8EACB62E2}"/>
              </a:ext>
            </a:extLst>
          </p:cNvPr>
          <p:cNvSpPr>
            <a:spLocks xmlns:a="http://schemas.openxmlformats.org/drawingml/2006/main" noGrp="1"/>
          </p:cNvSpPr>
          <p:nvPr/>
        </p:nvSpPr>
        <p:spPr>
          <a:xfrm xmlns:a="http://schemas.openxmlformats.org/drawingml/2006/main">
            <a:off x="12398911" y="0"/>
            <a:ext cx="5890260" cy="757555"/>
          </a:xfrm>
          <a:custGeom xmlns:a="http://schemas.openxmlformats.org/drawingml/2006/main">
            <a:rect l="l" t="t" r="r" b="b"/>
            <a:pathLst>
              <a:path w="5890259" h="757555">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sp>
        <p:nvSpPr>
          <p:cNvPr id="4" name="object 4">
            <a:extLst xmlns:a="http://schemas.openxmlformats.org/drawingml/2006/main">
              <a:ext uri="{FF2B5EF4-FFF2-40B4-BE49-F238E27FC236}">
                <a16:creationId xmlns:a16="http://schemas.microsoft.com/office/drawing/2014/main" id="{5F659102-F599-42A7-9407-E54BABCCAD20}"/>
              </a:ext>
            </a:extLst>
          </p:cNvPr>
          <p:cNvSpPr>
            <a:spLocks xmlns:a="http://schemas.openxmlformats.org/drawingml/2006/main" noGrp="1"/>
          </p:cNvSpPr>
          <p:nvPr/>
        </p:nvSpPr>
        <p:spPr>
          <a:xfrm xmlns:a="http://schemas.openxmlformats.org/drawingml/2006/main">
            <a:off x="12398911" y="9530040"/>
            <a:ext cx="5890260" cy="757555"/>
          </a:xfrm>
          <a:custGeom xmlns:a="http://schemas.openxmlformats.org/drawingml/2006/main">
            <a:rect l="l" t="t" r="r" b="b"/>
            <a:pathLst>
              <a:path w="5890259" h="757554">
                <a:moveTo>
                  <a:pt x="5890090" y="756959"/>
                </a:moveTo>
                <a:lnTo>
                  <a:pt x="0" y="756959"/>
                </a:lnTo>
                <a:lnTo>
                  <a:pt x="0" y="0"/>
                </a:lnTo>
                <a:lnTo>
                  <a:pt x="5890090" y="0"/>
                </a:lnTo>
                <a:lnTo>
                  <a:pt x="5890090" y="756959"/>
                </a:lnTo>
                <a:close/>
              </a:path>
            </a:pathLst>
          </a:custGeom>
          <a:solidFill xmlns:a="http://schemas.openxmlformats.org/drawingml/2006/main">
            <a:srgbClr val="0E933F"/>
          </a:solidFill>
        </p:spPr>
        <p:txBody>
          <a:bodyPr xmlns:a="http://schemas.openxmlformats.org/drawingml/2006/main" wrap="square" lIns="0" tIns="0" rIns="0" bIns="0"/>
          <a:lstStyle xmlns:a="http://schemas.openxmlformats.org/drawingml/2006/main"/>
          <a:p xmlns:a="http://schemas.openxmlformats.org/drawingml/2006/main"/>
        </p:txBody>
      </p:sp>
      <p:pic>
        <p:nvPicPr>
          <p:cNvPr id="15" name="object 5"/>
          <p:cNvPicPr>
            <a:picLocks xmlns:a="http://schemas.openxmlformats.org/drawingml/2006/main" noChangeAspect="1"/>
          </p:cNvPicPr>
          <p:nvPr/>
        </p:nvPicPr>
        <p:blipFill>
          <a:blip xmlns:r="http://schemas.openxmlformats.org/officeDocument/2006/relationships" xmlns:a="http://schemas.openxmlformats.org/drawingml/2006/main" r:embed="R023965fdcdae4c35"/>
          <a:stretch xmlns:a="http://schemas.openxmlformats.org/drawingml/2006/main">
            <a:fillRect l="0" t="0" r="0" b="0"/>
          </a:stretch>
        </p:blipFill>
        <p:spPr>
          <a:xfrm xmlns:a="http://schemas.openxmlformats.org/drawingml/2006/main">
            <a:off x="2441202" y="245027"/>
            <a:ext cx="5267324" cy="1152524"/>
          </a:xfrm>
          <a:prstGeom xmlns:a="http://schemas.openxmlformats.org/drawingml/2006/main" prst="rect">
            <a:avLst/>
          </a:prstGeom>
        </p:spPr>
      </p:pic>
      <p:sp>
        <p:nvSpPr>
          <p:cNvPr id="8" name="CONCLUSION">
            <a:extLst xmlns:a="http://schemas.openxmlformats.org/drawingml/2006/main">
              <a:ext uri="{FF2B5EF4-FFF2-40B4-BE49-F238E27FC236}">
                <a16:creationId xmlns:a16="http://schemas.microsoft.com/office/drawing/2014/main" id="{B38289B7-C707-4D28-8FFF-5DABFA69B673}"/>
              </a:ext>
            </a:extLst>
          </p:cNvPr>
          <p:cNvSpPr>
            <a:spLocks xmlns:a="http://schemas.openxmlformats.org/drawingml/2006/main" noGrp="1"/>
          </p:cNvSpPr>
          <p:nvPr/>
        </p:nvSpPr>
        <p:spPr>
          <a:xfrm xmlns:a="http://schemas.openxmlformats.org/drawingml/2006/main">
            <a:off x="1952625" y="4095750"/>
            <a:ext cx="1228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200" b="1">
                <a:solidFill>
                  <a:srgbClr val="041C40"/>
                </a:solidFill>
                <a:latin typeface="Times New Roman"/>
                <a:ea typeface="Times New Roman"/>
                <a:cs typeface="Times New Roman"/>
              </a:defRPr>
            </a:pPr>
            <a:r>
              <a:rPr sz="4200" b="1">
                <a:solidFill>
                  <a:srgbClr val="041C40"/>
                </a:solidFill>
                <a:latin typeface="Times New Roman"/>
                <a:ea typeface="Times New Roman"/>
                <a:cs typeface="Times New Roman"/>
              </a:rPr>
              <a:t>CONCLUSION</a:t>
            </a:r>
          </a:p>
        </p:txBody>
      </p:sp>
      <p:sp>
        <p:nvSpPr>
          <p:cNvPr id="9" name="Un prototype qui relie la qualification du prospect&#10;aux">
            <a:extLst xmlns:a="http://schemas.openxmlformats.org/drawingml/2006/main">
              <a:ext uri="{FF2B5EF4-FFF2-40B4-BE49-F238E27FC236}">
                <a16:creationId xmlns:a16="http://schemas.microsoft.com/office/drawing/2014/main" id="{9EA66937-DE50-4EEC-99FE-8A44677CF580}"/>
              </a:ext>
            </a:extLst>
          </p:cNvPr>
          <p:cNvSpPr>
            <a:spLocks xmlns:a="http://schemas.openxmlformats.org/drawingml/2006/main" noGrp="1"/>
          </p:cNvSpPr>
          <p:nvPr/>
        </p:nvSpPr>
        <p:spPr>
          <a:xfrm xmlns:a="http://schemas.openxmlformats.org/drawingml/2006/main">
            <a:off x="2428875" y="5524500"/>
            <a:ext cx="1133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Un prototype qui relie la qualification du prospect</a:t>
            </a:r>
          </a:p>
          <a:p xmlns:a="http://schemas.openxmlformats.org/drawingml/2006/main">
            <a:pPr algn="ctr">
              <a:defRPr sz="2850" b="0">
                <a:solidFill>
                  <a:srgbClr val="041C40"/>
                </a:solidFill>
                <a:latin typeface="Times New Roman"/>
                <a:ea typeface="Times New Roman"/>
                <a:cs typeface="Times New Roman"/>
              </a:defRPr>
            </a:pPr>
            <a:r>
              <a:rPr sz="2850" b="0">
                <a:solidFill>
                  <a:srgbClr val="041C40"/>
                </a:solidFill>
                <a:latin typeface="Times New Roman"/>
                <a:ea typeface="Times New Roman"/>
                <a:cs typeface="Times New Roman"/>
              </a:rPr>
              <a:t>aux communications et aux documents commerciaux</a:t>
            </a:r>
          </a:p>
        </p:txBody>
      </p:sp>
      <p:sp>
        <p:nvSpPr>
          <p:cNvPr id="10" name="22">
            <a:extLst xmlns:a="http://schemas.openxmlformats.org/drawingml/2006/main">
              <a:ext uri="{FF2B5EF4-FFF2-40B4-BE49-F238E27FC236}">
                <a16:creationId xmlns:a16="http://schemas.microsoft.com/office/drawing/2014/main" id="{F6F4313C-68D2-4F61-B158-245537145A75}"/>
              </a:ext>
            </a:extLst>
          </p:cNvPr>
          <p:cNvSpPr>
            <a:spLocks xmlns:a="http://schemas.openxmlformats.org/drawingml/2006/main" noGrp="1"/>
          </p:cNvSpPr>
          <p:nvPr/>
        </p:nvSpPr>
        <p:spPr>
          <a:xfrm xmlns:a="http://schemas.openxmlformats.org/drawingml/2006/main">
            <a:off x="8096250" y="96393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E933F"/>
                </a:solidFill>
                <a:latin typeface="Times New Roman"/>
                <a:ea typeface="Times New Roman"/>
                <a:cs typeface="Times New Roman"/>
              </a:defRPr>
            </a:pPr>
            <a:r>
              <a:rPr sz="2250" b="1">
                <a:solidFill>
                  <a:srgbClr val="0E933F"/>
                </a:solidFill>
                <a:latin typeface="Times New Roman"/>
                <a:ea typeface="Times New Roman"/>
                <a:cs typeface="Times New Roman"/>
              </a:rPr>
              <a:t>22</a:t>
            </a:r>
          </a:p>
        </p:txBody>
      </p:sp>
      <p:sp>
        <p:nvSpPr>
          <p:cNvPr id="11" name="Merci pour votre attention">
            <a:extLst xmlns:a="http://schemas.openxmlformats.org/drawingml/2006/main">
              <a:ext uri="{FF2B5EF4-FFF2-40B4-BE49-F238E27FC236}">
                <a16:creationId xmlns:a16="http://schemas.microsoft.com/office/drawing/2014/main" id="{4562D7F9-48EE-40FF-B598-4BB3D893C909}"/>
              </a:ext>
            </a:extLst>
          </p:cNvPr>
          <p:cNvSpPr>
            <a:spLocks xmlns:a="http://schemas.openxmlformats.org/drawingml/2006/main" noGrp="1"/>
          </p:cNvSpPr>
          <p:nvPr/>
        </p:nvSpPr>
        <p:spPr>
          <a:xfrm xmlns:a="http://schemas.openxmlformats.org/drawingml/2006/main">
            <a:off x="2667000" y="7486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041C40"/>
                </a:solidFill>
                <a:latin typeface="Times New Roman"/>
                <a:ea typeface="Times New Roman"/>
                <a:cs typeface="Times New Roman"/>
              </a:defRPr>
            </a:pPr>
            <a:r>
              <a:rPr sz="3600" b="1">
                <a:solidFill>
                  <a:srgbClr val="041C40"/>
                </a:solidFill>
                <a:latin typeface="Times New Roman"/>
                <a:ea typeface="Times New Roman"/>
                <a:cs typeface="Times New Roman"/>
              </a:rPr>
              <a:t>Merci pour votre attention</a:t>
            </a:r>
          </a:p>
        </p:txBody>
      </p:sp>
      <p:sp>
        <p:nvSpPr>
          <p:cNvPr id="12" name="Questions et échanges">
            <a:extLst xmlns:a="http://schemas.openxmlformats.org/drawingml/2006/main">
              <a:ext uri="{FF2B5EF4-FFF2-40B4-BE49-F238E27FC236}">
                <a16:creationId xmlns:a16="http://schemas.microsoft.com/office/drawing/2014/main" id="{92DF0E94-985B-4E14-9DFD-DA5080B0396D}"/>
              </a:ext>
            </a:extLst>
          </p:cNvPr>
          <p:cNvSpPr>
            <a:spLocks xmlns:a="http://schemas.openxmlformats.org/drawingml/2006/main" noGrp="1"/>
          </p:cNvSpPr>
          <p:nvPr/>
        </p:nvSpPr>
        <p:spPr>
          <a:xfrm xmlns:a="http://schemas.openxmlformats.org/drawingml/2006/main">
            <a:off x="2667000" y="83915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625" b="0">
                <a:solidFill>
                  <a:srgbClr val="041C40"/>
                </a:solidFill>
                <a:latin typeface="Times New Roman"/>
                <a:ea typeface="Times New Roman"/>
                <a:cs typeface="Times New Roman"/>
              </a:defRPr>
            </a:pPr>
            <a:r>
              <a:rPr sz="2625" b="0">
                <a:solidFill>
                  <a:srgbClr val="041C40"/>
                </a:solidFill>
                <a:latin typeface="Times New Roman"/>
                <a:ea typeface="Times New Roman"/>
                <a:cs typeface="Times New Roman"/>
              </a:rPr>
              <a:t>Questions et échanges</a:t>
            </a:r>
          </a:p>
        </p:txBody>
      </p:sp>
    </p:spTree>
    <p:extLst>
      <p:ext uri="{BB962C8B-B14F-4D97-AF65-F5344CB8AC3E}">
        <p14:creationId xmlns:p14="http://schemas.microsoft.com/office/powerpoint/2010/main" val="5280550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2026-09-17T14:57:29.7490000Z</dcterms:created>
  <dcterms:modified xsi:type="dcterms:W3CDTF">2026-09-17T14:57:29.7490000Z</dcterms:modified>
</coreProperties>
</file>