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b20034f9ee4228" /><Relationship Type="http://schemas.openxmlformats.org/officeDocument/2006/relationships/extended-properties" Target="/docProps/app.xml" Id="Rf77689ecd64f463d" /><Relationship Type="http://schemas.openxmlformats.org/officeDocument/2006/relationships/officeDocument" Target="/ppt/presentation.xml" Id="Rd4d83f94373c44dd" /></Relationships>
</file>

<file path=ppt/presentation.xml><?xml version="1.0" encoding="utf-8"?>
<p:presentation xmlns:p="http://schemas.openxmlformats.org/presentationml/2006/main">
  <p:sldMasterIdLst>
    <p:sldMasterId xmlns:r="http://schemas.openxmlformats.org/officeDocument/2006/relationships" id="2147483648" r:id="Rd76012f3e539474a"/>
  </p:sldMasterIdLst>
  <p:notesMasterIdLst>
    <p:notesMasterId xmlns:r="http://schemas.openxmlformats.org/officeDocument/2006/relationships" r:id="Rca5b6b94369243e9"/>
  </p:notesMasterIdLst>
  <p:sldIdLst>
    <p:sldId xmlns:r="http://schemas.openxmlformats.org/officeDocument/2006/relationships" id="256" r:id="R2262f4cb8f39453d"/>
    <p:sldId xmlns:r="http://schemas.openxmlformats.org/officeDocument/2006/relationships" id="257" r:id="R5abf98af2c1e4d01"/>
    <p:sldId xmlns:r="http://schemas.openxmlformats.org/officeDocument/2006/relationships" id="258" r:id="R2f3dd6c7a6504ce0"/>
    <p:sldId xmlns:r="http://schemas.openxmlformats.org/officeDocument/2006/relationships" id="259" r:id="R6ec9148f67454da9"/>
    <p:sldId xmlns:r="http://schemas.openxmlformats.org/officeDocument/2006/relationships" id="260" r:id="Reb0274dd05b946d6"/>
    <p:sldId xmlns:r="http://schemas.openxmlformats.org/officeDocument/2006/relationships" id="261" r:id="R67b9f898ecf44437"/>
    <p:sldId xmlns:r="http://schemas.openxmlformats.org/officeDocument/2006/relationships" id="262" r:id="Re8adff871ba9417e"/>
    <p:sldId xmlns:r="http://schemas.openxmlformats.org/officeDocument/2006/relationships" id="263" r:id="R7c1f7f75608e4e37"/>
    <p:sldId xmlns:r="http://schemas.openxmlformats.org/officeDocument/2006/relationships" id="264" r:id="Re6bc945bcdff4b73"/>
    <p:sldId xmlns:r="http://schemas.openxmlformats.org/officeDocument/2006/relationships" id="265" r:id="R31db89fa231c4432"/>
    <p:sldId xmlns:r="http://schemas.openxmlformats.org/officeDocument/2006/relationships" id="266" r:id="R4f0be886ea3a459d"/>
    <p:sldId xmlns:r="http://schemas.openxmlformats.org/officeDocument/2006/relationships" id="267" r:id="R28ffd452e9854959"/>
    <p:sldId xmlns:r="http://schemas.openxmlformats.org/officeDocument/2006/relationships" id="268" r:id="Ra20034771e2c44a8"/>
    <p:sldId xmlns:r="http://schemas.openxmlformats.org/officeDocument/2006/relationships" id="269" r:id="Rc426d06f87d64cef"/>
    <p:sldId xmlns:r="http://schemas.openxmlformats.org/officeDocument/2006/relationships" id="270" r:id="Rade998cccd3c4cf3"/>
    <p:sldId xmlns:r="http://schemas.openxmlformats.org/officeDocument/2006/relationships" id="271" r:id="R7e2868622a654893"/>
    <p:sldId xmlns:r="http://schemas.openxmlformats.org/officeDocument/2006/relationships" id="272" r:id="R188b3fa0ad194c79"/>
    <p:sldId xmlns:r="http://schemas.openxmlformats.org/officeDocument/2006/relationships" id="273" r:id="Rb49d704e97d64f27"/>
    <p:sldId xmlns:r="http://schemas.openxmlformats.org/officeDocument/2006/relationships" id="274" r:id="R3e65b2d6a4ce4319"/>
    <p:sldId xmlns:r="http://schemas.openxmlformats.org/officeDocument/2006/relationships" id="275" r:id="R3646b967db8d42fe"/>
    <p:sldId xmlns:r="http://schemas.openxmlformats.org/officeDocument/2006/relationships" id="276" r:id="Re651e67e8af84d57"/>
    <p:sldId xmlns:r="http://schemas.openxmlformats.org/officeDocument/2006/relationships" id="277" r:id="R1b685533ea2e4b0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371a9ddad84b5a" /><Relationship Type="http://schemas.openxmlformats.org/officeDocument/2006/relationships/slideMaster" Target="/ppt/slideMasters/slideMaster1.xml" Id="Rd76012f3e539474a" /><Relationship Type="http://schemas.openxmlformats.org/officeDocument/2006/relationships/notesMaster" Target="/ppt/notesMasters/notesMaster1.xml" Id="Rca5b6b94369243e9" /><Relationship Type="http://schemas.openxmlformats.org/officeDocument/2006/relationships/presProps" Target="/ppt/presProps.xml" Id="Rd1a77c7744b34966" /><Relationship Type="http://schemas.openxmlformats.org/officeDocument/2006/relationships/tableStyles" Target="/ppt/tableStyles.xml" Id="Rf778832ddc2f4a00" /><Relationship Type="http://schemas.openxmlformats.org/officeDocument/2006/relationships/slide" Target="/ppt/slides/slide1.xml" Id="R2262f4cb8f39453d" /><Relationship Type="http://schemas.openxmlformats.org/officeDocument/2006/relationships/slide" Target="/ppt/slides/slide2.xml" Id="R5abf98af2c1e4d01" /><Relationship Type="http://schemas.openxmlformats.org/officeDocument/2006/relationships/slide" Target="/ppt/slides/slide3.xml" Id="R2f3dd6c7a6504ce0" /><Relationship Type="http://schemas.openxmlformats.org/officeDocument/2006/relationships/slide" Target="/ppt/slides/slide4.xml" Id="R6ec9148f67454da9" /><Relationship Type="http://schemas.openxmlformats.org/officeDocument/2006/relationships/slide" Target="/ppt/slides/slide5.xml" Id="Reb0274dd05b946d6" /><Relationship Type="http://schemas.openxmlformats.org/officeDocument/2006/relationships/slide" Target="/ppt/slides/slide6.xml" Id="R67b9f898ecf44437" /><Relationship Type="http://schemas.openxmlformats.org/officeDocument/2006/relationships/slide" Target="/ppt/slides/slide7.xml" Id="Re8adff871ba9417e" /><Relationship Type="http://schemas.openxmlformats.org/officeDocument/2006/relationships/slide" Target="/ppt/slides/slide8.xml" Id="R7c1f7f75608e4e37" /><Relationship Type="http://schemas.openxmlformats.org/officeDocument/2006/relationships/slide" Target="/ppt/slides/slide9.xml" Id="Re6bc945bcdff4b73" /><Relationship Type="http://schemas.openxmlformats.org/officeDocument/2006/relationships/slide" Target="/ppt/slides/slide10.xml" Id="R31db89fa231c4432" /><Relationship Type="http://schemas.openxmlformats.org/officeDocument/2006/relationships/slide" Target="/ppt/slides/slide11.xml" Id="R4f0be886ea3a459d" /><Relationship Type="http://schemas.openxmlformats.org/officeDocument/2006/relationships/slide" Target="/ppt/slides/slide12.xml" Id="R28ffd452e9854959" /><Relationship Type="http://schemas.openxmlformats.org/officeDocument/2006/relationships/slide" Target="/ppt/slides/slide13.xml" Id="Ra20034771e2c44a8" /><Relationship Type="http://schemas.openxmlformats.org/officeDocument/2006/relationships/slide" Target="/ppt/slides/slide14.xml" Id="Rc426d06f87d64cef" /><Relationship Type="http://schemas.openxmlformats.org/officeDocument/2006/relationships/slide" Target="/ppt/slides/slide15.xml" Id="Rade998cccd3c4cf3" /><Relationship Type="http://schemas.openxmlformats.org/officeDocument/2006/relationships/slide" Target="/ppt/slides/slide16.xml" Id="R7e2868622a654893" /><Relationship Type="http://schemas.openxmlformats.org/officeDocument/2006/relationships/slide" Target="/ppt/slides/slide17.xml" Id="R188b3fa0ad194c79" /><Relationship Type="http://schemas.openxmlformats.org/officeDocument/2006/relationships/slide" Target="/ppt/slides/slide18.xml" Id="Rb49d704e97d64f27" /><Relationship Type="http://schemas.openxmlformats.org/officeDocument/2006/relationships/slide" Target="/ppt/slides/slide19.xml" Id="R3e65b2d6a4ce4319" /><Relationship Type="http://schemas.openxmlformats.org/officeDocument/2006/relationships/slide" Target="/ppt/slides/slide20.xml" Id="R3646b967db8d42fe" /><Relationship Type="http://schemas.openxmlformats.org/officeDocument/2006/relationships/slide" Target="/ppt/slides/slide21.xml" Id="Re651e67e8af84d57" /><Relationship Type="http://schemas.openxmlformats.org/officeDocument/2006/relationships/slide" Target="/ppt/slides/slide22.xml" Id="R1b685533ea2e4b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93dcb5bf7648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50259770ef4a1c" /><Relationship Type="http://schemas.openxmlformats.org/officeDocument/2006/relationships/notesMaster" Target="/ppt/notesMasters/notesMaster1.xml" Id="R68fa3b91e71044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7d5d5cdeec4bbc" /><Relationship Type="http://schemas.openxmlformats.org/officeDocument/2006/relationships/notesMaster" Target="/ppt/notesMasters/notesMaster1.xml" Id="R1191c233f57545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c3c62787df4608" /><Relationship Type="http://schemas.openxmlformats.org/officeDocument/2006/relationships/notesMaster" Target="/ppt/notesMasters/notesMaster1.xml" Id="R5468323b6d6f4b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5e4014972f4c19" /><Relationship Type="http://schemas.openxmlformats.org/officeDocument/2006/relationships/notesMaster" Target="/ppt/notesMasters/notesMaster1.xml" Id="R5edfb5454f094c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2feebdacea40e5" /><Relationship Type="http://schemas.openxmlformats.org/officeDocument/2006/relationships/notesMaster" Target="/ppt/notesMasters/notesMaster1.xml" Id="Rfb46517459f744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f0aec7f7444308" /><Relationship Type="http://schemas.openxmlformats.org/officeDocument/2006/relationships/notesMaster" Target="/ppt/notesMasters/notesMaster1.xml" Id="R902feec0e1aa45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2707bafd8245d5" /><Relationship Type="http://schemas.openxmlformats.org/officeDocument/2006/relationships/notesMaster" Target="/ppt/notesMasters/notesMaster1.xml" Id="R0c6878732d584f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7c8f6db7ae4e7c" /><Relationship Type="http://schemas.openxmlformats.org/officeDocument/2006/relationships/notesMaster" Target="/ppt/notesMasters/notesMaster1.xml" Id="R5f94cd9703a142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ea1ec3ecae4004" /><Relationship Type="http://schemas.openxmlformats.org/officeDocument/2006/relationships/notesMaster" Target="/ppt/notesMasters/notesMaster1.xml" Id="R416859a71b5240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132eff7a494af1" /><Relationship Type="http://schemas.openxmlformats.org/officeDocument/2006/relationships/notesMaster" Target="/ppt/notesMasters/notesMaster1.xml" Id="R4fb509f4186840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e5f6f0a25e4ffb" /><Relationship Type="http://schemas.openxmlformats.org/officeDocument/2006/relationships/notesMaster" Target="/ppt/notesMasters/notesMaster1.xml" Id="R90433621b5fb4c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adf8f060d74433" /><Relationship Type="http://schemas.openxmlformats.org/officeDocument/2006/relationships/notesMaster" Target="/ppt/notesMasters/notesMaster1.xml" Id="R9ecff9ef51e149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c7d3d05fff48a4" /><Relationship Type="http://schemas.openxmlformats.org/officeDocument/2006/relationships/notesMaster" Target="/ppt/notesMasters/notesMaster1.xml" Id="Re04cda59088549f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398e3bf9f84b16" /><Relationship Type="http://schemas.openxmlformats.org/officeDocument/2006/relationships/notesMaster" Target="/ppt/notesMasters/notesMaster1.xml" Id="Rd7f9930ef34a43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8d7ad6303449d1" /><Relationship Type="http://schemas.openxmlformats.org/officeDocument/2006/relationships/notesMaster" Target="/ppt/notesMasters/notesMaster1.xml" Id="R483edb3dae2246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86ea2c811924ed5" /><Relationship Type="http://schemas.openxmlformats.org/officeDocument/2006/relationships/notesMaster" Target="/ppt/notesMasters/notesMaster1.xml" Id="R22edcc7b4ec14d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ff234905d64130" /><Relationship Type="http://schemas.openxmlformats.org/officeDocument/2006/relationships/notesMaster" Target="/ppt/notesMasters/notesMaster1.xml" Id="R39fc801be23d4e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cbd9af339347e9" /><Relationship Type="http://schemas.openxmlformats.org/officeDocument/2006/relationships/notesMaster" Target="/ppt/notesMasters/notesMaster1.xml" Id="R3bab09728c54431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707c15dca934754" /><Relationship Type="http://schemas.openxmlformats.org/officeDocument/2006/relationships/notesMaster" Target="/ppt/notesMasters/notesMaster1.xml" Id="R59536e62fd644f0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0869c160c34d0d" /><Relationship Type="http://schemas.openxmlformats.org/officeDocument/2006/relationships/notesMaster" Target="/ppt/notesMasters/notesMaster1.xml" Id="Rfe5dcdc00fe84d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dbe819248b4850" /><Relationship Type="http://schemas.openxmlformats.org/officeDocument/2006/relationships/notesMaster" Target="/ppt/notesMasters/notesMaster1.xml" Id="R4a8e7db0c1904f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61517ac4634f23" /><Relationship Type="http://schemas.openxmlformats.org/officeDocument/2006/relationships/notesMaster" Target="/ppt/notesMasters/notesMaster1.xml" Id="R75e8ae2e135149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25 secondes.</a:t>
            </a:r>
          </a:p>
          <a:p xmlns:a="http://schemas.openxmlformats.org/drawingml/2006/main">
            <a:r>
              <a:t/>
            </a:r>
          </a:p>
          <a:p xmlns:a="http://schemas.openxmlformats.org/drawingml/2006/main">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xmlns:a="http://schemas.openxmlformats.org/drawingml/2006/main">
            <a:r>
              <a:t/>
            </a:r>
          </a:p>
          <a:p xmlns:a="http://schemas.openxmlformats.org/drawingml/2006/main">
            <a:r>
              <a:t>Sources : Rapport, couverture et introduction générale.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20 secondes.</a:t>
            </a:r>
          </a:p>
          <a:p xmlns:a="http://schemas.openxmlformats.org/drawingml/2006/main">
            <a:r>
              <a:t/>
            </a:r>
          </a:p>
          <a:p xmlns:a="http://schemas.openxmlformats.org/drawingml/2006/main">
            <a:r>
              <a:t>La présentation suit cinq parties. Après le contexte et les besoins, je présenterai le fonctionnement du système, puis ses choix techniques et une démonstration. Je terminerai par les résultats et les limites à traiter.</a:t>
            </a:r>
          </a:p>
          <a:p xmlns:a="http://schemas.openxmlformats.org/drawingml/2006/main">
            <a:r>
              <a:t/>
            </a:r>
          </a:p>
          <a:p xmlns:a="http://schemas.openxmlformats.org/drawingml/2006/main">
            <a:r>
              <a:t>Sources : Structure du modèle de présentation fourni.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secondes.</a:t>
            </a:r>
          </a:p>
          <a:p xmlns:a="http://schemas.openxmlformats.org/drawingml/2006/main">
            <a:r>
              <a:t/>
            </a:r>
          </a:p>
          <a:p xmlns:a="http://schemas.openxmlformats.org/drawingml/2006/main">
            <a:r>
              <a:t>La question de départ est simple : comment assurer la continuité du suivi lorsqu’un dossier traverse plusieurs étapes et plusieurs outils ?</a:t>
            </a:r>
          </a:p>
          <a:p xmlns:a="http://schemas.openxmlformats.org/drawingml/2006/main">
            <a:r>
              <a:t/>
            </a:r>
          </a:p>
          <a:p xmlns:a="http://schemas.openxmlformats.org/drawingml/2006/main">
            <a:r>
              <a:t>Sources : Rapport, introduction et problématique.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xmlns:a="http://schemas.openxmlformats.org/drawingml/2006/main">
            <a:r>
              <a:t/>
            </a:r>
          </a:p>
          <a:p xmlns:a="http://schemas.openxmlformats.org/drawingml/2006/main">
            <a:r>
              <a:t>Sources : Rapport, sections 1.1 et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Le projet doit automatiser les opérations répétitives tout en laissant les décisions et la négociation au commercial.</a:t>
            </a:r>
          </a:p>
          <a:p xmlns:a="http://schemas.openxmlformats.org/drawingml/2006/main">
            <a:r>
              <a:t/>
            </a:r>
          </a:p>
          <a:p xmlns:a="http://schemas.openxmlformats.org/drawingml/2006/main">
            <a:r>
              <a:t>Sources : Rapport, section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xmlns:a="http://schemas.openxmlformats.org/drawingml/2006/main">
            <a:r>
              <a:t/>
            </a:r>
          </a:p>
          <a:p xmlns:a="http://schemas.openxmlformats.org/drawingml/2006/main">
            <a:r>
              <a:t>Sources : Rapport, sections 1.2.3 et 3.2.2.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xmlns:a="http://schemas.openxmlformats.org/drawingml/2006/main">
            <a:r>
              <a:t/>
            </a:r>
          </a:p>
          <a:p xmlns:a="http://schemas.openxmlformats.org/drawingml/2006/main">
            <a:r>
              <a:t>Sources : README.md, app.py, run_pipeline.py et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35 secondes.</a:t>
            </a:r>
          </a:p>
          <a:p xmlns:a="http://schemas.openxmlformats.org/drawingml/2006/main">
            <a:r>
              <a:t/>
            </a:r>
          </a:p>
          <a:p xmlns:a="http://schemas.openxmlformats.org/drawingml/2006/main">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xmlns:a="http://schemas.openxmlformats.org/drawingml/2006/main">
            <a:r>
              <a:t/>
            </a:r>
          </a:p>
          <a:p xmlns:a="http://schemas.openxmlformats.org/drawingml/2006/main">
            <a:r>
              <a:t>Sources : Rapport, section 1.3.</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La conception traduit les besoins métier en étapes, en données et en interactions entre les composants.</a:t>
            </a:r>
          </a:p>
          <a:p xmlns:a="http://schemas.openxmlformats.org/drawingml/2006/main">
            <a:r>
              <a:t/>
            </a:r>
          </a:p>
          <a:p xmlns:a="http://schemas.openxmlformats.org/drawingml/2006/main">
            <a:r>
              <a:t>Sources : Rapport, chapitre 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xmlns:a="http://schemas.openxmlformats.org/drawingml/2006/main">
            <a:r>
              <a:t/>
            </a:r>
          </a:p>
          <a:p xmlns:a="http://schemas.openxmlformats.org/drawingml/2006/main">
            <a:r>
              <a:t>Sources : run_e1_content.py, run_e2_multichannel.py, run_pipeline.py,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xmlns:a="http://schemas.openxmlformats.org/drawingml/2006/main">
            <a:r>
              <a:t/>
            </a:r>
          </a:p>
          <a:p xmlns:a="http://schemas.openxmlformats.org/drawingml/2006/main">
            <a:r>
              <a:t>Sources : app.py, config.py. Rapport, sections 2.1.3 et 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xmlns:a="http://schemas.openxmlformats.org/drawingml/2006/main">
            <a:r>
              <a:t/>
            </a:r>
          </a:p>
          <a:p xmlns:a="http://schemas.openxmlformats.org/drawingml/2006/main">
            <a:r>
              <a:t>Sources : airtable_client.py, pipeline_utils.py,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xmlns:a="http://schemas.openxmlformats.org/drawingml/2006/main">
            <a:r>
              <a:t/>
            </a:r>
          </a:p>
          <a:p xmlns:a="http://schemas.openxmlformats.org/drawingml/2006/main">
            <a:r>
              <a:t>Sources : scoring.py, tests/test_business_rules.py.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xmlns:a="http://schemas.openxmlformats.org/drawingml/2006/main">
            <a:r>
              <a:t/>
            </a:r>
          </a:p>
          <a:p xmlns:a="http://schemas.openxmlformats.org/drawingml/2006/main">
            <a:r>
              <a:t>Sources : run_pipeline.py, run_e6_proposal.py,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xmlns:a="http://schemas.openxmlformats.org/drawingml/2006/main">
            <a:r>
              <a:t/>
            </a:r>
          </a:p>
          <a:p xmlns:a="http://schemas.openxmlformats.org/drawingml/2006/main">
            <a:r>
              <a:t>Sources : app.py, config.py, run_pipeline.py, email_sender.py, whatsapp_sender.py, pdf_theme.py.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Je passe maintenant aux choix de réalisation et aux résultats concrets du projet.</a:t>
            </a:r>
          </a:p>
          <a:p xmlns:a="http://schemas.openxmlformats.org/drawingml/2006/main">
            <a:r>
              <a:t/>
            </a:r>
          </a:p>
          <a:p xmlns:a="http://schemas.openxmlformats.org/drawingml/2006/main">
            <a:r>
              <a:t>Sources : Rapport, chapitre 4.</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xmlns:a="http://schemas.openxmlformats.org/drawingml/2006/main">
            <a:r>
              <a:t/>
            </a:r>
          </a:p>
          <a:p xmlns:a="http://schemas.openxmlformats.org/drawingml/2006/main">
            <a:r>
              <a:t>Sources : requirements.txt, generation_contenu.py, app.py, pdf_theme.py et adaptateurs d’envoi.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80 secondes.</a:t>
            </a:r>
          </a:p>
          <a:p xmlns:a="http://schemas.openxmlformats.org/drawingml/2006/main">
            <a:r>
              <a:t/>
            </a:r>
          </a:p>
          <a:p xmlns:a="http://schemas.openxmlformats.org/drawingml/2006/main">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xmlns:a="http://schemas.openxmlformats.org/drawingml/2006/main">
            <a:r>
              <a:t/>
            </a:r>
          </a:p>
          <a:p xmlns:a="http://schemas.openxmlformats.org/drawingml/2006/main">
            <a:r>
              <a:t>Sources : app.py. Capture locale dashboard.png, données de démonstration.</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xmlns:a="http://schemas.openxmlformats.org/drawingml/2006/main">
            <a:r>
              <a:t/>
            </a:r>
          </a:p>
          <a:p xmlns:a="http://schemas.openxmlformats.org/drawingml/2006/main">
            <a:r>
              <a:t>Sources : proposal_generator.py, contract_generator.py, commercial_templates.py, run_e8_contract.py. Exemples locaux sans valeur commerciale.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xmlns:a="http://schemas.openxmlformats.org/drawingml/2006/main">
            <a:r>
              <a:t/>
            </a:r>
          </a:p>
          <a:p xmlns:a="http://schemas.openxmlformats.org/drawingml/2006/main">
            <a:r>
              <a:t>Sources : tests/test_business_rules.py. Vérifications locales réalisées pour le rapport le 17 septembre 2026.</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xmlns:a="http://schemas.openxmlformats.org/drawingml/2006/main">
            <a:r>
              <a:t/>
            </a:r>
          </a:p>
          <a:p xmlns:a="http://schemas.openxmlformats.org/drawingml/2006/main">
            <a:r>
              <a:t>Sources : Rapport, sections 3.2.4 et 4.3.2. État du code analysé.</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xmlns:a="http://schemas.openxmlformats.org/drawingml/2006/main">
            <a:r>
              <a:t/>
            </a:r>
          </a:p>
          <a:p xmlns:a="http://schemas.openxmlformats.org/drawingml/2006/main">
            <a:r>
              <a:t>Sources : Rapport, conclusion générale et perspectives.</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49ce872b1849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f1003e8df14626" /><Relationship Type="http://schemas.openxmlformats.org/officeDocument/2006/relationships/slideLayout" Target="/ppt/slideLayouts/slideLayout1.xml" Id="Raf6cc5476a9149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6cc5476a9149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1fc7309efe498b" /><Relationship Type="http://schemas.openxmlformats.org/officeDocument/2006/relationships/image" Target="/ppt/media/image.png" Id="Raa8700f410244402" /><Relationship Type="http://schemas.openxmlformats.org/officeDocument/2006/relationships/notesSlide" Target="/ppt/notesSlides/notesSlide1.xml" Id="R85fc62d564704f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79dfde2a1d4b4b" /><Relationship Type="http://schemas.openxmlformats.org/officeDocument/2006/relationships/image" Target="/ppt/media/image2.png" Id="Re4b09f1a6c8d4bee" /><Relationship Type="http://schemas.openxmlformats.org/officeDocument/2006/relationships/notesSlide" Target="/ppt/notesSlides/notesSlide2.xml" Id="R361b8cf3509f42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641e2cb07c4827" /><Relationship Type="http://schemas.openxmlformats.org/officeDocument/2006/relationships/image" Target="/ppt/media/image3.png" Id="R99375bb4dd8c497a" /><Relationship Type="http://schemas.openxmlformats.org/officeDocument/2006/relationships/notesSlide" Target="/ppt/notesSlides/notesSlide3.xml" Id="Ra39254cf49ba4a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001488b4764e7a" /><Relationship Type="http://schemas.openxmlformats.org/officeDocument/2006/relationships/image" Target="/ppt/media/image4.png" Id="R17f16eb2a8524e07" /><Relationship Type="http://schemas.openxmlformats.org/officeDocument/2006/relationships/notesSlide" Target="/ppt/notesSlides/notesSlide4.xml" Id="Rb80979b8c6924e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90a372f6de4b22" /><Relationship Type="http://schemas.openxmlformats.org/officeDocument/2006/relationships/image" Target="/ppt/media/image5.png" Id="Redab7b6f24b941ff" /><Relationship Type="http://schemas.openxmlformats.org/officeDocument/2006/relationships/notesSlide" Target="/ppt/notesSlides/notesSlide5.xml" Id="R7b386b07cbdb47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2de06cef25418c" /><Relationship Type="http://schemas.openxmlformats.org/officeDocument/2006/relationships/image" Target="/ppt/media/image6.png" Id="R9917236d856a48fa" /><Relationship Type="http://schemas.openxmlformats.org/officeDocument/2006/relationships/notesSlide" Target="/ppt/notesSlides/notesSlide6.xml" Id="R34761983324745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0947508e5943d3" /><Relationship Type="http://schemas.openxmlformats.org/officeDocument/2006/relationships/image" Target="/ppt/media/image7.png" Id="R5e74cc4dcf8a49d1" /><Relationship Type="http://schemas.openxmlformats.org/officeDocument/2006/relationships/notesSlide" Target="/ppt/notesSlides/notesSlide7.xml" Id="R98e73f9c80e246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9776c076964019" /><Relationship Type="http://schemas.openxmlformats.org/officeDocument/2006/relationships/image" Target="/ppt/media/image8.png" Id="Rf6f5127337814f78" /><Relationship Type="http://schemas.openxmlformats.org/officeDocument/2006/relationships/notesSlide" Target="/ppt/notesSlides/notesSlide8.xml" Id="R5f46da4e3fb940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3936f27d5f4b1d" /><Relationship Type="http://schemas.openxmlformats.org/officeDocument/2006/relationships/image" Target="/ppt/media/image9.png" Id="R3174c33c0c1e493c" /><Relationship Type="http://schemas.openxmlformats.org/officeDocument/2006/relationships/notesSlide" Target="/ppt/notesSlides/notesSlide9.xml" Id="R3ad689131a8a46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0f4262ec95469a" /><Relationship Type="http://schemas.openxmlformats.org/officeDocument/2006/relationships/image" Target="/ppt/media/image10.png" Id="R7ee8b513c7d4459f" /><Relationship Type="http://schemas.openxmlformats.org/officeDocument/2006/relationships/notesSlide" Target="/ppt/notesSlides/notesSlide10.xml" Id="R462b0c9ae88d45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e5722ef2b094340" /><Relationship Type="http://schemas.openxmlformats.org/officeDocument/2006/relationships/image" Target="/ppt/media/image11.png" Id="Re103ef211f7c4ff6" /><Relationship Type="http://schemas.openxmlformats.org/officeDocument/2006/relationships/notesSlide" Target="/ppt/notesSlides/notesSlide11.xml" Id="Re76e8a9411664d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dedfd8182f14216" /><Relationship Type="http://schemas.openxmlformats.org/officeDocument/2006/relationships/image" Target="/ppt/media/image12.png" Id="Rc58f428727e8452c" /><Relationship Type="http://schemas.openxmlformats.org/officeDocument/2006/relationships/notesSlide" Target="/ppt/notesSlides/notesSlide12.xml" Id="Rd4373afea6434b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e03daba7bb4491" /><Relationship Type="http://schemas.openxmlformats.org/officeDocument/2006/relationships/image" Target="/ppt/media/image13.png" Id="R4b90090fa01e4f06" /><Relationship Type="http://schemas.openxmlformats.org/officeDocument/2006/relationships/chart" Target="/ppt/slides/charts/chart1.xml" Id="R28417eceb1c64904" /><Relationship Type="http://schemas.openxmlformats.org/officeDocument/2006/relationships/notesSlide" Target="/ppt/notesSlides/notesSlide13.xml" Id="R880ac03b27e54a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d3111d47a44d0e" /><Relationship Type="http://schemas.openxmlformats.org/officeDocument/2006/relationships/image" Target="/ppt/media/image14.png" Id="Rd3cf6dc273f3402d" /><Relationship Type="http://schemas.openxmlformats.org/officeDocument/2006/relationships/notesSlide" Target="/ppt/notesSlides/notesSlide14.xml" Id="R0c0176b7578b4d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6fc8dc7ba594c43" /><Relationship Type="http://schemas.openxmlformats.org/officeDocument/2006/relationships/image" Target="/ppt/media/image15.png" Id="R7d22516d63d74fec" /><Relationship Type="http://schemas.openxmlformats.org/officeDocument/2006/relationships/notesSlide" Target="/ppt/notesSlides/notesSlide15.xml" Id="Rdfe4f1a0fbe44c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2148f68a9ea4ec1" /><Relationship Type="http://schemas.openxmlformats.org/officeDocument/2006/relationships/image" Target="/ppt/media/image16.png" Id="Rb4662a8194df4de1" /><Relationship Type="http://schemas.openxmlformats.org/officeDocument/2006/relationships/notesSlide" Target="/ppt/notesSlides/notesSlide16.xml" Id="R1435b3fef1b94e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242de992b9a468d" /><Relationship Type="http://schemas.openxmlformats.org/officeDocument/2006/relationships/image" Target="/ppt/media/image17.png" Id="R817528195f874f9e" /><Relationship Type="http://schemas.openxmlformats.org/officeDocument/2006/relationships/notesSlide" Target="/ppt/notesSlides/notesSlide17.xml" Id="Refa6c80b45b946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ab190114154ab3" /><Relationship Type="http://schemas.openxmlformats.org/officeDocument/2006/relationships/image" Target="/ppt/media/image18.png" Id="Rf5ee435eb97c48a9" /><Relationship Type="http://schemas.openxmlformats.org/officeDocument/2006/relationships/image" Target="/ppt/media/image.jpeg" Id="R82d65b4792834b49" /><Relationship Type="http://schemas.openxmlformats.org/officeDocument/2006/relationships/notesSlide" Target="/ppt/notesSlides/notesSlide18.xml" Id="Rcca98f011b3f4c6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accbf415c2f4e06" /><Relationship Type="http://schemas.openxmlformats.org/officeDocument/2006/relationships/image" Target="/ppt/media/image19.png" Id="Ra75ffe7ffd8d4884" /><Relationship Type="http://schemas.openxmlformats.org/officeDocument/2006/relationships/image" Target="/ppt/media/image20.png" Id="R07e7fda8f47a4189" /><Relationship Type="http://schemas.openxmlformats.org/officeDocument/2006/relationships/image" Target="/ppt/media/image21.png" Id="R2f4748fcc5ec451b" /><Relationship Type="http://schemas.openxmlformats.org/officeDocument/2006/relationships/image" Target="/ppt/media/image22.png" Id="R96cbe275bb9f4a59" /><Relationship Type="http://schemas.openxmlformats.org/officeDocument/2006/relationships/notesSlide" Target="/ppt/notesSlides/notesSlide19.xml" Id="R85cee437104049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6e20906041643d5" /><Relationship Type="http://schemas.openxmlformats.org/officeDocument/2006/relationships/image" Target="/ppt/media/image23.png" Id="Ra55d30cea2924b80" /><Relationship Type="http://schemas.openxmlformats.org/officeDocument/2006/relationships/notesSlide" Target="/ppt/notesSlides/notesSlide20.xml" Id="Rc5087151335a40a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9b217630bb944aa" /><Relationship Type="http://schemas.openxmlformats.org/officeDocument/2006/relationships/image" Target="/ppt/media/image24.png" Id="Rf0f37496db714994" /><Relationship Type="http://schemas.openxmlformats.org/officeDocument/2006/relationships/notesSlide" Target="/ppt/notesSlides/notesSlide21.xml" Id="R6312f6b9d6de4ac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bc38911e635427e" /><Relationship Type="http://schemas.openxmlformats.org/officeDocument/2006/relationships/image" Target="/ppt/media/image25.png" Id="R603a974d41fe4a8e" /><Relationship Type="http://schemas.openxmlformats.org/officeDocument/2006/relationships/notesSlide" Target="/ppt/notesSlides/notesSlide22.xml" Id="R874b1240455f4b28" /></Relationships>
</file>

<file path=ppt/slides/charts/chart1.xml><?xml version="1.0" encoding="utf-8"?>
<c:chartSpace xmlns:c="http://schemas.openxmlformats.org/drawingml/2006/chart">
  <c:lang val="en-US"/>
  <c:chart>
    <c:plotArea>
      <c:barChart>
        <c:barDir val="bar"/>
        <c:grouping val="clustered"/>
        <c:varyColors val="0"/>
        <c:ser>
          <c:idx val="0"/>
          <c:order val="0"/>
          <c:tx>
            <c:v>Poids dans le score (%)</c:v>
          </c:tx>
          <c:spPr>
            <a:solidFill xmlns:a="http://schemas.openxmlformats.org/drawingml/2006/main">
              <a:srgbClr val="008C9B"/>
            </a:solidFill>
          </c:spPr>
          <c:cat>
            <c:strLit>
              <c:ptCount val="5"/>
              <c:pt idx="0">
                <c:v>Budget</c:v>
              </c:pt>
              <c:pt idx="1">
                <c:v>Urgence</c:v>
              </c:pt>
              <c:pt idx="2">
                <c:v>Décideur</c:v>
              </c:pt>
              <c:pt idx="3">
                <c:v>Taille</c:v>
              </c:pt>
              <c:pt idx="4">
                <c:v>Canal</c:v>
              </c:pt>
            </c:strLit>
          </c:cat>
          <c:val>
            <c:numLit>
              <c:formatCode>General</c:formatCode>
              <c:ptCount val="5"/>
              <c:pt idx="0">
                <c:v>30</c:v>
              </c:pt>
              <c:pt idx="1">
                <c:v>25</c:v>
              </c:pt>
              <c:pt idx="2">
                <c:v>20</c:v>
              </c:pt>
              <c:pt idx="3">
                <c:v>15</c:v>
              </c:pt>
              <c:pt idx="4">
                <c:v>10</c:v>
              </c:pt>
            </c:numLit>
          </c:val>
        </c:ser>
        <c:dLbls>
          <c:txPr>
            <a:bodyPr xmlns:a="http://schemas.openxmlformats.org/drawingml/2006/main" anchorCtr="1"/>
            <a:lstStyle xmlns:a="http://schemas.openxmlformats.org/drawingml/2006/main"/>
            <a:p xmlns:a="http://schemas.openxmlformats.org/drawingml/2006/main">
              <a:pPr>
                <a:defRPr sz="2250">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DDDDD"/>
              </a:solidFill>
            </a:ln>
          </c:spPr>
        </c:majorGridlines>
        <c:numFmt formatCode="0&quot; %&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Calibri"/>
                <a:ea typeface="Calibri"/>
                <a:cs typeface="Calibr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400">
                <a:solidFill>
                  <a:srgbClr val="666666"/>
                </a:solidFill>
                <a:latin typeface="Calibri"/>
                <a:ea typeface="Calibri"/>
                <a:cs typeface="Calibri"/>
              </a:defRPr>
            </a:pPr>
          </a:p>
        </c:txPr>
        <c:crossAx val="48650112"/>
        <c:crossBetween val="between"/>
      </c:valAx>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a8700f410244402"/>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74D221DE-21E0-43B0-A0B1-429F058C2236}"/>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63E1E8"/>
                </a:solidFill>
                <a:latin typeface="Calibri"/>
                <a:ea typeface="Calibri"/>
                <a:cs typeface="Calibri"/>
              </a:defRPr>
            </a:pPr>
            <a:r>
              <a:rPr sz="1875" b="1">
                <a:solidFill>
                  <a:srgbClr val="63E1E8"/>
                </a:solidFill>
                <a:latin typeface="Calibri"/>
                <a:ea typeface="Calibri"/>
                <a:cs typeface="Calibri"/>
              </a:rPr>
              <a:t>ADG-10 · AUTOMATISATION DU CYCLE COMMERCIAL</a:t>
            </a:r>
          </a:p>
        </p:txBody>
      </p:sp>
      <p:sp>
        <p:nvSpPr>
          <p:cNvPr id="3" name="01 / 22">
            <a:extLst xmlns:a="http://schemas.openxmlformats.org/drawingml/2006/main">
              <a:ext uri="{FF2B5EF4-FFF2-40B4-BE49-F238E27FC236}">
                <a16:creationId xmlns:a16="http://schemas.microsoft.com/office/drawing/2014/main" id="{75C12B04-0429-4835-A4DD-4D254AC7A376}"/>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01 / 22</a:t>
            </a:r>
          </a:p>
        </p:txBody>
      </p:sp>
      <p:sp>
        <p:nvSpPr>
          <p:cNvPr id="4" name="SOUTENANCE DU PROJET DE FIN D’ANNÉE">
            <a:extLst xmlns:a="http://schemas.openxmlformats.org/drawingml/2006/main">
              <a:ext uri="{FF2B5EF4-FFF2-40B4-BE49-F238E27FC236}">
                <a16:creationId xmlns:a16="http://schemas.microsoft.com/office/drawing/2014/main" id="{EF1843AE-57E7-4352-A32F-0F72DF464F3F}"/>
              </a:ext>
            </a:extLst>
          </p:cNvPr>
          <p:cNvSpPr>
            <a:spLocks xmlns:a="http://schemas.openxmlformats.org/drawingml/2006/main" noGrp="1"/>
          </p:cNvSpPr>
          <p:nvPr/>
        </p:nvSpPr>
        <p:spPr>
          <a:xfrm xmlns:a="http://schemas.openxmlformats.org/drawingml/2006/main">
            <a:off x="1000125" y="2095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B6D4DF"/>
                </a:solidFill>
                <a:latin typeface="Calibri"/>
                <a:ea typeface="Calibri"/>
                <a:cs typeface="Calibri"/>
              </a:defRPr>
            </a:pPr>
            <a:r>
              <a:rPr sz="2250" b="1">
                <a:solidFill>
                  <a:srgbClr val="B6D4DF"/>
                </a:solidFill>
                <a:latin typeface="Calibri"/>
                <a:ea typeface="Calibri"/>
                <a:cs typeface="Calibri"/>
              </a:rPr>
              <a:t>SOUTENANCE DU PROJET DE FIN D’ANNÉE</a:t>
            </a:r>
          </a:p>
        </p:txBody>
      </p:sp>
      <p:sp>
        <p:nvSpPr>
          <p:cNvPr id="5" name="ADG-10">
            <a:extLst xmlns:a="http://schemas.openxmlformats.org/drawingml/2006/main">
              <a:ext uri="{FF2B5EF4-FFF2-40B4-BE49-F238E27FC236}">
                <a16:creationId xmlns:a16="http://schemas.microsoft.com/office/drawing/2014/main" id="{A3AA492F-456E-4EE6-9B95-85CA53C445CF}"/>
              </a:ext>
            </a:extLst>
          </p:cNvPr>
          <p:cNvSpPr>
            <a:spLocks xmlns:a="http://schemas.openxmlformats.org/drawingml/2006/main" noGrp="1"/>
          </p:cNvSpPr>
          <p:nvPr/>
        </p:nvSpPr>
        <p:spPr>
          <a:xfrm xmlns:a="http://schemas.openxmlformats.org/drawingml/2006/main">
            <a:off x="904875" y="3190875"/>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200" b="1">
                <a:solidFill>
                  <a:srgbClr val="FFFFFF"/>
                </a:solidFill>
                <a:latin typeface="Calibri"/>
                <a:ea typeface="Calibri"/>
                <a:cs typeface="Calibri"/>
              </a:defRPr>
            </a:pPr>
            <a:r>
              <a:rPr sz="10200" b="1">
                <a:solidFill>
                  <a:srgbClr val="FFFFFF"/>
                </a:solidFill>
                <a:latin typeface="Calibri"/>
                <a:ea typeface="Calibri"/>
                <a:cs typeface="Calibri"/>
              </a:rPr>
              <a:t>ADG-10</a:t>
            </a:r>
          </a:p>
        </p:txBody>
      </p:sp>
      <p:sp>
        <p:nvSpPr>
          <p:cNvPr id="6" name="Automatisation du cycle&#10;commercial des formations">
            <a:extLst xmlns:a="http://schemas.openxmlformats.org/drawingml/2006/main">
              <a:ext uri="{FF2B5EF4-FFF2-40B4-BE49-F238E27FC236}">
                <a16:creationId xmlns:a16="http://schemas.microsoft.com/office/drawing/2014/main" id="{376C9EF4-0700-45FD-8787-64110DFE0DB9}"/>
              </a:ext>
            </a:extLst>
          </p:cNvPr>
          <p:cNvSpPr>
            <a:spLocks xmlns:a="http://schemas.openxmlformats.org/drawingml/2006/main" noGrp="1"/>
          </p:cNvSpPr>
          <p:nvPr/>
        </p:nvSpPr>
        <p:spPr>
          <a:xfrm xmlns:a="http://schemas.openxmlformats.org/drawingml/2006/main">
            <a:off x="1000125" y="495300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Automatisation du cycle</a:t>
            </a:r>
          </a:p>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commercial des formations</a:t>
            </a:r>
          </a:p>
        </p:txBody>
      </p:sp>
      <p:sp>
        <p:nvSpPr>
          <p:cNvPr id="7" name="Présenté par Yassine FATNAOUI&#10;Encadré par Azouguigh El ">
            <a:extLst xmlns:a="http://schemas.openxmlformats.org/drawingml/2006/main">
              <a:ext uri="{FF2B5EF4-FFF2-40B4-BE49-F238E27FC236}">
                <a16:creationId xmlns:a16="http://schemas.microsoft.com/office/drawing/2014/main" id="{149DB863-5DEB-4643-9842-53277F7E841D}"/>
              </a:ext>
            </a:extLst>
          </p:cNvPr>
          <p:cNvSpPr>
            <a:spLocks xmlns:a="http://schemas.openxmlformats.org/drawingml/2006/main" noGrp="1"/>
          </p:cNvSpPr>
          <p:nvPr/>
        </p:nvSpPr>
        <p:spPr>
          <a:xfrm xmlns:a="http://schemas.openxmlformats.org/drawingml/2006/main">
            <a:off x="1000125" y="7667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FFFFFF"/>
                </a:solidFill>
                <a:latin typeface="Calibri"/>
                <a:ea typeface="Calibri"/>
                <a:cs typeface="Calibri"/>
              </a:defRPr>
            </a:pPr>
            <a:r>
              <a:rPr sz="2475" b="0">
                <a:solidFill>
                  <a:srgbClr val="FFFFFF"/>
                </a:solidFill>
                <a:latin typeface="Calibri"/>
                <a:ea typeface="Calibri"/>
                <a:cs typeface="Calibri"/>
              </a:rPr>
              <a:t>Présenté par Yassine FATNAOUI</a:t>
            </a:r>
          </a:p>
          <a:p xmlns:a="http://schemas.openxmlformats.org/drawingml/2006/main">
            <a:pPr algn="l">
              <a:defRPr sz="2475" b="0">
                <a:solidFill>
                  <a:srgbClr val="FFFFFF"/>
                </a:solidFill>
                <a:latin typeface="Calibri"/>
                <a:ea typeface="Calibri"/>
                <a:cs typeface="Calibri"/>
              </a:defRPr>
            </a:pPr>
            <a:r>
              <a:rPr sz="2475" b="0">
                <a:solidFill>
                  <a:srgbClr val="FFFFFF"/>
                </a:solidFill>
                <a:latin typeface="Calibri"/>
                <a:ea typeface="Calibri"/>
                <a:cs typeface="Calibri"/>
              </a:rPr>
              <a:t>Encadré par Azouguigh El Houssaine</a:t>
            </a:r>
          </a:p>
        </p:txBody>
      </p:sp>
      <p:sp>
        <p:nvSpPr>
          <p:cNvPr id="8" name="2025-2026">
            <a:extLst xmlns:a="http://schemas.openxmlformats.org/drawingml/2006/main">
              <a:ext uri="{FF2B5EF4-FFF2-40B4-BE49-F238E27FC236}">
                <a16:creationId xmlns:a16="http://schemas.microsoft.com/office/drawing/2014/main" id="{C791B302-46E2-4755-81D5-978599DC9D82}"/>
              </a:ext>
            </a:extLst>
          </p:cNvPr>
          <p:cNvSpPr>
            <a:spLocks xmlns:a="http://schemas.openxmlformats.org/drawingml/2006/main" noGrp="1"/>
          </p:cNvSpPr>
          <p:nvPr/>
        </p:nvSpPr>
        <p:spPr>
          <a:xfrm xmlns:a="http://schemas.openxmlformats.org/drawingml/2006/main">
            <a:off x="1000125" y="95916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B6D4DF"/>
                </a:solidFill>
                <a:latin typeface="Calibri"/>
                <a:ea typeface="Calibri"/>
                <a:cs typeface="Calibri"/>
              </a:defRPr>
            </a:pPr>
            <a:r>
              <a:rPr sz="2100" b="0">
                <a:solidFill>
                  <a:srgbClr val="B6D4DF"/>
                </a:solidFill>
                <a:latin typeface="Calibri"/>
                <a:ea typeface="Calibri"/>
                <a:cs typeface="Calibri"/>
              </a:rPr>
              <a:t>2025-2026</a:t>
            </a:r>
          </a:p>
        </p:txBody>
      </p:sp>
    </p:spTree>
    <p:extLst>
      <p:ext uri="{BB962C8B-B14F-4D97-AF65-F5344CB8AC3E}">
        <p14:creationId xmlns:p14="http://schemas.microsoft.com/office/powerpoint/2010/main" val="1306563176"/>
      </p:ext>
    </p:extLst>
  </p:cSld>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4b09f1a6c8d4be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04332FEB-8B48-4A36-AE56-CDE0F409D583}"/>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63E1E8"/>
                </a:solidFill>
                <a:latin typeface="Calibri"/>
                <a:ea typeface="Calibri"/>
                <a:cs typeface="Calibri"/>
              </a:defRPr>
            </a:pPr>
            <a:r>
              <a:rPr sz="1875" b="1">
                <a:solidFill>
                  <a:srgbClr val="63E1E8"/>
                </a:solidFill>
                <a:latin typeface="Calibri"/>
                <a:ea typeface="Calibri"/>
                <a:cs typeface="Calibri"/>
              </a:rPr>
              <a:t>ADG-10 · AUTOMATISATION DU CYCLE COMMERCIAL</a:t>
            </a:r>
          </a:p>
        </p:txBody>
      </p:sp>
      <p:sp>
        <p:nvSpPr>
          <p:cNvPr id="3" name="02 / 22">
            <a:extLst xmlns:a="http://schemas.openxmlformats.org/drawingml/2006/main">
              <a:ext uri="{FF2B5EF4-FFF2-40B4-BE49-F238E27FC236}">
                <a16:creationId xmlns:a16="http://schemas.microsoft.com/office/drawing/2014/main" id="{DF62EC07-09D9-49EF-9A88-72EA6FB660D8}"/>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02 / 22</a:t>
            </a:r>
          </a:p>
        </p:txBody>
      </p:sp>
      <p:sp>
        <p:nvSpPr>
          <p:cNvPr id="4" name="Plan de la présentation">
            <a:extLst xmlns:a="http://schemas.openxmlformats.org/drawingml/2006/main">
              <a:ext uri="{FF2B5EF4-FFF2-40B4-BE49-F238E27FC236}">
                <a16:creationId xmlns:a16="http://schemas.microsoft.com/office/drawing/2014/main" id="{5106B710-271F-4970-B9BC-693265012B5E}"/>
              </a:ext>
            </a:extLst>
          </p:cNvPr>
          <p:cNvSpPr>
            <a:spLocks xmlns:a="http://schemas.openxmlformats.org/drawingml/2006/main" noGrp="1"/>
          </p:cNvSpPr>
          <p:nvPr/>
        </p:nvSpPr>
        <p:spPr>
          <a:xfrm xmlns:a="http://schemas.openxmlformats.org/drawingml/2006/main">
            <a:off x="952500" y="1905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FFFFFF"/>
                </a:solidFill>
                <a:latin typeface="Calibri"/>
                <a:ea typeface="Calibri"/>
                <a:cs typeface="Calibri"/>
              </a:defRPr>
            </a:pPr>
            <a:r>
              <a:rPr sz="5250" b="1">
                <a:solidFill>
                  <a:srgbClr val="FFFFFF"/>
                </a:solidFill>
                <a:latin typeface="Calibri"/>
                <a:ea typeface="Calibri"/>
                <a:cs typeface="Calibri"/>
              </a:rPr>
              <a:t>Plan de la présentation</a:t>
            </a:r>
          </a:p>
        </p:txBody>
      </p:sp>
      <p:sp>
        <p:nvSpPr>
          <p:cNvPr id="5" name="01">
            <a:extLst xmlns:a="http://schemas.openxmlformats.org/drawingml/2006/main">
              <a:ext uri="{FF2B5EF4-FFF2-40B4-BE49-F238E27FC236}">
                <a16:creationId xmlns:a16="http://schemas.microsoft.com/office/drawing/2014/main" id="{3D6308D1-D2A7-4459-A279-B75029E3D513}"/>
              </a:ext>
            </a:extLst>
          </p:cNvPr>
          <p:cNvSpPr>
            <a:spLocks xmlns:a="http://schemas.openxmlformats.org/drawingml/2006/main" noGrp="1"/>
          </p:cNvSpPr>
          <p:nvPr/>
        </p:nvSpPr>
        <p:spPr>
          <a:xfrm xmlns:a="http://schemas.openxmlformats.org/drawingml/2006/main">
            <a:off x="1000125" y="3381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01</a:t>
            </a:r>
          </a:p>
        </p:txBody>
      </p:sp>
      <p:sp>
        <p:nvSpPr>
          <p:cNvPr id="6" name="Introduction">
            <a:extLst xmlns:a="http://schemas.openxmlformats.org/drawingml/2006/main">
              <a:ext uri="{FF2B5EF4-FFF2-40B4-BE49-F238E27FC236}">
                <a16:creationId xmlns:a16="http://schemas.microsoft.com/office/drawing/2014/main" id="{55FD8E60-0A5F-4E68-8B65-6EECA18DA30C}"/>
              </a:ext>
            </a:extLst>
          </p:cNvPr>
          <p:cNvSpPr>
            <a:spLocks xmlns:a="http://schemas.openxmlformats.org/drawingml/2006/main" noGrp="1"/>
          </p:cNvSpPr>
          <p:nvPr/>
        </p:nvSpPr>
        <p:spPr>
          <a:xfrm xmlns:a="http://schemas.openxmlformats.org/drawingml/2006/main">
            <a:off x="2095500" y="3381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Introduction</a:t>
            </a:r>
          </a:p>
        </p:txBody>
      </p:sp>
      <p:sp>
        <p:nvSpPr>
          <p:cNvPr id="7" name="02">
            <a:extLst xmlns:a="http://schemas.openxmlformats.org/drawingml/2006/main">
              <a:ext uri="{FF2B5EF4-FFF2-40B4-BE49-F238E27FC236}">
                <a16:creationId xmlns:a16="http://schemas.microsoft.com/office/drawing/2014/main" id="{285039E7-E824-4BF2-811B-117F6A2B4199}"/>
              </a:ext>
            </a:extLst>
          </p:cNvPr>
          <p:cNvSpPr>
            <a:spLocks xmlns:a="http://schemas.openxmlformats.org/drawingml/2006/main" noGrp="1"/>
          </p:cNvSpPr>
          <p:nvPr/>
        </p:nvSpPr>
        <p:spPr>
          <a:xfrm xmlns:a="http://schemas.openxmlformats.org/drawingml/2006/main">
            <a:off x="1000125" y="44291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02</a:t>
            </a:r>
          </a:p>
        </p:txBody>
      </p:sp>
      <p:sp>
        <p:nvSpPr>
          <p:cNvPr id="8" name="Contexte général du projet">
            <a:extLst xmlns:a="http://schemas.openxmlformats.org/drawingml/2006/main">
              <a:ext uri="{FF2B5EF4-FFF2-40B4-BE49-F238E27FC236}">
                <a16:creationId xmlns:a16="http://schemas.microsoft.com/office/drawing/2014/main" id="{3B8C4072-A0A9-48A4-B5C8-CA0D59E6E632}"/>
              </a:ext>
            </a:extLst>
          </p:cNvPr>
          <p:cNvSpPr>
            <a:spLocks xmlns:a="http://schemas.openxmlformats.org/drawingml/2006/main" noGrp="1"/>
          </p:cNvSpPr>
          <p:nvPr/>
        </p:nvSpPr>
        <p:spPr>
          <a:xfrm xmlns:a="http://schemas.openxmlformats.org/drawingml/2006/main">
            <a:off x="2095500" y="44291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Contexte général du projet</a:t>
            </a:r>
          </a:p>
        </p:txBody>
      </p:sp>
      <p:sp>
        <p:nvSpPr>
          <p:cNvPr id="9" name="03">
            <a:extLst xmlns:a="http://schemas.openxmlformats.org/drawingml/2006/main">
              <a:ext uri="{FF2B5EF4-FFF2-40B4-BE49-F238E27FC236}">
                <a16:creationId xmlns:a16="http://schemas.microsoft.com/office/drawing/2014/main" id="{EC66A5AB-3FE8-43E4-A09E-F8BAEEBACF3E}"/>
              </a:ext>
            </a:extLst>
          </p:cNvPr>
          <p:cNvSpPr>
            <a:spLocks xmlns:a="http://schemas.openxmlformats.org/drawingml/2006/main" noGrp="1"/>
          </p:cNvSpPr>
          <p:nvPr/>
        </p:nvSpPr>
        <p:spPr>
          <a:xfrm xmlns:a="http://schemas.openxmlformats.org/drawingml/2006/main">
            <a:off x="1000125" y="54768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03</a:t>
            </a:r>
          </a:p>
        </p:txBody>
      </p:sp>
      <p:sp>
        <p:nvSpPr>
          <p:cNvPr id="10" name="Étude conceptuelle de la solution">
            <a:extLst xmlns:a="http://schemas.openxmlformats.org/drawingml/2006/main">
              <a:ext uri="{FF2B5EF4-FFF2-40B4-BE49-F238E27FC236}">
                <a16:creationId xmlns:a16="http://schemas.microsoft.com/office/drawing/2014/main" id="{59ED354D-566A-42E2-A813-2CEDC3E724ED}"/>
              </a:ext>
            </a:extLst>
          </p:cNvPr>
          <p:cNvSpPr>
            <a:spLocks xmlns:a="http://schemas.openxmlformats.org/drawingml/2006/main" noGrp="1"/>
          </p:cNvSpPr>
          <p:nvPr/>
        </p:nvSpPr>
        <p:spPr>
          <a:xfrm xmlns:a="http://schemas.openxmlformats.org/drawingml/2006/main">
            <a:off x="2095500" y="54768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Étude conceptuelle de la solution</a:t>
            </a:r>
          </a:p>
        </p:txBody>
      </p:sp>
      <p:sp>
        <p:nvSpPr>
          <p:cNvPr id="11" name="04">
            <a:extLst xmlns:a="http://schemas.openxmlformats.org/drawingml/2006/main">
              <a:ext uri="{FF2B5EF4-FFF2-40B4-BE49-F238E27FC236}">
                <a16:creationId xmlns:a16="http://schemas.microsoft.com/office/drawing/2014/main" id="{7460D636-72FC-4E3F-ABF2-3C238DB5BB81}"/>
              </a:ext>
            </a:extLst>
          </p:cNvPr>
          <p:cNvSpPr>
            <a:spLocks xmlns:a="http://schemas.openxmlformats.org/drawingml/2006/main" noGrp="1"/>
          </p:cNvSpPr>
          <p:nvPr/>
        </p:nvSpPr>
        <p:spPr>
          <a:xfrm xmlns:a="http://schemas.openxmlformats.org/drawingml/2006/main">
            <a:off x="1000125" y="65246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04</a:t>
            </a:r>
          </a:p>
        </p:txBody>
      </p:sp>
      <p:sp>
        <p:nvSpPr>
          <p:cNvPr id="12" name="Réalisation et mise en œuvre">
            <a:extLst xmlns:a="http://schemas.openxmlformats.org/drawingml/2006/main">
              <a:ext uri="{FF2B5EF4-FFF2-40B4-BE49-F238E27FC236}">
                <a16:creationId xmlns:a16="http://schemas.microsoft.com/office/drawing/2014/main" id="{1F14C996-6CE7-49D9-80B2-C4D70EBDEBD9}"/>
              </a:ext>
            </a:extLst>
          </p:cNvPr>
          <p:cNvSpPr>
            <a:spLocks xmlns:a="http://schemas.openxmlformats.org/drawingml/2006/main" noGrp="1"/>
          </p:cNvSpPr>
          <p:nvPr/>
        </p:nvSpPr>
        <p:spPr>
          <a:xfrm xmlns:a="http://schemas.openxmlformats.org/drawingml/2006/main">
            <a:off x="2095500" y="65246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Réalisation et mise en œuvre</a:t>
            </a:r>
          </a:p>
        </p:txBody>
      </p:sp>
      <p:sp>
        <p:nvSpPr>
          <p:cNvPr id="13" name="05">
            <a:extLst xmlns:a="http://schemas.openxmlformats.org/drawingml/2006/main">
              <a:ext uri="{FF2B5EF4-FFF2-40B4-BE49-F238E27FC236}">
                <a16:creationId xmlns:a16="http://schemas.microsoft.com/office/drawing/2014/main" id="{B06F409C-8B29-4162-A61C-7DE0C1BC9F4F}"/>
              </a:ext>
            </a:extLst>
          </p:cNvPr>
          <p:cNvSpPr>
            <a:spLocks xmlns:a="http://schemas.openxmlformats.org/drawingml/2006/main" noGrp="1"/>
          </p:cNvSpPr>
          <p:nvPr/>
        </p:nvSpPr>
        <p:spPr>
          <a:xfrm xmlns:a="http://schemas.openxmlformats.org/drawingml/2006/main">
            <a:off x="1000125" y="7572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05</a:t>
            </a:r>
          </a:p>
        </p:txBody>
      </p:sp>
      <p:sp>
        <p:nvSpPr>
          <p:cNvPr id="14" name="Conclusion et perspectives">
            <a:extLst xmlns:a="http://schemas.openxmlformats.org/drawingml/2006/main">
              <a:ext uri="{FF2B5EF4-FFF2-40B4-BE49-F238E27FC236}">
                <a16:creationId xmlns:a16="http://schemas.microsoft.com/office/drawing/2014/main" id="{E25D339E-223D-4827-B77E-DF3D6AF098D5}"/>
              </a:ext>
            </a:extLst>
          </p:cNvPr>
          <p:cNvSpPr>
            <a:spLocks xmlns:a="http://schemas.openxmlformats.org/drawingml/2006/main" noGrp="1"/>
          </p:cNvSpPr>
          <p:nvPr/>
        </p:nvSpPr>
        <p:spPr>
          <a:xfrm xmlns:a="http://schemas.openxmlformats.org/drawingml/2006/main">
            <a:off x="2095500" y="7572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Conclusion et perspectives</a:t>
            </a:r>
          </a:p>
        </p:txBody>
      </p:sp>
    </p:spTree>
    <p:extLst>
      <p:ext uri="{BB962C8B-B14F-4D97-AF65-F5344CB8AC3E}">
        <p14:creationId xmlns:p14="http://schemas.microsoft.com/office/powerpoint/2010/main" val="1304865872"/>
      </p:ext>
    </p:extLst>
  </p:cSld>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9375bb4dd8c497a"/>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60AA6EF7-1151-4EFE-8953-AF768DD28270}"/>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63E1E8"/>
                </a:solidFill>
                <a:latin typeface="Calibri"/>
                <a:ea typeface="Calibri"/>
                <a:cs typeface="Calibri"/>
              </a:defRPr>
            </a:pPr>
            <a:r>
              <a:rPr sz="1875" b="1">
                <a:solidFill>
                  <a:srgbClr val="63E1E8"/>
                </a:solidFill>
                <a:latin typeface="Calibri"/>
                <a:ea typeface="Calibri"/>
                <a:cs typeface="Calibri"/>
              </a:rPr>
              <a:t>ADG-10 · AUTOMATISATION DU CYCLE COMMERCIAL</a:t>
            </a:r>
          </a:p>
        </p:txBody>
      </p:sp>
      <p:sp>
        <p:nvSpPr>
          <p:cNvPr id="3" name="03 / 22">
            <a:extLst xmlns:a="http://schemas.openxmlformats.org/drawingml/2006/main">
              <a:ext uri="{FF2B5EF4-FFF2-40B4-BE49-F238E27FC236}">
                <a16:creationId xmlns:a16="http://schemas.microsoft.com/office/drawing/2014/main" id="{0E50BD58-33CD-4B6B-AF9A-291246CA71A6}"/>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03 / 22</a:t>
            </a:r>
          </a:p>
        </p:txBody>
      </p:sp>
      <p:sp>
        <p:nvSpPr>
          <p:cNvPr id="4" name="01">
            <a:extLst xmlns:a="http://schemas.openxmlformats.org/drawingml/2006/main">
              <a:ext uri="{FF2B5EF4-FFF2-40B4-BE49-F238E27FC236}">
                <a16:creationId xmlns:a16="http://schemas.microsoft.com/office/drawing/2014/main" id="{1CBCE444-C74A-45A5-B12C-A9DB0124CC49}"/>
              </a:ext>
            </a:extLst>
          </p:cNvPr>
          <p:cNvSpPr>
            <a:spLocks xmlns:a="http://schemas.openxmlformats.org/drawingml/2006/main" noGrp="1"/>
          </p:cNvSpPr>
          <p:nvPr/>
        </p:nvSpPr>
        <p:spPr>
          <a:xfrm xmlns:a="http://schemas.openxmlformats.org/drawingml/2006/main">
            <a:off x="952500" y="2095500"/>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300" b="1">
                <a:solidFill>
                  <a:srgbClr val="63E1E8"/>
                </a:solidFill>
                <a:latin typeface="Calibri"/>
                <a:ea typeface="Calibri"/>
                <a:cs typeface="Calibri"/>
              </a:defRPr>
            </a:pPr>
            <a:r>
              <a:rPr sz="6300" b="1">
                <a:solidFill>
                  <a:srgbClr val="63E1E8"/>
                </a:solidFill>
                <a:latin typeface="Calibri"/>
                <a:ea typeface="Calibri"/>
                <a:cs typeface="Calibri"/>
              </a:rPr>
              <a:t>01</a:t>
            </a:r>
          </a:p>
        </p:txBody>
      </p:sp>
      <p:sp>
        <p:nvSpPr>
          <p:cNvPr id="5" name="Introduction">
            <a:extLst xmlns:a="http://schemas.openxmlformats.org/drawingml/2006/main">
              <a:ext uri="{FF2B5EF4-FFF2-40B4-BE49-F238E27FC236}">
                <a16:creationId xmlns:a16="http://schemas.microsoft.com/office/drawing/2014/main" id="{5CFEFF5B-0641-4E57-B1E9-D7440E201DA8}"/>
              </a:ext>
            </a:extLst>
          </p:cNvPr>
          <p:cNvSpPr>
            <a:spLocks xmlns:a="http://schemas.openxmlformats.org/drawingml/2006/main" noGrp="1"/>
          </p:cNvSpPr>
          <p:nvPr/>
        </p:nvSpPr>
        <p:spPr>
          <a:xfrm xmlns:a="http://schemas.openxmlformats.org/drawingml/2006/main">
            <a:off x="952500" y="3476625"/>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700" b="1">
                <a:solidFill>
                  <a:srgbClr val="FFFFFF"/>
                </a:solidFill>
                <a:latin typeface="Calibri"/>
                <a:ea typeface="Calibri"/>
                <a:cs typeface="Calibri"/>
              </a:defRPr>
            </a:pPr>
            <a:r>
              <a:rPr sz="5700" b="1">
                <a:solidFill>
                  <a:srgbClr val="FFFFFF"/>
                </a:solidFill>
                <a:latin typeface="Calibri"/>
                <a:ea typeface="Calibri"/>
                <a:cs typeface="Calibri"/>
              </a:rPr>
              <a:t>Introduction</a:t>
            </a:r>
          </a:p>
        </p:txBody>
      </p:sp>
      <p:sp>
        <p:nvSpPr>
          <p:cNvPr id="6" name="Comment assurer un suivi cohérent&#10;du premier contact au">
            <a:extLst xmlns:a="http://schemas.openxmlformats.org/drawingml/2006/main">
              <a:ext uri="{FF2B5EF4-FFF2-40B4-BE49-F238E27FC236}">
                <a16:creationId xmlns:a16="http://schemas.microsoft.com/office/drawing/2014/main" id="{818D266B-19D4-462E-840D-8F2FF0BBE144}"/>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Comment assurer un suivi cohérent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du premier contact aux documents commerciaux ?</a:t>
            </a:r>
          </a:p>
        </p:txBody>
      </p:sp>
    </p:spTree>
    <p:extLst>
      <p:ext uri="{BB962C8B-B14F-4D97-AF65-F5344CB8AC3E}">
        <p14:creationId xmlns:p14="http://schemas.microsoft.com/office/powerpoint/2010/main" val="1386575268"/>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7f16eb2a8524e07"/>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33C3D45B-D9F5-4D0D-8133-0F2B74E6C237}"/>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04 / 22">
            <a:extLst xmlns:a="http://schemas.openxmlformats.org/drawingml/2006/main">
              <a:ext uri="{FF2B5EF4-FFF2-40B4-BE49-F238E27FC236}">
                <a16:creationId xmlns:a16="http://schemas.microsoft.com/office/drawing/2014/main" id="{186F6A7E-8802-487F-8ED8-1882946849A8}"/>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04 / 22</a:t>
            </a:r>
          </a:p>
        </p:txBody>
      </p:sp>
      <p:sp>
        <p:nvSpPr>
          <p:cNvPr id="4" name="Organisme d’accueil et besoin métier">
            <a:extLst xmlns:a="http://schemas.openxmlformats.org/drawingml/2006/main">
              <a:ext uri="{FF2B5EF4-FFF2-40B4-BE49-F238E27FC236}">
                <a16:creationId xmlns:a16="http://schemas.microsoft.com/office/drawing/2014/main" id="{E70B2ABF-8E46-4F71-B26B-8463D3807908}"/>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Organisme d’accueil et besoin métier</a:t>
            </a:r>
          </a:p>
        </p:txBody>
      </p:sp>
      <p:sp>
        <p:nvSpPr>
          <p:cNvPr id="5" name="01">
            <a:extLst xmlns:a="http://schemas.openxmlformats.org/drawingml/2006/main">
              <a:ext uri="{FF2B5EF4-FFF2-40B4-BE49-F238E27FC236}">
                <a16:creationId xmlns:a16="http://schemas.microsoft.com/office/drawing/2014/main" id="{B4C9DEB2-D588-4159-9BE7-E1B32214E292}"/>
              </a:ext>
            </a:extLst>
          </p:cNvPr>
          <p:cNvSpPr>
            <a:spLocks xmlns:a="http://schemas.openxmlformats.org/drawingml/2006/main" noGrp="1"/>
          </p:cNvSpPr>
          <p:nvPr/>
        </p:nvSpPr>
        <p:spPr>
          <a:xfrm xmlns:a="http://schemas.openxmlformats.org/drawingml/2006/main">
            <a:off x="1190625" y="319087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6" name="ADBCENTER LOGISPLAN, dans l’environnement&#10;Adaoui Busine">
            <a:extLst xmlns:a="http://schemas.openxmlformats.org/drawingml/2006/main">
              <a:ext uri="{FF2B5EF4-FFF2-40B4-BE49-F238E27FC236}">
                <a16:creationId xmlns:a16="http://schemas.microsoft.com/office/drawing/2014/main" id="{BDE107A7-D639-47BF-AA33-AF8CDDA82A8B}"/>
              </a:ext>
            </a:extLst>
          </p:cNvPr>
          <p:cNvSpPr>
            <a:spLocks xmlns:a="http://schemas.openxmlformats.org/drawingml/2006/main" noGrp="1"/>
          </p:cNvSpPr>
          <p:nvPr/>
        </p:nvSpPr>
        <p:spPr>
          <a:xfrm xmlns:a="http://schemas.openxmlformats.org/drawingml/2006/main">
            <a:off x="1857375" y="319087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ADBCENTER LOGISPLAN, dans l’environnement</a:t>
            </a:r>
          </a:p>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Adaoui Business Centre à Agadir.</a:t>
            </a:r>
          </a:p>
        </p:txBody>
      </p:sp>
      <p:sp>
        <p:nvSpPr>
          <p:cNvPr id="7" name="02">
            <a:extLst xmlns:a="http://schemas.openxmlformats.org/drawingml/2006/main">
              <a:ext uri="{FF2B5EF4-FFF2-40B4-BE49-F238E27FC236}">
                <a16:creationId xmlns:a16="http://schemas.microsoft.com/office/drawing/2014/main" id="{5C146423-2E8D-42B6-83EC-739251861657}"/>
              </a:ext>
            </a:extLst>
          </p:cNvPr>
          <p:cNvSpPr>
            <a:spLocks xmlns:a="http://schemas.openxmlformats.org/drawingml/2006/main" noGrp="1"/>
          </p:cNvSpPr>
          <p:nvPr/>
        </p:nvSpPr>
        <p:spPr>
          <a:xfrm xmlns:a="http://schemas.openxmlformats.org/drawingml/2006/main">
            <a:off x="1190625" y="4933950"/>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8" name="Activité : formation et accompagnement professionnel&#10;po">
            <a:extLst xmlns:a="http://schemas.openxmlformats.org/drawingml/2006/main">
              <a:ext uri="{FF2B5EF4-FFF2-40B4-BE49-F238E27FC236}">
                <a16:creationId xmlns:a16="http://schemas.microsoft.com/office/drawing/2014/main" id="{9B494837-AEBC-43E9-9487-F8E0A62FA6BC}"/>
              </a:ext>
            </a:extLst>
          </p:cNvPr>
          <p:cNvSpPr>
            <a:spLocks xmlns:a="http://schemas.openxmlformats.org/drawingml/2006/main" noGrp="1"/>
          </p:cNvSpPr>
          <p:nvPr/>
        </p:nvSpPr>
        <p:spPr>
          <a:xfrm xmlns:a="http://schemas.openxmlformats.org/drawingml/2006/main">
            <a:off x="1857375" y="4933950"/>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Activité : formation et accompagnement professionnel</a:t>
            </a:r>
          </a:p>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pour les salariés, les cadres et les entreprises.</a:t>
            </a:r>
          </a:p>
        </p:txBody>
      </p:sp>
      <p:sp>
        <p:nvSpPr>
          <p:cNvPr id="9" name="03">
            <a:extLst xmlns:a="http://schemas.openxmlformats.org/drawingml/2006/main">
              <a:ext uri="{FF2B5EF4-FFF2-40B4-BE49-F238E27FC236}">
                <a16:creationId xmlns:a16="http://schemas.microsoft.com/office/drawing/2014/main" id="{8FD7969A-CE08-4428-A5D2-BC75274211E9}"/>
              </a:ext>
            </a:extLst>
          </p:cNvPr>
          <p:cNvSpPr>
            <a:spLocks xmlns:a="http://schemas.openxmlformats.org/drawingml/2006/main" noGrp="1"/>
          </p:cNvSpPr>
          <p:nvPr/>
        </p:nvSpPr>
        <p:spPr>
          <a:xfrm xmlns:a="http://schemas.openxmlformats.org/drawingml/2006/main">
            <a:off x="1190625" y="667702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0" name="Besoin : retrouver les informations du prospect et&#10;prép">
            <a:extLst xmlns:a="http://schemas.openxmlformats.org/drawingml/2006/main">
              <a:ext uri="{FF2B5EF4-FFF2-40B4-BE49-F238E27FC236}">
                <a16:creationId xmlns:a16="http://schemas.microsoft.com/office/drawing/2014/main" id="{E628B98E-60A3-44BC-9BD3-9A34E0017583}"/>
              </a:ext>
            </a:extLst>
          </p:cNvPr>
          <p:cNvSpPr>
            <a:spLocks xmlns:a="http://schemas.openxmlformats.org/drawingml/2006/main" noGrp="1"/>
          </p:cNvSpPr>
          <p:nvPr/>
        </p:nvSpPr>
        <p:spPr>
          <a:xfrm xmlns:a="http://schemas.openxmlformats.org/drawingml/2006/main">
            <a:off x="1857375" y="667702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Besoin : retrouver les informations du prospect et</a:t>
            </a:r>
          </a:p>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305538980"/>
      </p:ext>
    </p:extLst>
  </p:cSld>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dab7b6f24b941ff"/>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19C3836C-88F1-4F3B-A463-A606446B019F}"/>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63E1E8"/>
                </a:solidFill>
                <a:latin typeface="Calibri"/>
                <a:ea typeface="Calibri"/>
                <a:cs typeface="Calibri"/>
              </a:defRPr>
            </a:pPr>
            <a:r>
              <a:rPr sz="1875" b="1">
                <a:solidFill>
                  <a:srgbClr val="63E1E8"/>
                </a:solidFill>
                <a:latin typeface="Calibri"/>
                <a:ea typeface="Calibri"/>
                <a:cs typeface="Calibri"/>
              </a:rPr>
              <a:t>ADG-10 · AUTOMATISATION DU CYCLE COMMERCIAL</a:t>
            </a:r>
          </a:p>
        </p:txBody>
      </p:sp>
      <p:sp>
        <p:nvSpPr>
          <p:cNvPr id="3" name="05 / 22">
            <a:extLst xmlns:a="http://schemas.openxmlformats.org/drawingml/2006/main">
              <a:ext uri="{FF2B5EF4-FFF2-40B4-BE49-F238E27FC236}">
                <a16:creationId xmlns:a16="http://schemas.microsoft.com/office/drawing/2014/main" id="{CFF9538F-AF37-4532-8278-12BA77E1FE59}"/>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05 / 22</a:t>
            </a:r>
          </a:p>
        </p:txBody>
      </p:sp>
      <p:sp>
        <p:nvSpPr>
          <p:cNvPr id="4" name="02">
            <a:extLst xmlns:a="http://schemas.openxmlformats.org/drawingml/2006/main">
              <a:ext uri="{FF2B5EF4-FFF2-40B4-BE49-F238E27FC236}">
                <a16:creationId xmlns:a16="http://schemas.microsoft.com/office/drawing/2014/main" id="{B83B06D1-91EF-4746-9333-3BCF6ED146F3}"/>
              </a:ext>
            </a:extLst>
          </p:cNvPr>
          <p:cNvSpPr>
            <a:spLocks xmlns:a="http://schemas.openxmlformats.org/drawingml/2006/main" noGrp="1"/>
          </p:cNvSpPr>
          <p:nvPr/>
        </p:nvSpPr>
        <p:spPr>
          <a:xfrm xmlns:a="http://schemas.openxmlformats.org/drawingml/2006/main">
            <a:off x="952500" y="2095500"/>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300" b="1">
                <a:solidFill>
                  <a:srgbClr val="63E1E8"/>
                </a:solidFill>
                <a:latin typeface="Calibri"/>
                <a:ea typeface="Calibri"/>
                <a:cs typeface="Calibri"/>
              </a:defRPr>
            </a:pPr>
            <a:r>
              <a:rPr sz="6300" b="1">
                <a:solidFill>
                  <a:srgbClr val="63E1E8"/>
                </a:solidFill>
                <a:latin typeface="Calibri"/>
                <a:ea typeface="Calibri"/>
                <a:cs typeface="Calibri"/>
              </a:rPr>
              <a:t>02</a:t>
            </a:r>
          </a:p>
        </p:txBody>
      </p:sp>
      <p:sp>
        <p:nvSpPr>
          <p:cNvPr id="5" name="Contexte général&#10;du projet">
            <a:extLst xmlns:a="http://schemas.openxmlformats.org/drawingml/2006/main">
              <a:ext uri="{FF2B5EF4-FFF2-40B4-BE49-F238E27FC236}">
                <a16:creationId xmlns:a16="http://schemas.microsoft.com/office/drawing/2014/main" id="{7AF65203-3A89-4F17-A8C0-C9F45E82F398}"/>
              </a:ext>
            </a:extLst>
          </p:cNvPr>
          <p:cNvSpPr>
            <a:spLocks xmlns:a="http://schemas.openxmlformats.org/drawingml/2006/main" noGrp="1"/>
          </p:cNvSpPr>
          <p:nvPr/>
        </p:nvSpPr>
        <p:spPr>
          <a:xfrm xmlns:a="http://schemas.openxmlformats.org/drawingml/2006/main">
            <a:off x="952500" y="3476625"/>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700" b="1">
                <a:solidFill>
                  <a:srgbClr val="FFFFFF"/>
                </a:solidFill>
                <a:latin typeface="Calibri"/>
                <a:ea typeface="Calibri"/>
                <a:cs typeface="Calibri"/>
              </a:defRPr>
            </a:pPr>
            <a:r>
              <a:rPr sz="5700" b="1">
                <a:solidFill>
                  <a:srgbClr val="FFFFFF"/>
                </a:solidFill>
                <a:latin typeface="Calibri"/>
                <a:ea typeface="Calibri"/>
                <a:cs typeface="Calibri"/>
              </a:rPr>
              <a:t>Contexte général</a:t>
            </a:r>
          </a:p>
          <a:p xmlns:a="http://schemas.openxmlformats.org/drawingml/2006/main">
            <a:pPr algn="l">
              <a:defRPr sz="5700" b="1">
                <a:solidFill>
                  <a:srgbClr val="FFFFFF"/>
                </a:solidFill>
                <a:latin typeface="Calibri"/>
                <a:ea typeface="Calibri"/>
                <a:cs typeface="Calibri"/>
              </a:defRPr>
            </a:pPr>
            <a:r>
              <a:rPr sz="5700" b="1">
                <a:solidFill>
                  <a:srgbClr val="FFFFFF"/>
                </a:solidFill>
                <a:latin typeface="Calibri"/>
                <a:ea typeface="Calibri"/>
                <a:cs typeface="Calibri"/>
              </a:rPr>
              <a:t>du projet</a:t>
            </a:r>
          </a:p>
        </p:txBody>
      </p:sp>
      <p:sp>
        <p:nvSpPr>
          <p:cNvPr id="6" name="Des tâches répétitives à structurer&#10;et des décisions co">
            <a:extLst xmlns:a="http://schemas.openxmlformats.org/drawingml/2006/main">
              <a:ext uri="{FF2B5EF4-FFF2-40B4-BE49-F238E27FC236}">
                <a16:creationId xmlns:a16="http://schemas.microsoft.com/office/drawing/2014/main" id="{9B42AB04-E534-4761-B73C-B0F2965D950A}"/>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Des tâches répétitives à structurer</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des décisions commerciales à conserver</a:t>
            </a:r>
          </a:p>
        </p:txBody>
      </p:sp>
    </p:spTree>
    <p:extLst>
      <p:ext uri="{BB962C8B-B14F-4D97-AF65-F5344CB8AC3E}">
        <p14:creationId xmlns:p14="http://schemas.microsoft.com/office/powerpoint/2010/main" val="1598288767"/>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917236d856a48fa"/>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07926197-7F23-4FD0-95EB-5686556907F8}"/>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06 / 22">
            <a:extLst xmlns:a="http://schemas.openxmlformats.org/drawingml/2006/main">
              <a:ext uri="{FF2B5EF4-FFF2-40B4-BE49-F238E27FC236}">
                <a16:creationId xmlns:a16="http://schemas.microsoft.com/office/drawing/2014/main" id="{4A7EA2F9-5DEE-46B7-9D9D-DD5766AB719D}"/>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06 / 22</a:t>
            </a:r>
          </a:p>
        </p:txBody>
      </p:sp>
      <p:sp>
        <p:nvSpPr>
          <p:cNvPr id="4" name="Problématique">
            <a:extLst xmlns:a="http://schemas.openxmlformats.org/drawingml/2006/main">
              <a:ext uri="{FF2B5EF4-FFF2-40B4-BE49-F238E27FC236}">
                <a16:creationId xmlns:a16="http://schemas.microsoft.com/office/drawing/2014/main" id="{C3886530-F22C-4320-AC4C-23F4E8049681}"/>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Problématique</a:t>
            </a:r>
          </a:p>
        </p:txBody>
      </p:sp>
      <p:sp>
        <p:nvSpPr>
          <p:cNvPr id="5" name="01">
            <a:extLst xmlns:a="http://schemas.openxmlformats.org/drawingml/2006/main">
              <a:ext uri="{FF2B5EF4-FFF2-40B4-BE49-F238E27FC236}">
                <a16:creationId xmlns:a16="http://schemas.microsoft.com/office/drawing/2014/main" id="{D79C2271-B1CB-496D-8B19-889D3104102D}"/>
              </a:ext>
            </a:extLst>
          </p:cNvPr>
          <p:cNvSpPr>
            <a:spLocks xmlns:a="http://schemas.openxmlformats.org/drawingml/2006/main" noGrp="1"/>
          </p:cNvSpPr>
          <p:nvPr/>
        </p:nvSpPr>
        <p:spPr>
          <a:xfrm xmlns:a="http://schemas.openxmlformats.org/drawingml/2006/main">
            <a:off x="1190625" y="36671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6" name="Des informations réparties entre le CRM,&#10;les messages e">
            <a:extLst xmlns:a="http://schemas.openxmlformats.org/drawingml/2006/main">
              <a:ext uri="{FF2B5EF4-FFF2-40B4-BE49-F238E27FC236}">
                <a16:creationId xmlns:a16="http://schemas.microsoft.com/office/drawing/2014/main" id="{86C54630-1124-40FF-97D9-CCF94EF19AB1}"/>
              </a:ext>
            </a:extLst>
          </p:cNvPr>
          <p:cNvSpPr>
            <a:spLocks xmlns:a="http://schemas.openxmlformats.org/drawingml/2006/main" noGrp="1"/>
          </p:cNvSpPr>
          <p:nvPr/>
        </p:nvSpPr>
        <p:spPr>
          <a:xfrm xmlns:a="http://schemas.openxmlformats.org/drawingml/2006/main">
            <a:off x="1857375" y="36671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Des informations réparties entre le CRM,</a:t>
            </a:r>
          </a:p>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les messages et les fichiers.</a:t>
            </a:r>
          </a:p>
        </p:txBody>
      </p:sp>
      <p:sp>
        <p:nvSpPr>
          <p:cNvPr id="7" name="02">
            <a:extLst xmlns:a="http://schemas.openxmlformats.org/drawingml/2006/main">
              <a:ext uri="{FF2B5EF4-FFF2-40B4-BE49-F238E27FC236}">
                <a16:creationId xmlns:a16="http://schemas.microsoft.com/office/drawing/2014/main" id="{19DAD621-99AF-4145-A770-BC075D0978DC}"/>
              </a:ext>
            </a:extLst>
          </p:cNvPr>
          <p:cNvSpPr>
            <a:spLocks xmlns:a="http://schemas.openxmlformats.org/drawingml/2006/main" noGrp="1"/>
          </p:cNvSpPr>
          <p:nvPr/>
        </p:nvSpPr>
        <p:spPr>
          <a:xfrm xmlns:a="http://schemas.openxmlformats.org/drawingml/2006/main">
            <a:off x="1190625" y="52292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8" name="Des relances difficiles à suivre et un risque&#10;de renvoy">
            <a:extLst xmlns:a="http://schemas.openxmlformats.org/drawingml/2006/main">
              <a:ext uri="{FF2B5EF4-FFF2-40B4-BE49-F238E27FC236}">
                <a16:creationId xmlns:a16="http://schemas.microsoft.com/office/drawing/2014/main" id="{F77E7DAF-31E1-46DB-AF2E-1393F1DAA045}"/>
              </a:ext>
            </a:extLst>
          </p:cNvPr>
          <p:cNvSpPr>
            <a:spLocks xmlns:a="http://schemas.openxmlformats.org/drawingml/2006/main" noGrp="1"/>
          </p:cNvSpPr>
          <p:nvPr/>
        </p:nvSpPr>
        <p:spPr>
          <a:xfrm xmlns:a="http://schemas.openxmlformats.org/drawingml/2006/main">
            <a:off x="1857375" y="52292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Des relances difficiles à suivre et un risque</a:t>
            </a:r>
          </a:p>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de renvoyer une action déjà effectuée.</a:t>
            </a:r>
          </a:p>
        </p:txBody>
      </p:sp>
      <p:sp>
        <p:nvSpPr>
          <p:cNvPr id="9" name="03">
            <a:extLst xmlns:a="http://schemas.openxmlformats.org/drawingml/2006/main">
              <a:ext uri="{FF2B5EF4-FFF2-40B4-BE49-F238E27FC236}">
                <a16:creationId xmlns:a16="http://schemas.microsoft.com/office/drawing/2014/main" id="{0EB9B3E0-DDDD-41BA-922F-D8E527733F26}"/>
              </a:ext>
            </a:extLst>
          </p:cNvPr>
          <p:cNvSpPr>
            <a:spLocks xmlns:a="http://schemas.openxmlformats.org/drawingml/2006/main" noGrp="1"/>
          </p:cNvSpPr>
          <p:nvPr/>
        </p:nvSpPr>
        <p:spPr>
          <a:xfrm xmlns:a="http://schemas.openxmlformats.org/drawingml/2006/main">
            <a:off x="1190625" y="67913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0" name="Comment fiabiliser le parcours sans perdre&#10;la personnal">
            <a:extLst xmlns:a="http://schemas.openxmlformats.org/drawingml/2006/main">
              <a:ext uri="{FF2B5EF4-FFF2-40B4-BE49-F238E27FC236}">
                <a16:creationId xmlns:a16="http://schemas.microsoft.com/office/drawing/2014/main" id="{0EC3D957-C131-44B9-A433-3F5E46CAF5B4}"/>
              </a:ext>
            </a:extLst>
          </p:cNvPr>
          <p:cNvSpPr>
            <a:spLocks xmlns:a="http://schemas.openxmlformats.org/drawingml/2006/main" noGrp="1"/>
          </p:cNvSpPr>
          <p:nvPr/>
        </p:nvSpPr>
        <p:spPr>
          <a:xfrm xmlns:a="http://schemas.openxmlformats.org/drawingml/2006/main">
            <a:off x="1857375" y="67913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Comment fiabiliser le parcours sans perdre</a:t>
            </a:r>
          </a:p>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30719692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e74cc4dcf8a49d1"/>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DC178469-B007-4C16-A744-236BCF6D56B5}"/>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07 / 22">
            <a:extLst xmlns:a="http://schemas.openxmlformats.org/drawingml/2006/main">
              <a:ext uri="{FF2B5EF4-FFF2-40B4-BE49-F238E27FC236}">
                <a16:creationId xmlns:a16="http://schemas.microsoft.com/office/drawing/2014/main" id="{43048C6E-6E6F-4FBC-BAEC-D6FEF584C12D}"/>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07 / 22</a:t>
            </a:r>
          </a:p>
        </p:txBody>
      </p:sp>
      <p:sp>
        <p:nvSpPr>
          <p:cNvPr id="4" name="Objectifs et périmètre">
            <a:extLst xmlns:a="http://schemas.openxmlformats.org/drawingml/2006/main">
              <a:ext uri="{FF2B5EF4-FFF2-40B4-BE49-F238E27FC236}">
                <a16:creationId xmlns:a16="http://schemas.microsoft.com/office/drawing/2014/main" id="{587C3D14-29D6-42DF-B69E-0357E5B2634F}"/>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Objectifs et périmètre</a:t>
            </a:r>
          </a:p>
        </p:txBody>
      </p:sp>
      <p:sp>
        <p:nvSpPr>
          <p:cNvPr id="5" name="01">
            <a:extLst xmlns:a="http://schemas.openxmlformats.org/drawingml/2006/main">
              <a:ext uri="{FF2B5EF4-FFF2-40B4-BE49-F238E27FC236}">
                <a16:creationId xmlns:a16="http://schemas.microsoft.com/office/drawing/2014/main" id="{BCB684CA-9CF2-44EE-B773-F7D9A8E24134}"/>
              </a:ext>
            </a:extLst>
          </p:cNvPr>
          <p:cNvSpPr>
            <a:spLocks xmlns:a="http://schemas.openxmlformats.org/drawingml/2006/main" noGrp="1"/>
          </p:cNvSpPr>
          <p:nvPr/>
        </p:nvSpPr>
        <p:spPr>
          <a:xfrm xmlns:a="http://schemas.openxmlformats.org/drawingml/2006/main">
            <a:off x="1190625" y="3514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6" name="Centraliser les formations et les prospects dans Airtab">
            <a:extLst xmlns:a="http://schemas.openxmlformats.org/drawingml/2006/main">
              <a:ext uri="{FF2B5EF4-FFF2-40B4-BE49-F238E27FC236}">
                <a16:creationId xmlns:a16="http://schemas.microsoft.com/office/drawing/2014/main" id="{D63A3FEC-6AD1-41AB-BCB0-E54353450AEB}"/>
              </a:ext>
            </a:extLst>
          </p:cNvPr>
          <p:cNvSpPr>
            <a:spLocks xmlns:a="http://schemas.openxmlformats.org/drawingml/2006/main" noGrp="1"/>
          </p:cNvSpPr>
          <p:nvPr/>
        </p:nvSpPr>
        <p:spPr>
          <a:xfrm xmlns:a="http://schemas.openxmlformats.org/drawingml/2006/main">
            <a:off x="1857375" y="3514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Centraliser les formations et les prospects dans Airtable.</a:t>
            </a:r>
          </a:p>
        </p:txBody>
      </p:sp>
      <p:sp>
        <p:nvSpPr>
          <p:cNvPr id="7" name="02">
            <a:extLst xmlns:a="http://schemas.openxmlformats.org/drawingml/2006/main">
              <a:ext uri="{FF2B5EF4-FFF2-40B4-BE49-F238E27FC236}">
                <a16:creationId xmlns:a16="http://schemas.microsoft.com/office/drawing/2014/main" id="{F7D64E58-CC2D-40D0-92E4-2165E35D5649}"/>
              </a:ext>
            </a:extLst>
          </p:cNvPr>
          <p:cNvSpPr>
            <a:spLocks xmlns:a="http://schemas.openxmlformats.org/drawingml/2006/main" noGrp="1"/>
          </p:cNvSpPr>
          <p:nvPr/>
        </p:nvSpPr>
        <p:spPr>
          <a:xfrm xmlns:a="http://schemas.openxmlformats.org/drawingml/2006/main">
            <a:off x="1190625" y="4657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8" name="Prioriser les leads avec un score explicable.">
            <a:extLst xmlns:a="http://schemas.openxmlformats.org/drawingml/2006/main">
              <a:ext uri="{FF2B5EF4-FFF2-40B4-BE49-F238E27FC236}">
                <a16:creationId xmlns:a16="http://schemas.microsoft.com/office/drawing/2014/main" id="{8152A078-EE81-48BD-AE2B-EB49F9D51B18}"/>
              </a:ext>
            </a:extLst>
          </p:cNvPr>
          <p:cNvSpPr>
            <a:spLocks xmlns:a="http://schemas.openxmlformats.org/drawingml/2006/main" noGrp="1"/>
          </p:cNvSpPr>
          <p:nvPr/>
        </p:nvSpPr>
        <p:spPr>
          <a:xfrm xmlns:a="http://schemas.openxmlformats.org/drawingml/2006/main">
            <a:off x="1857375" y="4657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Prioriser les leads avec un score explicable.</a:t>
            </a:r>
          </a:p>
        </p:txBody>
      </p:sp>
      <p:sp>
        <p:nvSpPr>
          <p:cNvPr id="9" name="03">
            <a:extLst xmlns:a="http://schemas.openxmlformats.org/drawingml/2006/main">
              <a:ext uri="{FF2B5EF4-FFF2-40B4-BE49-F238E27FC236}">
                <a16:creationId xmlns:a16="http://schemas.microsoft.com/office/drawing/2014/main" id="{082E464B-ABD1-49F8-AC4C-D2BAE0915BC9}"/>
              </a:ext>
            </a:extLst>
          </p:cNvPr>
          <p:cNvSpPr>
            <a:spLocks xmlns:a="http://schemas.openxmlformats.org/drawingml/2006/main" noGrp="1"/>
          </p:cNvSpPr>
          <p:nvPr/>
        </p:nvSpPr>
        <p:spPr>
          <a:xfrm xmlns:a="http://schemas.openxmlformats.org/drawingml/2006/main">
            <a:off x="1190625" y="5800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0" name="Préparer des messages et des documents cohérents.">
            <a:extLst xmlns:a="http://schemas.openxmlformats.org/drawingml/2006/main">
              <a:ext uri="{FF2B5EF4-FFF2-40B4-BE49-F238E27FC236}">
                <a16:creationId xmlns:a16="http://schemas.microsoft.com/office/drawing/2014/main" id="{74968E47-A279-4DB8-82D6-2283794AF38A}"/>
              </a:ext>
            </a:extLst>
          </p:cNvPr>
          <p:cNvSpPr>
            <a:spLocks xmlns:a="http://schemas.openxmlformats.org/drawingml/2006/main" noGrp="1"/>
          </p:cNvSpPr>
          <p:nvPr/>
        </p:nvSpPr>
        <p:spPr>
          <a:xfrm xmlns:a="http://schemas.openxmlformats.org/drawingml/2006/main">
            <a:off x="1857375" y="5800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Préparer des messages et des documents cohérents.</a:t>
            </a:r>
          </a:p>
        </p:txBody>
      </p:sp>
      <p:sp>
        <p:nvSpPr>
          <p:cNvPr id="11" name="04">
            <a:extLst xmlns:a="http://schemas.openxmlformats.org/drawingml/2006/main">
              <a:ext uri="{FF2B5EF4-FFF2-40B4-BE49-F238E27FC236}">
                <a16:creationId xmlns:a16="http://schemas.microsoft.com/office/drawing/2014/main" id="{E190A19D-DA89-48FE-B365-ABB920B70D0A}"/>
              </a:ext>
            </a:extLst>
          </p:cNvPr>
          <p:cNvSpPr>
            <a:spLocks xmlns:a="http://schemas.openxmlformats.org/drawingml/2006/main" noGrp="1"/>
          </p:cNvSpPr>
          <p:nvPr/>
        </p:nvSpPr>
        <p:spPr>
          <a:xfrm xmlns:a="http://schemas.openxmlformats.org/drawingml/2006/main">
            <a:off x="1190625" y="6943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04</a:t>
            </a:r>
          </a:p>
        </p:txBody>
      </p:sp>
      <p:sp>
        <p:nvSpPr>
          <p:cNvPr id="12" name="Piloter les traitements depuis un tableau de bord.">
            <a:extLst xmlns:a="http://schemas.openxmlformats.org/drawingml/2006/main">
              <a:ext uri="{FF2B5EF4-FFF2-40B4-BE49-F238E27FC236}">
                <a16:creationId xmlns:a16="http://schemas.microsoft.com/office/drawing/2014/main" id="{3CA9B386-8DB7-459F-B7D0-C034F6F58057}"/>
              </a:ext>
            </a:extLst>
          </p:cNvPr>
          <p:cNvSpPr>
            <a:spLocks xmlns:a="http://schemas.openxmlformats.org/drawingml/2006/main" noGrp="1"/>
          </p:cNvSpPr>
          <p:nvPr/>
        </p:nvSpPr>
        <p:spPr>
          <a:xfrm xmlns:a="http://schemas.openxmlformats.org/drawingml/2006/main">
            <a:off x="1857375" y="6943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Piloter les traitements depuis un tableau de bord.</a:t>
            </a:r>
          </a:p>
        </p:txBody>
      </p:sp>
      <p:sp>
        <p:nvSpPr>
          <p:cNvPr id="13" name="La validation commerciale, la signature et le paiement ">
            <a:extLst xmlns:a="http://schemas.openxmlformats.org/drawingml/2006/main">
              <a:ext uri="{FF2B5EF4-FFF2-40B4-BE49-F238E27FC236}">
                <a16:creationId xmlns:a16="http://schemas.microsoft.com/office/drawing/2014/main" id="{8BAF3982-FC80-4548-99A4-197C73180156}"/>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05577749"/>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6f5127337814f78"/>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31AB6E5A-BC41-4E53-8AF4-3A7B973F5033}"/>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08 / 22">
            <a:extLst xmlns:a="http://schemas.openxmlformats.org/drawingml/2006/main">
              <a:ext uri="{FF2B5EF4-FFF2-40B4-BE49-F238E27FC236}">
                <a16:creationId xmlns:a16="http://schemas.microsoft.com/office/drawing/2014/main" id="{7BA4AEF9-E30C-40F1-9A90-81915C2FDF51}"/>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08 / 22</a:t>
            </a:r>
          </a:p>
        </p:txBody>
      </p:sp>
      <p:sp>
        <p:nvSpPr>
          <p:cNvPr id="4" name="Conduite du projet">
            <a:extLst xmlns:a="http://schemas.openxmlformats.org/drawingml/2006/main">
              <a:ext uri="{FF2B5EF4-FFF2-40B4-BE49-F238E27FC236}">
                <a16:creationId xmlns:a16="http://schemas.microsoft.com/office/drawing/2014/main" id="{95E45A1E-5A03-4CC7-92EC-FD6BB6F8B810}"/>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Conduite du projet</a:t>
            </a:r>
          </a:p>
        </p:txBody>
      </p:sp>
      <p:graphicFrame>
        <p:nvGraphicFramePr>
          <p:cNvPr id="11" name=""/>
          <p:cNvGraphicFramePr/>
          <p:nvPr/>
        </p:nvGraphicFramePr>
        <p:xfrm>
          <a:off xmlns:a="http://schemas.openxmlformats.org/drawingml/2006/main" x="1571625" y="3286125"/>
          <a:ext xmlns:a="http://schemas.openxmlformats.org/drawingml/2006/main" cx="14478000" cy="4476750"/>
        </p:xfrm>
        <a:graphic xmlns:a="http://schemas.openxmlformats.org/drawingml/2006/main">
          <a:graphicData uri="http://schemas.openxmlformats.org/drawingml/2006/table">
            <a:tbl>
              <a:tblPr/>
              <a:tblGrid>
                <a:gridCol w="2968511"/>
                <a:gridCol w="5989101"/>
                <a:gridCol w="5520388"/>
              </a:tblGrid>
              <a:tr h="895350">
                <a:tc>
                  <a:txBody>
                    <a:bodyPr lIns="190500" tIns="114300" rIns="190500" bIns="114300"/>
                    <a:lstStyle/>
                    <a:p>
                      <a:r>
                        <a:rPr sz="2700" b="1">
                          <a:solidFill>
                            <a:srgbClr val="FFFFFF"/>
                          </a:solidFill>
                          <a:latin typeface="Calibri"/>
                          <a:ea typeface="Calibri"/>
                          <a:cs typeface="Calibri"/>
                        </a:rPr>
                        <a:t>Phase</a:t>
                      </a:r>
                    </a:p>
                  </a:txBody>
                  <a:tcPr marL="91440" marR="91440" marT="45720" marB="45720" anchor="ctr">
                    <a:solidFill>
                      <a:srgbClr val="102B40"/>
                    </a:solidFill>
                  </a:tcPr>
                </a:tc>
                <a:tc>
                  <a:txBody>
                    <a:bodyPr lIns="190500" tIns="114300" rIns="190500" bIns="114300"/>
                    <a:lstStyle/>
                    <a:p>
                      <a:r>
                        <a:rPr sz="2700" b="1">
                          <a:solidFill>
                            <a:srgbClr val="FFFFFF"/>
                          </a:solidFill>
                          <a:latin typeface="Calibri"/>
                          <a:ea typeface="Calibri"/>
                          <a:cs typeface="Calibri"/>
                        </a:rPr>
                        <a:t>Travaux</a:t>
                      </a:r>
                    </a:p>
                  </a:txBody>
                  <a:tcPr marL="91440" marR="91440" marT="45720" marB="45720" anchor="ctr">
                    <a:solidFill>
                      <a:srgbClr val="102B40"/>
                    </a:solidFill>
                  </a:tcPr>
                </a:tc>
                <a:tc>
                  <a:txBody>
                    <a:bodyPr lIns="190500" tIns="114300" rIns="190500" bIns="114300"/>
                    <a:lstStyle/>
                    <a:p>
                      <a:r>
                        <a:rPr sz="2700" b="1">
                          <a:solidFill>
                            <a:srgbClr val="FFFFFF"/>
                          </a:solidFill>
                          <a:latin typeface="Calibri"/>
                          <a:ea typeface="Calibri"/>
                          <a:cs typeface="Calibri"/>
                        </a:rPr>
                        <a:t>Livrable</a:t>
                      </a:r>
                    </a:p>
                  </a:txBody>
                  <a:tcPr marL="91440" marR="91440" marT="45720" marB="45720" anchor="ctr">
                    <a:solidFill>
                      <a:srgbClr val="102B40"/>
                    </a:solidFill>
                  </a:tcPr>
                </a:tc>
              </a:tr>
              <a:tr h="895350">
                <a:tc>
                  <a:txBody>
                    <a:bodyPr lIns="190500" tIns="114300" rIns="190500" bIns="114300"/>
                    <a:lstStyle/>
                    <a:p>
                      <a:r>
                        <a:rPr sz="2700" b="0">
                          <a:solidFill>
                            <a:srgbClr val="102B40"/>
                          </a:solidFill>
                          <a:latin typeface="Calibri"/>
                          <a:ea typeface="Calibri"/>
                          <a:cs typeface="Calibri"/>
                        </a:rPr>
                        <a:t>Cadrage</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Parcours commercial et besoins</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Périmètre E1 à E8</a:t>
                      </a:r>
                    </a:p>
                  </a:txBody>
                  <a:tcPr marL="91440" marR="91440" marT="45720" marB="45720" anchor="ctr">
                    <a:solidFill>
                      <a:srgbClr val="EAF3F6"/>
                    </a:solidFill>
                  </a:tcPr>
                </a:tc>
              </a:tr>
              <a:tr h="895350">
                <a:tc>
                  <a:txBody>
                    <a:bodyPr lIns="190500" tIns="114300" rIns="190500" bIns="114300"/>
                    <a:lstStyle/>
                    <a:p>
                      <a:r>
                        <a:rPr sz="2700" b="0">
                          <a:solidFill>
                            <a:srgbClr val="102B40"/>
                          </a:solidFill>
                          <a:latin typeface="Calibri"/>
                          <a:ea typeface="Calibri"/>
                          <a:cs typeface="Calibri"/>
                        </a:rPr>
                        <a:t>Conception</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Données, règles et interactions</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Modèles et scénarios</a:t>
                      </a:r>
                    </a:p>
                  </a:txBody>
                  <a:tcPr marL="91440" marR="91440" marT="45720" marB="45720" anchor="ctr">
                    <a:solidFill>
                      <a:srgbClr val="FFFFFF"/>
                    </a:solidFill>
                  </a:tcPr>
                </a:tc>
              </a:tr>
              <a:tr h="895350">
                <a:tc>
                  <a:txBody>
                    <a:bodyPr lIns="190500" tIns="114300" rIns="190500" bIns="114300"/>
                    <a:lstStyle/>
                    <a:p>
                      <a:r>
                        <a:rPr sz="2700" b="0">
                          <a:solidFill>
                            <a:srgbClr val="102B40"/>
                          </a:solidFill>
                          <a:latin typeface="Calibri"/>
                          <a:ea typeface="Calibri"/>
                          <a:cs typeface="Calibri"/>
                        </a:rPr>
                        <a:t>Réalisation</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Scripts, documents et interface</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Prototype intégré</a:t>
                      </a:r>
                    </a:p>
                  </a:txBody>
                  <a:tcPr marL="91440" marR="91440" marT="45720" marB="45720" anchor="ctr">
                    <a:solidFill>
                      <a:srgbClr val="EAF3F6"/>
                    </a:solidFill>
                  </a:tcPr>
                </a:tc>
              </a:tr>
              <a:tr h="895350">
                <a:tc>
                  <a:txBody>
                    <a:bodyPr lIns="190500" tIns="114300" rIns="190500" bIns="114300"/>
                    <a:lstStyle/>
                    <a:p>
                      <a:r>
                        <a:rPr sz="2700" b="0">
                          <a:solidFill>
                            <a:srgbClr val="102B40"/>
                          </a:solidFill>
                          <a:latin typeface="Calibri"/>
                          <a:ea typeface="Calibri"/>
                          <a:cs typeface="Calibri"/>
                        </a:rPr>
                        <a:t>Validation</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Tests locaux et démonstration</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Résultats et limites</a:t>
                      </a:r>
                    </a:p>
                  </a:txBody>
                  <a:tcPr marL="91440" marR="91440" marT="45720" marB="45720" anchor="ctr">
                    <a:solidFill>
                      <a:srgbClr val="FFFFFF"/>
                    </a:solidFill>
                  </a:tcPr>
                </a:tc>
              </a:tr>
            </a:tbl>
          </a:graphicData>
        </a:graphic>
      </p:graphicFrame>
      <p:sp>
        <p:nvSpPr>
          <p:cNvPr id="6" name="Démarche itérative, avec validation des données et des ">
            <a:extLst xmlns:a="http://schemas.openxmlformats.org/drawingml/2006/main">
              <a:ext uri="{FF2B5EF4-FFF2-40B4-BE49-F238E27FC236}">
                <a16:creationId xmlns:a16="http://schemas.microsoft.com/office/drawing/2014/main" id="{5E6E4F43-A2DE-4F11-ADB3-C0BF9EE0E5CF}"/>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983948358"/>
      </p:ext>
    </p:extLst>
  </p:cSld>
</p:sld>
</file>

<file path=ppt/slides/slide9.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74c33c0c1e493c"/>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8BF6F9E-AD83-4463-8EA9-6DEBBA676614}"/>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63E1E8"/>
                </a:solidFill>
                <a:latin typeface="Calibri"/>
                <a:ea typeface="Calibri"/>
                <a:cs typeface="Calibri"/>
              </a:defRPr>
            </a:pPr>
            <a:r>
              <a:rPr sz="1875" b="1">
                <a:solidFill>
                  <a:srgbClr val="63E1E8"/>
                </a:solidFill>
                <a:latin typeface="Calibri"/>
                <a:ea typeface="Calibri"/>
                <a:cs typeface="Calibri"/>
              </a:rPr>
              <a:t>ADG-10 · AUTOMATISATION DU CYCLE COMMERCIAL</a:t>
            </a:r>
          </a:p>
        </p:txBody>
      </p:sp>
      <p:sp>
        <p:nvSpPr>
          <p:cNvPr id="3" name="09 / 22">
            <a:extLst xmlns:a="http://schemas.openxmlformats.org/drawingml/2006/main">
              <a:ext uri="{FF2B5EF4-FFF2-40B4-BE49-F238E27FC236}">
                <a16:creationId xmlns:a16="http://schemas.microsoft.com/office/drawing/2014/main" id="{A6D69E24-FFBA-45C0-8617-BE60E538BD93}"/>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09 / 22</a:t>
            </a:r>
          </a:p>
        </p:txBody>
      </p:sp>
      <p:sp>
        <p:nvSpPr>
          <p:cNvPr id="4" name="03">
            <a:extLst xmlns:a="http://schemas.openxmlformats.org/drawingml/2006/main">
              <a:ext uri="{FF2B5EF4-FFF2-40B4-BE49-F238E27FC236}">
                <a16:creationId xmlns:a16="http://schemas.microsoft.com/office/drawing/2014/main" id="{41232E14-02C1-4098-B90C-96DE4A50400D}"/>
              </a:ext>
            </a:extLst>
          </p:cNvPr>
          <p:cNvSpPr>
            <a:spLocks xmlns:a="http://schemas.openxmlformats.org/drawingml/2006/main" noGrp="1"/>
          </p:cNvSpPr>
          <p:nvPr/>
        </p:nvSpPr>
        <p:spPr>
          <a:xfrm xmlns:a="http://schemas.openxmlformats.org/drawingml/2006/main">
            <a:off x="952500" y="2095500"/>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300" b="1">
                <a:solidFill>
                  <a:srgbClr val="63E1E8"/>
                </a:solidFill>
                <a:latin typeface="Calibri"/>
                <a:ea typeface="Calibri"/>
                <a:cs typeface="Calibri"/>
              </a:defRPr>
            </a:pPr>
            <a:r>
              <a:rPr sz="6300" b="1">
                <a:solidFill>
                  <a:srgbClr val="63E1E8"/>
                </a:solidFill>
                <a:latin typeface="Calibri"/>
                <a:ea typeface="Calibri"/>
                <a:cs typeface="Calibri"/>
              </a:rPr>
              <a:t>03</a:t>
            </a:r>
          </a:p>
        </p:txBody>
      </p:sp>
      <p:sp>
        <p:nvSpPr>
          <p:cNvPr id="5" name="Étude conceptuelle&#10;de la solution">
            <a:extLst xmlns:a="http://schemas.openxmlformats.org/drawingml/2006/main">
              <a:ext uri="{FF2B5EF4-FFF2-40B4-BE49-F238E27FC236}">
                <a16:creationId xmlns:a16="http://schemas.microsoft.com/office/drawing/2014/main" id="{AA786B09-3B94-477C-AA31-88E97412E630}"/>
              </a:ext>
            </a:extLst>
          </p:cNvPr>
          <p:cNvSpPr>
            <a:spLocks xmlns:a="http://schemas.openxmlformats.org/drawingml/2006/main" noGrp="1"/>
          </p:cNvSpPr>
          <p:nvPr/>
        </p:nvSpPr>
        <p:spPr>
          <a:xfrm xmlns:a="http://schemas.openxmlformats.org/drawingml/2006/main">
            <a:off x="952500" y="3476625"/>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700" b="1">
                <a:solidFill>
                  <a:srgbClr val="FFFFFF"/>
                </a:solidFill>
                <a:latin typeface="Calibri"/>
                <a:ea typeface="Calibri"/>
                <a:cs typeface="Calibri"/>
              </a:defRPr>
            </a:pPr>
            <a:r>
              <a:rPr sz="5700" b="1">
                <a:solidFill>
                  <a:srgbClr val="FFFFFF"/>
                </a:solidFill>
                <a:latin typeface="Calibri"/>
                <a:ea typeface="Calibri"/>
                <a:cs typeface="Calibri"/>
              </a:rPr>
              <a:t>Étude conceptuelle</a:t>
            </a:r>
          </a:p>
          <a:p xmlns:a="http://schemas.openxmlformats.org/drawingml/2006/main">
            <a:pPr algn="l">
              <a:defRPr sz="5700" b="1">
                <a:solidFill>
                  <a:srgbClr val="FFFFFF"/>
                </a:solidFill>
                <a:latin typeface="Calibri"/>
                <a:ea typeface="Calibri"/>
                <a:cs typeface="Calibri"/>
              </a:defRPr>
            </a:pPr>
            <a:r>
              <a:rPr sz="5700" b="1">
                <a:solidFill>
                  <a:srgbClr val="FFFFFF"/>
                </a:solidFill>
                <a:latin typeface="Calibri"/>
                <a:ea typeface="Calibri"/>
                <a:cs typeface="Calibri"/>
              </a:rPr>
              <a:t>de la solution</a:t>
            </a:r>
          </a:p>
        </p:txBody>
      </p:sp>
      <p:sp>
        <p:nvSpPr>
          <p:cNvPr id="6" name="Le parcours commercial, les acteurs&#10;et la circulation d">
            <a:extLst xmlns:a="http://schemas.openxmlformats.org/drawingml/2006/main">
              <a:ext uri="{FF2B5EF4-FFF2-40B4-BE49-F238E27FC236}">
                <a16:creationId xmlns:a16="http://schemas.microsoft.com/office/drawing/2014/main" id="{A60A0BEF-C2DE-44F0-B370-20296EF849F0}"/>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 parcours commercial, les acteurs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la circulation des données</a:t>
            </a:r>
          </a:p>
        </p:txBody>
      </p:sp>
    </p:spTree>
    <p:extLst>
      <p:ext uri="{BB962C8B-B14F-4D97-AF65-F5344CB8AC3E}">
        <p14:creationId xmlns:p14="http://schemas.microsoft.com/office/powerpoint/2010/main" val="403790674"/>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ee8b513c7d4459f"/>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04AD2351-F3AA-493C-87BA-EBA0D15BE1DA}"/>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10 / 22">
            <a:extLst xmlns:a="http://schemas.openxmlformats.org/drawingml/2006/main">
              <a:ext uri="{FF2B5EF4-FFF2-40B4-BE49-F238E27FC236}">
                <a16:creationId xmlns:a16="http://schemas.microsoft.com/office/drawing/2014/main" id="{639FD471-1341-4D9A-BA15-438F3317750E}"/>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10 / 22</a:t>
            </a:r>
          </a:p>
        </p:txBody>
      </p:sp>
      <p:sp>
        <p:nvSpPr>
          <p:cNvPr id="4" name="Le parcours ADG-10">
            <a:extLst xmlns:a="http://schemas.openxmlformats.org/drawingml/2006/main">
              <a:ext uri="{FF2B5EF4-FFF2-40B4-BE49-F238E27FC236}">
                <a16:creationId xmlns:a16="http://schemas.microsoft.com/office/drawing/2014/main" id="{A2911512-9C62-4A72-8B39-225BD2191203}"/>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Le parcours ADG-10</a:t>
            </a:r>
          </a:p>
        </p:txBody>
      </p:sp>
      <p:graphicFrame>
        <p:nvGraphicFramePr>
          <p:cNvPr id="11" name=""/>
          <p:cNvGraphicFramePr/>
          <p:nvPr/>
        </p:nvGraphicFramePr>
        <p:xfrm>
          <a:off xmlns:a="http://schemas.openxmlformats.org/drawingml/2006/main" x="1571625" y="3238500"/>
          <a:ext xmlns:a="http://schemas.openxmlformats.org/drawingml/2006/main" cx="14478000" cy="5000625"/>
        </p:xfrm>
        <a:graphic xmlns:a="http://schemas.openxmlformats.org/drawingml/2006/main">
          <a:graphicData uri="http://schemas.openxmlformats.org/drawingml/2006/table">
            <a:tbl>
              <a:tblPr/>
              <a:tblGrid>
                <a:gridCol w="2499799"/>
                <a:gridCol w="6614050"/>
                <a:gridCol w="5364151"/>
              </a:tblGrid>
              <a:tr h="833438">
                <a:tc>
                  <a:txBody>
                    <a:bodyPr lIns="190500" tIns="114300" rIns="190500" bIns="114300"/>
                    <a:lstStyle/>
                    <a:p>
                      <a:r>
                        <a:rPr sz="2550" b="1">
                          <a:solidFill>
                            <a:srgbClr val="FFFFFF"/>
                          </a:solidFill>
                          <a:latin typeface="Calibri"/>
                          <a:ea typeface="Calibri"/>
                          <a:cs typeface="Calibri"/>
                        </a:rPr>
                        <a:t>Étape</a:t>
                      </a:r>
                    </a:p>
                  </a:txBody>
                  <a:tcPr marL="91440" marR="91440" marT="45720" marB="45720" anchor="ctr">
                    <a:solidFill>
                      <a:srgbClr val="102B40"/>
                    </a:solidFill>
                  </a:tcPr>
                </a:tc>
                <a:tc>
                  <a:txBody>
                    <a:bodyPr lIns="190500" tIns="114300" rIns="190500" bIns="114300"/>
                    <a:lstStyle/>
                    <a:p>
                      <a:r>
                        <a:rPr sz="2550" b="1">
                          <a:solidFill>
                            <a:srgbClr val="FFFFFF"/>
                          </a:solidFill>
                          <a:latin typeface="Calibri"/>
                          <a:ea typeface="Calibri"/>
                          <a:cs typeface="Calibri"/>
                        </a:rPr>
                        <a:t>Fonction</a:t>
                      </a:r>
                    </a:p>
                  </a:txBody>
                  <a:tcPr marL="91440" marR="91440" marT="45720" marB="45720" anchor="ctr">
                    <a:solidFill>
                      <a:srgbClr val="102B40"/>
                    </a:solidFill>
                  </a:tcPr>
                </a:tc>
                <a:tc>
                  <a:txBody>
                    <a:bodyPr lIns="190500" tIns="114300" rIns="190500" bIns="114300"/>
                    <a:lstStyle/>
                    <a:p>
                      <a:r>
                        <a:rPr sz="2550" b="1">
                          <a:solidFill>
                            <a:srgbClr val="FFFFFF"/>
                          </a:solidFill>
                          <a:latin typeface="Calibri"/>
                          <a:ea typeface="Calibri"/>
                          <a:cs typeface="Calibri"/>
                        </a:rPr>
                        <a:t>État dans le prototype</a:t>
                      </a:r>
                    </a:p>
                  </a:txBody>
                  <a:tcPr marL="91440" marR="91440" marT="45720" marB="45720" anchor="ctr">
                    <a:solidFill>
                      <a:srgbClr val="102B40"/>
                    </a:solidFill>
                  </a:tcPr>
                </a:tc>
              </a:tr>
              <a:tr h="833438">
                <a:tc>
                  <a:txBody>
                    <a:bodyPr lIns="190500" tIns="114300" rIns="190500" bIns="114300"/>
                    <a:lstStyle/>
                    <a:p>
                      <a:r>
                        <a:rPr sz="2550" b="0">
                          <a:solidFill>
                            <a:srgbClr val="102B40"/>
                          </a:solidFill>
                          <a:latin typeface="Calibri"/>
                          <a:ea typeface="Calibri"/>
                          <a:cs typeface="Calibri"/>
                        </a:rPr>
                        <a:t>E1 / E2</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Contenu IA et textes LinkedIn / WhatsApp</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Génération disponible</a:t>
                      </a:r>
                    </a:p>
                  </a:txBody>
                  <a:tcPr marL="91440" marR="91440" marT="45720" marB="45720" anchor="ctr">
                    <a:solidFill>
                      <a:srgbClr val="EAF3F6"/>
                    </a:solidFill>
                  </a:tcPr>
                </a:tc>
              </a:tr>
              <a:tr h="833438">
                <a:tc>
                  <a:txBody>
                    <a:bodyPr lIns="190500" tIns="114300" rIns="190500" bIns="114300"/>
                    <a:lstStyle/>
                    <a:p>
                      <a:r>
                        <a:rPr sz="2550" b="0">
                          <a:solidFill>
                            <a:srgbClr val="102B40"/>
                          </a:solidFill>
                          <a:latin typeface="Calibri"/>
                          <a:ea typeface="Calibri"/>
                          <a:cs typeface="Calibri"/>
                        </a:rPr>
                        <a:t>E3</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Publication sociale</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À développer</a:t>
                      </a:r>
                    </a:p>
                  </a:txBody>
                  <a:tcPr marL="91440" marR="91440" marT="45720" marB="45720" anchor="ctr">
                    <a:solidFill>
                      <a:srgbClr val="FFFFFF"/>
                    </a:solidFill>
                  </a:tcPr>
                </a:tc>
              </a:tr>
              <a:tr h="833438">
                <a:tc>
                  <a:txBody>
                    <a:bodyPr lIns="190500" tIns="114300" rIns="190500" bIns="114300"/>
                    <a:lstStyle/>
                    <a:p>
                      <a:r>
                        <a:rPr sz="2550" b="0">
                          <a:solidFill>
                            <a:srgbClr val="102B40"/>
                          </a:solidFill>
                          <a:latin typeface="Calibri"/>
                          <a:ea typeface="Calibri"/>
                          <a:cs typeface="Calibri"/>
                        </a:rPr>
                        <a:t>E4 / E5</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Scoring et entretien du contact</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Règles et séquences disponibles</a:t>
                      </a:r>
                    </a:p>
                  </a:txBody>
                  <a:tcPr marL="91440" marR="91440" marT="45720" marB="45720" anchor="ctr">
                    <a:solidFill>
                      <a:srgbClr val="EAF3F6"/>
                    </a:solidFill>
                  </a:tcPr>
                </a:tc>
              </a:tr>
              <a:tr h="833438">
                <a:tc>
                  <a:txBody>
                    <a:bodyPr lIns="190500" tIns="114300" rIns="190500" bIns="114300"/>
                    <a:lstStyle/>
                    <a:p>
                      <a:r>
                        <a:rPr sz="2550" b="0">
                          <a:solidFill>
                            <a:srgbClr val="102B40"/>
                          </a:solidFill>
                          <a:latin typeface="Calibri"/>
                          <a:ea typeface="Calibri"/>
                          <a:cs typeface="Calibri"/>
                        </a:rPr>
                        <a:t>E6 / E7</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Proposition et relances de closing</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PDF, e-mail et jalons disponibles</a:t>
                      </a:r>
                    </a:p>
                  </a:txBody>
                  <a:tcPr marL="91440" marR="91440" marT="45720" marB="45720" anchor="ctr">
                    <a:solidFill>
                      <a:srgbClr val="FFFFFF"/>
                    </a:solidFill>
                  </a:tcPr>
                </a:tc>
              </a:tr>
              <a:tr h="833438">
                <a:tc>
                  <a:txBody>
                    <a:bodyPr lIns="190500" tIns="114300" rIns="190500" bIns="114300"/>
                    <a:lstStyle/>
                    <a:p>
                      <a:r>
                        <a:rPr sz="2550" b="0">
                          <a:solidFill>
                            <a:srgbClr val="102B40"/>
                          </a:solidFill>
                          <a:latin typeface="Calibri"/>
                          <a:ea typeface="Calibri"/>
                          <a:cs typeface="Calibri"/>
                        </a:rPr>
                        <a:t>E8</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Convention et facture</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Génération et envoi disponibles</a:t>
                      </a:r>
                    </a:p>
                  </a:txBody>
                  <a:tcPr marL="91440" marR="91440" marT="45720" marB="45720" anchor="ctr">
                    <a:solidFill>
                      <a:srgbClr val="EAF3F6"/>
                    </a:solidFill>
                  </a:tcPr>
                </a:tc>
              </a:tr>
            </a:tbl>
          </a:graphicData>
        </a:graphic>
      </p:graphicFrame>
      <p:sp>
        <p:nvSpPr>
          <p:cNvPr id="6" name="Les scripts doivent s’exécuter aux échéances prévues. L">
            <a:extLst xmlns:a="http://schemas.openxmlformats.org/drawingml/2006/main">
              <a:ext uri="{FF2B5EF4-FFF2-40B4-BE49-F238E27FC236}">
                <a16:creationId xmlns:a16="http://schemas.microsoft.com/office/drawing/2014/main" id="{9C8AD5B0-B380-453E-97BE-C805B61D63E8}"/>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561861278"/>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103ef211f7c4ff6"/>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3BC75A07-5C6D-48F6-A272-9C9CDB02D780}"/>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11 / 22">
            <a:extLst xmlns:a="http://schemas.openxmlformats.org/drawingml/2006/main">
              <a:ext uri="{FF2B5EF4-FFF2-40B4-BE49-F238E27FC236}">
                <a16:creationId xmlns:a16="http://schemas.microsoft.com/office/drawing/2014/main" id="{5C4D270F-D013-4CD1-8791-5F5E98369E6B}"/>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11 / 22</a:t>
            </a:r>
          </a:p>
        </p:txBody>
      </p:sp>
      <p:sp>
        <p:nvSpPr>
          <p:cNvPr id="4" name="Cas d’utilisation">
            <a:extLst xmlns:a="http://schemas.openxmlformats.org/drawingml/2006/main">
              <a:ext uri="{FF2B5EF4-FFF2-40B4-BE49-F238E27FC236}">
                <a16:creationId xmlns:a16="http://schemas.microsoft.com/office/drawing/2014/main" id="{3B768B7D-643B-41F6-96F9-02C1EBA5240C}"/>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Cas d’utilisation</a:t>
            </a:r>
          </a:p>
        </p:txBody>
      </p:sp>
      <p:sp>
        <p:nvSpPr>
          <p:cNvPr id="5" name="Commercial">
            <a:extLst xmlns:a="http://schemas.openxmlformats.org/drawingml/2006/main">
              <a:ext uri="{FF2B5EF4-FFF2-40B4-BE49-F238E27FC236}">
                <a16:creationId xmlns:a16="http://schemas.microsoft.com/office/drawing/2014/main" id="{487B892F-D5CC-4694-9A36-1D804D5DBA63}"/>
              </a:ext>
            </a:extLst>
          </p:cNvPr>
          <p:cNvSpPr>
            <a:spLocks xmlns:a="http://schemas.openxmlformats.org/drawingml/2006/main" noGrp="1"/>
          </p:cNvSpPr>
          <p:nvPr/>
        </p:nvSpPr>
        <p:spPr>
          <a:xfrm xmlns:a="http://schemas.openxmlformats.org/drawingml/2006/main">
            <a:off x="1476375" y="4714875"/>
            <a:ext cx="2619375" cy="1238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Commercial</a:t>
            </a:r>
          </a:p>
        </p:txBody>
      </p:sp>
      <p:sp>
        <p:nvSpPr>
          <p:cNvPr id="6" name="Consulter et filtrer les prospects">
            <a:extLst xmlns:a="http://schemas.openxmlformats.org/drawingml/2006/main">
              <a:ext uri="{FF2B5EF4-FFF2-40B4-BE49-F238E27FC236}">
                <a16:creationId xmlns:a16="http://schemas.microsoft.com/office/drawing/2014/main" id="{6FA9D18D-BFB1-41DB-ADFD-EC163AD277AE}"/>
              </a:ext>
            </a:extLst>
          </p:cNvPr>
          <p:cNvSpPr>
            <a:spLocks xmlns:a="http://schemas.openxmlformats.org/drawingml/2006/main" noGrp="1"/>
          </p:cNvSpPr>
          <p:nvPr/>
        </p:nvSpPr>
        <p:spPr>
          <a:xfrm xmlns:a="http://schemas.openxmlformats.org/drawingml/2006/main">
            <a:off x="5429250" y="3190875"/>
            <a:ext cx="7429500" cy="104775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102B40"/>
                </a:solidFill>
                <a:latin typeface="Calibri"/>
                <a:ea typeface="Calibri"/>
                <a:cs typeface="Calibri"/>
              </a:defRPr>
            </a:pPr>
            <a:r>
              <a:rPr sz="2850">
                <a:solidFill>
                  <a:srgbClr val="102B40"/>
                </a:solidFill>
                <a:latin typeface="Calibri"/>
                <a:ea typeface="Calibri"/>
                <a:cs typeface="Calibri"/>
              </a:rPr>
              <a:t>Consulter et filtrer les prospects</a:t>
            </a:r>
          </a:p>
        </p:txBody>
      </p:sp>
      <p:sp>
        <p:nvSpPr>
          <p:cNvPr id="7" name="Choisir et lancer un traitement">
            <a:extLst xmlns:a="http://schemas.openxmlformats.org/drawingml/2006/main">
              <a:ext uri="{FF2B5EF4-FFF2-40B4-BE49-F238E27FC236}">
                <a16:creationId xmlns:a16="http://schemas.microsoft.com/office/drawing/2014/main" id="{22259763-38E6-4FFD-AA46-1DE5EB051108}"/>
              </a:ext>
            </a:extLst>
          </p:cNvPr>
          <p:cNvSpPr>
            <a:spLocks xmlns:a="http://schemas.openxmlformats.org/drawingml/2006/main" noGrp="1"/>
          </p:cNvSpPr>
          <p:nvPr/>
        </p:nvSpPr>
        <p:spPr>
          <a:xfrm xmlns:a="http://schemas.openxmlformats.org/drawingml/2006/main">
            <a:off x="5429250" y="4714875"/>
            <a:ext cx="7429500" cy="104775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102B40"/>
                </a:solidFill>
                <a:latin typeface="Calibri"/>
                <a:ea typeface="Calibri"/>
                <a:cs typeface="Calibri"/>
              </a:defRPr>
            </a:pPr>
            <a:r>
              <a:rPr sz="2850">
                <a:solidFill>
                  <a:srgbClr val="102B40"/>
                </a:solidFill>
                <a:latin typeface="Calibri"/>
                <a:ea typeface="Calibri"/>
                <a:cs typeface="Calibri"/>
              </a:rPr>
              <a:t>Choisir et lancer un traitement</a:t>
            </a:r>
          </a:p>
        </p:txBody>
      </p:sp>
      <p:sp>
        <p:nvSpPr>
          <p:cNvPr id="8" name="Vérifier les documents et le résultat">
            <a:extLst xmlns:a="http://schemas.openxmlformats.org/drawingml/2006/main">
              <a:ext uri="{FF2B5EF4-FFF2-40B4-BE49-F238E27FC236}">
                <a16:creationId xmlns:a16="http://schemas.microsoft.com/office/drawing/2014/main" id="{35E7B27D-C058-4379-8BB9-115F134AD581}"/>
              </a:ext>
            </a:extLst>
          </p:cNvPr>
          <p:cNvSpPr>
            <a:spLocks xmlns:a="http://schemas.openxmlformats.org/drawingml/2006/main" noGrp="1"/>
          </p:cNvSpPr>
          <p:nvPr/>
        </p:nvSpPr>
        <p:spPr>
          <a:xfrm xmlns:a="http://schemas.openxmlformats.org/drawingml/2006/main">
            <a:off x="5429250" y="6238875"/>
            <a:ext cx="7429500" cy="104775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102B40"/>
                </a:solidFill>
                <a:latin typeface="Calibri"/>
                <a:ea typeface="Calibri"/>
                <a:cs typeface="Calibri"/>
              </a:defRPr>
            </a:pPr>
            <a:r>
              <a:rPr sz="2850">
                <a:solidFill>
                  <a:srgbClr val="102B40"/>
                </a:solidFill>
                <a:latin typeface="Calibri"/>
                <a:ea typeface="Calibri"/>
                <a:cs typeface="Calibri"/>
              </a:rPr>
              <a:t>Vérifier les documents et le résultat</a:t>
            </a:r>
          </a:p>
        </p:txBody>
      </p:sp>
      <p:cxnSp>
        <p:nvCxnSpPr>
          <p:cNvPr id="22" name=""/>
          <p:cNvCxnSpPr>
            <a:stCxn xmlns:a="http://schemas.openxmlformats.org/drawingml/2006/main" id="5" idx="3"/>
            <a:endCxn xmlns:a="http://schemas.openxmlformats.org/drawingml/2006/main" id="6" idx="2"/>
          </p:cNvCxnSpPr>
          <p:nvPr/>
        </p:nvCxnSpPr>
        <p:spPr>
          <a:xfrm xmlns:a="http://schemas.openxmlformats.org/drawingml/2006/main" flipV="1">
            <a:off x="4095750" y="3714750"/>
            <a:ext cx="1333500" cy="161925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3" name=""/>
          <p:cNvCxnSpPr>
            <a:stCxn xmlns:a="http://schemas.openxmlformats.org/drawingml/2006/main" id="5" idx="3"/>
            <a:endCxn xmlns:a="http://schemas.openxmlformats.org/drawingml/2006/main" id="7" idx="2"/>
          </p:cNvCxnSpPr>
          <p:nvPr/>
        </p:nvCxnSpPr>
        <p:spPr>
          <a:xfrm xmlns:a="http://schemas.openxmlformats.org/drawingml/2006/main" flipV="1">
            <a:off x="4095750" y="5238750"/>
            <a:ext cx="1333500" cy="9525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4" name=""/>
          <p:cNvCxnSpPr>
            <a:stCxn xmlns:a="http://schemas.openxmlformats.org/drawingml/2006/main" id="5" idx="3"/>
            <a:endCxn xmlns:a="http://schemas.openxmlformats.org/drawingml/2006/main" id="8" idx="2"/>
          </p:cNvCxnSpPr>
          <p:nvPr/>
        </p:nvCxnSpPr>
        <p:spPr>
          <a:xfrm xmlns:a="http://schemas.openxmlformats.org/drawingml/2006/main">
            <a:off x="4095750" y="5334000"/>
            <a:ext cx="1333500" cy="142875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2" name="Administrateur : configuration et contrôle des accès">
            <a:extLst xmlns:a="http://schemas.openxmlformats.org/drawingml/2006/main">
              <a:ext uri="{FF2B5EF4-FFF2-40B4-BE49-F238E27FC236}">
                <a16:creationId xmlns:a16="http://schemas.microsoft.com/office/drawing/2014/main" id="{25CF67B4-959C-4463-99E4-03E81CEEAD98}"/>
              </a:ext>
            </a:extLst>
          </p:cNvPr>
          <p:cNvSpPr>
            <a:spLocks xmlns:a="http://schemas.openxmlformats.org/drawingml/2006/main" noGrp="1"/>
          </p:cNvSpPr>
          <p:nvPr/>
        </p:nvSpPr>
        <p:spPr>
          <a:xfrm xmlns:a="http://schemas.openxmlformats.org/drawingml/2006/main">
            <a:off x="2190750" y="8001000"/>
            <a:ext cx="1228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0">
                <a:solidFill>
                  <a:srgbClr val="102B40"/>
                </a:solidFill>
                <a:latin typeface="Calibri"/>
                <a:ea typeface="Calibri"/>
                <a:cs typeface="Calibri"/>
              </a:defRPr>
            </a:pPr>
            <a:r>
              <a:rPr sz="2700" b="0">
                <a:solidFill>
                  <a:srgbClr val="102B40"/>
                </a:solidFill>
                <a:latin typeface="Calibri"/>
                <a:ea typeface="Calibri"/>
                <a:cs typeface="Calibri"/>
              </a:rPr>
              <a:t>Administrateur : configuration et contrôle des accès</a:t>
            </a:r>
          </a:p>
        </p:txBody>
      </p:sp>
      <p:sp>
        <p:nvSpPr>
          <p:cNvPr id="13" name="Rôles métier représentés. Le prototype ne dispose pas e">
            <a:extLst xmlns:a="http://schemas.openxmlformats.org/drawingml/2006/main">
              <a:ext uri="{FF2B5EF4-FFF2-40B4-BE49-F238E27FC236}">
                <a16:creationId xmlns:a16="http://schemas.microsoft.com/office/drawing/2014/main" id="{12002411-CE67-4D31-9FCF-16B4C01FB73E}"/>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Rôles métier représentés. Le prototype ne dispose pas encore de comptes applicatifs distincts.</a:t>
            </a:r>
          </a:p>
        </p:txBody>
      </p:sp>
    </p:spTree>
    <p:extLst>
      <p:ext uri="{BB962C8B-B14F-4D97-AF65-F5344CB8AC3E}">
        <p14:creationId xmlns:p14="http://schemas.microsoft.com/office/powerpoint/2010/main" val="1888212626"/>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58f428727e8452c"/>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4B4A1247-2BA8-4EC2-A435-4B018844E211}"/>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12 / 22">
            <a:extLst xmlns:a="http://schemas.openxmlformats.org/drawingml/2006/main">
              <a:ext uri="{FF2B5EF4-FFF2-40B4-BE49-F238E27FC236}">
                <a16:creationId xmlns:a16="http://schemas.microsoft.com/office/drawing/2014/main" id="{BE85D8E1-108F-427D-92BB-B93D84FB4CB2}"/>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12 / 22</a:t>
            </a:r>
          </a:p>
        </p:txBody>
      </p:sp>
      <p:sp>
        <p:nvSpPr>
          <p:cNvPr id="4" name="Modèle de données">
            <a:extLst xmlns:a="http://schemas.openxmlformats.org/drawingml/2006/main">
              <a:ext uri="{FF2B5EF4-FFF2-40B4-BE49-F238E27FC236}">
                <a16:creationId xmlns:a16="http://schemas.microsoft.com/office/drawing/2014/main" id="{D53731AB-EED3-42BA-9BD9-829213F8F182}"/>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Modèle de données</a:t>
            </a:r>
          </a:p>
        </p:txBody>
      </p:sp>
      <p:sp>
        <p:nvSpPr>
          <p:cNvPr id="5" name="Formation&#10;Titre, durée, public&#10;Tarif et contenus">
            <a:extLst xmlns:a="http://schemas.openxmlformats.org/drawingml/2006/main">
              <a:ext uri="{FF2B5EF4-FFF2-40B4-BE49-F238E27FC236}">
                <a16:creationId xmlns:a16="http://schemas.microsoft.com/office/drawing/2014/main" id="{E7FEDF05-8AD9-4876-97A8-77DCD0F6D7F0}"/>
              </a:ext>
            </a:extLst>
          </p:cNvPr>
          <p:cNvSpPr>
            <a:spLocks xmlns:a="http://schemas.openxmlformats.org/drawingml/2006/main" noGrp="1"/>
          </p:cNvSpPr>
          <p:nvPr/>
        </p:nvSpPr>
        <p:spPr>
          <a:xfrm xmlns:a="http://schemas.openxmlformats.org/drawingml/2006/main">
            <a:off x="1666875" y="3429000"/>
            <a:ext cx="5095875" cy="21907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Formation</a:t>
            </a:r>
          </a:p>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Titre, durée, public</a:t>
            </a:r>
          </a:p>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Tarif et contenus</a:t>
            </a:r>
          </a:p>
        </p:txBody>
      </p:sp>
      <p:sp>
        <p:nvSpPr>
          <p:cNvPr id="6" name="Lead&#10;Contact, entreprise, score&#10;Statut et dates de suiv">
            <a:extLst xmlns:a="http://schemas.openxmlformats.org/drawingml/2006/main">
              <a:ext uri="{FF2B5EF4-FFF2-40B4-BE49-F238E27FC236}">
                <a16:creationId xmlns:a16="http://schemas.microsoft.com/office/drawing/2014/main" id="{E9E30150-68FE-4F48-9FE6-4C17380381C1}"/>
              </a:ext>
            </a:extLst>
          </p:cNvPr>
          <p:cNvSpPr>
            <a:spLocks xmlns:a="http://schemas.openxmlformats.org/drawingml/2006/main" noGrp="1"/>
          </p:cNvSpPr>
          <p:nvPr/>
        </p:nvSpPr>
        <p:spPr>
          <a:xfrm xmlns:a="http://schemas.openxmlformats.org/drawingml/2006/main">
            <a:off x="9001125" y="3429000"/>
            <a:ext cx="5857875" cy="21907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Lead</a:t>
            </a:r>
          </a:p>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Contact, entreprise, score</a:t>
            </a:r>
          </a:p>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Statut et dates de suivi</a:t>
            </a:r>
          </a:p>
        </p:txBody>
      </p: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6762750" y="4524375"/>
            <a:ext cx="223837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8" name="1 formation&#10;plusieurs leads">
            <a:extLst xmlns:a="http://schemas.openxmlformats.org/drawingml/2006/main">
              <a:ext uri="{FF2B5EF4-FFF2-40B4-BE49-F238E27FC236}">
                <a16:creationId xmlns:a16="http://schemas.microsoft.com/office/drawing/2014/main" id="{95609972-9FFD-4E5C-8509-484C10F03CF7}"/>
              </a:ext>
            </a:extLst>
          </p:cNvPr>
          <p:cNvSpPr>
            <a:spLocks xmlns:a="http://schemas.openxmlformats.org/drawingml/2006/main" noGrp="1"/>
          </p:cNvSpPr>
          <p:nvPr/>
        </p:nvSpPr>
        <p:spPr>
          <a:xfrm xmlns:a="http://schemas.openxmlformats.org/drawingml/2006/main">
            <a:off x="6838950" y="3305175"/>
            <a:ext cx="209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102B40"/>
                </a:solidFill>
                <a:latin typeface="Calibri"/>
                <a:ea typeface="Calibri"/>
                <a:cs typeface="Calibri"/>
              </a:defRPr>
            </a:pPr>
            <a:r>
              <a:rPr sz="2325" b="0">
                <a:solidFill>
                  <a:srgbClr val="102B40"/>
                </a:solidFill>
                <a:latin typeface="Calibri"/>
                <a:ea typeface="Calibri"/>
                <a:cs typeface="Calibri"/>
              </a:rPr>
              <a:t>1 formation</a:t>
            </a:r>
          </a:p>
          <a:p xmlns:a="http://schemas.openxmlformats.org/drawingml/2006/main">
            <a:pPr algn="ctr">
              <a:defRPr sz="2325" b="0">
                <a:solidFill>
                  <a:srgbClr val="102B40"/>
                </a:solidFill>
                <a:latin typeface="Calibri"/>
                <a:ea typeface="Calibri"/>
                <a:cs typeface="Calibri"/>
              </a:defRPr>
            </a:pPr>
            <a:r>
              <a:rPr sz="2325" b="0">
                <a:solidFill>
                  <a:srgbClr val="102B40"/>
                </a:solidFill>
                <a:latin typeface="Calibri"/>
                <a:ea typeface="Calibri"/>
                <a:cs typeface="Calibri"/>
              </a:rPr>
              <a:t>plusieurs leads</a:t>
            </a:r>
          </a:p>
        </p:txBody>
      </p:sp>
      <p:sp>
        <p:nvSpPr>
          <p:cNvPr id="9" name="Documents PDF&#10;Proposition, convention, facture">
            <a:extLst xmlns:a="http://schemas.openxmlformats.org/drawingml/2006/main">
              <a:ext uri="{FF2B5EF4-FFF2-40B4-BE49-F238E27FC236}">
                <a16:creationId xmlns:a16="http://schemas.microsoft.com/office/drawing/2014/main" id="{9CFCB085-2A53-48C8-A852-868DDB093DB3}"/>
              </a:ext>
            </a:extLst>
          </p:cNvPr>
          <p:cNvSpPr>
            <a:spLocks xmlns:a="http://schemas.openxmlformats.org/drawingml/2006/main" noGrp="1"/>
          </p:cNvSpPr>
          <p:nvPr/>
        </p:nvSpPr>
        <p:spPr>
          <a:xfrm xmlns:a="http://schemas.openxmlformats.org/drawingml/2006/main">
            <a:off x="1666875" y="6762750"/>
            <a:ext cx="5810250" cy="15240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102B40"/>
                </a:solidFill>
                <a:latin typeface="Calibri"/>
                <a:ea typeface="Calibri"/>
                <a:cs typeface="Calibri"/>
              </a:defRPr>
            </a:pPr>
            <a:r>
              <a:rPr sz="2850">
                <a:solidFill>
                  <a:srgbClr val="102B40"/>
                </a:solidFill>
                <a:latin typeface="Calibri"/>
                <a:ea typeface="Calibri"/>
                <a:cs typeface="Calibri"/>
              </a:rPr>
              <a:t>Documents PDF</a:t>
            </a:r>
          </a:p>
          <a:p xmlns:a="http://schemas.openxmlformats.org/drawingml/2006/main">
            <a:pPr algn="ctr">
              <a:defRPr sz="2850">
                <a:solidFill>
                  <a:srgbClr val="102B40"/>
                </a:solidFill>
                <a:latin typeface="Calibri"/>
                <a:ea typeface="Calibri"/>
                <a:cs typeface="Calibri"/>
              </a:defRPr>
            </a:pPr>
            <a:r>
              <a:rPr sz="2850">
                <a:solidFill>
                  <a:srgbClr val="102B40"/>
                </a:solidFill>
                <a:latin typeface="Calibri"/>
                <a:ea typeface="Calibri"/>
                <a:cs typeface="Calibri"/>
              </a:rPr>
              <a:t>Proposition, convention, facture</a:t>
            </a:r>
          </a:p>
        </p:txBody>
      </p:sp>
      <p:sp>
        <p:nvSpPr>
          <p:cNvPr id="10" name="Journal local JSON&#10;Action, canal et date d’envoi">
            <a:extLst xmlns:a="http://schemas.openxmlformats.org/drawingml/2006/main">
              <a:ext uri="{FF2B5EF4-FFF2-40B4-BE49-F238E27FC236}">
                <a16:creationId xmlns:a16="http://schemas.microsoft.com/office/drawing/2014/main" id="{F7982890-B72C-4BCC-97E1-DB195EA10A63}"/>
              </a:ext>
            </a:extLst>
          </p:cNvPr>
          <p:cNvSpPr>
            <a:spLocks xmlns:a="http://schemas.openxmlformats.org/drawingml/2006/main" noGrp="1"/>
          </p:cNvSpPr>
          <p:nvPr/>
        </p:nvSpPr>
        <p:spPr>
          <a:xfrm xmlns:a="http://schemas.openxmlformats.org/drawingml/2006/main">
            <a:off x="9001125" y="6762750"/>
            <a:ext cx="5857875" cy="15240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102B40"/>
                </a:solidFill>
                <a:latin typeface="Calibri"/>
                <a:ea typeface="Calibri"/>
                <a:cs typeface="Calibri"/>
              </a:defRPr>
            </a:pPr>
            <a:r>
              <a:rPr sz="2850">
                <a:solidFill>
                  <a:srgbClr val="102B40"/>
                </a:solidFill>
                <a:latin typeface="Calibri"/>
                <a:ea typeface="Calibri"/>
                <a:cs typeface="Calibri"/>
              </a:rPr>
              <a:t>Journal local JSON</a:t>
            </a:r>
          </a:p>
          <a:p xmlns:a="http://schemas.openxmlformats.org/drawingml/2006/main">
            <a:pPr algn="ctr">
              <a:defRPr sz="2850">
                <a:solidFill>
                  <a:srgbClr val="102B40"/>
                </a:solidFill>
                <a:latin typeface="Calibri"/>
                <a:ea typeface="Calibri"/>
                <a:cs typeface="Calibri"/>
              </a:defRPr>
            </a:pPr>
            <a:r>
              <a:rPr sz="2850">
                <a:solidFill>
                  <a:srgbClr val="102B40"/>
                </a:solidFill>
                <a:latin typeface="Calibri"/>
                <a:ea typeface="Calibri"/>
                <a:cs typeface="Calibri"/>
              </a:rPr>
              <a:t>Action, canal et date d’envoi</a:t>
            </a:r>
          </a:p>
        </p:txBody>
      </p:sp>
      <p:cxnSp>
        <p:nvCxnSpPr>
          <p:cNvPr id="24" name=""/>
          <p:cNvCxnSpPr>
            <a:stCxn xmlns:a="http://schemas.openxmlformats.org/drawingml/2006/main" id="6" idx="2"/>
            <a:endCxn xmlns:a="http://schemas.openxmlformats.org/drawingml/2006/main" id="10" idx="0"/>
          </p:cNvCxnSpPr>
          <p:nvPr/>
        </p:nvCxnSpPr>
        <p:spPr>
          <a:xfrm xmlns:a="http://schemas.openxmlformats.org/drawingml/2006/main">
            <a:off x="11930063" y="5619750"/>
            <a:ext cx="0" cy="114300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5" name=""/>
          <p:cNvCxnSpPr>
            <a:stCxn xmlns:a="http://schemas.openxmlformats.org/drawingml/2006/main" id="5" idx="2"/>
            <a:endCxn xmlns:a="http://schemas.openxmlformats.org/drawingml/2006/main" id="9" idx="0"/>
          </p:cNvCxnSpPr>
          <p:nvPr/>
        </p:nvCxnSpPr>
        <p:spPr>
          <a:xfrm xmlns:a="http://schemas.openxmlformats.org/drawingml/2006/main">
            <a:off x="4214813" y="5619750"/>
            <a:ext cx="357188" cy="114300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3" name="Modèle conceptuel. Airtable conserve les fiches métier,">
            <a:extLst xmlns:a="http://schemas.openxmlformats.org/drawingml/2006/main">
              <a:ext uri="{FF2B5EF4-FFF2-40B4-BE49-F238E27FC236}">
                <a16:creationId xmlns:a16="http://schemas.microsoft.com/office/drawing/2014/main" id="{42FF5B5B-0B1A-44DB-A97F-9C8BFDC876D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Modèle conceptuel. Airtable conserve les fiches métier, le poste conserve les PDF et le journal.</a:t>
            </a:r>
          </a:p>
        </p:txBody>
      </p:sp>
    </p:spTree>
    <p:extLst>
      <p:ext uri="{BB962C8B-B14F-4D97-AF65-F5344CB8AC3E}">
        <p14:creationId xmlns:p14="http://schemas.microsoft.com/office/powerpoint/2010/main" val="865359812"/>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b90090fa01e4f06"/>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6A19C103-A48A-4075-A95D-2D06987303FF}"/>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13 / 22">
            <a:extLst xmlns:a="http://schemas.openxmlformats.org/drawingml/2006/main">
              <a:ext uri="{FF2B5EF4-FFF2-40B4-BE49-F238E27FC236}">
                <a16:creationId xmlns:a16="http://schemas.microsoft.com/office/drawing/2014/main" id="{BF007CFD-A316-4E6B-A744-1FA663EEB274}"/>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13 / 22</a:t>
            </a:r>
          </a:p>
        </p:txBody>
      </p:sp>
      <p:sp>
        <p:nvSpPr>
          <p:cNvPr id="4" name="Scoring et routage des prospects">
            <a:extLst xmlns:a="http://schemas.openxmlformats.org/drawingml/2006/main">
              <a:ext uri="{FF2B5EF4-FFF2-40B4-BE49-F238E27FC236}">
                <a16:creationId xmlns:a16="http://schemas.microsoft.com/office/drawing/2014/main" id="{91A40024-7FE2-45F0-A4AC-C8621052A336}"/>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Scoring et routage des prospects</a:t>
            </a:r>
          </a:p>
        </p:txBody>
      </p:sp>
      <p:sp>
        <p:nvSpPr>
          <p:cNvPr id="5" name="Pondération des critères (%)">
            <a:extLst xmlns:a="http://schemas.openxmlformats.org/drawingml/2006/main">
              <a:ext uri="{FF2B5EF4-FFF2-40B4-BE49-F238E27FC236}">
                <a16:creationId xmlns:a16="http://schemas.microsoft.com/office/drawing/2014/main" id="{03682742-D320-4EDF-8677-30ECBC9AE867}"/>
              </a:ext>
            </a:extLst>
          </p:cNvPr>
          <p:cNvSpPr>
            <a:spLocks xmlns:a="http://schemas.openxmlformats.org/drawingml/2006/main" noGrp="1"/>
          </p:cNvSpPr>
          <p:nvPr/>
        </p:nvSpPr>
        <p:spPr>
          <a:xfrm xmlns:a="http://schemas.openxmlformats.org/drawingml/2006/main">
            <a:off x="1905000" y="2952750"/>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102B40"/>
                </a:solidFill>
                <a:latin typeface="Calibri"/>
                <a:ea typeface="Calibri"/>
                <a:cs typeface="Calibri"/>
              </a:defRPr>
            </a:pPr>
            <a:r>
              <a:rPr sz="2250" b="0">
                <a:solidFill>
                  <a:srgbClr val="102B40"/>
                </a:solidFill>
                <a:latin typeface="Calibri"/>
                <a:ea typeface="Calibri"/>
                <a:cs typeface="Calibri"/>
              </a:rPr>
              <a:t>Pondération des critères (%)</a:t>
            </a:r>
          </a:p>
        </p:txBody>
      </p:sp>
      <p:graphicFrame>
        <p:nvGraphicFramePr>
          <p:cNvPr id="15" name="Chart"/>
          <p:cNvGraphicFramePr/>
          <p:nvPr/>
        </p:nvGraphicFramePr>
        <p:xfrm>
          <a:off xmlns:a="http://schemas.openxmlformats.org/drawingml/2006/main" x="1381125" y="3333750"/>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28417eceb1c64904"/>
          </a:graphicData>
        </a:graphic>
      </p:graphicFrame>
      <p:sp>
        <p:nvSpPr>
          <p:cNvPr id="7" name="Score ≥ 8 : priorité commerciale&#10;&#10;5 ≤ score &lt; 8 : quali">
            <a:extLst xmlns:a="http://schemas.openxmlformats.org/drawingml/2006/main">
              <a:ext uri="{FF2B5EF4-FFF2-40B4-BE49-F238E27FC236}">
                <a16:creationId xmlns:a16="http://schemas.microsoft.com/office/drawing/2014/main" id="{D76EE384-D60F-4B50-B7A5-0275E80654C4}"/>
              </a:ext>
            </a:extLst>
          </p:cNvPr>
          <p:cNvSpPr>
            <a:spLocks xmlns:a="http://schemas.openxmlformats.org/drawingml/2006/main" noGrp="1"/>
          </p:cNvSpPr>
          <p:nvPr/>
        </p:nvSpPr>
        <p:spPr>
          <a:xfrm xmlns:a="http://schemas.openxmlformats.org/drawingml/2006/main">
            <a:off x="9810750" y="3476625"/>
            <a:ext cx="571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102B40"/>
                </a:solidFill>
                <a:latin typeface="Calibri"/>
                <a:ea typeface="Calibri"/>
                <a:cs typeface="Calibri"/>
              </a:defRPr>
            </a:pPr>
            <a:r>
              <a:rPr sz="3000" b="0">
                <a:solidFill>
                  <a:srgbClr val="102B40"/>
                </a:solidFill>
                <a:latin typeface="Calibri"/>
                <a:ea typeface="Calibri"/>
                <a:cs typeface="Calibri"/>
              </a:rPr>
              <a:t>Score ≥ 8 : priorité commerciale</a:t>
            </a:r>
          </a:p>
          <a:p xmlns:a="http://schemas.openxmlformats.org/drawingml/2006/main">
            <a:r>
              <a:t/>
            </a:r>
          </a:p>
          <a:p xmlns:a="http://schemas.openxmlformats.org/drawingml/2006/main">
            <a:pPr algn="l">
              <a:defRPr sz="3000" b="0">
                <a:solidFill>
                  <a:srgbClr val="102B40"/>
                </a:solidFill>
                <a:latin typeface="Calibri"/>
                <a:ea typeface="Calibri"/>
                <a:cs typeface="Calibri"/>
              </a:defRPr>
            </a:pPr>
            <a:r>
              <a:rPr sz="3000" b="0">
                <a:solidFill>
                  <a:srgbClr val="102B40"/>
                </a:solidFill>
                <a:latin typeface="Calibri"/>
                <a:ea typeface="Calibri"/>
                <a:cs typeface="Calibri"/>
              </a:rPr>
              <a:t>5 ≤ score &lt; 8 : qualification</a:t>
            </a:r>
          </a:p>
          <a:p xmlns:a="http://schemas.openxmlformats.org/drawingml/2006/main">
            <a:r>
              <a:t/>
            </a:r>
          </a:p>
          <a:p xmlns:a="http://schemas.openxmlformats.org/drawingml/2006/main">
            <a:pPr algn="l">
              <a:defRPr sz="3000" b="0">
                <a:solidFill>
                  <a:srgbClr val="102B40"/>
                </a:solidFill>
                <a:latin typeface="Calibri"/>
                <a:ea typeface="Calibri"/>
                <a:cs typeface="Calibri"/>
              </a:defRPr>
            </a:pPr>
            <a:r>
              <a:rPr sz="3000" b="0">
                <a:solidFill>
                  <a:srgbClr val="102B40"/>
                </a:solidFill>
                <a:latin typeface="Calibri"/>
                <a:ea typeface="Calibri"/>
                <a:cs typeface="Calibri"/>
              </a:rPr>
              <a:t>Score &lt; 5 : nurturing</a:t>
            </a:r>
          </a:p>
        </p:txBody>
      </p:sp>
      <p:sp>
        <p:nvSpPr>
          <p:cNvPr id="8" name="Exemple fictif : 9,5 / 10&#10;Budget 6 000 MAD, besoin urge">
            <a:extLst xmlns:a="http://schemas.openxmlformats.org/drawingml/2006/main">
              <a:ext uri="{FF2B5EF4-FFF2-40B4-BE49-F238E27FC236}">
                <a16:creationId xmlns:a16="http://schemas.microsoft.com/office/drawing/2014/main" id="{13CE1AB9-FE91-49E1-948A-E2CF88E0565A}"/>
              </a:ext>
            </a:extLst>
          </p:cNvPr>
          <p:cNvSpPr>
            <a:spLocks xmlns:a="http://schemas.openxmlformats.org/drawingml/2006/main" noGrp="1"/>
          </p:cNvSpPr>
          <p:nvPr/>
        </p:nvSpPr>
        <p:spPr>
          <a:xfrm xmlns:a="http://schemas.openxmlformats.org/drawingml/2006/main">
            <a:off x="9810750" y="68580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102B40"/>
                </a:solidFill>
                <a:latin typeface="Calibri"/>
                <a:ea typeface="Calibri"/>
                <a:cs typeface="Calibri"/>
              </a:defRPr>
            </a:pPr>
            <a:r>
              <a:rPr sz="2625" b="0">
                <a:solidFill>
                  <a:srgbClr val="102B40"/>
                </a:solidFill>
                <a:latin typeface="Calibri"/>
                <a:ea typeface="Calibri"/>
                <a:cs typeface="Calibri"/>
              </a:rPr>
              <a:t>Exemple fictif : 9,5 / 10</a:t>
            </a:r>
          </a:p>
          <a:p xmlns:a="http://schemas.openxmlformats.org/drawingml/2006/main">
            <a:pPr algn="l">
              <a:defRPr sz="2625" b="0">
                <a:solidFill>
                  <a:srgbClr val="102B40"/>
                </a:solidFill>
                <a:latin typeface="Calibri"/>
                <a:ea typeface="Calibri"/>
                <a:cs typeface="Calibri"/>
              </a:defRPr>
            </a:pPr>
            <a:r>
              <a:rPr sz="2625" b="0">
                <a:solidFill>
                  <a:srgbClr val="102B40"/>
                </a:solidFill>
                <a:latin typeface="Calibri"/>
                <a:ea typeface="Calibri"/>
                <a:cs typeface="Calibri"/>
              </a:rPr>
              <a:t>Budget 6 000 MAD, besoin urgent, DRH, PME, e-mail direct.</a:t>
            </a:r>
          </a:p>
        </p:txBody>
      </p:sp>
      <p:sp>
        <p:nvSpPr>
          <p:cNvPr id="9" name="Le score exprime une priorité de traitement. Il ne mesu">
            <a:extLst xmlns:a="http://schemas.openxmlformats.org/drawingml/2006/main">
              <a:ext uri="{FF2B5EF4-FFF2-40B4-BE49-F238E27FC236}">
                <a16:creationId xmlns:a16="http://schemas.microsoft.com/office/drawing/2014/main" id="{DD9FADC7-673A-4AB5-85A5-47F41D43F9CD}"/>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903194605"/>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3cf6dc273f3402d"/>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71925CCC-C16A-4B16-B052-C7C124F97481}"/>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14 / 22">
            <a:extLst xmlns:a="http://schemas.openxmlformats.org/drawingml/2006/main">
              <a:ext uri="{FF2B5EF4-FFF2-40B4-BE49-F238E27FC236}">
                <a16:creationId xmlns:a16="http://schemas.microsoft.com/office/drawing/2014/main" id="{9BF32580-ADFD-4824-9902-287F69B13CF3}"/>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14 / 22</a:t>
            </a:r>
          </a:p>
        </p:txBody>
      </p:sp>
      <p:sp>
        <p:nvSpPr>
          <p:cNvPr id="4" name="Séquence d’envoi d’une proposition">
            <a:extLst xmlns:a="http://schemas.openxmlformats.org/drawingml/2006/main">
              <a:ext uri="{FF2B5EF4-FFF2-40B4-BE49-F238E27FC236}">
                <a16:creationId xmlns:a16="http://schemas.microsoft.com/office/drawing/2014/main" id="{3B052451-5B1E-4766-9401-EE192679E622}"/>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Séquence d’envoi d’une proposition</a:t>
            </a:r>
          </a:p>
        </p:txBody>
      </p:sp>
      <p:sp>
        <p:nvSpPr>
          <p:cNvPr id="5" name="Script E6">
            <a:extLst xmlns:a="http://schemas.openxmlformats.org/drawingml/2006/main">
              <a:ext uri="{FF2B5EF4-FFF2-40B4-BE49-F238E27FC236}">
                <a16:creationId xmlns:a16="http://schemas.microsoft.com/office/drawing/2014/main" id="{C1679982-1658-45D8-8A1B-A570C5F9C9D1}"/>
              </a:ext>
            </a:extLst>
          </p:cNvPr>
          <p:cNvSpPr>
            <a:spLocks xmlns:a="http://schemas.openxmlformats.org/drawingml/2006/main" noGrp="1"/>
          </p:cNvSpPr>
          <p:nvPr/>
        </p:nvSpPr>
        <p:spPr>
          <a:xfrm xmlns:a="http://schemas.openxmlformats.org/drawingml/2006/main">
            <a:off x="1190625" y="3238500"/>
            <a:ext cx="2762250" cy="7429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102B40"/>
                </a:solidFill>
                <a:latin typeface="Calibri"/>
                <a:ea typeface="Calibri"/>
                <a:cs typeface="Calibri"/>
              </a:defRPr>
            </a:pPr>
            <a:r>
              <a:rPr sz="2775">
                <a:solidFill>
                  <a:srgbClr val="102B40"/>
                </a:solidFill>
                <a:latin typeface="Calibri"/>
                <a:ea typeface="Calibri"/>
                <a:cs typeface="Calibri"/>
              </a:rPr>
              <a:t>Script E6</a:t>
            </a:r>
          </a:p>
        </p:txBody>
      </p:sp>
      <p:sp>
        <p:nvSpPr>
          <p:cNvPr id="6" name="Airtable">
            <a:extLst xmlns:a="http://schemas.openxmlformats.org/drawingml/2006/main">
              <a:ext uri="{FF2B5EF4-FFF2-40B4-BE49-F238E27FC236}">
                <a16:creationId xmlns:a16="http://schemas.microsoft.com/office/drawing/2014/main" id="{6992D05A-9C07-48BF-B0ED-1195EC351CF1}"/>
              </a:ext>
            </a:extLst>
          </p:cNvPr>
          <p:cNvSpPr>
            <a:spLocks xmlns:a="http://schemas.openxmlformats.org/drawingml/2006/main" noGrp="1"/>
          </p:cNvSpPr>
          <p:nvPr/>
        </p:nvSpPr>
        <p:spPr>
          <a:xfrm xmlns:a="http://schemas.openxmlformats.org/drawingml/2006/main">
            <a:off x="4953000" y="3238500"/>
            <a:ext cx="2762250" cy="7429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102B40"/>
                </a:solidFill>
                <a:latin typeface="Calibri"/>
                <a:ea typeface="Calibri"/>
                <a:cs typeface="Calibri"/>
              </a:defRPr>
            </a:pPr>
            <a:r>
              <a:rPr sz="2775">
                <a:solidFill>
                  <a:srgbClr val="102B40"/>
                </a:solidFill>
                <a:latin typeface="Calibri"/>
                <a:ea typeface="Calibri"/>
                <a:cs typeface="Calibri"/>
              </a:rPr>
              <a:t>Airtable</a:t>
            </a:r>
          </a:p>
        </p:txBody>
      </p:sp>
      <p:sp>
        <p:nvSpPr>
          <p:cNvPr id="7" name="Journal local">
            <a:extLst xmlns:a="http://schemas.openxmlformats.org/drawingml/2006/main">
              <a:ext uri="{FF2B5EF4-FFF2-40B4-BE49-F238E27FC236}">
                <a16:creationId xmlns:a16="http://schemas.microsoft.com/office/drawing/2014/main" id="{7D7571FE-CB1A-4167-9D0A-7B7481673519}"/>
              </a:ext>
            </a:extLst>
          </p:cNvPr>
          <p:cNvSpPr>
            <a:spLocks xmlns:a="http://schemas.openxmlformats.org/drawingml/2006/main" noGrp="1"/>
          </p:cNvSpPr>
          <p:nvPr/>
        </p:nvSpPr>
        <p:spPr>
          <a:xfrm xmlns:a="http://schemas.openxmlformats.org/drawingml/2006/main">
            <a:off x="8715375" y="3238500"/>
            <a:ext cx="2762250" cy="7429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102B40"/>
                </a:solidFill>
                <a:latin typeface="Calibri"/>
                <a:ea typeface="Calibri"/>
                <a:cs typeface="Calibri"/>
              </a:defRPr>
            </a:pPr>
            <a:r>
              <a:rPr sz="2775">
                <a:solidFill>
                  <a:srgbClr val="102B40"/>
                </a:solidFill>
                <a:latin typeface="Calibri"/>
                <a:ea typeface="Calibri"/>
                <a:cs typeface="Calibri"/>
              </a:rPr>
              <a:t>Journal local</a:t>
            </a:r>
          </a:p>
        </p:txBody>
      </p:sp>
      <p:sp>
        <p:nvSpPr>
          <p:cNvPr id="8" name="PDF / SMTP">
            <a:extLst xmlns:a="http://schemas.openxmlformats.org/drawingml/2006/main">
              <a:ext uri="{FF2B5EF4-FFF2-40B4-BE49-F238E27FC236}">
                <a16:creationId xmlns:a16="http://schemas.microsoft.com/office/drawing/2014/main" id="{841898CF-DE83-4154-85AD-2831255E728B}"/>
              </a:ext>
            </a:extLst>
          </p:cNvPr>
          <p:cNvSpPr>
            <a:spLocks xmlns:a="http://schemas.openxmlformats.org/drawingml/2006/main" noGrp="1"/>
          </p:cNvSpPr>
          <p:nvPr/>
        </p:nvSpPr>
        <p:spPr>
          <a:xfrm xmlns:a="http://schemas.openxmlformats.org/drawingml/2006/main">
            <a:off x="12477750" y="3238500"/>
            <a:ext cx="2762250" cy="7429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102B40"/>
                </a:solidFill>
                <a:latin typeface="Calibri"/>
                <a:ea typeface="Calibri"/>
                <a:cs typeface="Calibri"/>
              </a:defRPr>
            </a:pPr>
            <a:r>
              <a:rPr sz="2775">
                <a:solidFill>
                  <a:srgbClr val="102B40"/>
                </a:solidFill>
                <a:latin typeface="Calibri"/>
                <a:ea typeface="Calibri"/>
                <a:cs typeface="Calibri"/>
              </a:rPr>
              <a:t>PDF / SMTP</a:t>
            </a:r>
          </a:p>
        </p:txBody>
      </p:sp>
      <p:sp>
        <p:nvSpPr>
          <p:cNvPr id="9" name="">
            <a:extLst xmlns:a="http://schemas.openxmlformats.org/drawingml/2006/main">
              <a:ext uri="{FF2B5EF4-FFF2-40B4-BE49-F238E27FC236}">
                <a16:creationId xmlns:a16="http://schemas.microsoft.com/office/drawing/2014/main" id="{69F2A82A-F42D-444E-9BCB-443FA789BDCC}"/>
              </a:ext>
            </a:extLst>
          </p:cNvPr>
          <p:cNvSpPr>
            <a:spLocks xmlns:a="http://schemas.openxmlformats.org/drawingml/2006/main" noGrp="1"/>
          </p:cNvSpPr>
          <p:nvPr/>
        </p:nvSpPr>
        <p:spPr>
          <a:xfrm xmlns:a="http://schemas.openxmlformats.org/drawingml/2006/main">
            <a:off x="2562225" y="86677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47" name=""/>
          <p:cNvCxnSpPr>
            <a:stCxn xmlns:a="http://schemas.openxmlformats.org/drawingml/2006/main" id="5" idx="2"/>
            <a:endCxn xmlns:a="http://schemas.openxmlformats.org/drawingml/2006/main" id="9" idx="0"/>
          </p:cNvCxnSpPr>
          <p:nvPr/>
        </p:nvCxnSpPr>
        <p:spPr>
          <a:xfrm xmlns:a="http://schemas.openxmlformats.org/drawingml/2006/main">
            <a:off x="2571750" y="3981450"/>
            <a:ext cx="0" cy="4686300"/>
          </a:xfrm>
          <a:prstGeom xmlns:a="http://schemas.openxmlformats.org/drawingml/2006/main" prst="straightConnector1">
            <a:avLst/>
          </a:prstGeom>
          <a:ln xmlns:a="http://schemas.openxmlformats.org/drawingml/2006/main" w="19050">
            <a:solidFill>
              <a:srgbClr val="A3B4A8"/>
            </a:solidFill>
            <a:prstDash val="dash"/>
          </a:ln>
        </p:spPr>
      </p:cxnSp>
      <p:sp>
        <p:nvSpPr>
          <p:cNvPr id="11" name="">
            <a:extLst xmlns:a="http://schemas.openxmlformats.org/drawingml/2006/main">
              <a:ext uri="{FF2B5EF4-FFF2-40B4-BE49-F238E27FC236}">
                <a16:creationId xmlns:a16="http://schemas.microsoft.com/office/drawing/2014/main" id="{22543F93-9B57-4200-834A-A19ECC401493}"/>
              </a:ext>
            </a:extLst>
          </p:cNvPr>
          <p:cNvSpPr>
            <a:spLocks xmlns:a="http://schemas.openxmlformats.org/drawingml/2006/main" noGrp="1"/>
          </p:cNvSpPr>
          <p:nvPr/>
        </p:nvSpPr>
        <p:spPr>
          <a:xfrm xmlns:a="http://schemas.openxmlformats.org/drawingml/2006/main">
            <a:off x="6324600" y="86677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49" name=""/>
          <p:cNvCxnSpPr>
            <a:stCxn xmlns:a="http://schemas.openxmlformats.org/drawingml/2006/main" id="6" idx="2"/>
            <a:endCxn xmlns:a="http://schemas.openxmlformats.org/drawingml/2006/main" id="11" idx="0"/>
          </p:cNvCxnSpPr>
          <p:nvPr/>
        </p:nvCxnSpPr>
        <p:spPr>
          <a:xfrm xmlns:a="http://schemas.openxmlformats.org/drawingml/2006/main">
            <a:off x="6334125" y="3981450"/>
            <a:ext cx="0" cy="4686300"/>
          </a:xfrm>
          <a:prstGeom xmlns:a="http://schemas.openxmlformats.org/drawingml/2006/main" prst="straightConnector1">
            <a:avLst/>
          </a:prstGeom>
          <a:ln xmlns:a="http://schemas.openxmlformats.org/drawingml/2006/main" w="19050">
            <a:solidFill>
              <a:srgbClr val="A3B4A8"/>
            </a:solidFill>
            <a:prstDash val="dash"/>
          </a:ln>
        </p:spPr>
      </p:cxnSp>
      <p:sp>
        <p:nvSpPr>
          <p:cNvPr id="13" name="">
            <a:extLst xmlns:a="http://schemas.openxmlformats.org/drawingml/2006/main">
              <a:ext uri="{FF2B5EF4-FFF2-40B4-BE49-F238E27FC236}">
                <a16:creationId xmlns:a16="http://schemas.microsoft.com/office/drawing/2014/main" id="{9E52BD65-777A-4E9E-A462-4EABD0848E9F}"/>
              </a:ext>
            </a:extLst>
          </p:cNvPr>
          <p:cNvSpPr>
            <a:spLocks xmlns:a="http://schemas.openxmlformats.org/drawingml/2006/main" noGrp="1"/>
          </p:cNvSpPr>
          <p:nvPr/>
        </p:nvSpPr>
        <p:spPr>
          <a:xfrm xmlns:a="http://schemas.openxmlformats.org/drawingml/2006/main">
            <a:off x="10086975" y="86677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1" name=""/>
          <p:cNvCxnSpPr>
            <a:stCxn xmlns:a="http://schemas.openxmlformats.org/drawingml/2006/main" id="7" idx="2"/>
            <a:endCxn xmlns:a="http://schemas.openxmlformats.org/drawingml/2006/main" id="13" idx="0"/>
          </p:cNvCxnSpPr>
          <p:nvPr/>
        </p:nvCxnSpPr>
        <p:spPr>
          <a:xfrm xmlns:a="http://schemas.openxmlformats.org/drawingml/2006/main">
            <a:off x="10096500" y="3981450"/>
            <a:ext cx="0" cy="4686300"/>
          </a:xfrm>
          <a:prstGeom xmlns:a="http://schemas.openxmlformats.org/drawingml/2006/main" prst="straightConnector1">
            <a:avLst/>
          </a:prstGeom>
          <a:ln xmlns:a="http://schemas.openxmlformats.org/drawingml/2006/main" w="19050">
            <a:solidFill>
              <a:srgbClr val="A3B4A8"/>
            </a:solidFill>
            <a:prstDash val="dash"/>
          </a:ln>
        </p:spPr>
      </p:cxnSp>
      <p:sp>
        <p:nvSpPr>
          <p:cNvPr id="15" name="">
            <a:extLst xmlns:a="http://schemas.openxmlformats.org/drawingml/2006/main">
              <a:ext uri="{FF2B5EF4-FFF2-40B4-BE49-F238E27FC236}">
                <a16:creationId xmlns:a16="http://schemas.microsoft.com/office/drawing/2014/main" id="{7C418887-E66C-40D7-AC4D-F5727CE2B917}"/>
              </a:ext>
            </a:extLst>
          </p:cNvPr>
          <p:cNvSpPr>
            <a:spLocks xmlns:a="http://schemas.openxmlformats.org/drawingml/2006/main" noGrp="1"/>
          </p:cNvSpPr>
          <p:nvPr/>
        </p:nvSpPr>
        <p:spPr>
          <a:xfrm xmlns:a="http://schemas.openxmlformats.org/drawingml/2006/main">
            <a:off x="13849350" y="86677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3" name=""/>
          <p:cNvCxnSpPr>
            <a:stCxn xmlns:a="http://schemas.openxmlformats.org/drawingml/2006/main" id="8" idx="2"/>
            <a:endCxn xmlns:a="http://schemas.openxmlformats.org/drawingml/2006/main" id="15" idx="0"/>
          </p:cNvCxnSpPr>
          <p:nvPr/>
        </p:nvCxnSpPr>
        <p:spPr>
          <a:xfrm xmlns:a="http://schemas.openxmlformats.org/drawingml/2006/main">
            <a:off x="13858875" y="3981450"/>
            <a:ext cx="0" cy="4686300"/>
          </a:xfrm>
          <a:prstGeom xmlns:a="http://schemas.openxmlformats.org/drawingml/2006/main" prst="straightConnector1">
            <a:avLst/>
          </a:prstGeom>
          <a:ln xmlns:a="http://schemas.openxmlformats.org/drawingml/2006/main" w="19050">
            <a:solidFill>
              <a:srgbClr val="A3B4A8"/>
            </a:solidFill>
            <a:prstDash val="dash"/>
          </a:ln>
        </p:spPr>
      </p:cxnSp>
      <p:sp>
        <p:nvSpPr>
          <p:cNvPr id="17" name="">
            <a:extLst xmlns:a="http://schemas.openxmlformats.org/drawingml/2006/main">
              <a:ext uri="{FF2B5EF4-FFF2-40B4-BE49-F238E27FC236}">
                <a16:creationId xmlns:a16="http://schemas.microsoft.com/office/drawing/2014/main" id="{A066DCF6-8A7E-45CA-8DFF-50C8D4E7EDC1}"/>
              </a:ext>
            </a:extLst>
          </p:cNvPr>
          <p:cNvSpPr>
            <a:spLocks xmlns:a="http://schemas.openxmlformats.org/drawingml/2006/main" noGrp="1"/>
          </p:cNvSpPr>
          <p:nvPr/>
        </p:nvSpPr>
        <p:spPr>
          <a:xfrm xmlns:a="http://schemas.openxmlformats.org/drawingml/2006/main">
            <a:off x="2562225" y="45529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281612A8-6488-4937-8573-954B9E224A7A}"/>
              </a:ext>
            </a:extLst>
          </p:cNvPr>
          <p:cNvSpPr>
            <a:spLocks xmlns:a="http://schemas.openxmlformats.org/drawingml/2006/main" noGrp="1"/>
          </p:cNvSpPr>
          <p:nvPr/>
        </p:nvSpPr>
        <p:spPr>
          <a:xfrm xmlns:a="http://schemas.openxmlformats.org/drawingml/2006/main">
            <a:off x="6324600" y="45529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6" name=""/>
          <p:cNvCxnSpPr>
            <a:stCxn xmlns:a="http://schemas.openxmlformats.org/drawingml/2006/main" id="17" idx="3"/>
            <a:endCxn xmlns:a="http://schemas.openxmlformats.org/drawingml/2006/main" id="18" idx="1"/>
          </p:cNvCxnSpPr>
          <p:nvPr/>
        </p:nvCxnSpPr>
        <p:spPr>
          <a:xfrm xmlns:a="http://schemas.openxmlformats.org/drawingml/2006/main">
            <a:off x="2581275" y="4562475"/>
            <a:ext cx="374332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20" name="1. Lire les données">
            <a:extLst xmlns:a="http://schemas.openxmlformats.org/drawingml/2006/main">
              <a:ext uri="{FF2B5EF4-FFF2-40B4-BE49-F238E27FC236}">
                <a16:creationId xmlns:a16="http://schemas.microsoft.com/office/drawing/2014/main" id="{B524B7B6-A002-4FED-A095-92ABE524440C}"/>
              </a:ext>
            </a:extLst>
          </p:cNvPr>
          <p:cNvSpPr>
            <a:spLocks xmlns:a="http://schemas.openxmlformats.org/drawingml/2006/main" noGrp="1"/>
          </p:cNvSpPr>
          <p:nvPr/>
        </p:nvSpPr>
        <p:spPr>
          <a:xfrm xmlns:a="http://schemas.openxmlformats.org/drawingml/2006/main">
            <a:off x="2724150" y="4152900"/>
            <a:ext cx="3514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1. Lire les données</a:t>
            </a:r>
          </a:p>
        </p:txBody>
      </p:sp>
      <p:sp>
        <p:nvSpPr>
          <p:cNvPr id="21" name="">
            <a:extLst xmlns:a="http://schemas.openxmlformats.org/drawingml/2006/main">
              <a:ext uri="{FF2B5EF4-FFF2-40B4-BE49-F238E27FC236}">
                <a16:creationId xmlns:a16="http://schemas.microsoft.com/office/drawing/2014/main" id="{69024DF9-75CF-41F9-B4CE-83A4FA11A686}"/>
              </a:ext>
            </a:extLst>
          </p:cNvPr>
          <p:cNvSpPr>
            <a:spLocks xmlns:a="http://schemas.openxmlformats.org/drawingml/2006/main" noGrp="1"/>
          </p:cNvSpPr>
          <p:nvPr/>
        </p:nvSpPr>
        <p:spPr>
          <a:xfrm xmlns:a="http://schemas.openxmlformats.org/drawingml/2006/main">
            <a:off x="2562225" y="53911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B2938F00-A25E-4201-B826-1C87257C4280}"/>
              </a:ext>
            </a:extLst>
          </p:cNvPr>
          <p:cNvSpPr>
            <a:spLocks xmlns:a="http://schemas.openxmlformats.org/drawingml/2006/main" noGrp="1"/>
          </p:cNvSpPr>
          <p:nvPr/>
        </p:nvSpPr>
        <p:spPr>
          <a:xfrm xmlns:a="http://schemas.openxmlformats.org/drawingml/2006/main">
            <a:off x="10086975" y="53911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60" name=""/>
          <p:cNvCxnSpPr>
            <a:stCxn xmlns:a="http://schemas.openxmlformats.org/drawingml/2006/main" id="21" idx="3"/>
            <a:endCxn xmlns:a="http://schemas.openxmlformats.org/drawingml/2006/main" id="22" idx="1"/>
          </p:cNvCxnSpPr>
          <p:nvPr/>
        </p:nvCxnSpPr>
        <p:spPr>
          <a:xfrm xmlns:a="http://schemas.openxmlformats.org/drawingml/2006/main">
            <a:off x="2581275" y="5400675"/>
            <a:ext cx="750570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24" name="2. Vérifier un éventuel envoi antérieur">
            <a:extLst xmlns:a="http://schemas.openxmlformats.org/drawingml/2006/main">
              <a:ext uri="{FF2B5EF4-FFF2-40B4-BE49-F238E27FC236}">
                <a16:creationId xmlns:a16="http://schemas.microsoft.com/office/drawing/2014/main" id="{1B6002C5-648F-4B61-8565-CA70B6C28D26}"/>
              </a:ext>
            </a:extLst>
          </p:cNvPr>
          <p:cNvSpPr>
            <a:spLocks xmlns:a="http://schemas.openxmlformats.org/drawingml/2006/main" noGrp="1"/>
          </p:cNvSpPr>
          <p:nvPr/>
        </p:nvSpPr>
        <p:spPr>
          <a:xfrm xmlns:a="http://schemas.openxmlformats.org/drawingml/2006/main">
            <a:off x="2724150" y="4991100"/>
            <a:ext cx="727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2. Vérifier un éventuel envoi antérieur</a:t>
            </a:r>
          </a:p>
        </p:txBody>
      </p:sp>
      <p:sp>
        <p:nvSpPr>
          <p:cNvPr id="25" name="">
            <a:extLst xmlns:a="http://schemas.openxmlformats.org/drawingml/2006/main">
              <a:ext uri="{FF2B5EF4-FFF2-40B4-BE49-F238E27FC236}">
                <a16:creationId xmlns:a16="http://schemas.microsoft.com/office/drawing/2014/main" id="{F0908002-1C2F-46D0-85BD-C6A0DFC5F0B8}"/>
              </a:ext>
            </a:extLst>
          </p:cNvPr>
          <p:cNvSpPr>
            <a:spLocks xmlns:a="http://schemas.openxmlformats.org/drawingml/2006/main" noGrp="1"/>
          </p:cNvSpPr>
          <p:nvPr/>
        </p:nvSpPr>
        <p:spPr>
          <a:xfrm xmlns:a="http://schemas.openxmlformats.org/drawingml/2006/main">
            <a:off x="2562225" y="62293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12948C35-8155-406B-A965-7C99686DA71F}"/>
              </a:ext>
            </a:extLst>
          </p:cNvPr>
          <p:cNvSpPr>
            <a:spLocks xmlns:a="http://schemas.openxmlformats.org/drawingml/2006/main" noGrp="1"/>
          </p:cNvSpPr>
          <p:nvPr/>
        </p:nvSpPr>
        <p:spPr>
          <a:xfrm xmlns:a="http://schemas.openxmlformats.org/drawingml/2006/main">
            <a:off x="13849350" y="62293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64" name=""/>
          <p:cNvCxnSpPr>
            <a:stCxn xmlns:a="http://schemas.openxmlformats.org/drawingml/2006/main" id="25" idx="3"/>
            <a:endCxn xmlns:a="http://schemas.openxmlformats.org/drawingml/2006/main" id="26" idx="1"/>
          </p:cNvCxnSpPr>
          <p:nvPr/>
        </p:nvCxnSpPr>
        <p:spPr>
          <a:xfrm xmlns:a="http://schemas.openxmlformats.org/drawingml/2006/main">
            <a:off x="2581275" y="6238875"/>
            <a:ext cx="1126807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28" name="3. Générer et envoyer la proposition">
            <a:extLst xmlns:a="http://schemas.openxmlformats.org/drawingml/2006/main">
              <a:ext uri="{FF2B5EF4-FFF2-40B4-BE49-F238E27FC236}">
                <a16:creationId xmlns:a16="http://schemas.microsoft.com/office/drawing/2014/main" id="{052598A0-0890-4579-9E46-29B3422FD85B}"/>
              </a:ext>
            </a:extLst>
          </p:cNvPr>
          <p:cNvSpPr>
            <a:spLocks xmlns:a="http://schemas.openxmlformats.org/drawingml/2006/main" noGrp="1"/>
          </p:cNvSpPr>
          <p:nvPr/>
        </p:nvSpPr>
        <p:spPr>
          <a:xfrm xmlns:a="http://schemas.openxmlformats.org/drawingml/2006/main">
            <a:off x="2724150" y="5829300"/>
            <a:ext cx="11039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3. Générer et envoyer la proposition</a:t>
            </a:r>
          </a:p>
        </p:txBody>
      </p:sp>
      <p:sp>
        <p:nvSpPr>
          <p:cNvPr id="29" name="">
            <a:extLst xmlns:a="http://schemas.openxmlformats.org/drawingml/2006/main">
              <a:ext uri="{FF2B5EF4-FFF2-40B4-BE49-F238E27FC236}">
                <a16:creationId xmlns:a16="http://schemas.microsoft.com/office/drawing/2014/main" id="{5C2175D9-0923-4456-9059-C37CAEB285F9}"/>
              </a:ext>
            </a:extLst>
          </p:cNvPr>
          <p:cNvSpPr>
            <a:spLocks xmlns:a="http://schemas.openxmlformats.org/drawingml/2006/main" noGrp="1"/>
          </p:cNvSpPr>
          <p:nvPr/>
        </p:nvSpPr>
        <p:spPr>
          <a:xfrm xmlns:a="http://schemas.openxmlformats.org/drawingml/2006/main">
            <a:off x="2562225" y="70675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68B1B15A-0B07-4FF9-9DBA-79253E978E82}"/>
              </a:ext>
            </a:extLst>
          </p:cNvPr>
          <p:cNvSpPr>
            <a:spLocks xmlns:a="http://schemas.openxmlformats.org/drawingml/2006/main" noGrp="1"/>
          </p:cNvSpPr>
          <p:nvPr/>
        </p:nvSpPr>
        <p:spPr>
          <a:xfrm xmlns:a="http://schemas.openxmlformats.org/drawingml/2006/main">
            <a:off x="10086975" y="70675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68" name=""/>
          <p:cNvCxnSpPr>
            <a:stCxn xmlns:a="http://schemas.openxmlformats.org/drawingml/2006/main" id="29" idx="3"/>
            <a:endCxn xmlns:a="http://schemas.openxmlformats.org/drawingml/2006/main" id="30" idx="1"/>
          </p:cNvCxnSpPr>
          <p:nvPr/>
        </p:nvCxnSpPr>
        <p:spPr>
          <a:xfrm xmlns:a="http://schemas.openxmlformats.org/drawingml/2006/main">
            <a:off x="2581275" y="7077075"/>
            <a:ext cx="750570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32" name="4. Enregistrer le succès d’envoi">
            <a:extLst xmlns:a="http://schemas.openxmlformats.org/drawingml/2006/main">
              <a:ext uri="{FF2B5EF4-FFF2-40B4-BE49-F238E27FC236}">
                <a16:creationId xmlns:a16="http://schemas.microsoft.com/office/drawing/2014/main" id="{05D185B0-0A13-4A1B-B08A-61A31C86A919}"/>
              </a:ext>
            </a:extLst>
          </p:cNvPr>
          <p:cNvSpPr>
            <a:spLocks xmlns:a="http://schemas.openxmlformats.org/drawingml/2006/main" noGrp="1"/>
          </p:cNvSpPr>
          <p:nvPr/>
        </p:nvSpPr>
        <p:spPr>
          <a:xfrm xmlns:a="http://schemas.openxmlformats.org/drawingml/2006/main">
            <a:off x="2724150" y="6667500"/>
            <a:ext cx="727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4. Enregistrer le succès d’envoi</a:t>
            </a:r>
          </a:p>
        </p:txBody>
      </p:sp>
      <p:sp>
        <p:nvSpPr>
          <p:cNvPr id="33" name="">
            <a:extLst xmlns:a="http://schemas.openxmlformats.org/drawingml/2006/main">
              <a:ext uri="{FF2B5EF4-FFF2-40B4-BE49-F238E27FC236}">
                <a16:creationId xmlns:a16="http://schemas.microsoft.com/office/drawing/2014/main" id="{ABB5CF21-ABEC-4994-95AE-1674534BE05F}"/>
              </a:ext>
            </a:extLst>
          </p:cNvPr>
          <p:cNvSpPr>
            <a:spLocks xmlns:a="http://schemas.openxmlformats.org/drawingml/2006/main" noGrp="1"/>
          </p:cNvSpPr>
          <p:nvPr/>
        </p:nvSpPr>
        <p:spPr>
          <a:xfrm xmlns:a="http://schemas.openxmlformats.org/drawingml/2006/main">
            <a:off x="2562225" y="79057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230C2326-79CC-4991-A225-56C51387D5D4}"/>
              </a:ext>
            </a:extLst>
          </p:cNvPr>
          <p:cNvSpPr>
            <a:spLocks xmlns:a="http://schemas.openxmlformats.org/drawingml/2006/main" noGrp="1"/>
          </p:cNvSpPr>
          <p:nvPr/>
        </p:nvSpPr>
        <p:spPr>
          <a:xfrm xmlns:a="http://schemas.openxmlformats.org/drawingml/2006/main">
            <a:off x="6324600" y="7905750"/>
            <a:ext cx="19050" cy="190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72" name=""/>
          <p:cNvCxnSpPr>
            <a:stCxn xmlns:a="http://schemas.openxmlformats.org/drawingml/2006/main" id="33" idx="3"/>
            <a:endCxn xmlns:a="http://schemas.openxmlformats.org/drawingml/2006/main" id="34" idx="1"/>
          </p:cNvCxnSpPr>
          <p:nvPr/>
        </p:nvCxnSpPr>
        <p:spPr>
          <a:xfrm xmlns:a="http://schemas.openxmlformats.org/drawingml/2006/main">
            <a:off x="2581275" y="7915275"/>
            <a:ext cx="374332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36" name="5. Mettre à jour le CRM">
            <a:extLst xmlns:a="http://schemas.openxmlformats.org/drawingml/2006/main">
              <a:ext uri="{FF2B5EF4-FFF2-40B4-BE49-F238E27FC236}">
                <a16:creationId xmlns:a16="http://schemas.microsoft.com/office/drawing/2014/main" id="{5C97E56C-4FD9-4D68-BBFD-DD7CAA5D6BFA}"/>
              </a:ext>
            </a:extLst>
          </p:cNvPr>
          <p:cNvSpPr>
            <a:spLocks xmlns:a="http://schemas.openxmlformats.org/drawingml/2006/main" noGrp="1"/>
          </p:cNvSpPr>
          <p:nvPr/>
        </p:nvSpPr>
        <p:spPr>
          <a:xfrm xmlns:a="http://schemas.openxmlformats.org/drawingml/2006/main">
            <a:off x="2724150" y="7505700"/>
            <a:ext cx="3514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5. Mettre à jour le CRM</a:t>
            </a:r>
          </a:p>
        </p:txBody>
      </p:sp>
      <p:sp>
        <p:nvSpPr>
          <p:cNvPr id="37" name="Après un échec CRM : le journal permet de réconcilier c">
            <a:extLst xmlns:a="http://schemas.openxmlformats.org/drawingml/2006/main">
              <a:ext uri="{FF2B5EF4-FFF2-40B4-BE49-F238E27FC236}">
                <a16:creationId xmlns:a16="http://schemas.microsoft.com/office/drawing/2014/main" id="{5CB85D9B-EEA6-4885-8964-1512C5F49DD9}"/>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Après un échec CRM : le journal permet de réconcilier certains dossiers sans renvoyer le message.</a:t>
            </a:r>
          </a:p>
        </p:txBody>
      </p:sp>
    </p:spTree>
    <p:extLst>
      <p:ext uri="{BB962C8B-B14F-4D97-AF65-F5344CB8AC3E}">
        <p14:creationId xmlns:p14="http://schemas.microsoft.com/office/powerpoint/2010/main" val="1787968216"/>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d22516d63d74fec"/>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45711F82-1723-4391-8984-5CD7CE3CC867}"/>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15 / 22">
            <a:extLst xmlns:a="http://schemas.openxmlformats.org/drawingml/2006/main">
              <a:ext uri="{FF2B5EF4-FFF2-40B4-BE49-F238E27FC236}">
                <a16:creationId xmlns:a16="http://schemas.microsoft.com/office/drawing/2014/main" id="{00595E4D-EBFD-4185-9391-11CFC7B505C8}"/>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15 / 22</a:t>
            </a:r>
          </a:p>
        </p:txBody>
      </p:sp>
      <p:sp>
        <p:nvSpPr>
          <p:cNvPr id="4" name="Architecture technique">
            <a:extLst xmlns:a="http://schemas.openxmlformats.org/drawingml/2006/main">
              <a:ext uri="{FF2B5EF4-FFF2-40B4-BE49-F238E27FC236}">
                <a16:creationId xmlns:a16="http://schemas.microsoft.com/office/drawing/2014/main" id="{E0845BE9-0273-4239-A7ED-1FC82EEF10BD}"/>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Architecture technique</a:t>
            </a:r>
          </a:p>
        </p:txBody>
      </p:sp>
      <p:sp>
        <p:nvSpPr>
          <p:cNvPr id="5" name="Interface Streamlit&#10;Consultation et lancement des comma">
            <a:extLst xmlns:a="http://schemas.openxmlformats.org/drawingml/2006/main">
              <a:ext uri="{FF2B5EF4-FFF2-40B4-BE49-F238E27FC236}">
                <a16:creationId xmlns:a16="http://schemas.microsoft.com/office/drawing/2014/main" id="{F0FCA1C8-6705-43B0-BBBB-C405F4C73975}"/>
              </a:ext>
            </a:extLst>
          </p:cNvPr>
          <p:cNvSpPr>
            <a:spLocks xmlns:a="http://schemas.openxmlformats.org/drawingml/2006/main" noGrp="1"/>
          </p:cNvSpPr>
          <p:nvPr/>
        </p:nvSpPr>
        <p:spPr>
          <a:xfrm xmlns:a="http://schemas.openxmlformats.org/drawingml/2006/main">
            <a:off x="4143375" y="3171825"/>
            <a:ext cx="8334375" cy="10668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Interface Streamlit</a:t>
            </a:r>
          </a:p>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Consultation et lancement des commandes</a:t>
            </a:r>
          </a:p>
        </p:txBody>
      </p:sp>
      <p:sp>
        <p:nvSpPr>
          <p:cNvPr id="6" name="Scripts Python et règles métier&#10;Scoring, séquences et g">
            <a:extLst xmlns:a="http://schemas.openxmlformats.org/drawingml/2006/main">
              <a:ext uri="{FF2B5EF4-FFF2-40B4-BE49-F238E27FC236}">
                <a16:creationId xmlns:a16="http://schemas.microsoft.com/office/drawing/2014/main" id="{AF58E6AF-09D5-4866-BD97-9D2EEB4444E7}"/>
              </a:ext>
            </a:extLst>
          </p:cNvPr>
          <p:cNvSpPr>
            <a:spLocks xmlns:a="http://schemas.openxmlformats.org/drawingml/2006/main" noGrp="1"/>
          </p:cNvSpPr>
          <p:nvPr/>
        </p:nvSpPr>
        <p:spPr>
          <a:xfrm xmlns:a="http://schemas.openxmlformats.org/drawingml/2006/main">
            <a:off x="4143375" y="4924425"/>
            <a:ext cx="8334375" cy="11906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Scripts Python et règles métier</a:t>
            </a:r>
          </a:p>
          <a:p xmlns:a="http://schemas.openxmlformats.org/drawingml/2006/main">
            <a:pPr algn="ctr">
              <a:defRPr sz="3150">
                <a:solidFill>
                  <a:srgbClr val="102B40"/>
                </a:solidFill>
                <a:latin typeface="Calibri"/>
                <a:ea typeface="Calibri"/>
                <a:cs typeface="Calibri"/>
              </a:defRPr>
            </a:pPr>
            <a:r>
              <a:rPr sz="3150">
                <a:solidFill>
                  <a:srgbClr val="102B40"/>
                </a:solidFill>
                <a:latin typeface="Calibri"/>
                <a:ea typeface="Calibri"/>
                <a:cs typeface="Calibri"/>
              </a:rPr>
              <a:t>Scoring, séquences et génération documentaire</a:t>
            </a:r>
          </a:p>
        </p:txBody>
      </p:sp>
      <p:cxnSp>
        <p:nvCxnSpPr>
          <p:cNvPr id="21" name=""/>
          <p:cNvCxnSpPr>
            <a:stCxn xmlns:a="http://schemas.openxmlformats.org/drawingml/2006/main" id="5" idx="2"/>
            <a:endCxn xmlns:a="http://schemas.openxmlformats.org/drawingml/2006/main" id="6" idx="0"/>
          </p:cNvCxnSpPr>
          <p:nvPr/>
        </p:nvCxnSpPr>
        <p:spPr>
          <a:xfrm xmlns:a="http://schemas.openxmlformats.org/drawingml/2006/main">
            <a:off x="8310563" y="4238625"/>
            <a:ext cx="0" cy="68580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8" name="Airtable et Groq&#10;CRM et contenus IA">
            <a:extLst xmlns:a="http://schemas.openxmlformats.org/drawingml/2006/main">
              <a:ext uri="{FF2B5EF4-FFF2-40B4-BE49-F238E27FC236}">
                <a16:creationId xmlns:a16="http://schemas.microsoft.com/office/drawing/2014/main" id="{97147817-7E3C-40FB-9543-F1E7A09B19C0}"/>
              </a:ext>
            </a:extLst>
          </p:cNvPr>
          <p:cNvSpPr>
            <a:spLocks xmlns:a="http://schemas.openxmlformats.org/drawingml/2006/main" noGrp="1"/>
          </p:cNvSpPr>
          <p:nvPr/>
        </p:nvSpPr>
        <p:spPr>
          <a:xfrm xmlns:a="http://schemas.openxmlformats.org/drawingml/2006/main">
            <a:off x="1381125" y="7286625"/>
            <a:ext cx="4286250" cy="11906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Airtable et Groq</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CRM et contenus IA</a:t>
            </a:r>
          </a:p>
        </p:txBody>
      </p:sp>
      <p:sp>
        <p:nvSpPr>
          <p:cNvPr id="9" name="SMTP et WhatsApp&#10;Communication">
            <a:extLst xmlns:a="http://schemas.openxmlformats.org/drawingml/2006/main">
              <a:ext uri="{FF2B5EF4-FFF2-40B4-BE49-F238E27FC236}">
                <a16:creationId xmlns:a16="http://schemas.microsoft.com/office/drawing/2014/main" id="{FA1AFC1A-CD2B-4EB6-826B-84B563574BE6}"/>
              </a:ext>
            </a:extLst>
          </p:cNvPr>
          <p:cNvSpPr>
            <a:spLocks xmlns:a="http://schemas.openxmlformats.org/drawingml/2006/main" noGrp="1"/>
          </p:cNvSpPr>
          <p:nvPr/>
        </p:nvSpPr>
        <p:spPr>
          <a:xfrm xmlns:a="http://schemas.openxmlformats.org/drawingml/2006/main">
            <a:off x="6238875" y="7286625"/>
            <a:ext cx="4286250" cy="11906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SMTP et WhatsApp</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Communication</a:t>
            </a:r>
          </a:p>
        </p:txBody>
      </p:sp>
      <p:sp>
        <p:nvSpPr>
          <p:cNvPr id="10" name="ReportLab et JSON&#10;PDF et état local">
            <a:extLst xmlns:a="http://schemas.openxmlformats.org/drawingml/2006/main">
              <a:ext uri="{FF2B5EF4-FFF2-40B4-BE49-F238E27FC236}">
                <a16:creationId xmlns:a16="http://schemas.microsoft.com/office/drawing/2014/main" id="{4F8859F4-06AB-462C-B4CD-84383B129E83}"/>
              </a:ext>
            </a:extLst>
          </p:cNvPr>
          <p:cNvSpPr>
            <a:spLocks xmlns:a="http://schemas.openxmlformats.org/drawingml/2006/main" noGrp="1"/>
          </p:cNvSpPr>
          <p:nvPr/>
        </p:nvSpPr>
        <p:spPr>
          <a:xfrm xmlns:a="http://schemas.openxmlformats.org/drawingml/2006/main">
            <a:off x="11096625" y="7286625"/>
            <a:ext cx="4286250" cy="11906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ReportLab et JSON</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PDF et état local</a:t>
            </a:r>
          </a:p>
        </p:txBody>
      </p:sp>
      <p:cxnSp>
        <p:nvCxnSpPr>
          <p:cNvPr id="25" name=""/>
          <p:cNvCxnSpPr>
            <a:stCxn xmlns:a="http://schemas.openxmlformats.org/drawingml/2006/main" id="6" idx="2"/>
            <a:endCxn xmlns:a="http://schemas.openxmlformats.org/drawingml/2006/main" id="8" idx="0"/>
          </p:cNvCxnSpPr>
          <p:nvPr/>
        </p:nvCxnSpPr>
        <p:spPr>
          <a:xfrm xmlns:a="http://schemas.openxmlformats.org/drawingml/2006/main" flipH="1">
            <a:off x="3524250" y="6115050"/>
            <a:ext cx="4786313" cy="11715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6" name=""/>
          <p:cNvCxnSpPr>
            <a:stCxn xmlns:a="http://schemas.openxmlformats.org/drawingml/2006/main" id="6" idx="2"/>
            <a:endCxn xmlns:a="http://schemas.openxmlformats.org/drawingml/2006/main" id="9" idx="0"/>
          </p:cNvCxnSpPr>
          <p:nvPr/>
        </p:nvCxnSpPr>
        <p:spPr>
          <a:xfrm xmlns:a="http://schemas.openxmlformats.org/drawingml/2006/main">
            <a:off x="8310563" y="6115050"/>
            <a:ext cx="71438" cy="11715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7" name=""/>
          <p:cNvCxnSpPr>
            <a:stCxn xmlns:a="http://schemas.openxmlformats.org/drawingml/2006/main" id="6" idx="2"/>
            <a:endCxn xmlns:a="http://schemas.openxmlformats.org/drawingml/2006/main" id="10" idx="0"/>
          </p:cNvCxnSpPr>
          <p:nvPr/>
        </p:nvCxnSpPr>
        <p:spPr>
          <a:xfrm xmlns:a="http://schemas.openxmlformats.org/drawingml/2006/main">
            <a:off x="8310563" y="6115050"/>
            <a:ext cx="4929188" cy="1171575"/>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4" name="Configuration centralisée et simulation par défaut. Arc">
            <a:extLst xmlns:a="http://schemas.openxmlformats.org/drawingml/2006/main">
              <a:ext uri="{FF2B5EF4-FFF2-40B4-BE49-F238E27FC236}">
                <a16:creationId xmlns:a16="http://schemas.microsoft.com/office/drawing/2014/main" id="{B1939598-000A-4B1C-B644-4ADC70922347}"/>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Configuration centralisée et simulation par défaut. Architecture modulaire sur un poste local.</a:t>
            </a:r>
          </a:p>
        </p:txBody>
      </p:sp>
    </p:spTree>
    <p:extLst>
      <p:ext uri="{BB962C8B-B14F-4D97-AF65-F5344CB8AC3E}">
        <p14:creationId xmlns:p14="http://schemas.microsoft.com/office/powerpoint/2010/main" val="1876465760"/>
      </p:ext>
    </p:extLst>
  </p:cSld>
</p:sld>
</file>

<file path=ppt/slides/slide1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4662a8194df4de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65C6B8DD-7B33-45B9-BCA8-21AA37A7A6FE}"/>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63E1E8"/>
                </a:solidFill>
                <a:latin typeface="Calibri"/>
                <a:ea typeface="Calibri"/>
                <a:cs typeface="Calibri"/>
              </a:defRPr>
            </a:pPr>
            <a:r>
              <a:rPr sz="1875" b="1">
                <a:solidFill>
                  <a:srgbClr val="63E1E8"/>
                </a:solidFill>
                <a:latin typeface="Calibri"/>
                <a:ea typeface="Calibri"/>
                <a:cs typeface="Calibri"/>
              </a:rPr>
              <a:t>ADG-10 · AUTOMATISATION DU CYCLE COMMERCIAL</a:t>
            </a:r>
          </a:p>
        </p:txBody>
      </p:sp>
      <p:sp>
        <p:nvSpPr>
          <p:cNvPr id="3" name="16 / 22">
            <a:extLst xmlns:a="http://schemas.openxmlformats.org/drawingml/2006/main">
              <a:ext uri="{FF2B5EF4-FFF2-40B4-BE49-F238E27FC236}">
                <a16:creationId xmlns:a16="http://schemas.microsoft.com/office/drawing/2014/main" id="{A481266F-50D5-4B1F-AD8C-EBE763413AD2}"/>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16 / 22</a:t>
            </a:r>
          </a:p>
        </p:txBody>
      </p:sp>
      <p:sp>
        <p:nvSpPr>
          <p:cNvPr id="4" name="04">
            <a:extLst xmlns:a="http://schemas.openxmlformats.org/drawingml/2006/main">
              <a:ext uri="{FF2B5EF4-FFF2-40B4-BE49-F238E27FC236}">
                <a16:creationId xmlns:a16="http://schemas.microsoft.com/office/drawing/2014/main" id="{90878B10-23F4-41B4-B819-79C69C5878F2}"/>
              </a:ext>
            </a:extLst>
          </p:cNvPr>
          <p:cNvSpPr>
            <a:spLocks xmlns:a="http://schemas.openxmlformats.org/drawingml/2006/main" noGrp="1"/>
          </p:cNvSpPr>
          <p:nvPr/>
        </p:nvSpPr>
        <p:spPr>
          <a:xfrm xmlns:a="http://schemas.openxmlformats.org/drawingml/2006/main">
            <a:off x="952500" y="2095500"/>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300" b="1">
                <a:solidFill>
                  <a:srgbClr val="63E1E8"/>
                </a:solidFill>
                <a:latin typeface="Calibri"/>
                <a:ea typeface="Calibri"/>
                <a:cs typeface="Calibri"/>
              </a:defRPr>
            </a:pPr>
            <a:r>
              <a:rPr sz="6300" b="1">
                <a:solidFill>
                  <a:srgbClr val="63E1E8"/>
                </a:solidFill>
                <a:latin typeface="Calibri"/>
                <a:ea typeface="Calibri"/>
                <a:cs typeface="Calibri"/>
              </a:rPr>
              <a:t>04</a:t>
            </a:r>
          </a:p>
        </p:txBody>
      </p:sp>
      <p:sp>
        <p:nvSpPr>
          <p:cNvPr id="5" name="Réalisation et&#10;mise en œuvre">
            <a:extLst xmlns:a="http://schemas.openxmlformats.org/drawingml/2006/main">
              <a:ext uri="{FF2B5EF4-FFF2-40B4-BE49-F238E27FC236}">
                <a16:creationId xmlns:a16="http://schemas.microsoft.com/office/drawing/2014/main" id="{655E618F-81F4-4CF7-BFDF-BD7A209897EB}"/>
              </a:ext>
            </a:extLst>
          </p:cNvPr>
          <p:cNvSpPr>
            <a:spLocks xmlns:a="http://schemas.openxmlformats.org/drawingml/2006/main" noGrp="1"/>
          </p:cNvSpPr>
          <p:nvPr/>
        </p:nvSpPr>
        <p:spPr>
          <a:xfrm xmlns:a="http://schemas.openxmlformats.org/drawingml/2006/main">
            <a:off x="952500" y="3476625"/>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700" b="1">
                <a:solidFill>
                  <a:srgbClr val="FFFFFF"/>
                </a:solidFill>
                <a:latin typeface="Calibri"/>
                <a:ea typeface="Calibri"/>
                <a:cs typeface="Calibri"/>
              </a:defRPr>
            </a:pPr>
            <a:r>
              <a:rPr sz="5700" b="1">
                <a:solidFill>
                  <a:srgbClr val="FFFFFF"/>
                </a:solidFill>
                <a:latin typeface="Calibri"/>
                <a:ea typeface="Calibri"/>
                <a:cs typeface="Calibri"/>
              </a:rPr>
              <a:t>Réalisation et</a:t>
            </a:r>
          </a:p>
          <a:p xmlns:a="http://schemas.openxmlformats.org/drawingml/2006/main">
            <a:pPr algn="l">
              <a:defRPr sz="5700" b="1">
                <a:solidFill>
                  <a:srgbClr val="FFFFFF"/>
                </a:solidFill>
                <a:latin typeface="Calibri"/>
                <a:ea typeface="Calibri"/>
                <a:cs typeface="Calibri"/>
              </a:defRPr>
            </a:pPr>
            <a:r>
              <a:rPr sz="5700" b="1">
                <a:solidFill>
                  <a:srgbClr val="FFFFFF"/>
                </a:solidFill>
                <a:latin typeface="Calibri"/>
                <a:ea typeface="Calibri"/>
                <a:cs typeface="Calibri"/>
              </a:rPr>
              <a:t>mise en œuvre</a:t>
            </a:r>
          </a:p>
        </p:txBody>
      </p:sp>
      <p:sp>
        <p:nvSpPr>
          <p:cNvPr id="6" name="Les fonctions développées&#10;et leurs résultats visibles">
            <a:extLst xmlns:a="http://schemas.openxmlformats.org/drawingml/2006/main">
              <a:ext uri="{FF2B5EF4-FFF2-40B4-BE49-F238E27FC236}">
                <a16:creationId xmlns:a16="http://schemas.microsoft.com/office/drawing/2014/main" id="{C59488EE-6FD6-4CE7-B82A-379E1B4FA963}"/>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Les fonctions développées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leurs résultats visibles</a:t>
            </a:r>
          </a:p>
        </p:txBody>
      </p:sp>
    </p:spTree>
    <p:extLst>
      <p:ext uri="{BB962C8B-B14F-4D97-AF65-F5344CB8AC3E}">
        <p14:creationId xmlns:p14="http://schemas.microsoft.com/office/powerpoint/2010/main" val="1845734484"/>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17528195f874f9e"/>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26781A30-128E-4ACC-BE02-59E3789F6F6F}"/>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17 / 22">
            <a:extLst xmlns:a="http://schemas.openxmlformats.org/drawingml/2006/main">
              <a:ext uri="{FF2B5EF4-FFF2-40B4-BE49-F238E27FC236}">
                <a16:creationId xmlns:a16="http://schemas.microsoft.com/office/drawing/2014/main" id="{DB9EC544-085F-4879-9480-ECEF32541643}"/>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17 / 22</a:t>
            </a:r>
          </a:p>
        </p:txBody>
      </p:sp>
      <p:sp>
        <p:nvSpPr>
          <p:cNvPr id="4" name="Choix techniques">
            <a:extLst xmlns:a="http://schemas.openxmlformats.org/drawingml/2006/main">
              <a:ext uri="{FF2B5EF4-FFF2-40B4-BE49-F238E27FC236}">
                <a16:creationId xmlns:a16="http://schemas.microsoft.com/office/drawing/2014/main" id="{568D9C5E-7AF5-4517-B2E0-FC6F57954DD5}"/>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Choix techniques</a:t>
            </a:r>
          </a:p>
        </p:txBody>
      </p:sp>
      <p:graphicFrame>
        <p:nvGraphicFramePr>
          <p:cNvPr id="11" name=""/>
          <p:cNvGraphicFramePr/>
          <p:nvPr/>
        </p:nvGraphicFramePr>
        <p:xfrm>
          <a:off xmlns:a="http://schemas.openxmlformats.org/drawingml/2006/main" x="1571625" y="3238500"/>
          <a:ext xmlns:a="http://schemas.openxmlformats.org/drawingml/2006/main" cx="14478000" cy="5143500"/>
        </p:xfrm>
        <a:graphic xmlns:a="http://schemas.openxmlformats.org/drawingml/2006/main">
          <a:graphicData uri="http://schemas.openxmlformats.org/drawingml/2006/table">
            <a:tbl>
              <a:tblPr/>
              <a:tblGrid>
                <a:gridCol w="2916432"/>
                <a:gridCol w="5780784"/>
                <a:gridCol w="5780784"/>
              </a:tblGrid>
              <a:tr h="857250">
                <a:tc>
                  <a:txBody>
                    <a:bodyPr lIns="190500" tIns="114300" rIns="190500" bIns="114300"/>
                    <a:lstStyle/>
                    <a:p>
                      <a:r>
                        <a:rPr sz="2625" b="1">
                          <a:solidFill>
                            <a:srgbClr val="FFFFFF"/>
                          </a:solidFill>
                          <a:latin typeface="Calibri"/>
                          <a:ea typeface="Calibri"/>
                          <a:cs typeface="Calibri"/>
                        </a:rPr>
                        <a:t>Technologie</a:t>
                      </a:r>
                    </a:p>
                  </a:txBody>
                  <a:tcPr marL="91440" marR="91440" marT="45720" marB="45720" anchor="ctr">
                    <a:solidFill>
                      <a:srgbClr val="102B40"/>
                    </a:solidFill>
                  </a:tcPr>
                </a:tc>
                <a:tc>
                  <a:txBody>
                    <a:bodyPr lIns="190500" tIns="114300" rIns="190500" bIns="114300"/>
                    <a:lstStyle/>
                    <a:p>
                      <a:r>
                        <a:rPr sz="2625" b="1">
                          <a:solidFill>
                            <a:srgbClr val="FFFFFF"/>
                          </a:solidFill>
                          <a:latin typeface="Calibri"/>
                          <a:ea typeface="Calibri"/>
                          <a:cs typeface="Calibri"/>
                        </a:rPr>
                        <a:t>Rôle dans ADG-10</a:t>
                      </a:r>
                    </a:p>
                  </a:txBody>
                  <a:tcPr marL="91440" marR="91440" marT="45720" marB="45720" anchor="ctr">
                    <a:solidFill>
                      <a:srgbClr val="102B40"/>
                    </a:solidFill>
                  </a:tcPr>
                </a:tc>
                <a:tc>
                  <a:txBody>
                    <a:bodyPr lIns="190500" tIns="114300" rIns="190500" bIns="114300"/>
                    <a:lstStyle/>
                    <a:p>
                      <a:r>
                        <a:rPr sz="2625" b="1">
                          <a:solidFill>
                            <a:srgbClr val="FFFFFF"/>
                          </a:solidFill>
                          <a:latin typeface="Calibri"/>
                          <a:ea typeface="Calibri"/>
                          <a:cs typeface="Calibri"/>
                        </a:rPr>
                        <a:t>Justification</a:t>
                      </a:r>
                    </a:p>
                  </a:txBody>
                  <a:tcPr marL="91440" marR="91440" marT="45720" marB="45720" anchor="ctr">
                    <a:solidFill>
                      <a:srgbClr val="102B40"/>
                    </a:solidFill>
                  </a:tcPr>
                </a:tc>
              </a:tr>
              <a:tr h="857250">
                <a:tc>
                  <a:txBody>
                    <a:bodyPr lIns="190500" tIns="114300" rIns="190500" bIns="114300"/>
                    <a:lstStyle/>
                    <a:p>
                      <a:r>
                        <a:rPr sz="2625" b="0">
                          <a:solidFill>
                            <a:srgbClr val="102B40"/>
                          </a:solidFill>
                          <a:latin typeface="Calibri"/>
                          <a:ea typeface="Calibri"/>
                          <a:cs typeface="Calibri"/>
                        </a:rPr>
                        <a:t>Python</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Scripts et règles métier</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Modules lisibles et testables</a:t>
                      </a:r>
                    </a:p>
                  </a:txBody>
                  <a:tcPr marL="91440" marR="91440" marT="45720" marB="45720" anchor="ctr">
                    <a:solidFill>
                      <a:srgbClr val="EAF3F6"/>
                    </a:solidFill>
                  </a:tcPr>
                </a:tc>
              </a:tr>
              <a:tr h="857250">
                <a:tc>
                  <a:txBody>
                    <a:bodyPr lIns="190500" tIns="114300" rIns="190500" bIns="114300"/>
                    <a:lstStyle/>
                    <a:p>
                      <a:r>
                        <a:rPr sz="2625" b="0">
                          <a:solidFill>
                            <a:srgbClr val="102B40"/>
                          </a:solidFill>
                          <a:latin typeface="Calibri"/>
                          <a:ea typeface="Calibri"/>
                          <a:cs typeface="Calibri"/>
                        </a:rPr>
                        <a:t>Airtable</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Catalogue et prospects</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Données accessibles à l’équipe</a:t>
                      </a:r>
                    </a:p>
                  </a:txBody>
                  <a:tcPr marL="91440" marR="91440" marT="45720" marB="45720" anchor="ctr">
                    <a:solidFill>
                      <a:srgbClr val="FFFFFF"/>
                    </a:solidFill>
                  </a:tcPr>
                </a:tc>
              </a:tr>
              <a:tr h="857250">
                <a:tc>
                  <a:txBody>
                    <a:bodyPr lIns="190500" tIns="114300" rIns="190500" bIns="114300"/>
                    <a:lstStyle/>
                    <a:p>
                      <a:r>
                        <a:rPr sz="2625" b="0">
                          <a:solidFill>
                            <a:srgbClr val="102B40"/>
                          </a:solidFill>
                          <a:latin typeface="Calibri"/>
                          <a:ea typeface="Calibri"/>
                          <a:cs typeface="Calibri"/>
                        </a:rPr>
                        <a:t>Groq</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Génération des contenus</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Réponse JSON contrôlée</a:t>
                      </a:r>
                    </a:p>
                  </a:txBody>
                  <a:tcPr marL="91440" marR="91440" marT="45720" marB="45720" anchor="ctr">
                    <a:solidFill>
                      <a:srgbClr val="EAF3F6"/>
                    </a:solidFill>
                  </a:tcPr>
                </a:tc>
              </a:tr>
              <a:tr h="857250">
                <a:tc>
                  <a:txBody>
                    <a:bodyPr lIns="190500" tIns="114300" rIns="190500" bIns="114300"/>
                    <a:lstStyle/>
                    <a:p>
                      <a:r>
                        <a:rPr sz="2625" b="0">
                          <a:solidFill>
                            <a:srgbClr val="102B40"/>
                          </a:solidFill>
                          <a:latin typeface="Calibri"/>
                          <a:ea typeface="Calibri"/>
                          <a:cs typeface="Calibri"/>
                        </a:rPr>
                        <a:t>Streamlit</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Interface de pilotage</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Dashboard directement en Python</a:t>
                      </a:r>
                    </a:p>
                  </a:txBody>
                  <a:tcPr marL="91440" marR="91440" marT="45720" marB="45720" anchor="ctr">
                    <a:solidFill>
                      <a:srgbClr val="FFFFFF"/>
                    </a:solidFill>
                  </a:tcPr>
                </a:tc>
              </a:tr>
              <a:tr h="857250">
                <a:tc>
                  <a:txBody>
                    <a:bodyPr lIns="190500" tIns="114300" rIns="190500" bIns="114300"/>
                    <a:lstStyle/>
                    <a:p>
                      <a:r>
                        <a:rPr sz="2625" b="0">
                          <a:solidFill>
                            <a:srgbClr val="102B40"/>
                          </a:solidFill>
                          <a:latin typeface="Calibri"/>
                          <a:ea typeface="Calibri"/>
                          <a:cs typeface="Calibri"/>
                        </a:rPr>
                        <a:t>ReportLab</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Offres, conventions et factures</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Thème documentaire partagé</a:t>
                      </a:r>
                    </a:p>
                  </a:txBody>
                  <a:tcPr marL="91440" marR="91440" marT="45720" marB="45720" anchor="ctr">
                    <a:solidFill>
                      <a:srgbClr val="EAF3F6"/>
                    </a:solidFill>
                  </a:tcPr>
                </a:tc>
              </a:tr>
            </a:tbl>
          </a:graphicData>
        </a:graphic>
      </p:graphicFrame>
      <p:sp>
        <p:nvSpPr>
          <p:cNvPr id="6" name="SMTP gère l’e-mail. WhatsApp repose sur l’automatisatio">
            <a:extLst xmlns:a="http://schemas.openxmlformats.org/drawingml/2006/main">
              <a:ext uri="{FF2B5EF4-FFF2-40B4-BE49-F238E27FC236}">
                <a16:creationId xmlns:a16="http://schemas.microsoft.com/office/drawing/2014/main" id="{77B3AA17-4837-4C92-955A-704C72F74C58}"/>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889347138"/>
      </p:ext>
    </p:extLst>
  </p:cSld>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5ee435eb97c48a9"/>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AE69802F-1D8C-4131-962D-B94DC518442D}"/>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18 / 22">
            <a:extLst xmlns:a="http://schemas.openxmlformats.org/drawingml/2006/main">
              <a:ext uri="{FF2B5EF4-FFF2-40B4-BE49-F238E27FC236}">
                <a16:creationId xmlns:a16="http://schemas.microsoft.com/office/drawing/2014/main" id="{7CBD080F-233F-4BF6-9AEA-8F5E9C956A25}"/>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18 / 22</a:t>
            </a:r>
          </a:p>
        </p:txBody>
      </p:sp>
      <p:sp>
        <p:nvSpPr>
          <p:cNvPr id="4" name="Démonstration du tableau de bord">
            <a:extLst xmlns:a="http://schemas.openxmlformats.org/drawingml/2006/main">
              <a:ext uri="{FF2B5EF4-FFF2-40B4-BE49-F238E27FC236}">
                <a16:creationId xmlns:a16="http://schemas.microsoft.com/office/drawing/2014/main" id="{2D1173C6-B5E0-479E-8E5D-8BD8A19AFB56}"/>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Démonstration du tableau de bord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2d65b4792834b49"/>
          <a:stretch xmlns:a="http://schemas.openxmlformats.org/drawingml/2006/main"/>
        </p:blipFill>
        <p:spPr>
          <a:xfrm xmlns:a="http://schemas.openxmlformats.org/drawingml/2006/main">
            <a:off x="1428750" y="3124200"/>
            <a:ext cx="9906000" cy="5572125"/>
          </a:xfrm>
          <a:prstGeom xmlns:a="http://schemas.openxmlformats.org/drawingml/2006/main" prst="rect">
            <a:avLst/>
          </a:prstGeom>
        </p:spPr>
      </p:pic>
      <p:sp>
        <p:nvSpPr>
          <p:cNvPr id="6" name="1. Consulter les indicateurs&#10;&#10;2. Rechercher un prospect">
            <a:extLst xmlns:a="http://schemas.openxmlformats.org/drawingml/2006/main">
              <a:ext uri="{FF2B5EF4-FFF2-40B4-BE49-F238E27FC236}">
                <a16:creationId xmlns:a16="http://schemas.microsoft.com/office/drawing/2014/main" id="{C53192E8-022B-495A-81A4-B2A5B9B16E23}"/>
              </a:ext>
            </a:extLst>
          </p:cNvPr>
          <p:cNvSpPr>
            <a:spLocks xmlns:a="http://schemas.openxmlformats.org/drawingml/2006/main" noGrp="1"/>
          </p:cNvSpPr>
          <p:nvPr/>
        </p:nvSpPr>
        <p:spPr>
          <a:xfrm xmlns:a="http://schemas.openxmlformats.org/drawingml/2006/main">
            <a:off x="11763375" y="3371850"/>
            <a:ext cx="4143375" cy="468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1. Consulter les indicateurs</a:t>
            </a:r>
          </a:p>
          <a:p xmlns:a="http://schemas.openxmlformats.org/drawingml/2006/main">
            <a:r>
              <a:t/>
            </a:r>
          </a:p>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2. Rechercher un prospect</a:t>
            </a:r>
          </a:p>
          <a:p xmlns:a="http://schemas.openxmlformats.org/drawingml/2006/main">
            <a:r>
              <a:t/>
            </a:r>
          </a:p>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3. Choisir la simulation</a:t>
            </a:r>
          </a:p>
          <a:p xmlns:a="http://schemas.openxmlformats.org/drawingml/2006/main">
            <a:r>
              <a:t/>
            </a:r>
          </a:p>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4. Lancer et vérifier</a:t>
            </a:r>
          </a:p>
        </p:txBody>
      </p:sp>
      <p:sp>
        <p:nvSpPr>
          <p:cNvPr id="7" name="Capture de l’application réelle avec six prospects fict">
            <a:extLst xmlns:a="http://schemas.openxmlformats.org/drawingml/2006/main">
              <a:ext uri="{FF2B5EF4-FFF2-40B4-BE49-F238E27FC236}">
                <a16:creationId xmlns:a16="http://schemas.microsoft.com/office/drawing/2014/main" id="{4B709854-F018-489A-80A7-323D52D8B3E3}"/>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94853719"/>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75ffe7ffd8d4884"/>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8F2C0984-45E8-491A-A666-59989DAB2D28}"/>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19 / 22">
            <a:extLst xmlns:a="http://schemas.openxmlformats.org/drawingml/2006/main">
              <a:ext uri="{FF2B5EF4-FFF2-40B4-BE49-F238E27FC236}">
                <a16:creationId xmlns:a16="http://schemas.microsoft.com/office/drawing/2014/main" id="{F4BF0B1F-D27F-4957-8833-6FA2F1AF3568}"/>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19 / 22</a:t>
            </a:r>
          </a:p>
        </p:txBody>
      </p:sp>
      <p:sp>
        <p:nvSpPr>
          <p:cNvPr id="4" name="Documents et communications">
            <a:extLst xmlns:a="http://schemas.openxmlformats.org/drawingml/2006/main">
              <a:ext uri="{FF2B5EF4-FFF2-40B4-BE49-F238E27FC236}">
                <a16:creationId xmlns:a16="http://schemas.microsoft.com/office/drawing/2014/main" id="{BD86A700-9220-4F36-AAC9-B7D1A383FC6D}"/>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Documents et communications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7e7fda8f47a4189"/>
          <a:stretch xmlns:a="http://schemas.openxmlformats.org/drawingml/2006/main"/>
        </p:blipFill>
        <p:spPr>
          <a:xfrm xmlns:a="http://schemas.openxmlformats.org/drawingml/2006/main">
            <a:off x="1550988" y="3067050"/>
            <a:ext cx="4041775" cy="57150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f4748fcc5ec451b"/>
          <a:stretch xmlns:a="http://schemas.openxmlformats.org/drawingml/2006/main"/>
        </p:blipFill>
        <p:spPr>
          <a:xfrm xmlns:a="http://schemas.openxmlformats.org/drawingml/2006/main">
            <a:off x="6551613" y="3067050"/>
            <a:ext cx="4041775" cy="5715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6cbe275bb9f4a59"/>
          <a:stretch xmlns:a="http://schemas.openxmlformats.org/drawingml/2006/main"/>
        </p:blipFill>
        <p:spPr>
          <a:xfrm xmlns:a="http://schemas.openxmlformats.org/drawingml/2006/main">
            <a:off x="11552238" y="3067050"/>
            <a:ext cx="4041775" cy="5715000"/>
          </a:xfrm>
          <a:prstGeom xmlns:a="http://schemas.openxmlformats.org/drawingml/2006/main" prst="rect">
            <a:avLst/>
          </a:prstGeom>
        </p:spPr>
      </p:pic>
      <p:sp>
        <p:nvSpPr>
          <p:cNvPr id="8" name="Proposition">
            <a:extLst xmlns:a="http://schemas.openxmlformats.org/drawingml/2006/main">
              <a:ext uri="{FF2B5EF4-FFF2-40B4-BE49-F238E27FC236}">
                <a16:creationId xmlns:a16="http://schemas.microsoft.com/office/drawing/2014/main" id="{23A853EA-AC6E-4F2F-BB1F-8EA5BFFDE0C0}"/>
              </a:ext>
            </a:extLst>
          </p:cNvPr>
          <p:cNvSpPr>
            <a:spLocks xmlns:a="http://schemas.openxmlformats.org/drawingml/2006/main" noGrp="1"/>
          </p:cNvSpPr>
          <p:nvPr/>
        </p:nvSpPr>
        <p:spPr>
          <a:xfrm xmlns:a="http://schemas.openxmlformats.org/drawingml/2006/main">
            <a:off x="1571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102B40"/>
                </a:solidFill>
                <a:latin typeface="Calibri"/>
                <a:ea typeface="Calibri"/>
                <a:cs typeface="Calibri"/>
              </a:defRPr>
            </a:pPr>
            <a:r>
              <a:rPr sz="2700" b="1">
                <a:solidFill>
                  <a:srgbClr val="102B40"/>
                </a:solidFill>
                <a:latin typeface="Calibri"/>
                <a:ea typeface="Calibri"/>
                <a:cs typeface="Calibri"/>
              </a:rPr>
              <a:t>Proposition</a:t>
            </a:r>
          </a:p>
        </p:txBody>
      </p:sp>
      <p:sp>
        <p:nvSpPr>
          <p:cNvPr id="9" name="Convention">
            <a:extLst xmlns:a="http://schemas.openxmlformats.org/drawingml/2006/main">
              <a:ext uri="{FF2B5EF4-FFF2-40B4-BE49-F238E27FC236}">
                <a16:creationId xmlns:a16="http://schemas.microsoft.com/office/drawing/2014/main" id="{8D9C22E0-88EB-4CEF-AFCA-CB2B2B2F55D4}"/>
              </a:ext>
            </a:extLst>
          </p:cNvPr>
          <p:cNvSpPr>
            <a:spLocks xmlns:a="http://schemas.openxmlformats.org/drawingml/2006/main" noGrp="1"/>
          </p:cNvSpPr>
          <p:nvPr/>
        </p:nvSpPr>
        <p:spPr>
          <a:xfrm xmlns:a="http://schemas.openxmlformats.org/drawingml/2006/main">
            <a:off x="6524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102B40"/>
                </a:solidFill>
                <a:latin typeface="Calibri"/>
                <a:ea typeface="Calibri"/>
                <a:cs typeface="Calibri"/>
              </a:defRPr>
            </a:pPr>
            <a:r>
              <a:rPr sz="2700" b="1">
                <a:solidFill>
                  <a:srgbClr val="102B40"/>
                </a:solidFill>
                <a:latin typeface="Calibri"/>
                <a:ea typeface="Calibri"/>
                <a:cs typeface="Calibri"/>
              </a:rPr>
              <a:t>Convention</a:t>
            </a:r>
          </a:p>
        </p:txBody>
      </p:sp>
      <p:sp>
        <p:nvSpPr>
          <p:cNvPr id="10" name="Facture">
            <a:extLst xmlns:a="http://schemas.openxmlformats.org/drawingml/2006/main">
              <a:ext uri="{FF2B5EF4-FFF2-40B4-BE49-F238E27FC236}">
                <a16:creationId xmlns:a16="http://schemas.microsoft.com/office/drawing/2014/main" id="{DF3A2943-FEF1-4C3C-A13E-F46A20C148F7}"/>
              </a:ext>
            </a:extLst>
          </p:cNvPr>
          <p:cNvSpPr>
            <a:spLocks xmlns:a="http://schemas.openxmlformats.org/drawingml/2006/main" noGrp="1"/>
          </p:cNvSpPr>
          <p:nvPr/>
        </p:nvSpPr>
        <p:spPr>
          <a:xfrm xmlns:a="http://schemas.openxmlformats.org/drawingml/2006/main">
            <a:off x="11525250"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102B40"/>
                </a:solidFill>
                <a:latin typeface="Calibri"/>
                <a:ea typeface="Calibri"/>
                <a:cs typeface="Calibri"/>
              </a:defRPr>
            </a:pPr>
            <a:r>
              <a:rPr sz="2700" b="1">
                <a:solidFill>
                  <a:srgbClr val="102B40"/>
                </a:solidFill>
                <a:latin typeface="Calibri"/>
                <a:ea typeface="Calibri"/>
                <a:cs typeface="Calibri"/>
              </a:rPr>
              <a:t>Facture</a:t>
            </a:r>
          </a:p>
        </p:txBody>
      </p:sp>
      <p:sp>
        <p:nvSpPr>
          <p:cNvPr id="11" name="Exemples fictifs. L’équipe doit valider les données com">
            <a:extLst xmlns:a="http://schemas.openxmlformats.org/drawingml/2006/main">
              <a:ext uri="{FF2B5EF4-FFF2-40B4-BE49-F238E27FC236}">
                <a16:creationId xmlns:a16="http://schemas.microsoft.com/office/drawing/2014/main" id="{C9DE91D1-F2E0-42BA-AA6D-02695A95EE25}"/>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64742952"/>
      </p:ext>
    </p:extLst>
  </p:cSld>
</p:sld>
</file>

<file path=ppt/slides/slide2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55d30cea2924b80"/>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60F9340C-05FD-425C-8239-6D79B541E29A}"/>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20 / 22">
            <a:extLst xmlns:a="http://schemas.openxmlformats.org/drawingml/2006/main">
              <a:ext uri="{FF2B5EF4-FFF2-40B4-BE49-F238E27FC236}">
                <a16:creationId xmlns:a16="http://schemas.microsoft.com/office/drawing/2014/main" id="{84DBBCA9-F31D-4561-B0D1-38429D8042D6}"/>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20 / 22</a:t>
            </a:r>
          </a:p>
        </p:txBody>
      </p:sp>
      <p:sp>
        <p:nvSpPr>
          <p:cNvPr id="4" name="Résultats et validation">
            <a:extLst xmlns:a="http://schemas.openxmlformats.org/drawingml/2006/main">
              <a:ext uri="{FF2B5EF4-FFF2-40B4-BE49-F238E27FC236}">
                <a16:creationId xmlns:a16="http://schemas.microsoft.com/office/drawing/2014/main" id="{2E2DB92D-893E-429A-A159-9FDC932D7364}"/>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Résultats et validation</a:t>
            </a:r>
          </a:p>
        </p:txBody>
      </p:sp>
      <p:sp>
        <p:nvSpPr>
          <p:cNvPr id="5" name="11 tests métier réussis">
            <a:extLst xmlns:a="http://schemas.openxmlformats.org/drawingml/2006/main">
              <a:ext uri="{FF2B5EF4-FFF2-40B4-BE49-F238E27FC236}">
                <a16:creationId xmlns:a16="http://schemas.microsoft.com/office/drawing/2014/main" id="{481395C9-A8B0-4381-9414-D174A89588F7}"/>
              </a:ext>
            </a:extLst>
          </p:cNvPr>
          <p:cNvSpPr>
            <a:spLocks xmlns:a="http://schemas.openxmlformats.org/drawingml/2006/main" noGrp="1"/>
          </p:cNvSpPr>
          <p:nvPr/>
        </p:nvSpPr>
        <p:spPr>
          <a:xfrm xmlns:a="http://schemas.openxmlformats.org/drawingml/2006/main">
            <a:off x="1857375" y="3429000"/>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00" b="1">
                <a:solidFill>
                  <a:srgbClr val="008C9B"/>
                </a:solidFill>
                <a:latin typeface="Calibri"/>
                <a:ea typeface="Calibri"/>
                <a:cs typeface="Calibri"/>
              </a:defRPr>
            </a:pPr>
            <a:r>
              <a:rPr sz="4800" b="1">
                <a:solidFill>
                  <a:srgbClr val="008C9B"/>
                </a:solidFill>
                <a:latin typeface="Calibri"/>
                <a:ea typeface="Calibri"/>
                <a:cs typeface="Calibri"/>
              </a:rPr>
              <a:t>11 tests métier réussis</a:t>
            </a:r>
          </a:p>
        </p:txBody>
      </p:sp>
      <p:sp>
        <p:nvSpPr>
          <p:cNvPr id="6" name="01">
            <a:extLst xmlns:a="http://schemas.openxmlformats.org/drawingml/2006/main">
              <a:ext uri="{FF2B5EF4-FFF2-40B4-BE49-F238E27FC236}">
                <a16:creationId xmlns:a16="http://schemas.microsoft.com/office/drawing/2014/main" id="{EF1D584B-A77C-467D-ACD9-9AD5CE17CE1C}"/>
              </a:ext>
            </a:extLst>
          </p:cNvPr>
          <p:cNvSpPr>
            <a:spLocks xmlns:a="http://schemas.openxmlformats.org/drawingml/2006/main" noGrp="1"/>
          </p:cNvSpPr>
          <p:nvPr/>
        </p:nvSpPr>
        <p:spPr>
          <a:xfrm xmlns:a="http://schemas.openxmlformats.org/drawingml/2006/main">
            <a:off x="1190625" y="48577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7" name="Scoring, routage et sélection de la formation.">
            <a:extLst xmlns:a="http://schemas.openxmlformats.org/drawingml/2006/main">
              <a:ext uri="{FF2B5EF4-FFF2-40B4-BE49-F238E27FC236}">
                <a16:creationId xmlns:a16="http://schemas.microsoft.com/office/drawing/2014/main" id="{F9F49ABC-F088-46BB-B876-12E96D4ACB0A}"/>
              </a:ext>
            </a:extLst>
          </p:cNvPr>
          <p:cNvSpPr>
            <a:spLocks xmlns:a="http://schemas.openxmlformats.org/drawingml/2006/main" noGrp="1"/>
          </p:cNvSpPr>
          <p:nvPr/>
        </p:nvSpPr>
        <p:spPr>
          <a:xfrm xmlns:a="http://schemas.openxmlformats.org/drawingml/2006/main">
            <a:off x="1857375" y="485775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102B40"/>
                </a:solidFill>
                <a:latin typeface="Calibri"/>
                <a:ea typeface="Calibri"/>
                <a:cs typeface="Calibri"/>
              </a:defRPr>
            </a:pPr>
            <a:r>
              <a:rPr sz="3075" b="0">
                <a:solidFill>
                  <a:srgbClr val="102B40"/>
                </a:solidFill>
                <a:latin typeface="Calibri"/>
                <a:ea typeface="Calibri"/>
                <a:cs typeface="Calibri"/>
              </a:rPr>
              <a:t>Scoring, routage et sélection de la formation.</a:t>
            </a:r>
          </a:p>
        </p:txBody>
      </p:sp>
      <p:sp>
        <p:nvSpPr>
          <p:cNvPr id="8" name="02">
            <a:extLst xmlns:a="http://schemas.openxmlformats.org/drawingml/2006/main">
              <a:ext uri="{FF2B5EF4-FFF2-40B4-BE49-F238E27FC236}">
                <a16:creationId xmlns:a16="http://schemas.microsoft.com/office/drawing/2014/main" id="{03A5877D-8B1C-49EA-AEE9-CD05768D8697}"/>
              </a:ext>
            </a:extLst>
          </p:cNvPr>
          <p:cNvSpPr>
            <a:spLocks xmlns:a="http://schemas.openxmlformats.org/drawingml/2006/main" noGrp="1"/>
          </p:cNvSpPr>
          <p:nvPr/>
        </p:nvSpPr>
        <p:spPr>
          <a:xfrm xmlns:a="http://schemas.openxmlformats.org/drawingml/2006/main">
            <a:off x="1190625" y="5857875"/>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9" name="Prix, références et numérotation des documents.">
            <a:extLst xmlns:a="http://schemas.openxmlformats.org/drawingml/2006/main">
              <a:ext uri="{FF2B5EF4-FFF2-40B4-BE49-F238E27FC236}">
                <a16:creationId xmlns:a16="http://schemas.microsoft.com/office/drawing/2014/main" id="{7E347008-3596-49F1-8B94-34EB2697A605}"/>
              </a:ext>
            </a:extLst>
          </p:cNvPr>
          <p:cNvSpPr>
            <a:spLocks xmlns:a="http://schemas.openxmlformats.org/drawingml/2006/main" noGrp="1"/>
          </p:cNvSpPr>
          <p:nvPr/>
        </p:nvSpPr>
        <p:spPr>
          <a:xfrm xmlns:a="http://schemas.openxmlformats.org/drawingml/2006/main">
            <a:off x="1857375" y="5857875"/>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102B40"/>
                </a:solidFill>
                <a:latin typeface="Calibri"/>
                <a:ea typeface="Calibri"/>
                <a:cs typeface="Calibri"/>
              </a:defRPr>
            </a:pPr>
            <a:r>
              <a:rPr sz="3075" b="0">
                <a:solidFill>
                  <a:srgbClr val="102B40"/>
                </a:solidFill>
                <a:latin typeface="Calibri"/>
                <a:ea typeface="Calibri"/>
                <a:cs typeface="Calibri"/>
              </a:rPr>
              <a:t>Prix, références et numérotation des documents.</a:t>
            </a:r>
          </a:p>
        </p:txBody>
      </p:sp>
      <p:sp>
        <p:nvSpPr>
          <p:cNvPr id="10" name="03">
            <a:extLst xmlns:a="http://schemas.openxmlformats.org/drawingml/2006/main">
              <a:ext uri="{FF2B5EF4-FFF2-40B4-BE49-F238E27FC236}">
                <a16:creationId xmlns:a16="http://schemas.microsoft.com/office/drawing/2014/main" id="{7A84BBA2-FEDA-45E8-AD3F-70496A759BFF}"/>
              </a:ext>
            </a:extLst>
          </p:cNvPr>
          <p:cNvSpPr>
            <a:spLocks xmlns:a="http://schemas.openxmlformats.org/drawingml/2006/main" noGrp="1"/>
          </p:cNvSpPr>
          <p:nvPr/>
        </p:nvSpPr>
        <p:spPr>
          <a:xfrm xmlns:a="http://schemas.openxmlformats.org/drawingml/2006/main">
            <a:off x="1190625" y="685800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1" name="Journal d’envoi, reprise CRM et erreurs contrôlées.">
            <a:extLst xmlns:a="http://schemas.openxmlformats.org/drawingml/2006/main">
              <a:ext uri="{FF2B5EF4-FFF2-40B4-BE49-F238E27FC236}">
                <a16:creationId xmlns:a16="http://schemas.microsoft.com/office/drawing/2014/main" id="{BDB10C45-3C9D-4564-967C-BB38AB95FE09}"/>
              </a:ext>
            </a:extLst>
          </p:cNvPr>
          <p:cNvSpPr>
            <a:spLocks xmlns:a="http://schemas.openxmlformats.org/drawingml/2006/main" noGrp="1"/>
          </p:cNvSpPr>
          <p:nvPr/>
        </p:nvSpPr>
        <p:spPr>
          <a:xfrm xmlns:a="http://schemas.openxmlformats.org/drawingml/2006/main">
            <a:off x="1857375" y="685800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102B40"/>
                </a:solidFill>
                <a:latin typeface="Calibri"/>
                <a:ea typeface="Calibri"/>
                <a:cs typeface="Calibri"/>
              </a:defRPr>
            </a:pPr>
            <a:r>
              <a:rPr sz="3075" b="0">
                <a:solidFill>
                  <a:srgbClr val="102B40"/>
                </a:solidFill>
                <a:latin typeface="Calibri"/>
                <a:ea typeface="Calibri"/>
                <a:cs typeface="Calibri"/>
              </a:rPr>
              <a:t>Journal d’envoi, reprise CRM et erreurs contrôlées.</a:t>
            </a:r>
          </a:p>
        </p:txBody>
      </p:sp>
      <p:sp>
        <p:nvSpPr>
          <p:cNvPr id="12" name="28 fichiers Python analysés. Aucun conflit de dépendanc">
            <a:extLst xmlns:a="http://schemas.openxmlformats.org/drawingml/2006/main">
              <a:ext uri="{FF2B5EF4-FFF2-40B4-BE49-F238E27FC236}">
                <a16:creationId xmlns:a16="http://schemas.microsoft.com/office/drawing/2014/main" id="{FA1243A0-02DA-4981-8053-9A62BECEE5EA}"/>
              </a:ext>
            </a:extLst>
          </p:cNvPr>
          <p:cNvSpPr>
            <a:spLocks xmlns:a="http://schemas.openxmlformats.org/drawingml/2006/main" noGrp="1"/>
          </p:cNvSpPr>
          <p:nvPr/>
        </p:nvSpPr>
        <p:spPr>
          <a:xfrm xmlns:a="http://schemas.openxmlformats.org/drawingml/2006/main">
            <a:off x="1857375" y="8048625"/>
            <a:ext cx="1257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a:solidFill>
                  <a:srgbClr val="102B40"/>
                </a:solidFill>
                <a:latin typeface="Calibri"/>
                <a:ea typeface="Calibri"/>
                <a:cs typeface="Calibri"/>
              </a:defRPr>
            </a:pPr>
            <a:r>
              <a:rPr sz="2550" b="0">
                <a:solidFill>
                  <a:srgbClr val="102B40"/>
                </a:solidFill>
                <a:latin typeface="Calibri"/>
                <a:ea typeface="Calibri"/>
                <a:cs typeface="Calibri"/>
              </a:rPr>
              <a:t>28 fichiers Python analysés. Aucun conflit de dépendances détecté.</a:t>
            </a:r>
          </a:p>
        </p:txBody>
      </p:sp>
      <p:sp>
        <p:nvSpPr>
          <p:cNvPr id="13" name="Vérifications locales du 17 septembre 2026. Les service">
            <a:extLst xmlns:a="http://schemas.openxmlformats.org/drawingml/2006/main">
              <a:ext uri="{FF2B5EF4-FFF2-40B4-BE49-F238E27FC236}">
                <a16:creationId xmlns:a16="http://schemas.microsoft.com/office/drawing/2014/main" id="{DE93F067-F391-4D7E-9F1D-BA72BE0B657A}"/>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218053210"/>
      </p:ext>
    </p:extLst>
  </p:cSld>
</p:sld>
</file>

<file path=ppt/slides/slide2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0f37496db714994"/>
          <a:srcRect xmlns:a="http://schemas.openxmlformats.org/drawingml/2006/main" l="46613" t="0" r="46613" b="0"/>
          <a:stretch xmlns:a="http://schemas.openxmlformats.org/drawingml/2006/main">
            <a:fillRect l="0" t="0" r="0" b="0"/>
          </a:stretch>
        </p:blipFill>
        <p:spPr>
          <a:xfrm xmlns:a="http://schemas.openxmlformats.org/drawingml/2006/main">
            <a:off x="17049750" y="0"/>
            <a:ext cx="123825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3912773F-3777-4976-A570-013623993E8E}"/>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C9B"/>
                </a:solidFill>
                <a:latin typeface="Calibri"/>
                <a:ea typeface="Calibri"/>
                <a:cs typeface="Calibri"/>
              </a:defRPr>
            </a:pPr>
            <a:r>
              <a:rPr sz="1875" b="1">
                <a:solidFill>
                  <a:srgbClr val="008C9B"/>
                </a:solidFill>
                <a:latin typeface="Calibri"/>
                <a:ea typeface="Calibri"/>
                <a:cs typeface="Calibri"/>
              </a:rPr>
              <a:t>ADG-10 · AUTOMATISATION DU CYCLE COMMERCIAL</a:t>
            </a:r>
          </a:p>
        </p:txBody>
      </p:sp>
      <p:sp>
        <p:nvSpPr>
          <p:cNvPr id="3" name="21 / 22">
            <a:extLst xmlns:a="http://schemas.openxmlformats.org/drawingml/2006/main">
              <a:ext uri="{FF2B5EF4-FFF2-40B4-BE49-F238E27FC236}">
                <a16:creationId xmlns:a16="http://schemas.microsoft.com/office/drawing/2014/main" id="{F75EDC8D-BA62-42F3-A51F-D50B1AAB4C41}"/>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21 / 22</a:t>
            </a:r>
          </a:p>
        </p:txBody>
      </p:sp>
      <p:sp>
        <p:nvSpPr>
          <p:cNvPr id="4" name="Limites et perspectives">
            <a:extLst xmlns:a="http://schemas.openxmlformats.org/drawingml/2006/main">
              <a:ext uri="{FF2B5EF4-FFF2-40B4-BE49-F238E27FC236}">
                <a16:creationId xmlns:a16="http://schemas.microsoft.com/office/drawing/2014/main" id="{95BF37DA-3642-41D4-A276-999E05970AD2}"/>
              </a:ext>
            </a:extLst>
          </p:cNvPr>
          <p:cNvSpPr>
            <a:spLocks xmlns:a="http://schemas.openxmlformats.org/drawingml/2006/main" noGrp="1"/>
          </p:cNvSpPr>
          <p:nvPr/>
        </p:nvSpPr>
        <p:spPr>
          <a:xfrm xmlns:a="http://schemas.openxmlformats.org/drawingml/2006/main">
            <a:off x="1524000" y="1476375"/>
            <a:ext cx="1438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02B40"/>
                </a:solidFill>
                <a:latin typeface="Calibri"/>
                <a:ea typeface="Calibri"/>
                <a:cs typeface="Calibri"/>
              </a:defRPr>
            </a:pPr>
            <a:r>
              <a:rPr sz="4650" b="1">
                <a:solidFill>
                  <a:srgbClr val="102B40"/>
                </a:solidFill>
                <a:latin typeface="Calibri"/>
                <a:ea typeface="Calibri"/>
                <a:cs typeface="Calibri"/>
              </a:rPr>
              <a:t>Limites et perspectives</a:t>
            </a:r>
          </a:p>
        </p:txBody>
      </p:sp>
      <p:graphicFrame>
        <p:nvGraphicFramePr>
          <p:cNvPr id="11" name=""/>
          <p:cNvGraphicFramePr/>
          <p:nvPr/>
        </p:nvGraphicFramePr>
        <p:xfrm>
          <a:off xmlns:a="http://schemas.openxmlformats.org/drawingml/2006/main" x="1571625" y="3333750"/>
          <a:ext xmlns:a="http://schemas.openxmlformats.org/drawingml/2006/main" cx="14478000" cy="4953000"/>
        </p:xfrm>
        <a:graphic xmlns:a="http://schemas.openxmlformats.org/drawingml/2006/main">
          <a:graphicData uri="http://schemas.openxmlformats.org/drawingml/2006/table">
            <a:tbl>
              <a:tblPr/>
              <a:tblGrid>
                <a:gridCol w="3437223"/>
                <a:gridCol w="11040777"/>
              </a:tblGrid>
              <a:tr h="825500">
                <a:tc>
                  <a:txBody>
                    <a:bodyPr lIns="190500" tIns="114300" rIns="190500" bIns="114300"/>
                    <a:lstStyle/>
                    <a:p>
                      <a:r>
                        <a:rPr sz="2625" b="1">
                          <a:solidFill>
                            <a:srgbClr val="FFFFFF"/>
                          </a:solidFill>
                          <a:latin typeface="Calibri"/>
                          <a:ea typeface="Calibri"/>
                          <a:cs typeface="Calibri"/>
                        </a:rPr>
                        <a:t>Priorité</a:t>
                      </a:r>
                    </a:p>
                  </a:txBody>
                  <a:tcPr marL="91440" marR="91440" marT="45720" marB="45720" anchor="ctr">
                    <a:solidFill>
                      <a:srgbClr val="102B40"/>
                    </a:solidFill>
                  </a:tcPr>
                </a:tc>
                <a:tc>
                  <a:txBody>
                    <a:bodyPr lIns="190500" tIns="114300" rIns="190500" bIns="114300"/>
                    <a:lstStyle/>
                    <a:p>
                      <a:r>
                        <a:rPr sz="2625" b="1">
                          <a:solidFill>
                            <a:srgbClr val="FFFFFF"/>
                          </a:solidFill>
                          <a:latin typeface="Calibri"/>
                          <a:ea typeface="Calibri"/>
                          <a:cs typeface="Calibri"/>
                        </a:rPr>
                        <a:t>Amélioration attendue</a:t>
                      </a:r>
                    </a:p>
                  </a:txBody>
                  <a:tcPr marL="91440" marR="91440" marT="45720" marB="45720" anchor="ctr">
                    <a:solidFill>
                      <a:srgbClr val="102B40"/>
                    </a:solidFill>
                  </a:tcPr>
                </a:tc>
              </a:tr>
              <a:tr h="825500">
                <a:tc>
                  <a:txBody>
                    <a:bodyPr lIns="190500" tIns="114300" rIns="190500" bIns="114300"/>
                    <a:lstStyle/>
                    <a:p>
                      <a:r>
                        <a:rPr sz="2625" b="0">
                          <a:solidFill>
                            <a:srgbClr val="102B40"/>
                          </a:solidFill>
                          <a:latin typeface="Calibri"/>
                          <a:ea typeface="Calibri"/>
                          <a:cs typeface="Calibri"/>
                        </a:rPr>
                        <a:t>Fiabilité métier</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Formation obligatoire, prix structurés, règles de TVA validées</a:t>
                      </a:r>
                    </a:p>
                  </a:txBody>
                  <a:tcPr marL="91440" marR="91440" marT="45720" marB="45720" anchor="ctr">
                    <a:solidFill>
                      <a:srgbClr val="EAF3F6"/>
                    </a:solidFill>
                  </a:tcPr>
                </a:tc>
              </a:tr>
              <a:tr h="825500">
                <a:tc>
                  <a:txBody>
                    <a:bodyPr lIns="190500" tIns="114300" rIns="190500" bIns="114300"/>
                    <a:lstStyle/>
                    <a:p>
                      <a:r>
                        <a:rPr sz="2625" b="0">
                          <a:solidFill>
                            <a:srgbClr val="102B40"/>
                          </a:solidFill>
                          <a:latin typeface="Calibri"/>
                          <a:ea typeface="Calibri"/>
                          <a:cs typeface="Calibri"/>
                        </a:rPr>
                        <a:t>Exploitation</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Planification, rattrapage des échéances, suivi des réponses</a:t>
                      </a:r>
                    </a:p>
                  </a:txBody>
                  <a:tcPr marL="91440" marR="91440" marT="45720" marB="45720" anchor="ctr">
                    <a:solidFill>
                      <a:srgbClr val="FFFFFF"/>
                    </a:solidFill>
                  </a:tcPr>
                </a:tc>
              </a:tr>
              <a:tr h="825500">
                <a:tc>
                  <a:txBody>
                    <a:bodyPr lIns="190500" tIns="114300" rIns="190500" bIns="114300"/>
                    <a:lstStyle/>
                    <a:p>
                      <a:r>
                        <a:rPr sz="2625" b="0">
                          <a:solidFill>
                            <a:srgbClr val="102B40"/>
                          </a:solidFill>
                          <a:latin typeface="Calibri"/>
                          <a:ea typeface="Calibri"/>
                          <a:cs typeface="Calibri"/>
                        </a:rPr>
                        <a:t>Sécurité</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Accès authentifié, gestion des secrets et des habilitations</a:t>
                      </a:r>
                    </a:p>
                  </a:txBody>
                  <a:tcPr marL="91440" marR="91440" marT="45720" marB="45720" anchor="ctr">
                    <a:solidFill>
                      <a:srgbClr val="EAF3F6"/>
                    </a:solidFill>
                  </a:tcPr>
                </a:tc>
              </a:tr>
              <a:tr h="825500">
                <a:tc>
                  <a:txBody>
                    <a:bodyPr lIns="190500" tIns="114300" rIns="190500" bIns="114300"/>
                    <a:lstStyle/>
                    <a:p>
                      <a:r>
                        <a:rPr sz="2625" b="0">
                          <a:solidFill>
                            <a:srgbClr val="102B40"/>
                          </a:solidFill>
                          <a:latin typeface="Calibri"/>
                          <a:ea typeface="Calibri"/>
                          <a:cs typeface="Calibri"/>
                        </a:rPr>
                        <a:t>Montée en charge</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Journal central, verrouillage et tests de concurrence</a:t>
                      </a:r>
                    </a:p>
                  </a:txBody>
                  <a:tcPr marL="91440" marR="91440" marT="45720" marB="45720" anchor="ctr">
                    <a:solidFill>
                      <a:srgbClr val="FFFFFF"/>
                    </a:solidFill>
                  </a:tcPr>
                </a:tc>
              </a:tr>
              <a:tr h="825500">
                <a:tc>
                  <a:txBody>
                    <a:bodyPr lIns="190500" tIns="114300" rIns="190500" bIns="114300"/>
                    <a:lstStyle/>
                    <a:p>
                      <a:r>
                        <a:rPr sz="2625" b="0">
                          <a:solidFill>
                            <a:srgbClr val="102B40"/>
                          </a:solidFill>
                          <a:latin typeface="Calibri"/>
                          <a:ea typeface="Calibri"/>
                          <a:cs typeface="Calibri"/>
                        </a:rPr>
                        <a:t>Périmètre</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Publication sociale E3 et suivi après-vente</a:t>
                      </a:r>
                    </a:p>
                  </a:txBody>
                  <a:tcPr marL="91440" marR="91440" marT="45720" marB="45720" anchor="ctr">
                    <a:solidFill>
                      <a:srgbClr val="EAF3F6"/>
                    </a:solidFill>
                  </a:tcPr>
                </a:tc>
              </a:tr>
            </a:tbl>
          </a:graphicData>
        </a:graphic>
      </p:graphicFrame>
      <p:sp>
        <p:nvSpPr>
          <p:cNvPr id="6" name="Priorité : fiabiliser les parcours existants avant d’aj">
            <a:extLst xmlns:a="http://schemas.openxmlformats.org/drawingml/2006/main">
              <a:ext uri="{FF2B5EF4-FFF2-40B4-BE49-F238E27FC236}">
                <a16:creationId xmlns:a16="http://schemas.microsoft.com/office/drawing/2014/main" id="{43A68DF7-51AA-4827-A365-E5600F74D2B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1528634380"/>
      </p:ext>
    </p:extLst>
  </p:cSld>
</p:sld>
</file>

<file path=ppt/slides/slide2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03a974d41fe4a8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AE77D645-3409-40F7-A826-200C73076E7D}"/>
              </a:ext>
            </a:extLst>
          </p:cNvPr>
          <p:cNvSpPr>
            <a:spLocks xmlns:a="http://schemas.openxmlformats.org/drawingml/2006/main" noGrp="1"/>
          </p:cNvSpPr>
          <p:nvPr/>
        </p:nvSpPr>
        <p:spPr>
          <a:xfrm xmlns:a="http://schemas.openxmlformats.org/drawingml/2006/main">
            <a:off x="952500" y="45720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63E1E8"/>
                </a:solidFill>
                <a:latin typeface="Calibri"/>
                <a:ea typeface="Calibri"/>
                <a:cs typeface="Calibri"/>
              </a:defRPr>
            </a:pPr>
            <a:r>
              <a:rPr sz="1875" b="1">
                <a:solidFill>
                  <a:srgbClr val="63E1E8"/>
                </a:solidFill>
                <a:latin typeface="Calibri"/>
                <a:ea typeface="Calibri"/>
                <a:cs typeface="Calibri"/>
              </a:rPr>
              <a:t>ADG-10 · AUTOMATISATION DU CYCLE COMMERCIAL</a:t>
            </a:r>
          </a:p>
        </p:txBody>
      </p:sp>
      <p:sp>
        <p:nvSpPr>
          <p:cNvPr id="3" name="22 / 22">
            <a:extLst xmlns:a="http://schemas.openxmlformats.org/drawingml/2006/main">
              <a:ext uri="{FF2B5EF4-FFF2-40B4-BE49-F238E27FC236}">
                <a16:creationId xmlns:a16="http://schemas.microsoft.com/office/drawing/2014/main" id="{BCB02480-9CEC-4DD6-8383-7A4EB7D577F0}"/>
              </a:ext>
            </a:extLst>
          </p:cNvPr>
          <p:cNvSpPr>
            <a:spLocks xmlns:a="http://schemas.openxmlformats.org/drawingml/2006/main" noGrp="1"/>
          </p:cNvSpPr>
          <p:nvPr/>
        </p:nvSpPr>
        <p:spPr>
          <a:xfrm xmlns:a="http://schemas.openxmlformats.org/drawingml/2006/main">
            <a:off x="1533525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22 / 22</a:t>
            </a:r>
          </a:p>
        </p:txBody>
      </p:sp>
      <p:sp>
        <p:nvSpPr>
          <p:cNvPr id="4" name="05">
            <a:extLst xmlns:a="http://schemas.openxmlformats.org/drawingml/2006/main">
              <a:ext uri="{FF2B5EF4-FFF2-40B4-BE49-F238E27FC236}">
                <a16:creationId xmlns:a16="http://schemas.microsoft.com/office/drawing/2014/main" id="{3F21D9A4-2BA7-45E4-A9D1-680CCF2274D2}"/>
              </a:ext>
            </a:extLst>
          </p:cNvPr>
          <p:cNvSpPr>
            <a:spLocks xmlns:a="http://schemas.openxmlformats.org/drawingml/2006/main" noGrp="1"/>
          </p:cNvSpPr>
          <p:nvPr/>
        </p:nvSpPr>
        <p:spPr>
          <a:xfrm xmlns:a="http://schemas.openxmlformats.org/drawingml/2006/main">
            <a:off x="952500" y="2095500"/>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300" b="1">
                <a:solidFill>
                  <a:srgbClr val="63E1E8"/>
                </a:solidFill>
                <a:latin typeface="Calibri"/>
                <a:ea typeface="Calibri"/>
                <a:cs typeface="Calibri"/>
              </a:defRPr>
            </a:pPr>
            <a:r>
              <a:rPr sz="6300" b="1">
                <a:solidFill>
                  <a:srgbClr val="63E1E8"/>
                </a:solidFill>
                <a:latin typeface="Calibri"/>
                <a:ea typeface="Calibri"/>
                <a:cs typeface="Calibri"/>
              </a:rPr>
              <a:t>05</a:t>
            </a:r>
          </a:p>
        </p:txBody>
      </p:sp>
      <p:sp>
        <p:nvSpPr>
          <p:cNvPr id="5" name="Conclusion">
            <a:extLst xmlns:a="http://schemas.openxmlformats.org/drawingml/2006/main">
              <a:ext uri="{FF2B5EF4-FFF2-40B4-BE49-F238E27FC236}">
                <a16:creationId xmlns:a16="http://schemas.microsoft.com/office/drawing/2014/main" id="{C4E45DB3-294F-4757-B2EF-DECFA3803AA3}"/>
              </a:ext>
            </a:extLst>
          </p:cNvPr>
          <p:cNvSpPr>
            <a:spLocks xmlns:a="http://schemas.openxmlformats.org/drawingml/2006/main" noGrp="1"/>
          </p:cNvSpPr>
          <p:nvPr/>
        </p:nvSpPr>
        <p:spPr>
          <a:xfrm xmlns:a="http://schemas.openxmlformats.org/drawingml/2006/main">
            <a:off x="952500" y="3476625"/>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700" b="1">
                <a:solidFill>
                  <a:srgbClr val="FFFFFF"/>
                </a:solidFill>
                <a:latin typeface="Calibri"/>
                <a:ea typeface="Calibri"/>
                <a:cs typeface="Calibri"/>
              </a:defRPr>
            </a:pPr>
            <a:r>
              <a:rPr sz="5700" b="1">
                <a:solidFill>
                  <a:srgbClr val="FFFFFF"/>
                </a:solidFill>
                <a:latin typeface="Calibri"/>
                <a:ea typeface="Calibri"/>
                <a:cs typeface="Calibri"/>
              </a:rPr>
              <a:t>Conclusion</a:t>
            </a:r>
          </a:p>
        </p:txBody>
      </p:sp>
      <p:sp>
        <p:nvSpPr>
          <p:cNvPr id="6" name="Un prototype qui relie la qualification du prospect&#10;aux">
            <a:extLst xmlns:a="http://schemas.openxmlformats.org/drawingml/2006/main">
              <a:ext uri="{FF2B5EF4-FFF2-40B4-BE49-F238E27FC236}">
                <a16:creationId xmlns:a16="http://schemas.microsoft.com/office/drawing/2014/main" id="{F8248AF7-3EE3-465E-AC5F-4C13E0096017}"/>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Un prototype qui relie la qualification du prospect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aux communications et aux documents commerciaux</a:t>
            </a:r>
          </a:p>
        </p:txBody>
      </p:sp>
      <p:sp>
        <p:nvSpPr>
          <p:cNvPr id="7" name="Merci pour votre attention">
            <a:extLst xmlns:a="http://schemas.openxmlformats.org/drawingml/2006/main">
              <a:ext uri="{FF2B5EF4-FFF2-40B4-BE49-F238E27FC236}">
                <a16:creationId xmlns:a16="http://schemas.microsoft.com/office/drawing/2014/main" id="{4E64B127-923F-4B6F-BD4F-5D8B1A5E12B6}"/>
              </a:ext>
            </a:extLst>
          </p:cNvPr>
          <p:cNvSpPr>
            <a:spLocks xmlns:a="http://schemas.openxmlformats.org/drawingml/2006/main" noGrp="1"/>
          </p:cNvSpPr>
          <p:nvPr/>
        </p:nvSpPr>
        <p:spPr>
          <a:xfrm xmlns:a="http://schemas.openxmlformats.org/drawingml/2006/main">
            <a:off x="1000125" y="76676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63E1E8"/>
                </a:solidFill>
                <a:latin typeface="Calibri"/>
                <a:ea typeface="Calibri"/>
                <a:cs typeface="Calibri"/>
              </a:defRPr>
            </a:pPr>
            <a:r>
              <a:rPr sz="3300" b="1">
                <a:solidFill>
                  <a:srgbClr val="63E1E8"/>
                </a:solidFill>
                <a:latin typeface="Calibri"/>
                <a:ea typeface="Calibri"/>
                <a:cs typeface="Calibri"/>
              </a:rPr>
              <a:t>Merci pour votre attention</a:t>
            </a:r>
          </a:p>
        </p:txBody>
      </p:sp>
      <p:sp>
        <p:nvSpPr>
          <p:cNvPr id="8" name="Questions et échanges">
            <a:extLst xmlns:a="http://schemas.openxmlformats.org/drawingml/2006/main">
              <a:ext uri="{FF2B5EF4-FFF2-40B4-BE49-F238E27FC236}">
                <a16:creationId xmlns:a16="http://schemas.microsoft.com/office/drawing/2014/main" id="{3A36D068-015C-4044-AB00-7E3FB8C707DE}"/>
              </a:ext>
            </a:extLst>
          </p:cNvPr>
          <p:cNvSpPr>
            <a:spLocks xmlns:a="http://schemas.openxmlformats.org/drawingml/2006/main" noGrp="1"/>
          </p:cNvSpPr>
          <p:nvPr/>
        </p:nvSpPr>
        <p:spPr>
          <a:xfrm xmlns:a="http://schemas.openxmlformats.org/drawingml/2006/main">
            <a:off x="1000125" y="85725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FFFFFF"/>
                </a:solidFill>
                <a:latin typeface="Calibri"/>
                <a:ea typeface="Calibri"/>
                <a:cs typeface="Calibri"/>
              </a:defRPr>
            </a:pPr>
            <a:r>
              <a:rPr sz="2400" b="0">
                <a:solidFill>
                  <a:srgbClr val="FFFFFF"/>
                </a:solidFill>
                <a:latin typeface="Calibri"/>
                <a:ea typeface="Calibri"/>
                <a:cs typeface="Calibri"/>
              </a:rPr>
              <a:t>Questions et échanges</a:t>
            </a:r>
          </a:p>
        </p:txBody>
      </p:sp>
    </p:spTree>
    <p:extLst>
      <p:ext uri="{BB962C8B-B14F-4D97-AF65-F5344CB8AC3E}">
        <p14:creationId xmlns:p14="http://schemas.microsoft.com/office/powerpoint/2010/main" val="17698438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2026-09-17T15:53:28.1200000Z</dcterms:created>
  <dcterms:modified xsi:type="dcterms:W3CDTF">2026-09-17T15:53:28.1200000Z</dcterms:modified>
</coreProperties>
</file>