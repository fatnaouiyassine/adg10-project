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A65A43"/>
            </a:solidFill>
          </c:spPr>
          <c:invertIfNegative val="1"/>
          <c:dLbls>
            <c:spPr>
              <a:noFill/>
              <a:ln>
                <a:noFill/>
              </a:ln>
              <a:effectLst/>
            </c:spPr>
            <c:txPr>
              <a:bodyPr anchorCtr="1"/>
              <a:lstStyle/>
              <a:p>
                <a:pPr>
                  <a:defRPr sz="2250">
                    <a:solidFill>
                      <a:srgbClr val="414548"/>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414548"/>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ACAFA6"/>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414548"/>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414548"/>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F3F0E2"/>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a:p>
            <a:r>
              <a:t>Icône : Lucide, https://lucide.dev/ ; licence ISC. Illustration thématique.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a:p>
            <a:r>
              <a:t>Icône : Lucide, https://lucide.dev/ ; licence ISC. Illustration thématique.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a:p>
            <a:r>
              <a:t>Icône : Lucide, https://lucide.dev/ ; licence ISC. Illustration thématique.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a:p>
            <a:r>
              <a:t>Icône : Lucide, https://lucide.dev/ ; licence ISC. Illustration thématique.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a:p>
            <a:r>
              <a:t>Icône : Lucide, https://lucide.dev/ ; licence ISC. Illustration thématique.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ns0:p xmlns:ns0="http://schemas.openxmlformats.org/drawingml/2006/main">
            <ns0:r>
              <ns0:t>Icône : Lucide, https://lucide.dev/ ; licence ISC. Illustration thématique.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ubject-slid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ubject-slid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ubject-slid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ubject-slid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ResearchBg" Type="http://schemas.openxmlformats.org/officeDocument/2006/relationships/image" Target="../media/research-content.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ubject-slid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 Id="rIdResearchBg" Type="http://schemas.openxmlformats.org/officeDocument/2006/relationships/image" Target="../media/research-content.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 Id="rIdResearchBg" Type="http://schemas.openxmlformats.org/officeDocument/2006/relationships/image" Target="../media/research-hero.png"/><Relationship Id="rIdWorkflowBg" Type="http://schemas.openxmlformats.org/officeDocument/2006/relationships/image" Target="../media/subject-slid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619375"/>
            <a:ext cx="10477500" cy="619125"/>
          </a:xfrm>
          <a:prstGeom prst="rect">
            <a:avLst/>
          </a:prstGeom>
          <a:noFill/>
          <a:ln w="0">
            <a:noFill/>
          </a:ln>
        </p:spPr>
        <p:txBody>
          <a:bodyPr wrap="square" lIns="0" tIns="0" rIns="0" bIns="0" anchor="ctr">
            <a:noAutofit/>
          </a:bodyPr>
          <a:lstStyle/>
          <a:p>
            <a:pPr algn="l">
              <a:defRPr sz="2250" b="1">
                <a:solidFill>
                  <a:srgbClr val="686B67"/>
                </a:solidFill>
                <a:latin typeface="Calibri"/>
                <a:ea typeface="Calibri"/>
                <a:cs typeface="Calibri"/>
              </a:defRPr>
            </a:pPr>
            <a:r>
              <a:rPr sz="2250" b="1">
                <a:solidFill>
                  <a:srgbClr val="686B67"/>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52500" y="3429000"/>
            <a:ext cx="9715500" cy="1571625"/>
          </a:xfrm>
          <a:prstGeom prst="rect">
            <a:avLst/>
          </a:prstGeom>
          <a:noFill/>
          <a:ln w="0">
            <a:noFill/>
          </a:ln>
        </p:spPr>
        <p:txBody>
          <a:bodyPr wrap="square" lIns="0" tIns="0" rIns="0" bIns="0" anchor="ctr">
            <a:noAutofit/>
          </a:bodyPr>
          <a:lstStyle/>
          <a:p>
            <a:pPr algn="l">
              <a:defRPr sz="10200" b="1">
                <a:solidFill>
                  <a:srgbClr val="414548"/>
                </a:solidFill>
                <a:latin typeface="Calibri"/>
                <a:ea typeface="Calibri"/>
                <a:cs typeface="Calibri"/>
              </a:defRPr>
            </a:pPr>
            <a:r>
              <a:rPr sz="10200" b="1">
                <a:solidFill>
                  <a:srgbClr val="414548"/>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5095875"/>
            <a:ext cx="10287000" cy="1571625"/>
          </a:xfrm>
          <a:prstGeom prst="rect">
            <a:avLst/>
          </a:prstGeom>
          <a:noFill/>
          <a:ln w="0">
            <a:noFill/>
          </a:ln>
        </p:spPr>
        <p:txBody>
          <a:bodyPr wrap="square" lIns="0" tIns="0" rIns="0" bIns="0" anchor="ctr">
            <a:noAutofit/>
          </a:bodyPr>
          <a:lstStyle/>
          <a:p>
            <a:pPr algn="l">
              <a:defRPr sz="4500" b="1">
                <a:solidFill>
                  <a:srgbClr val="414548"/>
                </a:solidFill>
                <a:latin typeface="Calibri"/>
                <a:ea typeface="Calibri"/>
                <a:cs typeface="Calibri"/>
              </a:defRPr>
            </a:pPr>
            <a:r>
              <a:rPr sz="4500" b="1">
                <a:solidFill>
                  <a:srgbClr val="414548"/>
                </a:solidFill>
                <a:latin typeface="Calibri"/>
                <a:ea typeface="Calibri"/>
                <a:cs typeface="Calibri"/>
              </a:rPr>
              <a:t>Automatisation du cycle</a:t>
            </a:r>
          </a:p>
          <a:p>
            <a:pPr algn="l">
              <a:defRPr sz="4500" b="1">
                <a:solidFill>
                  <a:srgbClr val="414548"/>
                </a:solidFill>
                <a:latin typeface="Calibri"/>
                <a:ea typeface="Calibri"/>
                <a:cs typeface="Calibri"/>
              </a:defRPr>
            </a:pPr>
            <a:r>
              <a:rPr sz="4500" b="1">
                <a:solidFill>
                  <a:srgbClr val="414548"/>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239000"/>
            <a:ext cx="10382250" cy="952500"/>
          </a:xfrm>
          <a:prstGeom prst="rect">
            <a:avLst/>
          </a:prstGeom>
          <a:noFill/>
          <a:ln w="0">
            <a:noFill/>
          </a:ln>
        </p:spPr>
        <p:txBody>
          <a:bodyPr wrap="square" lIns="0" tIns="0" rIns="0" bIns="0" anchor="ctr">
            <a:noAutofit/>
          </a:bodyPr>
          <a:lstStyle/>
          <a:p>
            <a:pPr algn="l">
              <a:defRPr sz="2475" b="0">
                <a:solidFill>
                  <a:srgbClr val="414548"/>
                </a:solidFill>
                <a:latin typeface="Calibri"/>
                <a:ea typeface="Calibri"/>
                <a:cs typeface="Calibri"/>
              </a:defRPr>
            </a:pPr>
            <a:r>
              <a:rPr sz="2475" b="0" dirty="0" err="1">
                <a:solidFill>
                  <a:srgbClr val="414548"/>
                </a:solidFill>
                <a:latin typeface="Calibri"/>
                <a:ea typeface="Calibri"/>
                <a:cs typeface="Calibri"/>
              </a:rPr>
              <a:t>Présenté</a:t>
            </a:r>
            <a:r>
              <a:rPr sz="2475" b="0" dirty="0">
                <a:solidFill>
                  <a:srgbClr val="414548"/>
                </a:solidFill>
                <a:latin typeface="Calibri"/>
                <a:ea typeface="Calibri"/>
                <a:cs typeface="Calibri"/>
              </a:rPr>
              <a:t> par </a:t>
            </a:r>
            <a:r>
              <a:rPr lang="en-GB" sz="2475" b="0" dirty="0">
                <a:solidFill>
                  <a:srgbClr val="414548"/>
                </a:solidFill>
                <a:latin typeface="Calibri"/>
                <a:ea typeface="Calibri"/>
                <a:cs typeface="Calibri"/>
              </a:rPr>
              <a:t>:</a:t>
            </a:r>
          </a:p>
          <a:p>
            <a:pPr algn="l">
              <a:defRPr sz="2475" b="0">
                <a:solidFill>
                  <a:srgbClr val="414548"/>
                </a:solidFill>
                <a:latin typeface="Calibri"/>
                <a:ea typeface="Calibri"/>
                <a:cs typeface="Calibri"/>
              </a:defRPr>
            </a:pPr>
            <a:r>
              <a:rPr sz="2475" b="0" dirty="0">
                <a:solidFill>
                  <a:srgbClr val="414548"/>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191500"/>
            <a:ext cx="10382250" cy="1190625"/>
          </a:xfrm>
          <a:prstGeom prst="rect">
            <a:avLst/>
          </a:prstGeom>
          <a:noFill/>
          <a:ln w="0">
            <a:noFill/>
          </a:ln>
        </p:spPr>
        <p:txBody>
          <a:bodyPr wrap="square" lIns="0" tIns="0" rIns="0" bIns="0" anchor="ctr">
            <a:noAutofit/>
          </a:bodyPr>
          <a:lstStyle/>
          <a:p>
            <a:pPr lvl="0"/>
            <a:r>
              <a:rPr lang="fr-FR" sz="2180" dirty="0">
                <a:solidFill>
                  <a:srgbClr val="414548"/>
                </a:solidFill>
              </a:rPr>
              <a:t>Encadré par :</a:t>
            </a:r>
            <a:endParaRPr lang="en-GB" sz="2180" dirty="0">
              <a:solidFill>
                <a:srgbClr val="414548"/>
              </a:solidFill>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AZOUGUIGH El </a:t>
            </a:r>
            <a:r>
              <a:rPr sz="2175" b="0" dirty="0" err="1">
                <a:solidFill>
                  <a:srgbClr val="414548"/>
                </a:solidFill>
                <a:latin typeface="Calibri"/>
                <a:ea typeface="Calibri"/>
                <a:cs typeface="Calibri"/>
              </a:rPr>
              <a:t>Houssaine</a:t>
            </a:r>
            <a:endParaRPr sz="2175" b="0" dirty="0">
              <a:solidFill>
                <a:srgbClr val="414548"/>
              </a:solidFill>
              <a:latin typeface="Calibri"/>
              <a:ea typeface="Calibri"/>
              <a:cs typeface="Calibri"/>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696450"/>
            <a:ext cx="8572500" cy="323850"/>
          </a:xfrm>
          <a:prstGeom prst="rect">
            <a:avLst/>
          </a:prstGeom>
          <a:noFill/>
          <a:ln w="0">
            <a:noFill/>
          </a:ln>
        </p:spPr>
        <p:txBody>
          <a:bodyPr wrap="square" lIns="0" tIns="0" rIns="0" bIns="0" anchor="ctr">
            <a:noAutofit/>
          </a:bodyPr>
          <a:lstStyle/>
          <a:p>
            <a:pPr algn="l">
              <a:defRPr sz="1650" b="0">
                <a:solidFill>
                  <a:srgbClr val="686B67"/>
                </a:solidFill>
                <a:latin typeface="Calibri"/>
                <a:ea typeface="Calibri"/>
                <a:cs typeface="Calibri"/>
              </a:defRPr>
            </a:pPr>
            <a:r>
              <a:rPr sz="1650" b="0">
                <a:solidFill>
                  <a:srgbClr val="686B67"/>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381125"/>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1381125"/>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414548"/>
                </a:solidFill>
                <a:latin typeface="Calibri"/>
                <a:ea typeface="Calibri"/>
                <a:cs typeface="Calibri"/>
              </a:defRPr>
            </a:pPr>
            <a:r>
              <a:rPr sz="5250" b="1">
                <a:solidFill>
                  <a:srgbClr val="414548"/>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2047875" y="3905250"/>
            <a:ext cx="1143000" cy="11430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11906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5305425" y="3905250"/>
            <a:ext cx="1143000" cy="1143000"/>
          </a:xfrm>
          <a:prstGeom prst="ellipse">
            <a:avLst/>
          </a:prstGeom>
          <a:solidFill>
            <a:srgbClr val="A65A43"/>
          </a:solidFill>
          <a:ln w="19050">
            <a:solidFill>
              <a:srgbClr val="A65A43"/>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444817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8562975" y="3905250"/>
            <a:ext cx="1143000" cy="1143000"/>
          </a:xfrm>
          <a:prstGeom prst="ellipse">
            <a:avLst/>
          </a:prstGeom>
          <a:solidFill>
            <a:srgbClr val="414548"/>
          </a:solidFill>
          <a:ln w="19050">
            <a:solidFill>
              <a:srgbClr val="414548"/>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77057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1820525" y="3905250"/>
            <a:ext cx="1143000" cy="1143000"/>
          </a:xfrm>
          <a:prstGeom prst="ellipse">
            <a:avLst/>
          </a:prstGeom>
          <a:solidFill>
            <a:srgbClr val="A47A3E"/>
          </a:solidFill>
          <a:ln w="19050">
            <a:solidFill>
              <a:srgbClr val="A47A3E"/>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1096327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5078075" y="3905250"/>
            <a:ext cx="1143000" cy="11430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142208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Comment assurer un suivi cohérent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1428750" y="3286125"/>
            <a:ext cx="952500" cy="952500"/>
          </a:xfrm>
          <a:prstGeom prst="ellipse">
            <a:avLst/>
          </a:prstGeom>
          <a:solidFill>
            <a:srgbClr val="5D818B"/>
          </a:solidFill>
          <a:ln w="19050">
            <a:solidFill>
              <a:srgbClr val="5D818B"/>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2952750" y="30003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ADBCENTER LOGISPLAN, dans l’environnement</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428750" y="5095875"/>
            <a:ext cx="952500" cy="952500"/>
          </a:xfrm>
          <a:prstGeom prst="ellipse">
            <a:avLst/>
          </a:prstGeom>
          <a:solidFill>
            <a:srgbClr val="A65A43"/>
          </a:solidFill>
          <a:ln w="19050">
            <a:solidFill>
              <a:srgbClr val="A65A43"/>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2952750" y="481012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Activité : formation et accompagnement professionnel</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1428750" y="6905625"/>
            <a:ext cx="952500" cy="952500"/>
          </a:xfrm>
          <a:prstGeom prst="ellipse">
            <a:avLst/>
          </a:prstGeom>
          <a:solidFill>
            <a:srgbClr val="414548"/>
          </a:solidFill>
          <a:ln w="19050">
            <a:solidFill>
              <a:srgbClr val="414548"/>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2952750" y="66198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Besoin : retrouver les informations du prospect et</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Contexte général</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Des tâches répétitives à structurer</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dirty="0" err="1">
                <a:solidFill>
                  <a:srgbClr val="414548"/>
                </a:solidFill>
                <a:latin typeface="Calibri"/>
                <a:ea typeface="Calibri"/>
                <a:cs typeface="Calibri"/>
              </a:rPr>
              <a:t>Problématique</a:t>
            </a:r>
            <a:r>
              <a:rPr lang="en-GB" sz="4650" b="1" dirty="0">
                <a:solidFill>
                  <a:srgbClr val="414548"/>
                </a:solidFill>
                <a:latin typeface="Calibri"/>
                <a:ea typeface="Calibri"/>
                <a:cs typeface="Calibri"/>
              </a:rPr>
              <a:t>s</a:t>
            </a:r>
            <a:endParaRPr sz="4650" b="1" dirty="0">
              <a:solidFill>
                <a:srgbClr val="414548"/>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1428750" y="3286125"/>
            <a:ext cx="952500" cy="952500"/>
          </a:xfrm>
          <a:prstGeom prst="ellipse">
            <a:avLst/>
          </a:prstGeom>
          <a:solidFill>
            <a:srgbClr val="5D818B"/>
          </a:solidFill>
          <a:ln w="19050">
            <a:solidFill>
              <a:srgbClr val="5D818B"/>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2952750" y="30003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Des informations réparties entre le CRM,</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428750" y="5095875"/>
            <a:ext cx="952500" cy="952500"/>
          </a:xfrm>
          <a:prstGeom prst="ellipse">
            <a:avLst/>
          </a:prstGeom>
          <a:solidFill>
            <a:srgbClr val="A65A43"/>
          </a:solidFill>
          <a:ln w="19050">
            <a:solidFill>
              <a:srgbClr val="A65A43"/>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2952750" y="481012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Des relances difficiles à suivre et un risque</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1428750" y="6905625"/>
            <a:ext cx="952500" cy="952500"/>
          </a:xfrm>
          <a:prstGeom prst="ellipse">
            <a:avLst/>
          </a:prstGeom>
          <a:solidFill>
            <a:srgbClr val="414548"/>
          </a:solidFill>
          <a:ln w="19050">
            <a:solidFill>
              <a:srgbClr val="414548"/>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2952750" y="66198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Comment fiabiliser le parcours sans perdre</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2286000" y="3524250"/>
            <a:ext cx="1333500" cy="13335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095375"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6334125" y="3524250"/>
            <a:ext cx="1333500" cy="1333500"/>
          </a:xfrm>
          <a:prstGeom prst="ellipse">
            <a:avLst/>
          </a:prstGeom>
          <a:solidFill>
            <a:srgbClr val="A65A43"/>
          </a:solidFill>
          <a:ln w="19050">
            <a:solidFill>
              <a:srgbClr val="A65A43"/>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5143500"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0382250" y="3524250"/>
            <a:ext cx="1333500" cy="1333500"/>
          </a:xfrm>
          <a:prstGeom prst="ellipse">
            <a:avLst/>
          </a:prstGeom>
          <a:solidFill>
            <a:srgbClr val="414548"/>
          </a:solidFill>
          <a:ln w="19050">
            <a:solidFill>
              <a:srgbClr val="414548"/>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9191625"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4430375" y="3524250"/>
            <a:ext cx="1333500" cy="1333500"/>
          </a:xfrm>
          <a:prstGeom prst="ellipse">
            <a:avLst/>
          </a:prstGeom>
          <a:solidFill>
            <a:srgbClr val="A47A3E"/>
          </a:solidFill>
          <a:ln w="19050">
            <a:solidFill>
              <a:srgbClr val="A47A3E"/>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3239750"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F3F0E2"/>
                          </a:solidFill>
                          <a:latin typeface="Calibri"/>
                          <a:ea typeface="Calibri"/>
                          <a:cs typeface="Calibri"/>
                        </a:rPr>
                        <a:t>Phase</a:t>
                      </a:r>
                    </a:p>
                  </a:txBody>
                  <a:tcPr anchor="ctr">
                    <a:solidFill>
                      <a:srgbClr val="5D818B"/>
                    </a:solidFill>
                  </a:tcPr>
                </a:tc>
                <a:tc>
                  <a:txBody>
                    <a:bodyPr/>
                    <a:lstStyle/>
                    <a:p>
                      <a:pPr algn="ctr"/>
                      <a:r>
                        <a:rPr sz="2700" b="1">
                          <a:solidFill>
                            <a:srgbClr val="F3F0E2"/>
                          </a:solidFill>
                          <a:latin typeface="Calibri"/>
                          <a:ea typeface="Calibri"/>
                          <a:cs typeface="Calibri"/>
                        </a:rPr>
                        <a:t>Travaux</a:t>
                      </a:r>
                    </a:p>
                  </a:txBody>
                  <a:tcPr anchor="ctr">
                    <a:solidFill>
                      <a:srgbClr val="5D818B"/>
                    </a:solidFill>
                  </a:tcPr>
                </a:tc>
                <a:tc>
                  <a:txBody>
                    <a:bodyPr/>
                    <a:lstStyle/>
                    <a:p>
                      <a:pPr algn="ctr"/>
                      <a:r>
                        <a:rPr sz="2700" b="1">
                          <a:solidFill>
                            <a:srgbClr val="F3F0E2"/>
                          </a:solidFill>
                          <a:latin typeface="Calibri"/>
                          <a:ea typeface="Calibri"/>
                          <a:cs typeface="Calibri"/>
                        </a:rPr>
                        <a:t>Livrable</a:t>
                      </a:r>
                    </a:p>
                  </a:txBody>
                  <a:tcPr anchor="ctr">
                    <a:solidFill>
                      <a:srgbClr val="5D818B"/>
                    </a:solidFill>
                  </a:tcPr>
                </a:tc>
                <a:extLst>
                  <a:ext uri="{0D108BD9-81ED-4DB2-BD59-A6C34878D82A}">
                    <a16:rowId xmlns:a16="http://schemas.microsoft.com/office/drawing/2014/main" val="10000"/>
                  </a:ext>
                </a:extLst>
              </a:tr>
              <a:tr h="895350">
                <a:tc>
                  <a:txBody>
                    <a:bodyPr/>
                    <a:lstStyle/>
                    <a:p>
                      <a:pPr algn="ctr"/>
                      <a:r>
                        <a:rPr sz="2700" b="0">
                          <a:solidFill>
                            <a:srgbClr val="414548"/>
                          </a:solidFill>
                          <a:latin typeface="Calibri"/>
                          <a:ea typeface="Calibri"/>
                          <a:cs typeface="Calibri"/>
                        </a:rPr>
                        <a:t>Cadrage</a:t>
                      </a:r>
                    </a:p>
                  </a:txBody>
                  <a:tcPr anchor="ctr">
                    <a:solidFill>
                      <a:srgbClr val="E1E5DD"/>
                    </a:solidFill>
                  </a:tcPr>
                </a:tc>
                <a:tc>
                  <a:txBody>
                    <a:bodyPr/>
                    <a:lstStyle/>
                    <a:p>
                      <a:pPr algn="ctr"/>
                      <a:r>
                        <a:rPr sz="2700" b="0">
                          <a:solidFill>
                            <a:srgbClr val="414548"/>
                          </a:solidFill>
                          <a:latin typeface="Calibri"/>
                          <a:ea typeface="Calibri"/>
                          <a:cs typeface="Calibri"/>
                        </a:rPr>
                        <a:t>Parcours commercial et besoins</a:t>
                      </a:r>
                    </a:p>
                  </a:txBody>
                  <a:tcPr anchor="ctr">
                    <a:solidFill>
                      <a:srgbClr val="E1E5DD"/>
                    </a:solidFill>
                  </a:tcPr>
                </a:tc>
                <a:tc>
                  <a:txBody>
                    <a:bodyPr/>
                    <a:lstStyle/>
                    <a:p>
                      <a:pPr algn="ctr"/>
                      <a:r>
                        <a:rPr sz="2700" b="0">
                          <a:solidFill>
                            <a:srgbClr val="414548"/>
                          </a:solidFill>
                          <a:latin typeface="Calibri"/>
                          <a:ea typeface="Calibri"/>
                          <a:cs typeface="Calibri"/>
                        </a:rPr>
                        <a:t>Périmètre E1 à E8</a:t>
                      </a:r>
                    </a:p>
                  </a:txBody>
                  <a:tcPr anchor="ctr">
                    <a:solidFill>
                      <a:srgbClr val="E1E5DD"/>
                    </a:solidFill>
                  </a:tcPr>
                </a:tc>
                <a:extLst>
                  <a:ext uri="{0D108BD9-81ED-4DB2-BD59-A6C34878D82A}">
                    <a16:rowId xmlns:a16="http://schemas.microsoft.com/office/drawing/2014/main" val="10001"/>
                  </a:ext>
                </a:extLst>
              </a:tr>
              <a:tr h="895350">
                <a:tc>
                  <a:txBody>
                    <a:bodyPr/>
                    <a:lstStyle/>
                    <a:p>
                      <a:pPr algn="ctr"/>
                      <a:r>
                        <a:rPr sz="2700" b="0">
                          <a:solidFill>
                            <a:srgbClr val="414548"/>
                          </a:solidFill>
                          <a:latin typeface="Calibri"/>
                          <a:ea typeface="Calibri"/>
                          <a:cs typeface="Calibri"/>
                        </a:rPr>
                        <a:t>Conception</a:t>
                      </a:r>
                    </a:p>
                  </a:txBody>
                  <a:tcPr anchor="ctr">
                    <a:solidFill>
                      <a:srgbClr val="ECEBDD"/>
                    </a:solidFill>
                  </a:tcPr>
                </a:tc>
                <a:tc>
                  <a:txBody>
                    <a:bodyPr/>
                    <a:lstStyle/>
                    <a:p>
                      <a:pPr algn="ctr"/>
                      <a:r>
                        <a:rPr sz="2700" b="0">
                          <a:solidFill>
                            <a:srgbClr val="414548"/>
                          </a:solidFill>
                          <a:latin typeface="Calibri"/>
                          <a:ea typeface="Calibri"/>
                          <a:cs typeface="Calibri"/>
                        </a:rPr>
                        <a:t>Données, règles et interactions</a:t>
                      </a:r>
                    </a:p>
                  </a:txBody>
                  <a:tcPr anchor="ctr">
                    <a:solidFill>
                      <a:srgbClr val="ECEBDD"/>
                    </a:solidFill>
                  </a:tcPr>
                </a:tc>
                <a:tc>
                  <a:txBody>
                    <a:bodyPr/>
                    <a:lstStyle/>
                    <a:p>
                      <a:pPr algn="ctr"/>
                      <a:r>
                        <a:rPr sz="2700" b="0">
                          <a:solidFill>
                            <a:srgbClr val="414548"/>
                          </a:solidFill>
                          <a:latin typeface="Calibri"/>
                          <a:ea typeface="Calibri"/>
                          <a:cs typeface="Calibri"/>
                        </a:rPr>
                        <a:t>Modèles et scénarios</a:t>
                      </a:r>
                    </a:p>
                  </a:txBody>
                  <a:tcPr anchor="ctr">
                    <a:solidFill>
                      <a:srgbClr val="ECEBDD"/>
                    </a:solidFill>
                  </a:tcPr>
                </a:tc>
                <a:extLst>
                  <a:ext uri="{0D108BD9-81ED-4DB2-BD59-A6C34878D82A}">
                    <a16:rowId xmlns:a16="http://schemas.microsoft.com/office/drawing/2014/main" val="10002"/>
                  </a:ext>
                </a:extLst>
              </a:tr>
              <a:tr h="895350">
                <a:tc>
                  <a:txBody>
                    <a:bodyPr/>
                    <a:lstStyle/>
                    <a:p>
                      <a:pPr algn="ctr"/>
                      <a:r>
                        <a:rPr sz="2700" b="0">
                          <a:solidFill>
                            <a:srgbClr val="414548"/>
                          </a:solidFill>
                          <a:latin typeface="Calibri"/>
                          <a:ea typeface="Calibri"/>
                          <a:cs typeface="Calibri"/>
                        </a:rPr>
                        <a:t>Réalisation</a:t>
                      </a:r>
                    </a:p>
                  </a:txBody>
                  <a:tcPr anchor="ctr">
                    <a:solidFill>
                      <a:srgbClr val="E1E5DD"/>
                    </a:solidFill>
                  </a:tcPr>
                </a:tc>
                <a:tc>
                  <a:txBody>
                    <a:bodyPr/>
                    <a:lstStyle/>
                    <a:p>
                      <a:pPr algn="ctr"/>
                      <a:r>
                        <a:rPr sz="2700" b="0">
                          <a:solidFill>
                            <a:srgbClr val="414548"/>
                          </a:solidFill>
                          <a:latin typeface="Calibri"/>
                          <a:ea typeface="Calibri"/>
                          <a:cs typeface="Calibri"/>
                        </a:rPr>
                        <a:t>Scripts, documents et interface</a:t>
                      </a:r>
                    </a:p>
                  </a:txBody>
                  <a:tcPr anchor="ctr">
                    <a:solidFill>
                      <a:srgbClr val="E1E5DD"/>
                    </a:solidFill>
                  </a:tcPr>
                </a:tc>
                <a:tc>
                  <a:txBody>
                    <a:bodyPr/>
                    <a:lstStyle/>
                    <a:p>
                      <a:pPr algn="ctr"/>
                      <a:r>
                        <a:rPr sz="2700" b="0">
                          <a:solidFill>
                            <a:srgbClr val="414548"/>
                          </a:solidFill>
                          <a:latin typeface="Calibri"/>
                          <a:ea typeface="Calibri"/>
                          <a:cs typeface="Calibri"/>
                        </a:rPr>
                        <a:t>Prototype intégré</a:t>
                      </a:r>
                    </a:p>
                  </a:txBody>
                  <a:tcPr anchor="ctr">
                    <a:solidFill>
                      <a:srgbClr val="E1E5DD"/>
                    </a:solidFill>
                  </a:tcPr>
                </a:tc>
                <a:extLst>
                  <a:ext uri="{0D108BD9-81ED-4DB2-BD59-A6C34878D82A}">
                    <a16:rowId xmlns:a16="http://schemas.microsoft.com/office/drawing/2014/main" val="10003"/>
                  </a:ext>
                </a:extLst>
              </a:tr>
              <a:tr h="895350">
                <a:tc>
                  <a:txBody>
                    <a:bodyPr/>
                    <a:lstStyle/>
                    <a:p>
                      <a:pPr algn="ctr"/>
                      <a:r>
                        <a:rPr sz="2700" b="0">
                          <a:solidFill>
                            <a:srgbClr val="414548"/>
                          </a:solidFill>
                          <a:latin typeface="Calibri"/>
                          <a:ea typeface="Calibri"/>
                          <a:cs typeface="Calibri"/>
                        </a:rPr>
                        <a:t>Validation</a:t>
                      </a:r>
                    </a:p>
                  </a:txBody>
                  <a:tcPr anchor="ctr">
                    <a:solidFill>
                      <a:srgbClr val="ECEBDD"/>
                    </a:solidFill>
                  </a:tcPr>
                </a:tc>
                <a:tc>
                  <a:txBody>
                    <a:bodyPr/>
                    <a:lstStyle/>
                    <a:p>
                      <a:pPr algn="ctr"/>
                      <a:r>
                        <a:rPr sz="2700" b="0">
                          <a:solidFill>
                            <a:srgbClr val="414548"/>
                          </a:solidFill>
                          <a:latin typeface="Calibri"/>
                          <a:ea typeface="Calibri"/>
                          <a:cs typeface="Calibri"/>
                        </a:rPr>
                        <a:t>Tests locaux et démonstration</a:t>
                      </a:r>
                    </a:p>
                  </a:txBody>
                  <a:tcPr anchor="ctr">
                    <a:solidFill>
                      <a:srgbClr val="ECEBDD"/>
                    </a:solidFill>
                  </a:tcPr>
                </a:tc>
                <a:tc>
                  <a:txBody>
                    <a:bodyPr/>
                    <a:lstStyle/>
                    <a:p>
                      <a:pPr algn="ctr"/>
                      <a:r>
                        <a:rPr sz="2700" b="0" dirty="0" err="1">
                          <a:solidFill>
                            <a:srgbClr val="414548"/>
                          </a:solidFill>
                          <a:latin typeface="Calibri"/>
                          <a:ea typeface="Calibri"/>
                          <a:cs typeface="Calibri"/>
                        </a:rPr>
                        <a:t>Résultats</a:t>
                      </a:r>
                      <a:r>
                        <a:rPr sz="2700" b="0" dirty="0">
                          <a:solidFill>
                            <a:srgbClr val="414548"/>
                          </a:solidFill>
                          <a:latin typeface="Calibri"/>
                          <a:ea typeface="Calibri"/>
                          <a:cs typeface="Calibri"/>
                        </a:rPr>
                        <a:t> et </a:t>
                      </a:r>
                      <a:r>
                        <a:rPr sz="2700" b="0" dirty="0" err="1">
                          <a:solidFill>
                            <a:srgbClr val="414548"/>
                          </a:solidFill>
                          <a:latin typeface="Calibri"/>
                          <a:ea typeface="Calibri"/>
                          <a:cs typeface="Calibri"/>
                        </a:rPr>
                        <a:t>limites</a:t>
                      </a:r>
                      <a:endParaRPr sz="2700" b="0" dirty="0">
                        <a:solidFill>
                          <a:srgbClr val="414548"/>
                        </a:solidFill>
                        <a:latin typeface="Calibri"/>
                        <a:ea typeface="Calibri"/>
                        <a:cs typeface="Calibri"/>
                      </a:endParaRPr>
                    </a:p>
                  </a:txBody>
                  <a:tcPr anchor="ctr">
                    <a:solidFill>
                      <a:srgbClr val="ECEBDD"/>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Étude conceptuelle</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 parcours commercial, les acteurs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F3F0E2"/>
                          </a:solidFill>
                          <a:latin typeface="Calibri"/>
                          <a:ea typeface="Calibri"/>
                          <a:cs typeface="Calibri"/>
                        </a:rPr>
                        <a:t>Étape</a:t>
                      </a:r>
                    </a:p>
                  </a:txBody>
                  <a:tcPr anchor="ctr">
                    <a:solidFill>
                      <a:srgbClr val="5D818B"/>
                    </a:solidFill>
                  </a:tcPr>
                </a:tc>
                <a:tc>
                  <a:txBody>
                    <a:bodyPr/>
                    <a:lstStyle/>
                    <a:p>
                      <a:pPr algn="ctr"/>
                      <a:r>
                        <a:rPr sz="2550" b="1">
                          <a:solidFill>
                            <a:srgbClr val="F3F0E2"/>
                          </a:solidFill>
                          <a:latin typeface="Calibri"/>
                          <a:ea typeface="Calibri"/>
                          <a:cs typeface="Calibri"/>
                        </a:rPr>
                        <a:t>Fonction</a:t>
                      </a:r>
                    </a:p>
                  </a:txBody>
                  <a:tcPr anchor="ctr">
                    <a:solidFill>
                      <a:srgbClr val="5D818B"/>
                    </a:solidFill>
                  </a:tcPr>
                </a:tc>
                <a:tc>
                  <a:txBody>
                    <a:bodyPr/>
                    <a:lstStyle/>
                    <a:p>
                      <a:pPr algn="ctr"/>
                      <a:r>
                        <a:rPr sz="2550" b="1">
                          <a:solidFill>
                            <a:srgbClr val="F3F0E2"/>
                          </a:solidFill>
                          <a:latin typeface="Calibri"/>
                          <a:ea typeface="Calibri"/>
                          <a:cs typeface="Calibri"/>
                        </a:rPr>
                        <a:t>État dans le prototype</a:t>
                      </a:r>
                    </a:p>
                  </a:txBody>
                  <a:tcPr anchor="ctr">
                    <a:solidFill>
                      <a:srgbClr val="5D818B"/>
                    </a:solidFill>
                  </a:tcPr>
                </a:tc>
                <a:extLst>
                  <a:ext uri="{0D108BD9-81ED-4DB2-BD59-A6C34878D82A}">
                    <a16:rowId xmlns:a16="http://schemas.microsoft.com/office/drawing/2014/main" val="10000"/>
                  </a:ext>
                </a:extLst>
              </a:tr>
              <a:tr h="833438">
                <a:tc>
                  <a:txBody>
                    <a:bodyPr/>
                    <a:lstStyle/>
                    <a:p>
                      <a:pPr algn="ctr"/>
                      <a:r>
                        <a:rPr sz="2550" b="0">
                          <a:solidFill>
                            <a:srgbClr val="414548"/>
                          </a:solidFill>
                          <a:latin typeface="Calibri"/>
                          <a:ea typeface="Calibri"/>
                          <a:cs typeface="Calibri"/>
                        </a:rPr>
                        <a:t>E1 / E2</a:t>
                      </a:r>
                    </a:p>
                  </a:txBody>
                  <a:tcPr anchor="ctr">
                    <a:solidFill>
                      <a:srgbClr val="E1E5DD"/>
                    </a:solidFill>
                  </a:tcPr>
                </a:tc>
                <a:tc>
                  <a:txBody>
                    <a:bodyPr/>
                    <a:lstStyle/>
                    <a:p>
                      <a:pPr algn="ctr"/>
                      <a:r>
                        <a:rPr sz="2550" b="0">
                          <a:solidFill>
                            <a:srgbClr val="414548"/>
                          </a:solidFill>
                          <a:latin typeface="Calibri"/>
                          <a:ea typeface="Calibri"/>
                          <a:cs typeface="Calibri"/>
                        </a:rPr>
                        <a:t>Contenu IA et textes LinkedIn / WhatsApp</a:t>
                      </a:r>
                    </a:p>
                  </a:txBody>
                  <a:tcPr anchor="ctr">
                    <a:solidFill>
                      <a:srgbClr val="E1E5DD"/>
                    </a:solidFill>
                  </a:tcPr>
                </a:tc>
                <a:tc>
                  <a:txBody>
                    <a:bodyPr/>
                    <a:lstStyle/>
                    <a:p>
                      <a:pPr algn="ctr"/>
                      <a:r>
                        <a:rPr sz="2550" b="0">
                          <a:solidFill>
                            <a:srgbClr val="414548"/>
                          </a:solidFill>
                          <a:latin typeface="Calibri"/>
                          <a:ea typeface="Calibri"/>
                          <a:cs typeface="Calibri"/>
                        </a:rPr>
                        <a:t>Génération disponible</a:t>
                      </a:r>
                    </a:p>
                  </a:txBody>
                  <a:tcPr anchor="ctr">
                    <a:solidFill>
                      <a:srgbClr val="E1E5DD"/>
                    </a:solidFill>
                  </a:tcPr>
                </a:tc>
                <a:extLst>
                  <a:ext uri="{0D108BD9-81ED-4DB2-BD59-A6C34878D82A}">
                    <a16:rowId xmlns:a16="http://schemas.microsoft.com/office/drawing/2014/main" val="10001"/>
                  </a:ext>
                </a:extLst>
              </a:tr>
              <a:tr h="833438">
                <a:tc>
                  <a:txBody>
                    <a:bodyPr/>
                    <a:lstStyle/>
                    <a:p>
                      <a:pPr algn="ctr"/>
                      <a:r>
                        <a:rPr sz="2550" b="0">
                          <a:solidFill>
                            <a:srgbClr val="414548"/>
                          </a:solidFill>
                          <a:latin typeface="Calibri"/>
                          <a:ea typeface="Calibri"/>
                          <a:cs typeface="Calibri"/>
                        </a:rPr>
                        <a:t>E3</a:t>
                      </a:r>
                    </a:p>
                  </a:txBody>
                  <a:tcPr anchor="ctr">
                    <a:solidFill>
                      <a:srgbClr val="ECEBDD"/>
                    </a:solidFill>
                  </a:tcPr>
                </a:tc>
                <a:tc>
                  <a:txBody>
                    <a:bodyPr/>
                    <a:lstStyle/>
                    <a:p>
                      <a:pPr algn="ctr"/>
                      <a:r>
                        <a:rPr sz="2550" b="0">
                          <a:solidFill>
                            <a:srgbClr val="414548"/>
                          </a:solidFill>
                          <a:latin typeface="Calibri"/>
                          <a:ea typeface="Calibri"/>
                          <a:cs typeface="Calibri"/>
                        </a:rPr>
                        <a:t>Publication sociale</a:t>
                      </a:r>
                    </a:p>
                  </a:txBody>
                  <a:tcPr anchor="ctr">
                    <a:solidFill>
                      <a:srgbClr val="ECEBDD"/>
                    </a:solidFill>
                  </a:tcPr>
                </a:tc>
                <a:tc>
                  <a:txBody>
                    <a:bodyPr/>
                    <a:lstStyle/>
                    <a:p>
                      <a:pPr algn="ctr"/>
                      <a:r>
                        <a:rPr sz="2550" b="0">
                          <a:solidFill>
                            <a:srgbClr val="414548"/>
                          </a:solidFill>
                          <a:latin typeface="Calibri"/>
                          <a:ea typeface="Calibri"/>
                          <a:cs typeface="Calibri"/>
                        </a:rPr>
                        <a:t>À développer</a:t>
                      </a:r>
                    </a:p>
                  </a:txBody>
                  <a:tcPr anchor="ctr">
                    <a:solidFill>
                      <a:srgbClr val="ECEBDD"/>
                    </a:solidFill>
                  </a:tcPr>
                </a:tc>
                <a:extLst>
                  <a:ext uri="{0D108BD9-81ED-4DB2-BD59-A6C34878D82A}">
                    <a16:rowId xmlns:a16="http://schemas.microsoft.com/office/drawing/2014/main" val="10002"/>
                  </a:ext>
                </a:extLst>
              </a:tr>
              <a:tr h="833438">
                <a:tc>
                  <a:txBody>
                    <a:bodyPr/>
                    <a:lstStyle/>
                    <a:p>
                      <a:pPr algn="ctr"/>
                      <a:r>
                        <a:rPr sz="2550" b="0">
                          <a:solidFill>
                            <a:srgbClr val="414548"/>
                          </a:solidFill>
                          <a:latin typeface="Calibri"/>
                          <a:ea typeface="Calibri"/>
                          <a:cs typeface="Calibri"/>
                        </a:rPr>
                        <a:t>E4 / E5</a:t>
                      </a:r>
                    </a:p>
                  </a:txBody>
                  <a:tcPr anchor="ctr">
                    <a:solidFill>
                      <a:srgbClr val="E1E5DD"/>
                    </a:solidFill>
                  </a:tcPr>
                </a:tc>
                <a:tc>
                  <a:txBody>
                    <a:bodyPr/>
                    <a:lstStyle/>
                    <a:p>
                      <a:pPr algn="ctr"/>
                      <a:r>
                        <a:rPr sz="2550" b="0">
                          <a:solidFill>
                            <a:srgbClr val="414548"/>
                          </a:solidFill>
                          <a:latin typeface="Calibri"/>
                          <a:ea typeface="Calibri"/>
                          <a:cs typeface="Calibri"/>
                        </a:rPr>
                        <a:t>Scoring et entretien du contact</a:t>
                      </a:r>
                    </a:p>
                  </a:txBody>
                  <a:tcPr anchor="ctr">
                    <a:solidFill>
                      <a:srgbClr val="E1E5DD"/>
                    </a:solidFill>
                  </a:tcPr>
                </a:tc>
                <a:tc>
                  <a:txBody>
                    <a:bodyPr/>
                    <a:lstStyle/>
                    <a:p>
                      <a:pPr algn="ctr"/>
                      <a:r>
                        <a:rPr sz="2550" b="0">
                          <a:solidFill>
                            <a:srgbClr val="414548"/>
                          </a:solidFill>
                          <a:latin typeface="Calibri"/>
                          <a:ea typeface="Calibri"/>
                          <a:cs typeface="Calibri"/>
                        </a:rPr>
                        <a:t>Règles et séquences disponibles</a:t>
                      </a:r>
                    </a:p>
                  </a:txBody>
                  <a:tcPr anchor="ctr">
                    <a:solidFill>
                      <a:srgbClr val="E1E5DD"/>
                    </a:solidFill>
                  </a:tcPr>
                </a:tc>
                <a:extLst>
                  <a:ext uri="{0D108BD9-81ED-4DB2-BD59-A6C34878D82A}">
                    <a16:rowId xmlns:a16="http://schemas.microsoft.com/office/drawing/2014/main" val="10003"/>
                  </a:ext>
                </a:extLst>
              </a:tr>
              <a:tr h="833438">
                <a:tc>
                  <a:txBody>
                    <a:bodyPr/>
                    <a:lstStyle/>
                    <a:p>
                      <a:pPr algn="ctr"/>
                      <a:r>
                        <a:rPr sz="2550" b="0">
                          <a:solidFill>
                            <a:srgbClr val="414548"/>
                          </a:solidFill>
                          <a:latin typeface="Calibri"/>
                          <a:ea typeface="Calibri"/>
                          <a:cs typeface="Calibri"/>
                        </a:rPr>
                        <a:t>E6 / E7</a:t>
                      </a:r>
                    </a:p>
                  </a:txBody>
                  <a:tcPr anchor="ctr">
                    <a:solidFill>
                      <a:srgbClr val="ECEBDD"/>
                    </a:solidFill>
                  </a:tcPr>
                </a:tc>
                <a:tc>
                  <a:txBody>
                    <a:bodyPr/>
                    <a:lstStyle/>
                    <a:p>
                      <a:pPr algn="ctr"/>
                      <a:r>
                        <a:rPr sz="2550" b="0">
                          <a:solidFill>
                            <a:srgbClr val="414548"/>
                          </a:solidFill>
                          <a:latin typeface="Calibri"/>
                          <a:ea typeface="Calibri"/>
                          <a:cs typeface="Calibri"/>
                        </a:rPr>
                        <a:t>Proposition et relances de closing</a:t>
                      </a:r>
                    </a:p>
                  </a:txBody>
                  <a:tcPr anchor="ctr">
                    <a:solidFill>
                      <a:srgbClr val="ECEBDD"/>
                    </a:solidFill>
                  </a:tcPr>
                </a:tc>
                <a:tc>
                  <a:txBody>
                    <a:bodyPr/>
                    <a:lstStyle/>
                    <a:p>
                      <a:pPr algn="ctr"/>
                      <a:r>
                        <a:rPr sz="2550" b="0">
                          <a:solidFill>
                            <a:srgbClr val="414548"/>
                          </a:solidFill>
                          <a:latin typeface="Calibri"/>
                          <a:ea typeface="Calibri"/>
                          <a:cs typeface="Calibri"/>
                        </a:rPr>
                        <a:t>PDF, e-mail et jalons disponibles</a:t>
                      </a:r>
                    </a:p>
                  </a:txBody>
                  <a:tcPr anchor="ctr">
                    <a:solidFill>
                      <a:srgbClr val="ECEBDD"/>
                    </a:solidFill>
                  </a:tcPr>
                </a:tc>
                <a:extLst>
                  <a:ext uri="{0D108BD9-81ED-4DB2-BD59-A6C34878D82A}">
                    <a16:rowId xmlns:a16="http://schemas.microsoft.com/office/drawing/2014/main" val="10004"/>
                  </a:ext>
                </a:extLst>
              </a:tr>
              <a:tr h="833438">
                <a:tc>
                  <a:txBody>
                    <a:bodyPr/>
                    <a:lstStyle/>
                    <a:p>
                      <a:pPr algn="ctr"/>
                      <a:r>
                        <a:rPr sz="2550" b="0">
                          <a:solidFill>
                            <a:srgbClr val="414548"/>
                          </a:solidFill>
                          <a:latin typeface="Calibri"/>
                          <a:ea typeface="Calibri"/>
                          <a:cs typeface="Calibri"/>
                        </a:rPr>
                        <a:t>E8</a:t>
                      </a:r>
                    </a:p>
                  </a:txBody>
                  <a:tcPr anchor="ctr">
                    <a:solidFill>
                      <a:srgbClr val="E1E5DD"/>
                    </a:solidFill>
                  </a:tcPr>
                </a:tc>
                <a:tc>
                  <a:txBody>
                    <a:bodyPr/>
                    <a:lstStyle/>
                    <a:p>
                      <a:pPr algn="ctr"/>
                      <a:r>
                        <a:rPr sz="2550" b="0">
                          <a:solidFill>
                            <a:srgbClr val="414548"/>
                          </a:solidFill>
                          <a:latin typeface="Calibri"/>
                          <a:ea typeface="Calibri"/>
                          <a:cs typeface="Calibri"/>
                        </a:rPr>
                        <a:t>Convention et facture</a:t>
                      </a:r>
                    </a:p>
                  </a:txBody>
                  <a:tcPr anchor="ctr">
                    <a:solidFill>
                      <a:srgbClr val="E1E5DD"/>
                    </a:solidFill>
                  </a:tcPr>
                </a:tc>
                <a:tc>
                  <a:txBody>
                    <a:bodyPr/>
                    <a:lstStyle/>
                    <a:p>
                      <a:pPr algn="ctr"/>
                      <a:r>
                        <a:rPr sz="2550" b="0" dirty="0" err="1">
                          <a:solidFill>
                            <a:srgbClr val="414548"/>
                          </a:solidFill>
                          <a:latin typeface="Calibri"/>
                          <a:ea typeface="Calibri"/>
                          <a:cs typeface="Calibri"/>
                        </a:rPr>
                        <a:t>Génération</a:t>
                      </a:r>
                      <a:r>
                        <a:rPr sz="2550" b="0" dirty="0">
                          <a:solidFill>
                            <a:srgbClr val="414548"/>
                          </a:solidFill>
                          <a:latin typeface="Calibri"/>
                          <a:ea typeface="Calibri"/>
                          <a:cs typeface="Calibri"/>
                        </a:rPr>
                        <a:t> et envoi </a:t>
                      </a:r>
                      <a:r>
                        <a:rPr sz="2550" b="0" dirty="0" err="1">
                          <a:solidFill>
                            <a:srgbClr val="414548"/>
                          </a:solidFill>
                          <a:latin typeface="Calibri"/>
                          <a:ea typeface="Calibri"/>
                          <a:cs typeface="Calibri"/>
                        </a:rPr>
                        <a:t>disponibles</a:t>
                      </a:r>
                      <a:endParaRPr sz="2550"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5D818B"/>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414548"/>
                </a:solidFill>
                <a:latin typeface="Calibri"/>
                <a:ea typeface="Calibri"/>
                <a:cs typeface="Calibri"/>
              </a:defRPr>
            </a:pPr>
            <a:r>
              <a:rPr sz="2250" b="1">
                <a:solidFill>
                  <a:srgbClr val="414548"/>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E1E5DD"/>
          </a:solidFill>
          <a:ln w="19050">
            <a:solidFill>
              <a:srgbClr val="5D818B"/>
            </a:solidFill>
          </a:ln>
        </p:spPr>
        <p:txBody>
          <a:bodyPr lIns="114300" tIns="85725" rIns="114300" bIns="85725" anchor="ctr">
            <a:noAutofit/>
          </a:bodyPr>
          <a:lstStyle/>
          <a:p>
            <a:pPr algn="ctr">
              <a:defRPr sz="2550">
                <a:solidFill>
                  <a:srgbClr val="414548"/>
                </a:solidFill>
                <a:latin typeface="Calibri"/>
                <a:ea typeface="Calibri"/>
                <a:cs typeface="Calibri"/>
              </a:defRPr>
            </a:pPr>
            <a:r>
              <a:rPr sz="2550">
                <a:solidFill>
                  <a:srgbClr val="414548"/>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A65A43"/>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A65A43"/>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A65A43"/>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A65A43"/>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A65A43"/>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Airtable</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Groq</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SMTP / navigateur</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A65A43"/>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A65A43"/>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A65A43"/>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E1E5DD"/>
          </a:solidFill>
          <a:ln w="19050">
            <a:solidFill>
              <a:srgbClr val="5D818B"/>
            </a:solidFill>
          </a:ln>
        </p:spPr>
        <p:txBody>
          <a:bodyPr lIns="114300" tIns="85725" rIns="114300" bIns="85725" anchor="ctr">
            <a:noAutofit/>
          </a:bodyPr>
          <a:lstStyle/>
          <a:p>
            <a:pPr algn="ctr">
              <a:defRPr sz="3000">
                <a:solidFill>
                  <a:srgbClr val="414548"/>
                </a:solidFill>
                <a:latin typeface="Calibri"/>
                <a:ea typeface="Calibri"/>
                <a:cs typeface="Calibri"/>
              </a:defRPr>
            </a:pPr>
            <a:r>
              <a:rPr sz="3000">
                <a:solidFill>
                  <a:srgbClr val="414548"/>
                </a:solidFill>
                <a:latin typeface="Calibri"/>
                <a:ea typeface="Calibri"/>
                <a:cs typeface="Calibri"/>
              </a:rPr>
              <a:t>Formation</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id, titre, durée</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E1E5DD"/>
          </a:solidFill>
          <a:ln w="19050">
            <a:solidFill>
              <a:srgbClr val="5D818B"/>
            </a:solidFill>
          </a:ln>
        </p:spPr>
        <p:txBody>
          <a:bodyPr lIns="114300" tIns="85725" rIns="114300" bIns="85725" anchor="ctr">
            <a:noAutofit/>
          </a:bodyPr>
          <a:lstStyle/>
          <a:p>
            <a:pPr algn="ctr">
              <a:defRPr sz="3000">
                <a:solidFill>
                  <a:srgbClr val="414548"/>
                </a:solidFill>
                <a:latin typeface="Calibri"/>
                <a:ea typeface="Calibri"/>
                <a:cs typeface="Calibri"/>
              </a:defRPr>
            </a:pPr>
            <a:r>
              <a:rPr sz="3000">
                <a:solidFill>
                  <a:srgbClr val="414548"/>
                </a:solidFill>
                <a:latin typeface="Calibri"/>
                <a:ea typeface="Calibri"/>
                <a:cs typeface="Calibri"/>
              </a:rPr>
              <a:t>Lead</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id, coordonnées, score</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A65A43"/>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414548"/>
                </a:solidFill>
                <a:latin typeface="Calibri"/>
                <a:ea typeface="Calibri"/>
                <a:cs typeface="Calibri"/>
              </a:defRPr>
            </a:pPr>
            <a:r>
              <a:rPr sz="2325" b="0">
                <a:solidFill>
                  <a:srgbClr val="414548"/>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Proposition</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référence, date</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Convention / Facture</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numéro, montants</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ActionEnvoi</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clé, canal, date UTC</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A65A43"/>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A65A43"/>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A65A43"/>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414548"/>
                </a:solidFill>
                <a:latin typeface="Calibri"/>
                <a:ea typeface="Calibri"/>
                <a:cs typeface="Calibri"/>
              </a:defRPr>
            </a:pPr>
            <a:r>
              <a:rPr sz="2250" b="0">
                <a:solidFill>
                  <a:srgbClr val="414548"/>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 8 : priorité commerciale</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5 ≤ score &lt; 8 : qualification</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414548"/>
                </a:solidFill>
                <a:latin typeface="Calibri"/>
                <a:ea typeface="Calibri"/>
                <a:cs typeface="Calibri"/>
              </a:defRPr>
            </a:pPr>
            <a:r>
              <a:rPr sz="2625" b="0">
                <a:solidFill>
                  <a:srgbClr val="414548"/>
                </a:solidFill>
                <a:latin typeface="Calibri"/>
                <a:ea typeface="Calibri"/>
                <a:cs typeface="Calibri"/>
              </a:rPr>
              <a:t>Exemple fictif : 9,5 / 10</a:t>
            </a:r>
          </a:p>
          <a:p>
            <a:pPr algn="l">
              <a:defRPr sz="2625" b="0">
                <a:solidFill>
                  <a:srgbClr val="414548"/>
                </a:solidFill>
                <a:latin typeface="Calibri"/>
                <a:ea typeface="Calibri"/>
                <a:cs typeface="Calibri"/>
              </a:defRPr>
            </a:pPr>
            <a:r>
              <a:rPr sz="2625" b="0">
                <a:solidFill>
                  <a:srgbClr val="414548"/>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5D818B"/>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5D818B"/>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5D818B"/>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5D818B"/>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5D818B"/>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A65A43"/>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A65A43"/>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A65A43"/>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A65A43"/>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A65A43"/>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A65A43"/>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925">
                <a:solidFill>
                  <a:srgbClr val="414548"/>
                </a:solidFill>
                <a:latin typeface="Calibri"/>
                <a:ea typeface="Calibri"/>
                <a:cs typeface="Calibri"/>
              </a:defRPr>
            </a:pPr>
            <a:r>
              <a:rPr sz="2925">
                <a:solidFill>
                  <a:srgbClr val="414548"/>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925">
                <a:solidFill>
                  <a:srgbClr val="414548"/>
                </a:solidFill>
                <a:latin typeface="Calibri"/>
                <a:ea typeface="Calibri"/>
                <a:cs typeface="Calibri"/>
              </a:defRPr>
            </a:pPr>
            <a:r>
              <a:rPr sz="2925">
                <a:solidFill>
                  <a:srgbClr val="414548"/>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775">
                <a:solidFill>
                  <a:srgbClr val="414548"/>
                </a:solidFill>
                <a:latin typeface="Calibri"/>
                <a:ea typeface="Calibri"/>
                <a:cs typeface="Calibri"/>
              </a:defRPr>
            </a:pPr>
            <a:r>
              <a:rPr sz="2775">
                <a:solidFill>
                  <a:srgbClr val="414548"/>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A65A43"/>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A65A43"/>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Airtable / Groq</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SMTP / WhatsApp</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ReportLab / JSON</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A65A43"/>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A65A43"/>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A65A43"/>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Réalisation et</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Les fonctions développées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F3F0E2"/>
                          </a:solidFill>
                          <a:latin typeface="Calibri"/>
                          <a:ea typeface="Calibri"/>
                          <a:cs typeface="Calibri"/>
                        </a:rPr>
                        <a:t>Technologie</a:t>
                      </a:r>
                    </a:p>
                  </a:txBody>
                  <a:tcPr anchor="ctr">
                    <a:solidFill>
                      <a:srgbClr val="5D818B"/>
                    </a:solidFill>
                  </a:tcPr>
                </a:tc>
                <a:tc>
                  <a:txBody>
                    <a:bodyPr/>
                    <a:lstStyle/>
                    <a:p>
                      <a:pPr algn="ctr"/>
                      <a:r>
                        <a:rPr sz="2625" b="1">
                          <a:solidFill>
                            <a:srgbClr val="F3F0E2"/>
                          </a:solidFill>
                          <a:latin typeface="Calibri"/>
                          <a:ea typeface="Calibri"/>
                          <a:cs typeface="Calibri"/>
                        </a:rPr>
                        <a:t>Rôle dans ADG-10</a:t>
                      </a:r>
                    </a:p>
                  </a:txBody>
                  <a:tcPr anchor="ctr">
                    <a:solidFill>
                      <a:srgbClr val="5D818B"/>
                    </a:solidFill>
                  </a:tcPr>
                </a:tc>
                <a:tc>
                  <a:txBody>
                    <a:bodyPr/>
                    <a:lstStyle/>
                    <a:p>
                      <a:pPr algn="ctr"/>
                      <a:r>
                        <a:rPr sz="2625" b="1">
                          <a:solidFill>
                            <a:srgbClr val="F3F0E2"/>
                          </a:solidFill>
                          <a:latin typeface="Calibri"/>
                          <a:ea typeface="Calibri"/>
                          <a:cs typeface="Calibri"/>
                        </a:rPr>
                        <a:t>Justification</a:t>
                      </a:r>
                    </a:p>
                  </a:txBody>
                  <a:tcPr anchor="ctr">
                    <a:solidFill>
                      <a:srgbClr val="5D818B"/>
                    </a:solidFill>
                  </a:tcPr>
                </a:tc>
                <a:extLst>
                  <a:ext uri="{0D108BD9-81ED-4DB2-BD59-A6C34878D82A}">
                    <a16:rowId xmlns:a16="http://schemas.microsoft.com/office/drawing/2014/main" val="10000"/>
                  </a:ext>
                </a:extLst>
              </a:tr>
              <a:tr h="857250">
                <a:tc>
                  <a:txBody>
                    <a:bodyPr/>
                    <a:lstStyle/>
                    <a:p>
                      <a:pPr algn="ctr"/>
                      <a:r>
                        <a:rPr sz="2625" b="0">
                          <a:solidFill>
                            <a:srgbClr val="414548"/>
                          </a:solidFill>
                          <a:latin typeface="Calibri"/>
                          <a:ea typeface="Calibri"/>
                          <a:cs typeface="Calibri"/>
                        </a:rPr>
                        <a:t>Python</a:t>
                      </a:r>
                    </a:p>
                  </a:txBody>
                  <a:tcPr anchor="ctr">
                    <a:solidFill>
                      <a:srgbClr val="E1E5DD"/>
                    </a:solidFill>
                  </a:tcPr>
                </a:tc>
                <a:tc>
                  <a:txBody>
                    <a:bodyPr/>
                    <a:lstStyle/>
                    <a:p>
                      <a:pPr algn="ctr"/>
                      <a:r>
                        <a:rPr sz="2625" b="0">
                          <a:solidFill>
                            <a:srgbClr val="414548"/>
                          </a:solidFill>
                          <a:latin typeface="Calibri"/>
                          <a:ea typeface="Calibri"/>
                          <a:cs typeface="Calibri"/>
                        </a:rPr>
                        <a:t>Scripts et règles métier</a:t>
                      </a:r>
                    </a:p>
                  </a:txBody>
                  <a:tcPr anchor="ctr">
                    <a:solidFill>
                      <a:srgbClr val="E1E5DD"/>
                    </a:solidFill>
                  </a:tcPr>
                </a:tc>
                <a:tc>
                  <a:txBody>
                    <a:bodyPr/>
                    <a:lstStyle/>
                    <a:p>
                      <a:pPr algn="ctr"/>
                      <a:r>
                        <a:rPr sz="2625" b="0">
                          <a:solidFill>
                            <a:srgbClr val="414548"/>
                          </a:solidFill>
                          <a:latin typeface="Calibri"/>
                          <a:ea typeface="Calibri"/>
                          <a:cs typeface="Calibri"/>
                        </a:rPr>
                        <a:t>Modules lisibles et testables</a:t>
                      </a:r>
                    </a:p>
                  </a:txBody>
                  <a:tcPr anchor="ctr">
                    <a:solidFill>
                      <a:srgbClr val="E1E5DD"/>
                    </a:solidFill>
                  </a:tcPr>
                </a:tc>
                <a:extLst>
                  <a:ext uri="{0D108BD9-81ED-4DB2-BD59-A6C34878D82A}">
                    <a16:rowId xmlns:a16="http://schemas.microsoft.com/office/drawing/2014/main" val="10001"/>
                  </a:ext>
                </a:extLst>
              </a:tr>
              <a:tr h="857250">
                <a:tc>
                  <a:txBody>
                    <a:bodyPr/>
                    <a:lstStyle/>
                    <a:p>
                      <a:pPr algn="ctr"/>
                      <a:r>
                        <a:rPr sz="2625" b="0">
                          <a:solidFill>
                            <a:srgbClr val="414548"/>
                          </a:solidFill>
                          <a:latin typeface="Calibri"/>
                          <a:ea typeface="Calibri"/>
                          <a:cs typeface="Calibri"/>
                        </a:rPr>
                        <a:t>Airtable</a:t>
                      </a:r>
                    </a:p>
                  </a:txBody>
                  <a:tcPr anchor="ctr">
                    <a:solidFill>
                      <a:srgbClr val="ECEBDD"/>
                    </a:solidFill>
                  </a:tcPr>
                </a:tc>
                <a:tc>
                  <a:txBody>
                    <a:bodyPr/>
                    <a:lstStyle/>
                    <a:p>
                      <a:pPr algn="ctr"/>
                      <a:r>
                        <a:rPr sz="2625" b="0">
                          <a:solidFill>
                            <a:srgbClr val="414548"/>
                          </a:solidFill>
                          <a:latin typeface="Calibri"/>
                          <a:ea typeface="Calibri"/>
                          <a:cs typeface="Calibri"/>
                        </a:rPr>
                        <a:t>Catalogue et prospects</a:t>
                      </a:r>
                    </a:p>
                  </a:txBody>
                  <a:tcPr anchor="ctr">
                    <a:solidFill>
                      <a:srgbClr val="ECEBDD"/>
                    </a:solidFill>
                  </a:tcPr>
                </a:tc>
                <a:tc>
                  <a:txBody>
                    <a:bodyPr/>
                    <a:lstStyle/>
                    <a:p>
                      <a:pPr algn="ctr"/>
                      <a:r>
                        <a:rPr sz="2625" b="0">
                          <a:solidFill>
                            <a:srgbClr val="414548"/>
                          </a:solidFill>
                          <a:latin typeface="Calibri"/>
                          <a:ea typeface="Calibri"/>
                          <a:cs typeface="Calibri"/>
                        </a:rPr>
                        <a:t>Données accessibles à l’équipe</a:t>
                      </a:r>
                    </a:p>
                  </a:txBody>
                  <a:tcPr anchor="ctr">
                    <a:solidFill>
                      <a:srgbClr val="ECEBDD"/>
                    </a:solidFill>
                  </a:tcPr>
                </a:tc>
                <a:extLst>
                  <a:ext uri="{0D108BD9-81ED-4DB2-BD59-A6C34878D82A}">
                    <a16:rowId xmlns:a16="http://schemas.microsoft.com/office/drawing/2014/main" val="10002"/>
                  </a:ext>
                </a:extLst>
              </a:tr>
              <a:tr h="857250">
                <a:tc>
                  <a:txBody>
                    <a:bodyPr/>
                    <a:lstStyle/>
                    <a:p>
                      <a:pPr algn="ctr"/>
                      <a:r>
                        <a:rPr sz="2625" b="0">
                          <a:solidFill>
                            <a:srgbClr val="414548"/>
                          </a:solidFill>
                          <a:latin typeface="Calibri"/>
                          <a:ea typeface="Calibri"/>
                          <a:cs typeface="Calibri"/>
                        </a:rPr>
                        <a:t>Groq</a:t>
                      </a:r>
                    </a:p>
                  </a:txBody>
                  <a:tcPr anchor="ctr">
                    <a:solidFill>
                      <a:srgbClr val="E1E5DD"/>
                    </a:solidFill>
                  </a:tcPr>
                </a:tc>
                <a:tc>
                  <a:txBody>
                    <a:bodyPr/>
                    <a:lstStyle/>
                    <a:p>
                      <a:pPr algn="ctr"/>
                      <a:r>
                        <a:rPr sz="2625" b="0">
                          <a:solidFill>
                            <a:srgbClr val="414548"/>
                          </a:solidFill>
                          <a:latin typeface="Calibri"/>
                          <a:ea typeface="Calibri"/>
                          <a:cs typeface="Calibri"/>
                        </a:rPr>
                        <a:t>Génération des contenus</a:t>
                      </a:r>
                    </a:p>
                  </a:txBody>
                  <a:tcPr anchor="ctr">
                    <a:solidFill>
                      <a:srgbClr val="E1E5DD"/>
                    </a:solidFill>
                  </a:tcPr>
                </a:tc>
                <a:tc>
                  <a:txBody>
                    <a:bodyPr/>
                    <a:lstStyle/>
                    <a:p>
                      <a:pPr algn="ctr"/>
                      <a:r>
                        <a:rPr sz="2625" b="0">
                          <a:solidFill>
                            <a:srgbClr val="414548"/>
                          </a:solidFill>
                          <a:latin typeface="Calibri"/>
                          <a:ea typeface="Calibri"/>
                          <a:cs typeface="Calibri"/>
                        </a:rPr>
                        <a:t>Réponse JSON contrôlée</a:t>
                      </a:r>
                    </a:p>
                  </a:txBody>
                  <a:tcPr anchor="ctr">
                    <a:solidFill>
                      <a:srgbClr val="E1E5DD"/>
                    </a:solidFill>
                  </a:tcPr>
                </a:tc>
                <a:extLst>
                  <a:ext uri="{0D108BD9-81ED-4DB2-BD59-A6C34878D82A}">
                    <a16:rowId xmlns:a16="http://schemas.microsoft.com/office/drawing/2014/main" val="10003"/>
                  </a:ext>
                </a:extLst>
              </a:tr>
              <a:tr h="857250">
                <a:tc>
                  <a:txBody>
                    <a:bodyPr/>
                    <a:lstStyle/>
                    <a:p>
                      <a:pPr algn="ctr"/>
                      <a:r>
                        <a:rPr sz="2625" b="0">
                          <a:solidFill>
                            <a:srgbClr val="414548"/>
                          </a:solidFill>
                          <a:latin typeface="Calibri"/>
                          <a:ea typeface="Calibri"/>
                          <a:cs typeface="Calibri"/>
                        </a:rPr>
                        <a:t>Streamlit</a:t>
                      </a:r>
                    </a:p>
                  </a:txBody>
                  <a:tcPr anchor="ctr">
                    <a:solidFill>
                      <a:srgbClr val="ECEBDD"/>
                    </a:solidFill>
                  </a:tcPr>
                </a:tc>
                <a:tc>
                  <a:txBody>
                    <a:bodyPr/>
                    <a:lstStyle/>
                    <a:p>
                      <a:pPr algn="ctr"/>
                      <a:r>
                        <a:rPr sz="2625" b="0">
                          <a:solidFill>
                            <a:srgbClr val="414548"/>
                          </a:solidFill>
                          <a:latin typeface="Calibri"/>
                          <a:ea typeface="Calibri"/>
                          <a:cs typeface="Calibri"/>
                        </a:rPr>
                        <a:t>Interface de pilotage</a:t>
                      </a:r>
                    </a:p>
                  </a:txBody>
                  <a:tcPr anchor="ctr">
                    <a:solidFill>
                      <a:srgbClr val="ECEBDD"/>
                    </a:solidFill>
                  </a:tcPr>
                </a:tc>
                <a:tc>
                  <a:txBody>
                    <a:bodyPr/>
                    <a:lstStyle/>
                    <a:p>
                      <a:pPr algn="ctr"/>
                      <a:r>
                        <a:rPr sz="2625" b="0">
                          <a:solidFill>
                            <a:srgbClr val="414548"/>
                          </a:solidFill>
                          <a:latin typeface="Calibri"/>
                          <a:ea typeface="Calibri"/>
                          <a:cs typeface="Calibri"/>
                        </a:rPr>
                        <a:t>Dashboard directement en Python</a:t>
                      </a:r>
                    </a:p>
                  </a:txBody>
                  <a:tcPr anchor="ctr">
                    <a:solidFill>
                      <a:srgbClr val="ECEBDD"/>
                    </a:solidFill>
                  </a:tcPr>
                </a:tc>
                <a:extLst>
                  <a:ext uri="{0D108BD9-81ED-4DB2-BD59-A6C34878D82A}">
                    <a16:rowId xmlns:a16="http://schemas.microsoft.com/office/drawing/2014/main" val="10004"/>
                  </a:ext>
                </a:extLst>
              </a:tr>
              <a:tr h="857250">
                <a:tc>
                  <a:txBody>
                    <a:bodyPr/>
                    <a:lstStyle/>
                    <a:p>
                      <a:pPr algn="ctr"/>
                      <a:r>
                        <a:rPr sz="2625" b="0">
                          <a:solidFill>
                            <a:srgbClr val="414548"/>
                          </a:solidFill>
                          <a:latin typeface="Calibri"/>
                          <a:ea typeface="Calibri"/>
                          <a:cs typeface="Calibri"/>
                        </a:rPr>
                        <a:t>ReportLab</a:t>
                      </a:r>
                    </a:p>
                  </a:txBody>
                  <a:tcPr anchor="ctr">
                    <a:solidFill>
                      <a:srgbClr val="E1E5DD"/>
                    </a:solidFill>
                  </a:tcPr>
                </a:tc>
                <a:tc>
                  <a:txBody>
                    <a:bodyPr/>
                    <a:lstStyle/>
                    <a:p>
                      <a:pPr algn="ctr"/>
                      <a:r>
                        <a:rPr sz="2625" b="0">
                          <a:solidFill>
                            <a:srgbClr val="414548"/>
                          </a:solidFill>
                          <a:latin typeface="Calibri"/>
                          <a:ea typeface="Calibri"/>
                          <a:cs typeface="Calibri"/>
                        </a:rPr>
                        <a:t>Offres, conventions et factures</a:t>
                      </a:r>
                    </a:p>
                  </a:txBody>
                  <a:tcPr anchor="ctr">
                    <a:solidFill>
                      <a:srgbClr val="E1E5DD"/>
                    </a:solidFill>
                  </a:tcPr>
                </a:tc>
                <a:tc>
                  <a:txBody>
                    <a:bodyPr/>
                    <a:lstStyle/>
                    <a:p>
                      <a:pPr algn="ctr"/>
                      <a:r>
                        <a:rPr sz="2625" b="0" dirty="0" err="1">
                          <a:solidFill>
                            <a:srgbClr val="414548"/>
                          </a:solidFill>
                          <a:latin typeface="Calibri"/>
                          <a:ea typeface="Calibri"/>
                          <a:cs typeface="Calibri"/>
                        </a:rPr>
                        <a:t>Thème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documentaire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partagé</a:t>
                      </a:r>
                      <a:endParaRPr sz="2625"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1. Consulter les indicateurs</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2. Rechercher un prospect</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3. Choisir la simulation</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A65A43"/>
                </a:solidFill>
                <a:latin typeface="Calibri"/>
                <a:ea typeface="Calibri"/>
                <a:cs typeface="Calibri"/>
              </a:defRPr>
            </a:pPr>
            <a:r>
              <a:rPr sz="4800" b="1">
                <a:solidFill>
                  <a:srgbClr val="A65A43"/>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428750" y="4905375"/>
            <a:ext cx="714375" cy="714375"/>
          </a:xfrm>
          <a:prstGeom prst="ellipse">
            <a:avLst/>
          </a:prstGeom>
          <a:solidFill>
            <a:srgbClr val="5D818B"/>
          </a:solidFill>
          <a:ln w="19050">
            <a:solidFill>
              <a:srgbClr val="5D818B"/>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2428875" y="485775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428750" y="5924550"/>
            <a:ext cx="714375" cy="714375"/>
          </a:xfrm>
          <a:prstGeom prst="ellipse">
            <a:avLst/>
          </a:prstGeom>
          <a:solidFill>
            <a:srgbClr val="A65A43"/>
          </a:solidFill>
          <a:ln w="19050">
            <a:solidFill>
              <a:srgbClr val="A65A43"/>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2428875" y="5876925"/>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428750" y="6943725"/>
            <a:ext cx="714375" cy="714375"/>
          </a:xfrm>
          <a:prstGeom prst="ellipse">
            <a:avLst/>
          </a:prstGeom>
          <a:solidFill>
            <a:srgbClr val="414548"/>
          </a:solidFill>
          <a:ln w="19050">
            <a:solidFill>
              <a:srgbClr val="414548"/>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2428875" y="689610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414548"/>
                </a:solidFill>
                <a:latin typeface="Calibri"/>
                <a:ea typeface="Calibri"/>
                <a:cs typeface="Calibri"/>
              </a:defRPr>
            </a:pPr>
            <a:r>
              <a:rPr sz="2550" b="0">
                <a:solidFill>
                  <a:srgbClr val="414548"/>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F3F0E2"/>
                          </a:solidFill>
                          <a:latin typeface="Calibri"/>
                          <a:ea typeface="Calibri"/>
                          <a:cs typeface="Calibri"/>
                        </a:rPr>
                        <a:t>Priorité</a:t>
                      </a:r>
                    </a:p>
                  </a:txBody>
                  <a:tcPr anchor="ctr">
                    <a:solidFill>
                      <a:srgbClr val="5D818B"/>
                    </a:solidFill>
                  </a:tcPr>
                </a:tc>
                <a:tc>
                  <a:txBody>
                    <a:bodyPr/>
                    <a:lstStyle/>
                    <a:p>
                      <a:pPr algn="ctr"/>
                      <a:r>
                        <a:rPr sz="2625" b="1">
                          <a:solidFill>
                            <a:srgbClr val="F3F0E2"/>
                          </a:solidFill>
                          <a:latin typeface="Calibri"/>
                          <a:ea typeface="Calibri"/>
                          <a:cs typeface="Calibri"/>
                        </a:rPr>
                        <a:t>Amélioration attendue</a:t>
                      </a:r>
                    </a:p>
                  </a:txBody>
                  <a:tcPr anchor="ctr">
                    <a:solidFill>
                      <a:srgbClr val="5D818B"/>
                    </a:solidFill>
                  </a:tcPr>
                </a:tc>
                <a:extLst>
                  <a:ext uri="{0D108BD9-81ED-4DB2-BD59-A6C34878D82A}">
                    <a16:rowId xmlns:a16="http://schemas.microsoft.com/office/drawing/2014/main" val="10000"/>
                  </a:ext>
                </a:extLst>
              </a:tr>
              <a:tr h="825500">
                <a:tc>
                  <a:txBody>
                    <a:bodyPr/>
                    <a:lstStyle/>
                    <a:p>
                      <a:pPr algn="ctr"/>
                      <a:r>
                        <a:rPr sz="2625" b="0">
                          <a:solidFill>
                            <a:srgbClr val="414548"/>
                          </a:solidFill>
                          <a:latin typeface="Calibri"/>
                          <a:ea typeface="Calibri"/>
                          <a:cs typeface="Calibri"/>
                        </a:rPr>
                        <a:t>Fiabilité métier</a:t>
                      </a:r>
                    </a:p>
                  </a:txBody>
                  <a:tcPr anchor="ctr">
                    <a:solidFill>
                      <a:srgbClr val="E1E5DD"/>
                    </a:solidFill>
                  </a:tcPr>
                </a:tc>
                <a:tc>
                  <a:txBody>
                    <a:bodyPr/>
                    <a:lstStyle/>
                    <a:p>
                      <a:pPr algn="ctr"/>
                      <a:r>
                        <a:rPr sz="2625" b="0">
                          <a:solidFill>
                            <a:srgbClr val="414548"/>
                          </a:solidFill>
                          <a:latin typeface="Calibri"/>
                          <a:ea typeface="Calibri"/>
                          <a:cs typeface="Calibri"/>
                        </a:rPr>
                        <a:t>Formation obligatoire, prix structurés, règles de TVA validées</a:t>
                      </a:r>
                    </a:p>
                  </a:txBody>
                  <a:tcPr anchor="ctr">
                    <a:solidFill>
                      <a:srgbClr val="E1E5DD"/>
                    </a:solidFill>
                  </a:tcPr>
                </a:tc>
                <a:extLst>
                  <a:ext uri="{0D108BD9-81ED-4DB2-BD59-A6C34878D82A}">
                    <a16:rowId xmlns:a16="http://schemas.microsoft.com/office/drawing/2014/main" val="10001"/>
                  </a:ext>
                </a:extLst>
              </a:tr>
              <a:tr h="825500">
                <a:tc>
                  <a:txBody>
                    <a:bodyPr/>
                    <a:lstStyle/>
                    <a:p>
                      <a:pPr algn="ctr"/>
                      <a:r>
                        <a:rPr sz="2625" b="0">
                          <a:solidFill>
                            <a:srgbClr val="414548"/>
                          </a:solidFill>
                          <a:latin typeface="Calibri"/>
                          <a:ea typeface="Calibri"/>
                          <a:cs typeface="Calibri"/>
                        </a:rPr>
                        <a:t>Exploitation</a:t>
                      </a:r>
                    </a:p>
                  </a:txBody>
                  <a:tcPr anchor="ctr">
                    <a:solidFill>
                      <a:srgbClr val="ECEBDD"/>
                    </a:solidFill>
                  </a:tcPr>
                </a:tc>
                <a:tc>
                  <a:txBody>
                    <a:bodyPr/>
                    <a:lstStyle/>
                    <a:p>
                      <a:pPr algn="ctr"/>
                      <a:r>
                        <a:rPr sz="2625" b="0">
                          <a:solidFill>
                            <a:srgbClr val="414548"/>
                          </a:solidFill>
                          <a:latin typeface="Calibri"/>
                          <a:ea typeface="Calibri"/>
                          <a:cs typeface="Calibri"/>
                        </a:rPr>
                        <a:t>Planification, rattrapage des échéances, suivi des réponses</a:t>
                      </a:r>
                    </a:p>
                  </a:txBody>
                  <a:tcPr anchor="ctr">
                    <a:solidFill>
                      <a:srgbClr val="ECEBDD"/>
                    </a:solidFill>
                  </a:tcPr>
                </a:tc>
                <a:extLst>
                  <a:ext uri="{0D108BD9-81ED-4DB2-BD59-A6C34878D82A}">
                    <a16:rowId xmlns:a16="http://schemas.microsoft.com/office/drawing/2014/main" val="10002"/>
                  </a:ext>
                </a:extLst>
              </a:tr>
              <a:tr h="825500">
                <a:tc>
                  <a:txBody>
                    <a:bodyPr/>
                    <a:lstStyle/>
                    <a:p>
                      <a:pPr algn="ctr"/>
                      <a:r>
                        <a:rPr sz="2625" b="0">
                          <a:solidFill>
                            <a:srgbClr val="414548"/>
                          </a:solidFill>
                          <a:latin typeface="Calibri"/>
                          <a:ea typeface="Calibri"/>
                          <a:cs typeface="Calibri"/>
                        </a:rPr>
                        <a:t>Sécurité</a:t>
                      </a:r>
                    </a:p>
                  </a:txBody>
                  <a:tcPr anchor="ctr">
                    <a:solidFill>
                      <a:srgbClr val="E1E5DD"/>
                    </a:solidFill>
                  </a:tcPr>
                </a:tc>
                <a:tc>
                  <a:txBody>
                    <a:bodyPr/>
                    <a:lstStyle/>
                    <a:p>
                      <a:pPr algn="ctr"/>
                      <a:r>
                        <a:rPr sz="2625" b="0">
                          <a:solidFill>
                            <a:srgbClr val="414548"/>
                          </a:solidFill>
                          <a:latin typeface="Calibri"/>
                          <a:ea typeface="Calibri"/>
                          <a:cs typeface="Calibri"/>
                        </a:rPr>
                        <a:t>Accès authentifié, gestion des secrets et des habilitations</a:t>
                      </a:r>
                    </a:p>
                  </a:txBody>
                  <a:tcPr anchor="ctr">
                    <a:solidFill>
                      <a:srgbClr val="E1E5DD"/>
                    </a:solidFill>
                  </a:tcPr>
                </a:tc>
                <a:extLst>
                  <a:ext uri="{0D108BD9-81ED-4DB2-BD59-A6C34878D82A}">
                    <a16:rowId xmlns:a16="http://schemas.microsoft.com/office/drawing/2014/main" val="10003"/>
                  </a:ext>
                </a:extLst>
              </a:tr>
              <a:tr h="825500">
                <a:tc>
                  <a:txBody>
                    <a:bodyPr/>
                    <a:lstStyle/>
                    <a:p>
                      <a:pPr algn="ctr"/>
                      <a:r>
                        <a:rPr sz="2625" b="0">
                          <a:solidFill>
                            <a:srgbClr val="414548"/>
                          </a:solidFill>
                          <a:latin typeface="Calibri"/>
                          <a:ea typeface="Calibri"/>
                          <a:cs typeface="Calibri"/>
                        </a:rPr>
                        <a:t>Montée en charge</a:t>
                      </a:r>
                    </a:p>
                  </a:txBody>
                  <a:tcPr anchor="ctr">
                    <a:solidFill>
                      <a:srgbClr val="ECEBDD"/>
                    </a:solidFill>
                  </a:tcPr>
                </a:tc>
                <a:tc>
                  <a:txBody>
                    <a:bodyPr/>
                    <a:lstStyle/>
                    <a:p>
                      <a:pPr algn="ctr"/>
                      <a:r>
                        <a:rPr sz="2625" b="0">
                          <a:solidFill>
                            <a:srgbClr val="414548"/>
                          </a:solidFill>
                          <a:latin typeface="Calibri"/>
                          <a:ea typeface="Calibri"/>
                          <a:cs typeface="Calibri"/>
                        </a:rPr>
                        <a:t>Journal central, verrouillage et tests de concurrence</a:t>
                      </a:r>
                    </a:p>
                  </a:txBody>
                  <a:tcPr anchor="ctr">
                    <a:solidFill>
                      <a:srgbClr val="ECEBDD"/>
                    </a:solidFill>
                  </a:tcPr>
                </a:tc>
                <a:extLst>
                  <a:ext uri="{0D108BD9-81ED-4DB2-BD59-A6C34878D82A}">
                    <a16:rowId xmlns:a16="http://schemas.microsoft.com/office/drawing/2014/main" val="10004"/>
                  </a:ext>
                </a:extLst>
              </a:tr>
              <a:tr h="825500">
                <a:tc>
                  <a:txBody>
                    <a:bodyPr/>
                    <a:lstStyle/>
                    <a:p>
                      <a:pPr algn="ctr"/>
                      <a:r>
                        <a:rPr sz="2625" b="0">
                          <a:solidFill>
                            <a:srgbClr val="414548"/>
                          </a:solidFill>
                          <a:latin typeface="Calibri"/>
                          <a:ea typeface="Calibri"/>
                          <a:cs typeface="Calibri"/>
                        </a:rPr>
                        <a:t>Périmètre</a:t>
                      </a:r>
                    </a:p>
                  </a:txBody>
                  <a:tcPr anchor="ctr">
                    <a:solidFill>
                      <a:srgbClr val="E1E5DD"/>
                    </a:solidFill>
                  </a:tcPr>
                </a:tc>
                <a:tc>
                  <a:txBody>
                    <a:bodyPr/>
                    <a:lstStyle/>
                    <a:p>
                      <a:pPr algn="ctr"/>
                      <a:r>
                        <a:rPr sz="2625" b="0" dirty="0">
                          <a:solidFill>
                            <a:srgbClr val="414548"/>
                          </a:solidFill>
                          <a:latin typeface="Calibri"/>
                          <a:ea typeface="Calibri"/>
                          <a:cs typeface="Calibri"/>
                        </a:rPr>
                        <a:t>Publication </a:t>
                      </a:r>
                      <a:r>
                        <a:rPr sz="2625" b="0" dirty="0" err="1">
                          <a:solidFill>
                            <a:srgbClr val="414548"/>
                          </a:solidFill>
                          <a:latin typeface="Calibri"/>
                          <a:ea typeface="Calibri"/>
                          <a:cs typeface="Calibri"/>
                        </a:rPr>
                        <a:t>sociale</a:t>
                      </a:r>
                      <a:r>
                        <a:rPr sz="2625" b="0" dirty="0">
                          <a:solidFill>
                            <a:srgbClr val="414548"/>
                          </a:solidFill>
                          <a:latin typeface="Calibri"/>
                          <a:ea typeface="Calibri"/>
                          <a:cs typeface="Calibri"/>
                        </a:rPr>
                        <a:t> E3 et </a:t>
                      </a:r>
                      <a:r>
                        <a:rPr sz="2625" b="0" dirty="0" err="1">
                          <a:solidFill>
                            <a:srgbClr val="414548"/>
                          </a:solidFill>
                          <a:latin typeface="Calibri"/>
                          <a:ea typeface="Calibri"/>
                          <a:cs typeface="Calibri"/>
                        </a:rPr>
                        <a:t>suivi</a:t>
                      </a:r>
                      <a:r>
                        <a:rPr sz="2625" b="0" dirty="0">
                          <a:solidFill>
                            <a:srgbClr val="414548"/>
                          </a:solidFill>
                          <a:latin typeface="Calibri"/>
                          <a:ea typeface="Calibri"/>
                          <a:cs typeface="Calibri"/>
                        </a:rPr>
                        <a:t> après-vente</a:t>
                      </a: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Un prototype qui relie la qualification du prospect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A65A43"/>
                </a:solidFill>
                <a:latin typeface="Calibri"/>
                <a:ea typeface="Calibri"/>
                <a:cs typeface="Calibri"/>
              </a:defRPr>
            </a:pPr>
            <a:r>
              <a:rPr sz="3300" b="1">
                <a:solidFill>
                  <a:srgbClr val="A65A43"/>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414548"/>
                </a:solidFill>
                <a:latin typeface="Calibri"/>
                <a:ea typeface="Calibri"/>
                <a:cs typeface="Calibri"/>
              </a:defRPr>
            </a:pPr>
            <a:r>
              <a:rPr sz="2400" b="0">
                <a:solidFill>
                  <a:srgbClr val="414548"/>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Research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414548"/>
                </a:solidFill>
                <a:latin typeface="Calibri"/>
                <a:ea typeface="Calibri"/>
                <a:cs typeface="Calibri"/>
              </a:defRPr>
            </a:pPr>
            <a:r>
              <a:rPr sz="1650" b="1">
                <a:solidFill>
                  <a:srgbClr val="414548"/>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414548"/>
                </a:solidFill>
                <a:latin typeface="Calibri"/>
                <a:ea typeface="Calibri"/>
                <a:cs typeface="Calibri"/>
              </a:defRPr>
            </a:pPr>
            <a:r>
              <a:rPr sz="4650" b="1">
                <a:solidFill>
                  <a:srgbClr val="414548"/>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descr="Illustration conceptuelle du suivi des prospects, des échanges et des documents commerciaux"/>
          <p:cNvPicPr>
            <a:picLocks xmlns:a="http://schemas.openxmlformats.org/drawingml/2006/main" noChangeAspect="1"/>
          </p:cNvPicPr>
          <p:nvPr/>
        </p:nvPicPr>
        <p:blipFill>
          <a:blip xmlns:r="http://schemas.openxmlformats.org/officeDocument/2006/relationships" xmlns:a="http://schemas.openxmlformats.org/drawingml/2006/main" r:embed="rIdWorkflow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414548"/>
                </a:solidFill>
                <a:latin typeface="Calibri"/>
                <a:ea typeface="Calibri"/>
                <a:cs typeface="Calibri"/>
              </a:defRPr>
            </a:pPr>
            <a:r>
              <a:rPr sz="1650" b="1">
                <a:solidFill>
                  <a:srgbClr val="414548"/>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Merci pour</a:t>
            </a:r>
          </a:p>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A65A43"/>
                </a:solidFill>
                <a:latin typeface="Calibri"/>
                <a:ea typeface="Calibri"/>
                <a:cs typeface="Calibri"/>
              </a:defRPr>
            </a:pPr>
            <a:r>
              <a:rPr sz="3300" b="0">
                <a:solidFill>
                  <a:srgbClr val="A65A43"/>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