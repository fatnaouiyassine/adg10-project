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946"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bar"/>
        <c:grouping val="clustered"/>
        <c:varyColors val="0"/>
        <c:ser>
          <c:idx val="0"/>
          <c:order val="0"/>
          <c:tx>
            <c:v>Poids dans le score (%)</c:v>
          </c:tx>
          <c:spPr>
            <a:solidFill>
              <a:srgbClr val="A65A43"/>
            </a:solidFill>
          </c:spPr>
          <c:invertIfNegative val="1"/>
          <c:dLbls>
            <c:spPr>
              <a:noFill/>
              <a:ln>
                <a:noFill/>
              </a:ln>
              <a:effectLst/>
            </c:spPr>
            <c:txPr>
              <a:bodyPr anchorCtr="1"/>
              <a:lstStyle/>
              <a:p>
                <a:pPr>
                  <a:defRPr sz="2250">
                    <a:solidFill>
                      <a:srgbClr val="414548"/>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Budget</c:v>
                </c:pt>
                <c:pt idx="1">
                  <c:v>Urgence</c:v>
                </c:pt>
                <c:pt idx="2">
                  <c:v>Décideur</c:v>
                </c:pt>
                <c:pt idx="3">
                  <c:v>Taille</c:v>
                </c:pt>
                <c:pt idx="4">
                  <c:v>Canal</c:v>
                </c:pt>
              </c:strCache>
            </c:strRef>
          </c:cat>
          <c:val>
            <c:numRef>
              <c:f>'Chart Data'!$B$2:$B$6</c:f>
              <c:numCache>
                <c:formatCode>General</c:formatCode>
                <c:ptCount val="5"/>
                <c:pt idx="0">
                  <c:v>30</c:v>
                </c:pt>
                <c:pt idx="1">
                  <c:v>25</c:v>
                </c:pt>
                <c:pt idx="2">
                  <c:v>20</c:v>
                </c:pt>
                <c:pt idx="3">
                  <c:v>15</c:v>
                </c:pt>
                <c:pt idx="4">
                  <c:v>10</c:v>
                </c:pt>
              </c:numCache>
            </c:numRef>
          </c:val>
          <c:extLst>
            <c:ext xmlns:c14="http://schemas.microsoft.com/office/drawing/2007/8/2/chart" uri="{6F2FDCE9-48DA-4B69-8628-5D25D57E5C99}">
              <c14:invertSolidFillFmt>
                <c14:spPr xmlns:c14="http://schemas.microsoft.com/office/drawing/2007/8/2/chart">
                  <a:solidFill>
                    <a:srgbClr val="414548"/>
                  </a:solidFill>
                </c14:spPr>
              </c14:invertSolidFillFmt>
            </c:ext>
            <c:ext xmlns:c16="http://schemas.microsoft.com/office/drawing/2014/chart" uri="{C3380CC4-5D6E-409C-BE32-E72D297353CC}">
              <c16:uniqueId val="{00000000-421E-44FA-8B29-E17319D61E0B}"/>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majorGridlines>
          <c:spPr>
            <a:ln w="9525">
              <a:solidFill>
                <a:srgbClr val="ACAFA6"/>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950">
                <a:solidFill>
                  <a:srgbClr val="414548"/>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2400">
                <a:solidFill>
                  <a:srgbClr val="414548"/>
                </a:solidFill>
                <a:latin typeface="Calibri"/>
                <a:ea typeface="Calibri"/>
                <a:cs typeface="Calibri"/>
              </a:defRPr>
            </a:pPr>
            <a:endParaRPr lang="en-US"/>
          </a:p>
        </c:txPr>
        <c:crossAx val="48650112"/>
        <c:crosses val="autoZero"/>
        <c:crossBetween val="between"/>
      </c:valAx>
    </c:plotArea>
    <c:plotVisOnly val="1"/>
    <c:dispBlanksAs val="zero"/>
    <c:showDLblsOverMax val="1"/>
  </c:chart>
  <c:spPr>
    <a:solidFill>
      <a:srgbClr val="F3F0E2"/>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25 secondes.</a:t>
            </a:r>
          </a:p>
          <a:p>
            <a:endParaRPr/>
          </a:p>
          <a:p>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a:endParaRPr/>
          </a:p>
          <a:p>
            <a:r>
              <a:t>Sources : Rapport, couverture et introduction générale.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20 secondes.</a:t>
            </a:r>
          </a:p>
          <a:p>
            <a:endParaRPr/>
          </a:p>
          <a:p>
            <a:r>
              <a:t>La présentation suit cinq parties. Après le contexte et les besoins, je présenterai le fonctionnement du système, puis ses choix techniques et une démonstration. Je terminerai par les résultats et les limites à traiter.</a:t>
            </a:r>
          </a:p>
          <a:p>
            <a:endParaRPr/>
          </a:p>
          <a:p>
            <a:r>
              <a:t>Sources : Structure du modèle de présentation fourni.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15 secondes.</a:t>
            </a:r>
          </a:p>
          <a:p>
            <a:endParaRPr/>
          </a:p>
          <a:p>
            <a:r>
              <a:t>La question de départ est simple : comment assurer la continuité du suivi lorsqu’un dossier traverse plusieurs étapes et plusieurs outils ?</a:t>
            </a:r>
          </a:p>
          <a:p>
            <a:endParaRPr/>
          </a:p>
          <a:p>
            <a:r>
              <a:t>Sources : Rapport, introduction et problématique.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a:endParaRPr/>
          </a:p>
          <a:p>
            <a:r>
              <a:t>Sources : Rapport, sections 1.1 et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Le projet doit automatiser les opérations répétitives tout en laissant les décisions et la négociation au commercial.</a:t>
            </a:r>
          </a:p>
          <a:p>
            <a:endParaRPr/>
          </a:p>
          <a:p>
            <a:r>
              <a:t>Sources : Rapport, section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a:endParaRPr/>
          </a:p>
          <a:p>
            <a:r>
              <a:t>Sources : Rapport, sections 1.2.3 et 3.2.2.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a:endParaRPr/>
          </a:p>
          <a:p>
            <a:r>
              <a:t>Sources : README.md, app.py, run_pipeline.py et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35 secondes.</a:t>
            </a:r>
          </a:p>
          <a:p>
            <a:endParaRPr/>
          </a:p>
          <a:p>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a:endParaRPr/>
          </a:p>
          <a:p>
            <a:r>
              <a:t>Sources : Rapport, section 1.3.</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La conception traduit les besoins métier en étapes, en données et en interactions entre les composants.</a:t>
            </a:r>
          </a:p>
          <a:p>
            <a:endParaRPr/>
          </a:p>
          <a:p>
            <a:r>
              <a:t>Sources : Rapport, chapitre 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a:endParaRPr/>
          </a:p>
          <a:p>
            <a:r>
              <a:t>Sources : run_e1_content.py, run_e2_multichannel.py, run_pipeline.py,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a:endParaRPr/>
          </a:p>
          <a:p>
            <a:r>
              <a:t>Sources : app.py, config.py. Rapport, sections 2.1.3 et 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a:endParaRPr/>
          </a:p>
          <a:p>
            <a:r>
              <a:t>Sources : airtable_client.py, pipeline_utils.py,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a:endParaRPr/>
          </a:p>
          <a:p>
            <a:r>
              <a:t>Sources : scoring.py, tests/test_business_rules.py.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a:endParaRPr/>
          </a:p>
          <a:p>
            <a:r>
              <a:t>Sources : run_pipeline.py, run_e6_proposal.py,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a:endParaRPr/>
          </a:p>
          <a:p>
            <a:r>
              <a:t>Sources : app.py, config.py, run_pipeline.py, email_sender.py, whatsapp_sender.py, pdf_theme.py.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Je passe maintenant aux choix de réalisation et aux résultats concrets du projet.</a:t>
            </a:r>
          </a:p>
          <a:p>
            <a:endParaRPr/>
          </a:p>
          <a:p>
            <a:r>
              <a:t>Sources : Rapport, chapitre 4.</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a:endParaRPr/>
          </a:p>
          <a:p>
            <a:r>
              <a:t>Sources : requirements.txt, generation_contenu.py, app.py, pdf_theme.py et adaptateurs d’envoi.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80 secondes.</a:t>
            </a:r>
          </a:p>
          <a:p>
            <a:endParaRPr/>
          </a:p>
          <a:p>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a:endParaRPr/>
          </a:p>
          <a:p>
            <a:r>
              <a:t>Sources : app.py. Capture locale dashboard.png, données de démonstration.</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a:endParaRPr/>
          </a:p>
          <a:p>
            <a:r>
              <a:t>Sources : proposal_generator.py, contract_generator.py, commercial_templates.py, run_e8_contract.py. Exemples locaux sans valeur commerciale.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a:endParaRPr/>
          </a:p>
          <a:p>
            <a:r>
              <a:t>Sources : tests/test_business_rules.py. Vérifications locales réalisées pour le rapport le 17 septembre 2026.</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a:endParaRPr/>
          </a:p>
          <a:p>
            <a:r>
              <a:t>Sources : Rapport, sections 3.2.4 et 4.3.2. État du code analysé.</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a:endParaRPr/>
          </a:p>
          <a:p>
            <a:r>
              <a:t>Sources : Rapport, conclusion générale et perspectives.</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Références techniques du projet.</a:t>
            </a:r>
          </a:p>
          <a:p xmlns:a="http://schemas.openxmlformats.org/drawingml/2006/main">
            <a:r>
              <a:t>Python : https://docs.python.org/3/</a:t>
            </a:r>
          </a:p>
          <a:p xmlns:a="http://schemas.openxmlformats.org/drawingml/2006/main">
            <a:r>
              <a:t>Airtable Web API : https://airtable.com/developers/web/api/introduction</a:t>
            </a:r>
          </a:p>
          <a:p xmlns:a="http://schemas.openxmlformats.org/drawingml/2006/main">
            <a:r>
              <a:t>Groq : https://console.groq.com/docs/overview</a:t>
            </a:r>
          </a:p>
          <a:p xmlns:a="http://schemas.openxmlformats.org/drawingml/2006/main">
            <a:r>
              <a:t>Streamlit : https://docs.streamlit.io/</a:t>
            </a:r>
          </a:p>
          <a:p xmlns:a="http://schemas.openxmlformats.org/drawingml/2006/main">
            <a:r>
              <a:t>ReportLab : https://docs.reportlab.com/</a:t>
            </a:r>
          </a:p>
          <a:p xmlns:a="http://schemas.openxmlformats.org/drawingml/2006/main">
            <a:r>
              <a:t>Documentation interne : rapport de stage et code source ADG-10.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vous remercie pour votre attention. Je suis à votre disposition pour répondre à vos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ResearchBg" Type="http://schemas.openxmlformats.org/officeDocument/2006/relationships/image" Target="../media/research-hero.png"/><Relationship Id="rIdWorkflowBg" Type="http://schemas.openxmlformats.org/officeDocument/2006/relationships/image" Target="../media/workflow-background.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workflow-background.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workflow-background.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workflow-background.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workflow-background.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ResearchBg" Type="http://schemas.openxmlformats.org/officeDocument/2006/relationships/image" Target="../media/research-content.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workflow-background.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NotesAdded" Type="http://schemas.openxmlformats.org/officeDocument/2006/relationships/notesSlide" Target="../notesSlides/notesSlide23.xml"/><Relationship Id="rIdResearchBg" Type="http://schemas.openxmlformats.org/officeDocument/2006/relationships/image" Target="../media/research-content.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NotesAdded" Type="http://schemas.openxmlformats.org/officeDocument/2006/relationships/notesSlide" Target="../notesSlides/notesSlide24.xml"/><Relationship Id="rIdResearchBg" Type="http://schemas.openxmlformats.org/officeDocument/2006/relationships/image" Target="../media/research-hero.png"/><Relationship Id="rIdWorkflowBg" Type="http://schemas.openxmlformats.org/officeDocument/2006/relationships/image" Target="../media/workflow-background.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C8DEFA67-796F-4A0D-9A37-28F309C5167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1 / 22">
            <a:extLst>
              <a:ext uri="{FF2B5EF4-FFF2-40B4-BE49-F238E27FC236}">
                <a16:creationId xmlns:a16="http://schemas.microsoft.com/office/drawing/2014/main" id="{D705FD00-4DBA-46E7-86F0-86F405DFFF91}"/>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01 / 24</a:t>
            </a:r>
          </a:p>
        </p:txBody>
      </p:sp>
      <p:sp>
        <p:nvSpPr>
          <p:cNvPr id="4" name="SOUTENANCE DU PROJET DE FIN D’ANNÉE">
            <a:extLst>
              <a:ext uri="{FF2B5EF4-FFF2-40B4-BE49-F238E27FC236}">
                <a16:creationId xmlns:a16="http://schemas.microsoft.com/office/drawing/2014/main" id="{2A13F122-0E6D-454F-BF87-B152B851B813}"/>
              </a:ext>
            </a:extLst>
          </p:cNvPr>
          <p:cNvSpPr>
            <a:spLocks noGrp="1"/>
          </p:cNvSpPr>
          <p:nvPr/>
        </p:nvSpPr>
        <p:spPr>
          <a:xfrm>
            <a:off x="1000125" y="2619375"/>
            <a:ext cx="10477500" cy="619125"/>
          </a:xfrm>
          <a:prstGeom prst="rect">
            <a:avLst/>
          </a:prstGeom>
          <a:noFill/>
          <a:ln w="0">
            <a:noFill/>
          </a:ln>
        </p:spPr>
        <p:txBody>
          <a:bodyPr wrap="square" lIns="0" tIns="0" rIns="0" bIns="0" anchor="ctr">
            <a:noAutofit/>
          </a:bodyPr>
          <a:lstStyle/>
          <a:p>
            <a:pPr algn="l">
              <a:defRPr sz="2250" b="1">
                <a:solidFill>
                  <a:srgbClr val="686B67"/>
                </a:solidFill>
                <a:latin typeface="Calibri"/>
                <a:ea typeface="Calibri"/>
                <a:cs typeface="Calibri"/>
              </a:defRPr>
            </a:pPr>
            <a:r>
              <a:rPr sz="2250" b="1">
                <a:solidFill>
                  <a:srgbClr val="686B67"/>
                </a:solidFill>
                <a:latin typeface="Calibri"/>
                <a:ea typeface="Calibri"/>
                <a:cs typeface="Calibri"/>
              </a:rPr>
              <a:t>SOUTENANCE DU PROJET DE FIN D’ANNÉE</a:t>
            </a:r>
          </a:p>
        </p:txBody>
      </p:sp>
      <p:sp>
        <p:nvSpPr>
          <p:cNvPr id="5" name="ADG-10">
            <a:extLst>
              <a:ext uri="{FF2B5EF4-FFF2-40B4-BE49-F238E27FC236}">
                <a16:creationId xmlns:a16="http://schemas.microsoft.com/office/drawing/2014/main" id="{E00372D1-C5C9-42EA-894B-7184DF262654}"/>
              </a:ext>
            </a:extLst>
          </p:cNvPr>
          <p:cNvSpPr>
            <a:spLocks noGrp="1"/>
          </p:cNvSpPr>
          <p:nvPr/>
        </p:nvSpPr>
        <p:spPr>
          <a:xfrm>
            <a:off x="952500" y="3429000"/>
            <a:ext cx="9715500" cy="1571625"/>
          </a:xfrm>
          <a:prstGeom prst="rect">
            <a:avLst/>
          </a:prstGeom>
          <a:noFill/>
          <a:ln w="0">
            <a:noFill/>
          </a:ln>
        </p:spPr>
        <p:txBody>
          <a:bodyPr wrap="square" lIns="0" tIns="0" rIns="0" bIns="0" anchor="ctr">
            <a:noAutofit/>
          </a:bodyPr>
          <a:lstStyle/>
          <a:p>
            <a:pPr algn="l">
              <a:defRPr sz="10200" b="1">
                <a:solidFill>
                  <a:srgbClr val="414548"/>
                </a:solidFill>
                <a:latin typeface="Calibri"/>
                <a:ea typeface="Calibri"/>
                <a:cs typeface="Calibri"/>
              </a:defRPr>
            </a:pPr>
            <a:r>
              <a:rPr sz="10200" b="1">
                <a:solidFill>
                  <a:srgbClr val="414548"/>
                </a:solidFill>
                <a:latin typeface="Calibri"/>
                <a:ea typeface="Calibri"/>
                <a:cs typeface="Calibri"/>
              </a:rPr>
              <a:t>ADG-10</a:t>
            </a:r>
          </a:p>
        </p:txBody>
      </p:sp>
      <p:sp>
        <p:nvSpPr>
          <p:cNvPr id="6" name="Automatisation du cycle&#10;commercial des formations">
            <a:extLst>
              <a:ext uri="{FF2B5EF4-FFF2-40B4-BE49-F238E27FC236}">
                <a16:creationId xmlns:a16="http://schemas.microsoft.com/office/drawing/2014/main" id="{5045A703-DAB6-469A-B802-21CFE1A572E9}"/>
              </a:ext>
            </a:extLst>
          </p:cNvPr>
          <p:cNvSpPr>
            <a:spLocks noGrp="1"/>
          </p:cNvSpPr>
          <p:nvPr/>
        </p:nvSpPr>
        <p:spPr>
          <a:xfrm>
            <a:off x="1000125" y="5095875"/>
            <a:ext cx="10287000" cy="1571625"/>
          </a:xfrm>
          <a:prstGeom prst="rect">
            <a:avLst/>
          </a:prstGeom>
          <a:noFill/>
          <a:ln w="0">
            <a:noFill/>
          </a:ln>
        </p:spPr>
        <p:txBody>
          <a:bodyPr wrap="square" lIns="0" tIns="0" rIns="0" bIns="0" anchor="ctr">
            <a:noAutofit/>
          </a:bodyPr>
          <a:lstStyle/>
          <a:p>
            <a:pPr algn="l">
              <a:defRPr sz="4500" b="1">
                <a:solidFill>
                  <a:srgbClr val="414548"/>
                </a:solidFill>
                <a:latin typeface="Calibri"/>
                <a:ea typeface="Calibri"/>
                <a:cs typeface="Calibri"/>
              </a:defRPr>
            </a:pPr>
            <a:r>
              <a:rPr sz="4500" b="1">
                <a:solidFill>
                  <a:srgbClr val="414548"/>
                </a:solidFill>
                <a:latin typeface="Calibri"/>
                <a:ea typeface="Calibri"/>
                <a:cs typeface="Calibri"/>
              </a:rPr>
              <a:t>Automatisation du cycle</a:t>
            </a:r>
          </a:p>
          <a:p>
            <a:pPr algn="l">
              <a:defRPr sz="4500" b="1">
                <a:solidFill>
                  <a:srgbClr val="414548"/>
                </a:solidFill>
                <a:latin typeface="Calibri"/>
                <a:ea typeface="Calibri"/>
                <a:cs typeface="Calibri"/>
              </a:defRPr>
            </a:pPr>
            <a:r>
              <a:rPr sz="4500" b="1">
                <a:solidFill>
                  <a:srgbClr val="414548"/>
                </a:solidFill>
                <a:latin typeface="Calibri"/>
                <a:ea typeface="Calibri"/>
                <a:cs typeface="Calibri"/>
              </a:rPr>
              <a:t>commercial des formations</a:t>
            </a:r>
          </a:p>
        </p:txBody>
      </p:sp>
      <p:sp>
        <p:nvSpPr>
          <p:cNvPr id="7" name="Présenté par Yassine FATNAOUI">
            <a:extLst>
              <a:ext uri="{FF2B5EF4-FFF2-40B4-BE49-F238E27FC236}">
                <a16:creationId xmlns:a16="http://schemas.microsoft.com/office/drawing/2014/main" id="{EFAEF88D-D3C4-4834-9233-9F8FB8B39F67}"/>
              </a:ext>
            </a:extLst>
          </p:cNvPr>
          <p:cNvSpPr>
            <a:spLocks noGrp="1"/>
          </p:cNvSpPr>
          <p:nvPr/>
        </p:nvSpPr>
        <p:spPr>
          <a:xfrm>
            <a:off x="1000125" y="7239000"/>
            <a:ext cx="10382250" cy="952500"/>
          </a:xfrm>
          <a:prstGeom prst="rect">
            <a:avLst/>
          </a:prstGeom>
          <a:noFill/>
          <a:ln w="0">
            <a:noFill/>
          </a:ln>
        </p:spPr>
        <p:txBody>
          <a:bodyPr wrap="square" lIns="0" tIns="0" rIns="0" bIns="0" anchor="ctr">
            <a:noAutofit/>
          </a:bodyPr>
          <a:lstStyle/>
          <a:p>
            <a:pPr algn="l">
              <a:defRPr sz="2475" b="0">
                <a:solidFill>
                  <a:srgbClr val="414548"/>
                </a:solidFill>
                <a:latin typeface="Calibri"/>
                <a:ea typeface="Calibri"/>
                <a:cs typeface="Calibri"/>
              </a:defRPr>
            </a:pPr>
            <a:r>
              <a:rPr sz="2475" b="0" dirty="0" err="1">
                <a:solidFill>
                  <a:srgbClr val="414548"/>
                </a:solidFill>
                <a:latin typeface="Calibri"/>
                <a:ea typeface="Calibri"/>
                <a:cs typeface="Calibri"/>
              </a:rPr>
              <a:t>Présenté</a:t>
            </a:r>
            <a:r>
              <a:rPr sz="2475" b="0" dirty="0">
                <a:solidFill>
                  <a:srgbClr val="414548"/>
                </a:solidFill>
                <a:latin typeface="Calibri"/>
                <a:ea typeface="Calibri"/>
                <a:cs typeface="Calibri"/>
              </a:rPr>
              <a:t> par </a:t>
            </a:r>
            <a:r>
              <a:rPr lang="en-GB" sz="2475" b="0" dirty="0">
                <a:solidFill>
                  <a:srgbClr val="414548"/>
                </a:solidFill>
                <a:latin typeface="Calibri"/>
                <a:ea typeface="Calibri"/>
                <a:cs typeface="Calibri"/>
              </a:rPr>
              <a:t>:</a:t>
            </a:r>
          </a:p>
          <a:p>
            <a:pPr algn="l">
              <a:defRPr sz="2475" b="0">
                <a:solidFill>
                  <a:srgbClr val="414548"/>
                </a:solidFill>
                <a:latin typeface="Calibri"/>
                <a:ea typeface="Calibri"/>
                <a:cs typeface="Calibri"/>
              </a:defRPr>
            </a:pPr>
            <a:r>
              <a:rPr sz="2475" b="0" dirty="0">
                <a:solidFill>
                  <a:srgbClr val="414548"/>
                </a:solidFill>
                <a:latin typeface="Calibri"/>
                <a:ea typeface="Calibri"/>
                <a:cs typeface="Calibri"/>
              </a:rPr>
              <a:t>Yassine FATNAOUI</a:t>
            </a:r>
          </a:p>
        </p:txBody>
      </p:sp>
      <p:sp>
        <p:nvSpPr>
          <p:cNvPr id="8" name="Encadrants&#10;AZOUGUIGH El Houssaine&#10;BAILOUL Charaf Eddine">
            <a:extLst>
              <a:ext uri="{FF2B5EF4-FFF2-40B4-BE49-F238E27FC236}">
                <a16:creationId xmlns:a16="http://schemas.microsoft.com/office/drawing/2014/main" id="{1083EAA5-BE09-402E-AF16-7A96EC6629FE}"/>
              </a:ext>
            </a:extLst>
          </p:cNvPr>
          <p:cNvSpPr>
            <a:spLocks noGrp="1"/>
          </p:cNvSpPr>
          <p:nvPr/>
        </p:nvSpPr>
        <p:spPr>
          <a:xfrm>
            <a:off x="1000125" y="8191500"/>
            <a:ext cx="10382250" cy="1190625"/>
          </a:xfrm>
          <a:prstGeom prst="rect">
            <a:avLst/>
          </a:prstGeom>
          <a:noFill/>
          <a:ln w="0">
            <a:noFill/>
          </a:ln>
        </p:spPr>
        <p:txBody>
          <a:bodyPr wrap="square" lIns="0" tIns="0" rIns="0" bIns="0" anchor="ctr">
            <a:noAutofit/>
          </a:bodyPr>
          <a:lstStyle/>
          <a:p>
            <a:pPr lvl="0"/>
            <a:r>
              <a:rPr lang="fr-FR" sz="2180" dirty="0">
                <a:solidFill>
                  <a:srgbClr val="414548"/>
                </a:solidFill>
              </a:rPr>
              <a:t>Encadré par :</a:t>
            </a:r>
            <a:endParaRPr lang="en-GB" sz="2180" dirty="0">
              <a:solidFill>
                <a:srgbClr val="414548"/>
              </a:solidFill>
            </a:endParaRPr>
          </a:p>
          <a:p>
            <a:pPr algn="l">
              <a:defRPr sz="2175" b="0">
                <a:solidFill>
                  <a:srgbClr val="414548"/>
                </a:solidFill>
                <a:latin typeface="Calibri"/>
                <a:ea typeface="Calibri"/>
                <a:cs typeface="Calibri"/>
              </a:defRPr>
            </a:pPr>
            <a:r>
              <a:rPr sz="2175" b="0" dirty="0">
                <a:solidFill>
                  <a:srgbClr val="414548"/>
                </a:solidFill>
                <a:latin typeface="Calibri"/>
                <a:ea typeface="Calibri"/>
                <a:cs typeface="Calibri"/>
              </a:rPr>
              <a:t>AZOUGUIGH El </a:t>
            </a:r>
            <a:r>
              <a:rPr sz="2175" b="0" dirty="0" err="1">
                <a:solidFill>
                  <a:srgbClr val="414548"/>
                </a:solidFill>
                <a:latin typeface="Calibri"/>
                <a:ea typeface="Calibri"/>
                <a:cs typeface="Calibri"/>
              </a:rPr>
              <a:t>Houssaine</a:t>
            </a:r>
            <a:endParaRPr sz="2175" b="0" dirty="0">
              <a:solidFill>
                <a:srgbClr val="414548"/>
              </a:solidFill>
              <a:latin typeface="Calibri"/>
              <a:ea typeface="Calibri"/>
              <a:cs typeface="Calibri"/>
            </a:endParaRPr>
          </a:p>
          <a:p>
            <a:pPr algn="l">
              <a:defRPr sz="2175" b="0">
                <a:solidFill>
                  <a:srgbClr val="414548"/>
                </a:solidFill>
                <a:latin typeface="Calibri"/>
                <a:ea typeface="Calibri"/>
                <a:cs typeface="Calibri"/>
              </a:defRPr>
            </a:pPr>
            <a:r>
              <a:rPr sz="2175" b="0" dirty="0">
                <a:solidFill>
                  <a:srgbClr val="414548"/>
                </a:solidFill>
                <a:latin typeface="Calibri"/>
                <a:ea typeface="Calibri"/>
                <a:cs typeface="Calibri"/>
              </a:rPr>
              <a:t>BAILOUL Charaf Eddine</a:t>
            </a:r>
          </a:p>
        </p:txBody>
      </p:sp>
      <p:sp>
        <p:nvSpPr>
          <p:cNvPr id="9" name="Année universitaire 2025-2026">
            <a:extLst>
              <a:ext uri="{FF2B5EF4-FFF2-40B4-BE49-F238E27FC236}">
                <a16:creationId xmlns:a16="http://schemas.microsoft.com/office/drawing/2014/main" id="{726EFBE4-490B-4797-B56A-1BFA452CDE02}"/>
              </a:ext>
            </a:extLst>
          </p:cNvPr>
          <p:cNvSpPr>
            <a:spLocks noGrp="1"/>
          </p:cNvSpPr>
          <p:nvPr/>
        </p:nvSpPr>
        <p:spPr>
          <a:xfrm>
            <a:off x="1000125" y="9696450"/>
            <a:ext cx="8572500" cy="323850"/>
          </a:xfrm>
          <a:prstGeom prst="rect">
            <a:avLst/>
          </a:prstGeom>
          <a:noFill/>
          <a:ln w="0">
            <a:noFill/>
          </a:ln>
        </p:spPr>
        <p:txBody>
          <a:bodyPr wrap="square" lIns="0" tIns="0" rIns="0" bIns="0" anchor="ctr">
            <a:noAutofit/>
          </a:bodyPr>
          <a:lstStyle/>
          <a:p>
            <a:pPr algn="l">
              <a:defRPr sz="1650" b="0">
                <a:solidFill>
                  <a:srgbClr val="686B67"/>
                </a:solidFill>
                <a:latin typeface="Calibri"/>
                <a:ea typeface="Calibri"/>
                <a:cs typeface="Calibri"/>
              </a:defRPr>
            </a:pPr>
            <a:r>
              <a:rPr sz="1650" b="0">
                <a:solidFill>
                  <a:srgbClr val="686B67"/>
                </a:solidFill>
                <a:latin typeface="Calibri"/>
                <a:ea typeface="Calibri"/>
                <a:cs typeface="Calibri"/>
              </a:rPr>
              <a:t>Année universitaire 2025-2026</a:t>
            </a:r>
          </a:p>
        </p:txBody>
      </p:sp>
      <p:pic>
        <p:nvPicPr>
          <p:cNvPr id="11" name="object 8">
            <a:extLst>
              <a:ext uri="{FF2B5EF4-FFF2-40B4-BE49-F238E27FC236}">
                <a16:creationId xmlns:a16="http://schemas.microsoft.com/office/drawing/2014/main" id="{4CE5F001-85FF-F843-D51A-8D1DF1E4B8C2}"/>
              </a:ext>
            </a:extLst>
          </p:cNvPr>
          <p:cNvPicPr/>
          <p:nvPr/>
        </p:nvPicPr>
        <p:blipFill>
          <a:blip r:embed="rId4" cstate="print"/>
          <a:stretch>
            <a:fillRect/>
          </a:stretch>
        </p:blipFill>
        <p:spPr>
          <a:xfrm>
            <a:off x="1316355" y="1381125"/>
            <a:ext cx="3892867" cy="974406"/>
          </a:xfrm>
          <a:prstGeom prst="rect">
            <a:avLst/>
          </a:prstGeom>
        </p:spPr>
      </p:pic>
      <p:pic>
        <p:nvPicPr>
          <p:cNvPr id="13" name="Image 12">
            <a:extLst>
              <a:ext uri="{FF2B5EF4-FFF2-40B4-BE49-F238E27FC236}">
                <a16:creationId xmlns:a16="http://schemas.microsoft.com/office/drawing/2014/main" id="{0D0B3C35-DB99-2EEE-7178-D8E0B967C0E9}"/>
              </a:ext>
            </a:extLst>
          </p:cNvPr>
          <p:cNvPicPr>
            <a:picLocks noChangeAspect="1"/>
          </p:cNvPicPr>
          <p:nvPr/>
        </p:nvPicPr>
        <p:blipFill>
          <a:blip r:embed="rId5"/>
          <a:stretch>
            <a:fillRect/>
          </a:stretch>
        </p:blipFill>
        <p:spPr>
          <a:xfrm>
            <a:off x="8012332" y="1381125"/>
            <a:ext cx="2263336" cy="929721"/>
          </a:xfrm>
          <a:prstGeom prst="rect">
            <a:avLst/>
          </a:prstGeom>
        </p:spPr>
      </p:pic>
    </p:spTree>
    <p:extLst>
      <p:ext uri="{BB962C8B-B14F-4D97-AF65-F5344CB8AC3E}">
        <p14:creationId xmlns:p14="http://schemas.microsoft.com/office/powerpoint/2010/main" val="182637851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9137AF4E-6450-45B8-920F-1037DEC5DB55}"/>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2 / 22">
            <a:extLst>
              <a:ext uri="{FF2B5EF4-FFF2-40B4-BE49-F238E27FC236}">
                <a16:creationId xmlns:a16="http://schemas.microsoft.com/office/drawing/2014/main" id="{30BACA2D-AADA-49F8-8F0C-C55BA68FEAAA}"/>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02 / 24</a:t>
            </a:r>
          </a:p>
        </p:txBody>
      </p:sp>
      <p:sp>
        <p:nvSpPr>
          <p:cNvPr id="4" name="Plan de la présentation">
            <a:extLst>
              <a:ext uri="{FF2B5EF4-FFF2-40B4-BE49-F238E27FC236}">
                <a16:creationId xmlns:a16="http://schemas.microsoft.com/office/drawing/2014/main" id="{760C1532-044A-4DDF-8742-86C2956E7DA5}"/>
              </a:ext>
            </a:extLst>
          </p:cNvPr>
          <p:cNvSpPr>
            <a:spLocks noGrp="1"/>
          </p:cNvSpPr>
          <p:nvPr/>
        </p:nvSpPr>
        <p:spPr>
          <a:xfrm>
            <a:off x="952500" y="1905000"/>
            <a:ext cx="10477500" cy="1000125"/>
          </a:xfrm>
          <a:prstGeom prst="rect">
            <a:avLst/>
          </a:prstGeom>
          <a:noFill/>
          <a:ln w="0">
            <a:noFill/>
          </a:ln>
        </p:spPr>
        <p:txBody>
          <a:bodyPr wrap="square" lIns="0" tIns="0" rIns="0" bIns="0" anchor="ctr">
            <a:noAutofit/>
          </a:bodyPr>
          <a:lstStyle/>
          <a:p>
            <a:pPr algn="l">
              <a:defRPr sz="5250" b="1">
                <a:solidFill>
                  <a:srgbClr val="414548"/>
                </a:solidFill>
                <a:latin typeface="Calibri"/>
                <a:ea typeface="Calibri"/>
                <a:cs typeface="Calibri"/>
              </a:defRPr>
            </a:pPr>
            <a:r>
              <a:rPr sz="5250" b="1">
                <a:solidFill>
                  <a:srgbClr val="414548"/>
                </a:solidFill>
                <a:latin typeface="Calibri"/>
                <a:ea typeface="Calibri"/>
                <a:cs typeface="Calibri"/>
              </a:rPr>
              <a:t>Plan de la présentation</a:t>
            </a:r>
          </a:p>
        </p:txBody>
      </p:sp>
      <p:sp>
        <p:nvSpPr>
          <p:cNvPr id="5" name="01">
            <a:extLst>
              <a:ext uri="{FF2B5EF4-FFF2-40B4-BE49-F238E27FC236}">
                <a16:creationId xmlns:a16="http://schemas.microsoft.com/office/drawing/2014/main" id="{03CA72ED-CC82-47FA-8CAB-1B76BBFEA3F3}"/>
              </a:ext>
            </a:extLst>
          </p:cNvPr>
          <p:cNvSpPr>
            <a:spLocks noGrp="1"/>
          </p:cNvSpPr>
          <p:nvPr/>
        </p:nvSpPr>
        <p:spPr>
          <a:xfrm>
            <a:off x="2047875" y="3905250"/>
            <a:ext cx="1143000" cy="1143000"/>
          </a:xfrm>
          <a:prstGeom prst="ellipse">
            <a:avLst/>
          </a:prstGeom>
          <a:solidFill>
            <a:srgbClr val="5D818B"/>
          </a:solidFill>
          <a:ln w="19050">
            <a:solidFill>
              <a:srgbClr val="5D818B"/>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01</a:t>
            </a:r>
          </a:p>
        </p:txBody>
      </p:sp>
      <p:sp>
        <p:nvSpPr>
          <p:cNvPr id="6" name="Introduction">
            <a:extLst>
              <a:ext uri="{FF2B5EF4-FFF2-40B4-BE49-F238E27FC236}">
                <a16:creationId xmlns:a16="http://schemas.microsoft.com/office/drawing/2014/main" id="{1110382A-16EA-4FCF-858D-C1AD7C5FAA88}"/>
              </a:ext>
            </a:extLst>
          </p:cNvPr>
          <p:cNvSpPr>
            <a:spLocks noGrp="1"/>
          </p:cNvSpPr>
          <p:nvPr/>
        </p:nvSpPr>
        <p:spPr>
          <a:xfrm>
            <a:off x="119062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Introduction</a:t>
            </a:r>
          </a:p>
        </p:txBody>
      </p:sp>
      <p:sp>
        <p:nvSpPr>
          <p:cNvPr id="7" name="02">
            <a:extLst>
              <a:ext uri="{FF2B5EF4-FFF2-40B4-BE49-F238E27FC236}">
                <a16:creationId xmlns:a16="http://schemas.microsoft.com/office/drawing/2014/main" id="{322D5BAC-7BE4-4DD1-9A80-16E573A2AD9A}"/>
              </a:ext>
            </a:extLst>
          </p:cNvPr>
          <p:cNvSpPr>
            <a:spLocks noGrp="1"/>
          </p:cNvSpPr>
          <p:nvPr/>
        </p:nvSpPr>
        <p:spPr>
          <a:xfrm>
            <a:off x="5305425" y="3905250"/>
            <a:ext cx="1143000" cy="1143000"/>
          </a:xfrm>
          <a:prstGeom prst="ellipse">
            <a:avLst/>
          </a:prstGeom>
          <a:solidFill>
            <a:srgbClr val="A65A43"/>
          </a:solidFill>
          <a:ln w="19050">
            <a:solidFill>
              <a:srgbClr val="A65A43"/>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02</a:t>
            </a:r>
          </a:p>
        </p:txBody>
      </p:sp>
      <p:sp>
        <p:nvSpPr>
          <p:cNvPr id="8" name="Contexte général du projet">
            <a:extLst>
              <a:ext uri="{FF2B5EF4-FFF2-40B4-BE49-F238E27FC236}">
                <a16:creationId xmlns:a16="http://schemas.microsoft.com/office/drawing/2014/main" id="{3602BC88-B748-43F1-8B31-BDB2D4011444}"/>
              </a:ext>
            </a:extLst>
          </p:cNvPr>
          <p:cNvSpPr>
            <a:spLocks noGrp="1"/>
          </p:cNvSpPr>
          <p:nvPr/>
        </p:nvSpPr>
        <p:spPr>
          <a:xfrm>
            <a:off x="444817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Contexte général du projet</a:t>
            </a:r>
          </a:p>
        </p:txBody>
      </p:sp>
      <p:sp>
        <p:nvSpPr>
          <p:cNvPr id="9" name="03">
            <a:extLst>
              <a:ext uri="{FF2B5EF4-FFF2-40B4-BE49-F238E27FC236}">
                <a16:creationId xmlns:a16="http://schemas.microsoft.com/office/drawing/2014/main" id="{C08DA630-EB3C-4D25-BA08-6048D0AA6979}"/>
              </a:ext>
            </a:extLst>
          </p:cNvPr>
          <p:cNvSpPr>
            <a:spLocks noGrp="1"/>
          </p:cNvSpPr>
          <p:nvPr/>
        </p:nvSpPr>
        <p:spPr>
          <a:xfrm>
            <a:off x="8562975" y="3905250"/>
            <a:ext cx="1143000" cy="1143000"/>
          </a:xfrm>
          <a:prstGeom prst="ellipse">
            <a:avLst/>
          </a:prstGeom>
          <a:solidFill>
            <a:srgbClr val="414548"/>
          </a:solidFill>
          <a:ln w="19050">
            <a:solidFill>
              <a:srgbClr val="414548"/>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03</a:t>
            </a:r>
          </a:p>
        </p:txBody>
      </p:sp>
      <p:sp>
        <p:nvSpPr>
          <p:cNvPr id="10" name="Étude conceptuelle de la solution">
            <a:extLst>
              <a:ext uri="{FF2B5EF4-FFF2-40B4-BE49-F238E27FC236}">
                <a16:creationId xmlns:a16="http://schemas.microsoft.com/office/drawing/2014/main" id="{0A8F00BD-24AF-48EB-AFBE-5FB8FF5B78DB}"/>
              </a:ext>
            </a:extLst>
          </p:cNvPr>
          <p:cNvSpPr>
            <a:spLocks noGrp="1"/>
          </p:cNvSpPr>
          <p:nvPr/>
        </p:nvSpPr>
        <p:spPr>
          <a:xfrm>
            <a:off x="770572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Étude conceptuelle de la solution</a:t>
            </a:r>
          </a:p>
        </p:txBody>
      </p:sp>
      <p:sp>
        <p:nvSpPr>
          <p:cNvPr id="11" name="04">
            <a:extLst>
              <a:ext uri="{FF2B5EF4-FFF2-40B4-BE49-F238E27FC236}">
                <a16:creationId xmlns:a16="http://schemas.microsoft.com/office/drawing/2014/main" id="{129C883D-6078-437E-8339-D0AC3EF07F9C}"/>
              </a:ext>
            </a:extLst>
          </p:cNvPr>
          <p:cNvSpPr>
            <a:spLocks noGrp="1"/>
          </p:cNvSpPr>
          <p:nvPr/>
        </p:nvSpPr>
        <p:spPr>
          <a:xfrm>
            <a:off x="11820525" y="3905250"/>
            <a:ext cx="1143000" cy="1143000"/>
          </a:xfrm>
          <a:prstGeom prst="ellipse">
            <a:avLst/>
          </a:prstGeom>
          <a:solidFill>
            <a:srgbClr val="A47A3E"/>
          </a:solidFill>
          <a:ln w="19050">
            <a:solidFill>
              <a:srgbClr val="A47A3E"/>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04</a:t>
            </a:r>
          </a:p>
        </p:txBody>
      </p:sp>
      <p:sp>
        <p:nvSpPr>
          <p:cNvPr id="12" name="Réalisation et mise en œuvre">
            <a:extLst>
              <a:ext uri="{FF2B5EF4-FFF2-40B4-BE49-F238E27FC236}">
                <a16:creationId xmlns:a16="http://schemas.microsoft.com/office/drawing/2014/main" id="{A5198FA3-62FC-4CE4-AA9D-6C8E58F2E19B}"/>
              </a:ext>
            </a:extLst>
          </p:cNvPr>
          <p:cNvSpPr>
            <a:spLocks noGrp="1"/>
          </p:cNvSpPr>
          <p:nvPr/>
        </p:nvSpPr>
        <p:spPr>
          <a:xfrm>
            <a:off x="1096327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Réalisation et mise en œuvre</a:t>
            </a:r>
          </a:p>
        </p:txBody>
      </p:sp>
      <p:sp>
        <p:nvSpPr>
          <p:cNvPr id="13" name="05">
            <a:extLst>
              <a:ext uri="{FF2B5EF4-FFF2-40B4-BE49-F238E27FC236}">
                <a16:creationId xmlns:a16="http://schemas.microsoft.com/office/drawing/2014/main" id="{5FB35BAA-A28A-46C0-9570-5BD29E593420}"/>
              </a:ext>
            </a:extLst>
          </p:cNvPr>
          <p:cNvSpPr>
            <a:spLocks noGrp="1"/>
          </p:cNvSpPr>
          <p:nvPr/>
        </p:nvSpPr>
        <p:spPr>
          <a:xfrm>
            <a:off x="15078075" y="3905250"/>
            <a:ext cx="1143000" cy="1143000"/>
          </a:xfrm>
          <a:prstGeom prst="ellipse">
            <a:avLst/>
          </a:prstGeom>
          <a:solidFill>
            <a:srgbClr val="5D818B"/>
          </a:solidFill>
          <a:ln w="19050">
            <a:solidFill>
              <a:srgbClr val="5D818B"/>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05</a:t>
            </a:r>
          </a:p>
        </p:txBody>
      </p:sp>
      <p:sp>
        <p:nvSpPr>
          <p:cNvPr id="14" name="Conclusion et perspectives">
            <a:extLst>
              <a:ext uri="{FF2B5EF4-FFF2-40B4-BE49-F238E27FC236}">
                <a16:creationId xmlns:a16="http://schemas.microsoft.com/office/drawing/2014/main" id="{AD7D544C-F534-4E0C-8C87-C96E772FCBE5}"/>
              </a:ext>
            </a:extLst>
          </p:cNvPr>
          <p:cNvSpPr>
            <a:spLocks noGrp="1"/>
          </p:cNvSpPr>
          <p:nvPr/>
        </p:nvSpPr>
        <p:spPr>
          <a:xfrm>
            <a:off x="1422082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Conclusion et perspectives</a:t>
            </a:r>
          </a:p>
        </p:txBody>
      </p:sp>
    </p:spTree>
    <p:extLst>
      <p:ext uri="{BB962C8B-B14F-4D97-AF65-F5344CB8AC3E}">
        <p14:creationId xmlns:p14="http://schemas.microsoft.com/office/powerpoint/2010/main" val="69183114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9"/>
                                  </p:tgtEl>
                                  <p:attrNameLst>
                                    <p:attrName>style.visibility</p:attrName>
                                  </p:attrNameLst>
                                </p:cBhvr>
                                <p:to>
                                  <p:strVal val="visible"/>
                                </p:to>
                              </p:set>
                              <p:animEffect transition="in" filter="wipe(right)">
                                <p:cBhvr>
                                  <p:cTn id="26" dur="550" fill="hold"/>
                                  <p:tgtEl>
                                    <p:spTgt spid="9"/>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10"/>
                                  </p:tgtEl>
                                  <p:attrNameLst>
                                    <p:attrName>style.visibility</p:attrName>
                                  </p:attrNameLst>
                                </p:cBhvr>
                                <p:to>
                                  <p:strVal val="visible"/>
                                </p:to>
                              </p:set>
                              <p:animEffect transition="in" filter="wipe(right)">
                                <p:cBhvr>
                                  <p:cTn id="30" dur="550" fill="hold"/>
                                  <p:tgtEl>
                                    <p:spTgt spid="10"/>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1"/>
                                  </p:tgtEl>
                                  <p:attrNameLst>
                                    <p:attrName>style.visibility</p:attrName>
                                  </p:attrNameLst>
                                </p:cBhvr>
                                <p:to>
                                  <p:strVal val="visible"/>
                                </p:to>
                              </p:set>
                              <p:animEffect transition="in" filter="wipe(right)">
                                <p:cBhvr>
                                  <p:cTn id="34" dur="550" fill="hold"/>
                                  <p:tgtEl>
                                    <p:spTgt spid="11"/>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2"/>
                                  </p:tgtEl>
                                  <p:attrNameLst>
                                    <p:attrName>style.visibility</p:attrName>
                                  </p:attrNameLst>
                                </p:cBhvr>
                                <p:to>
                                  <p:strVal val="visible"/>
                                </p:to>
                              </p:set>
                              <p:animEffect transition="in" filter="wipe(right)">
                                <p:cBhvr>
                                  <p:cTn id="38" dur="550" fill="hold"/>
                                  <p:tgtEl>
                                    <p:spTgt spid="12"/>
                                  </p:tgtEl>
                                </p:cBhvr>
                              </p:animEffect>
                            </p:childTnLst>
                          </p:cTn>
                        </p:par>
                      </p:childTnLst>
                    </p:cTn>
                  </p:par>
                  <p:par>
                    <p:cTn id="39" fill="hold">
                      <p:stCondLst>
                        <p:cond delay="730"/>
                      </p:stCondLst>
                      <p:childTnLst>
                        <p:par>
                          <p:cTn id="40" presetID="22" presetClass="entr" presetSubtype="1" fill="hold" nodeType="withEffect">
                            <p:stCondLst>
                              <p:cond delay="0"/>
                            </p:stCondLst>
                            <p:childTnLst>
                              <p:set>
                                <p:cBhvr>
                                  <p:cTn id="41" dur="1" fill="hold"/>
                                  <p:tgtEl>
                                    <p:spTgt spid="13"/>
                                  </p:tgtEl>
                                  <p:attrNameLst>
                                    <p:attrName>style.visibility</p:attrName>
                                  </p:attrNameLst>
                                </p:cBhvr>
                                <p:to>
                                  <p:strVal val="visible"/>
                                </p:to>
                              </p:set>
                              <p:animEffect transition="in" filter="wipe(right)">
                                <p:cBhvr>
                                  <p:cTn id="42" dur="550" fill="hold"/>
                                  <p:tgtEl>
                                    <p:spTgt spid="13"/>
                                  </p:tgtEl>
                                </p:cBhvr>
                              </p:animEffect>
                            </p:childTnLst>
                          </p:cTn>
                        </p:par>
                      </p:childTnLst>
                    </p:cTn>
                  </p:par>
                  <p:par>
                    <p:cTn id="43" fill="hold">
                      <p:stCondLst>
                        <p:cond delay="730"/>
                      </p:stCondLst>
                      <p:childTnLst>
                        <p:par>
                          <p:cTn id="44" presetID="22" presetClass="entr" presetSubtype="1" fill="hold" nodeType="withEffect">
                            <p:stCondLst>
                              <p:cond delay="0"/>
                            </p:stCondLst>
                            <p:childTnLst>
                              <p:set>
                                <p:cBhvr>
                                  <p:cTn id="45" dur="1" fill="hold"/>
                                  <p:tgtEl>
                                    <p:spTgt spid="14"/>
                                  </p:tgtEl>
                                  <p:attrNameLst>
                                    <p:attrName>style.visibility</p:attrName>
                                  </p:attrNameLst>
                                </p:cBhvr>
                                <p:to>
                                  <p:strVal val="visible"/>
                                </p:to>
                              </p:set>
                              <p:animEffect transition="in" filter="wipe(right)">
                                <p:cBhvr>
                                  <p:cTn id="46"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5CA386B8-0655-4244-A0ED-C1627BC0CAD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3 / 22">
            <a:extLst>
              <a:ext uri="{FF2B5EF4-FFF2-40B4-BE49-F238E27FC236}">
                <a16:creationId xmlns:a16="http://schemas.microsoft.com/office/drawing/2014/main" id="{EBE46161-7143-406F-B61C-F60ED80AE45C}"/>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03 / 24</a:t>
            </a:r>
          </a:p>
        </p:txBody>
      </p:sp>
      <p:sp>
        <p:nvSpPr>
          <p:cNvPr id="4" name="01">
            <a:extLst>
              <a:ext uri="{FF2B5EF4-FFF2-40B4-BE49-F238E27FC236}">
                <a16:creationId xmlns:a16="http://schemas.microsoft.com/office/drawing/2014/main" id="{D18D63E6-3AF1-4FA9-8C30-FD1595DA04C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01</a:t>
            </a:r>
          </a:p>
        </p:txBody>
      </p:sp>
      <p:sp>
        <p:nvSpPr>
          <p:cNvPr id="5" name="Introduction">
            <a:extLst>
              <a:ext uri="{FF2B5EF4-FFF2-40B4-BE49-F238E27FC236}">
                <a16:creationId xmlns:a16="http://schemas.microsoft.com/office/drawing/2014/main" id="{3A880565-E8B8-4586-B973-1A37A4C9039B}"/>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Introduction</a:t>
            </a:r>
          </a:p>
        </p:txBody>
      </p:sp>
      <p:sp>
        <p:nvSpPr>
          <p:cNvPr id="6" name="Comment assurer un suivi cohérent&#10;du premier contact au">
            <a:extLst>
              <a:ext uri="{FF2B5EF4-FFF2-40B4-BE49-F238E27FC236}">
                <a16:creationId xmlns:a16="http://schemas.microsoft.com/office/drawing/2014/main" id="{C2383F8F-4C89-4A39-9003-8737184B1E21}"/>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Comment assurer un suivi cohérent</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du premier contact aux documents commerciaux ?</a:t>
            </a:r>
          </a:p>
        </p:txBody>
      </p:sp>
    </p:spTree>
    <p:extLst>
      <p:ext uri="{BB962C8B-B14F-4D97-AF65-F5344CB8AC3E}">
        <p14:creationId xmlns:p14="http://schemas.microsoft.com/office/powerpoint/2010/main" val="74979630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0" name="ADG-10  /  AUTOMATISATION DU CYCLE COMMERCIAL">
            <a:extLst>
              <a:ext uri="{FF2B5EF4-FFF2-40B4-BE49-F238E27FC236}">
                <a16:creationId xmlns:a16="http://schemas.microsoft.com/office/drawing/2014/main" id="{0C488777-26AE-41B0-B320-6C341B03DA8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4 / 22">
            <a:extLst>
              <a:ext uri="{FF2B5EF4-FFF2-40B4-BE49-F238E27FC236}">
                <a16:creationId xmlns:a16="http://schemas.microsoft.com/office/drawing/2014/main" id="{0277FBC1-6773-46A6-9857-0D6EB15E17C2}"/>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04 / 24</a:t>
            </a:r>
          </a:p>
        </p:txBody>
      </p:sp>
      <p:sp>
        <p:nvSpPr>
          <p:cNvPr id="3" name="Organisme d’accueil et besoin métier">
            <a:extLst>
              <a:ext uri="{FF2B5EF4-FFF2-40B4-BE49-F238E27FC236}">
                <a16:creationId xmlns:a16="http://schemas.microsoft.com/office/drawing/2014/main" id="{E5273644-82A0-4265-80EB-12B5CB2CCCD7}"/>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Organisme d’accueil et besoin métier</a:t>
            </a:r>
          </a:p>
        </p:txBody>
      </p:sp>
      <p:sp>
        <p:nvSpPr>
          <p:cNvPr id="4" name="01">
            <a:extLst>
              <a:ext uri="{FF2B5EF4-FFF2-40B4-BE49-F238E27FC236}">
                <a16:creationId xmlns:a16="http://schemas.microsoft.com/office/drawing/2014/main" id="{528B4E2A-9CF7-4BBA-A3E3-741CEDED490D}"/>
              </a:ext>
            </a:extLst>
          </p:cNvPr>
          <p:cNvSpPr>
            <a:spLocks noGrp="1"/>
          </p:cNvSpPr>
          <p:nvPr/>
        </p:nvSpPr>
        <p:spPr>
          <a:xfrm>
            <a:off x="1428750" y="3286125"/>
            <a:ext cx="952500" cy="952500"/>
          </a:xfrm>
          <a:prstGeom prst="ellipse">
            <a:avLst/>
          </a:prstGeom>
          <a:solidFill>
            <a:srgbClr val="5D818B"/>
          </a:solidFill>
          <a:ln w="19050">
            <a:solidFill>
              <a:srgbClr val="5D818B"/>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01</a:t>
            </a:r>
          </a:p>
        </p:txBody>
      </p:sp>
      <p:sp>
        <p:nvSpPr>
          <p:cNvPr id="5" name="ADBCENTER LOGISPLAN, dans l’environnement&#10;Adaoui Busine">
            <a:extLst>
              <a:ext uri="{FF2B5EF4-FFF2-40B4-BE49-F238E27FC236}">
                <a16:creationId xmlns:a16="http://schemas.microsoft.com/office/drawing/2014/main" id="{C40A0F94-5AD8-4960-B94F-4CF6C7E4F432}"/>
              </a:ext>
            </a:extLst>
          </p:cNvPr>
          <p:cNvSpPr>
            <a:spLocks noGrp="1"/>
          </p:cNvSpPr>
          <p:nvPr/>
        </p:nvSpPr>
        <p:spPr>
          <a:xfrm>
            <a:off x="2952750" y="300037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ADBCENTER LOGISPLAN, dans l’environnement</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Adaoui Business Centre à Agadir.</a:t>
            </a:r>
          </a:p>
        </p:txBody>
      </p:sp>
      <p:sp>
        <p:nvSpPr>
          <p:cNvPr id="6" name="02">
            <a:extLst>
              <a:ext uri="{FF2B5EF4-FFF2-40B4-BE49-F238E27FC236}">
                <a16:creationId xmlns:a16="http://schemas.microsoft.com/office/drawing/2014/main" id="{D4E55075-DAE2-4017-9D2F-C6C39E0CDBC8}"/>
              </a:ext>
            </a:extLst>
          </p:cNvPr>
          <p:cNvSpPr>
            <a:spLocks noGrp="1"/>
          </p:cNvSpPr>
          <p:nvPr/>
        </p:nvSpPr>
        <p:spPr>
          <a:xfrm>
            <a:off x="1428750" y="5095875"/>
            <a:ext cx="952500" cy="952500"/>
          </a:xfrm>
          <a:prstGeom prst="ellipse">
            <a:avLst/>
          </a:prstGeom>
          <a:solidFill>
            <a:srgbClr val="A65A43"/>
          </a:solidFill>
          <a:ln w="19050">
            <a:solidFill>
              <a:srgbClr val="A65A43"/>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02</a:t>
            </a:r>
          </a:p>
        </p:txBody>
      </p:sp>
      <p:sp>
        <p:nvSpPr>
          <p:cNvPr id="7" name="Activité : formation et accompagnement professionnel&#10;po">
            <a:extLst>
              <a:ext uri="{FF2B5EF4-FFF2-40B4-BE49-F238E27FC236}">
                <a16:creationId xmlns:a16="http://schemas.microsoft.com/office/drawing/2014/main" id="{2866C232-E5A6-4E0A-B7A8-F900A87BFF43}"/>
              </a:ext>
            </a:extLst>
          </p:cNvPr>
          <p:cNvSpPr>
            <a:spLocks noGrp="1"/>
          </p:cNvSpPr>
          <p:nvPr/>
        </p:nvSpPr>
        <p:spPr>
          <a:xfrm>
            <a:off x="2952750" y="481012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Activité : formation et accompagnement professionnel</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pour les salariés, les cadres et les entreprises.</a:t>
            </a:r>
          </a:p>
        </p:txBody>
      </p:sp>
      <p:sp>
        <p:nvSpPr>
          <p:cNvPr id="8" name="03">
            <a:extLst>
              <a:ext uri="{FF2B5EF4-FFF2-40B4-BE49-F238E27FC236}">
                <a16:creationId xmlns:a16="http://schemas.microsoft.com/office/drawing/2014/main" id="{93F04A50-BF90-4A56-A3CB-3FC410FBC574}"/>
              </a:ext>
            </a:extLst>
          </p:cNvPr>
          <p:cNvSpPr>
            <a:spLocks noGrp="1"/>
          </p:cNvSpPr>
          <p:nvPr/>
        </p:nvSpPr>
        <p:spPr>
          <a:xfrm>
            <a:off x="1428750" y="6905625"/>
            <a:ext cx="952500" cy="952500"/>
          </a:xfrm>
          <a:prstGeom prst="ellipse">
            <a:avLst/>
          </a:prstGeom>
          <a:solidFill>
            <a:srgbClr val="414548"/>
          </a:solidFill>
          <a:ln w="19050">
            <a:solidFill>
              <a:srgbClr val="414548"/>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03</a:t>
            </a:r>
          </a:p>
        </p:txBody>
      </p:sp>
      <p:sp>
        <p:nvSpPr>
          <p:cNvPr id="9" name="Besoin : retrouver les informations du prospect et&#10;prép">
            <a:extLst>
              <a:ext uri="{FF2B5EF4-FFF2-40B4-BE49-F238E27FC236}">
                <a16:creationId xmlns:a16="http://schemas.microsoft.com/office/drawing/2014/main" id="{EB3C0EF6-57CE-4BF4-9232-E21BD6E61D92}"/>
              </a:ext>
            </a:extLst>
          </p:cNvPr>
          <p:cNvSpPr>
            <a:spLocks noGrp="1"/>
          </p:cNvSpPr>
          <p:nvPr/>
        </p:nvSpPr>
        <p:spPr>
          <a:xfrm>
            <a:off x="2952750" y="661987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Besoin : retrouver les informations du prospect et</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19658347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EF22889-4D46-4FDA-9922-98BEDC7145F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5 / 22">
            <a:extLst>
              <a:ext uri="{FF2B5EF4-FFF2-40B4-BE49-F238E27FC236}">
                <a16:creationId xmlns:a16="http://schemas.microsoft.com/office/drawing/2014/main" id="{4BB33A68-E152-4BE4-8507-6838B11DA06E}"/>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05 / 24</a:t>
            </a:r>
          </a:p>
        </p:txBody>
      </p:sp>
      <p:sp>
        <p:nvSpPr>
          <p:cNvPr id="4" name="02">
            <a:extLst>
              <a:ext uri="{FF2B5EF4-FFF2-40B4-BE49-F238E27FC236}">
                <a16:creationId xmlns:a16="http://schemas.microsoft.com/office/drawing/2014/main" id="{4B8F4481-9EFC-44CA-98EE-537AFA4261B6}"/>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02</a:t>
            </a:r>
          </a:p>
        </p:txBody>
      </p:sp>
      <p:sp>
        <p:nvSpPr>
          <p:cNvPr id="5" name="Contexte général&#10;du projet">
            <a:extLst>
              <a:ext uri="{FF2B5EF4-FFF2-40B4-BE49-F238E27FC236}">
                <a16:creationId xmlns:a16="http://schemas.microsoft.com/office/drawing/2014/main" id="{D5FC36D9-9E5F-45A3-8F61-E1E5C0AF68E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Contexte général</a:t>
            </a:r>
          </a:p>
          <a:p>
            <a:pPr algn="l">
              <a:defRPr sz="5850" b="1">
                <a:solidFill>
                  <a:srgbClr val="414548"/>
                </a:solidFill>
                <a:latin typeface="Calibri"/>
                <a:ea typeface="Calibri"/>
                <a:cs typeface="Calibri"/>
              </a:defRPr>
            </a:pPr>
            <a:r>
              <a:rPr sz="5850" b="1">
                <a:solidFill>
                  <a:srgbClr val="414548"/>
                </a:solidFill>
                <a:latin typeface="Calibri"/>
                <a:ea typeface="Calibri"/>
                <a:cs typeface="Calibri"/>
              </a:rPr>
              <a:t>du projet</a:t>
            </a:r>
          </a:p>
        </p:txBody>
      </p:sp>
      <p:sp>
        <p:nvSpPr>
          <p:cNvPr id="6" name="Des tâches répétitives à structurer&#10;et des décisions co">
            <a:extLst>
              <a:ext uri="{FF2B5EF4-FFF2-40B4-BE49-F238E27FC236}">
                <a16:creationId xmlns:a16="http://schemas.microsoft.com/office/drawing/2014/main" id="{EDFA4240-6BDA-4D93-88B3-1A6E71440662}"/>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Des tâches répétitives à structurer</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et des décisions commerciales à conserver</a:t>
            </a:r>
          </a:p>
        </p:txBody>
      </p:sp>
    </p:spTree>
    <p:extLst>
      <p:ext uri="{BB962C8B-B14F-4D97-AF65-F5344CB8AC3E}">
        <p14:creationId xmlns:p14="http://schemas.microsoft.com/office/powerpoint/2010/main" val="1211372578"/>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0" name="ADG-10  /  AUTOMATISATION DU CYCLE COMMERCIAL">
            <a:extLst>
              <a:ext uri="{FF2B5EF4-FFF2-40B4-BE49-F238E27FC236}">
                <a16:creationId xmlns:a16="http://schemas.microsoft.com/office/drawing/2014/main" id="{EFA0BB28-8E0E-4EB5-A40F-A882F8011B7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6 / 22">
            <a:extLst>
              <a:ext uri="{FF2B5EF4-FFF2-40B4-BE49-F238E27FC236}">
                <a16:creationId xmlns:a16="http://schemas.microsoft.com/office/drawing/2014/main" id="{A7041217-369A-4608-B09A-E397A33B97A9}"/>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06 / 24</a:t>
            </a:r>
          </a:p>
        </p:txBody>
      </p:sp>
      <p:sp>
        <p:nvSpPr>
          <p:cNvPr id="3" name="Problématique">
            <a:extLst>
              <a:ext uri="{FF2B5EF4-FFF2-40B4-BE49-F238E27FC236}">
                <a16:creationId xmlns:a16="http://schemas.microsoft.com/office/drawing/2014/main" id="{59742A2D-6887-4211-AD9B-427516039A43}"/>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dirty="0" err="1">
                <a:solidFill>
                  <a:srgbClr val="414548"/>
                </a:solidFill>
                <a:latin typeface="Calibri"/>
                <a:ea typeface="Calibri"/>
                <a:cs typeface="Calibri"/>
              </a:rPr>
              <a:t>Problématique</a:t>
            </a:r>
            <a:r>
              <a:rPr lang="en-GB" sz="4650" b="1" dirty="0">
                <a:solidFill>
                  <a:srgbClr val="414548"/>
                </a:solidFill>
                <a:latin typeface="Calibri"/>
                <a:ea typeface="Calibri"/>
                <a:cs typeface="Calibri"/>
              </a:rPr>
              <a:t>s</a:t>
            </a:r>
            <a:endParaRPr sz="4650" b="1" dirty="0">
              <a:solidFill>
                <a:srgbClr val="414548"/>
              </a:solidFill>
              <a:latin typeface="Calibri"/>
              <a:ea typeface="Calibri"/>
              <a:cs typeface="Calibri"/>
            </a:endParaRPr>
          </a:p>
        </p:txBody>
      </p:sp>
      <p:sp>
        <p:nvSpPr>
          <p:cNvPr id="4" name="01">
            <a:extLst>
              <a:ext uri="{FF2B5EF4-FFF2-40B4-BE49-F238E27FC236}">
                <a16:creationId xmlns:a16="http://schemas.microsoft.com/office/drawing/2014/main" id="{916FE001-E8DC-441C-9CF3-7ED77E8208E7}"/>
              </a:ext>
            </a:extLst>
          </p:cNvPr>
          <p:cNvSpPr>
            <a:spLocks noGrp="1"/>
          </p:cNvSpPr>
          <p:nvPr/>
        </p:nvSpPr>
        <p:spPr>
          <a:xfrm>
            <a:off x="1428750" y="3286125"/>
            <a:ext cx="952500" cy="952500"/>
          </a:xfrm>
          <a:prstGeom prst="ellipse">
            <a:avLst/>
          </a:prstGeom>
          <a:solidFill>
            <a:srgbClr val="5D818B"/>
          </a:solidFill>
          <a:ln w="19050">
            <a:solidFill>
              <a:srgbClr val="5D818B"/>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01</a:t>
            </a:r>
          </a:p>
        </p:txBody>
      </p:sp>
      <p:sp>
        <p:nvSpPr>
          <p:cNvPr id="5" name="Des informations réparties entre le CRM,&#10;les messages e">
            <a:extLst>
              <a:ext uri="{FF2B5EF4-FFF2-40B4-BE49-F238E27FC236}">
                <a16:creationId xmlns:a16="http://schemas.microsoft.com/office/drawing/2014/main" id="{5DEC16C6-ECD8-4396-B4D5-8F0F2C68C4DB}"/>
              </a:ext>
            </a:extLst>
          </p:cNvPr>
          <p:cNvSpPr>
            <a:spLocks noGrp="1"/>
          </p:cNvSpPr>
          <p:nvPr/>
        </p:nvSpPr>
        <p:spPr>
          <a:xfrm>
            <a:off x="2952750" y="300037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Des informations réparties entre le CRM,</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les messages et les fichiers.</a:t>
            </a:r>
          </a:p>
        </p:txBody>
      </p:sp>
      <p:sp>
        <p:nvSpPr>
          <p:cNvPr id="6" name="02">
            <a:extLst>
              <a:ext uri="{FF2B5EF4-FFF2-40B4-BE49-F238E27FC236}">
                <a16:creationId xmlns:a16="http://schemas.microsoft.com/office/drawing/2014/main" id="{65FCA6C2-EA22-4735-9F4D-456A2B50A1C0}"/>
              </a:ext>
            </a:extLst>
          </p:cNvPr>
          <p:cNvSpPr>
            <a:spLocks noGrp="1"/>
          </p:cNvSpPr>
          <p:nvPr/>
        </p:nvSpPr>
        <p:spPr>
          <a:xfrm>
            <a:off x="1428750" y="5095875"/>
            <a:ext cx="952500" cy="952500"/>
          </a:xfrm>
          <a:prstGeom prst="ellipse">
            <a:avLst/>
          </a:prstGeom>
          <a:solidFill>
            <a:srgbClr val="A65A43"/>
          </a:solidFill>
          <a:ln w="19050">
            <a:solidFill>
              <a:srgbClr val="A65A43"/>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02</a:t>
            </a:r>
          </a:p>
        </p:txBody>
      </p:sp>
      <p:sp>
        <p:nvSpPr>
          <p:cNvPr id="7" name="Des relances difficiles à suivre et un risque&#10;de renvoy">
            <a:extLst>
              <a:ext uri="{FF2B5EF4-FFF2-40B4-BE49-F238E27FC236}">
                <a16:creationId xmlns:a16="http://schemas.microsoft.com/office/drawing/2014/main" id="{3613235F-387E-4C27-AEF3-4A484BB6E462}"/>
              </a:ext>
            </a:extLst>
          </p:cNvPr>
          <p:cNvSpPr>
            <a:spLocks noGrp="1"/>
          </p:cNvSpPr>
          <p:nvPr/>
        </p:nvSpPr>
        <p:spPr>
          <a:xfrm>
            <a:off x="2952750" y="481012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Des relances difficiles à suivre et un risque</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de renvoyer une action déjà effectuée.</a:t>
            </a:r>
          </a:p>
        </p:txBody>
      </p:sp>
      <p:sp>
        <p:nvSpPr>
          <p:cNvPr id="8" name="03">
            <a:extLst>
              <a:ext uri="{FF2B5EF4-FFF2-40B4-BE49-F238E27FC236}">
                <a16:creationId xmlns:a16="http://schemas.microsoft.com/office/drawing/2014/main" id="{8584F5A4-975E-4B43-8FBC-C471A21DBAB6}"/>
              </a:ext>
            </a:extLst>
          </p:cNvPr>
          <p:cNvSpPr>
            <a:spLocks noGrp="1"/>
          </p:cNvSpPr>
          <p:nvPr/>
        </p:nvSpPr>
        <p:spPr>
          <a:xfrm>
            <a:off x="1428750" y="6905625"/>
            <a:ext cx="952500" cy="952500"/>
          </a:xfrm>
          <a:prstGeom prst="ellipse">
            <a:avLst/>
          </a:prstGeom>
          <a:solidFill>
            <a:srgbClr val="414548"/>
          </a:solidFill>
          <a:ln w="19050">
            <a:solidFill>
              <a:srgbClr val="414548"/>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03</a:t>
            </a:r>
          </a:p>
        </p:txBody>
      </p:sp>
      <p:sp>
        <p:nvSpPr>
          <p:cNvPr id="9" name="Comment fiabiliser le parcours sans perdre&#10;la personnal">
            <a:extLst>
              <a:ext uri="{FF2B5EF4-FFF2-40B4-BE49-F238E27FC236}">
                <a16:creationId xmlns:a16="http://schemas.microsoft.com/office/drawing/2014/main" id="{E2D5F251-B8F7-41CA-83C6-1B147336BFCF}"/>
              </a:ext>
            </a:extLst>
          </p:cNvPr>
          <p:cNvSpPr>
            <a:spLocks noGrp="1"/>
          </p:cNvSpPr>
          <p:nvPr/>
        </p:nvSpPr>
        <p:spPr>
          <a:xfrm>
            <a:off x="2952750" y="661987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Comment fiabiliser le parcours sans perdre</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2070717835"/>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3" name="ADG-10  /  AUTOMATISATION DU CYCLE COMMERCIAL">
            <a:extLst>
              <a:ext uri="{FF2B5EF4-FFF2-40B4-BE49-F238E27FC236}">
                <a16:creationId xmlns:a16="http://schemas.microsoft.com/office/drawing/2014/main" id="{9FCE5F05-A446-4929-8EF0-211809B82097}"/>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7 / 22">
            <a:extLst>
              <a:ext uri="{FF2B5EF4-FFF2-40B4-BE49-F238E27FC236}">
                <a16:creationId xmlns:a16="http://schemas.microsoft.com/office/drawing/2014/main" id="{67B383EC-7B32-4705-BCC7-9773AC8A1751}"/>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07 / 24</a:t>
            </a:r>
          </a:p>
        </p:txBody>
      </p:sp>
      <p:sp>
        <p:nvSpPr>
          <p:cNvPr id="3" name="Objectifs et périmètre">
            <a:extLst>
              <a:ext uri="{FF2B5EF4-FFF2-40B4-BE49-F238E27FC236}">
                <a16:creationId xmlns:a16="http://schemas.microsoft.com/office/drawing/2014/main" id="{6AA71B74-94C3-43AE-9D85-C5C20C7781A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Objectifs et périmètre</a:t>
            </a:r>
          </a:p>
        </p:txBody>
      </p:sp>
      <p:sp>
        <p:nvSpPr>
          <p:cNvPr id="4" name="01">
            <a:extLst>
              <a:ext uri="{FF2B5EF4-FFF2-40B4-BE49-F238E27FC236}">
                <a16:creationId xmlns:a16="http://schemas.microsoft.com/office/drawing/2014/main" id="{B97F3238-3D2B-41AD-B5BA-E9FFBFAE77B4}"/>
              </a:ext>
            </a:extLst>
          </p:cNvPr>
          <p:cNvSpPr>
            <a:spLocks noGrp="1"/>
          </p:cNvSpPr>
          <p:nvPr/>
        </p:nvSpPr>
        <p:spPr>
          <a:xfrm>
            <a:off x="2286000" y="3524250"/>
            <a:ext cx="1333500" cy="1333500"/>
          </a:xfrm>
          <a:prstGeom prst="ellipse">
            <a:avLst/>
          </a:prstGeom>
          <a:solidFill>
            <a:srgbClr val="5D818B"/>
          </a:solidFill>
          <a:ln w="19050">
            <a:solidFill>
              <a:srgbClr val="5D818B"/>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01</a:t>
            </a:r>
          </a:p>
        </p:txBody>
      </p:sp>
      <p:sp>
        <p:nvSpPr>
          <p:cNvPr id="5" name="Centraliser les formations et les prospects dans Airtab">
            <a:extLst>
              <a:ext uri="{FF2B5EF4-FFF2-40B4-BE49-F238E27FC236}">
                <a16:creationId xmlns:a16="http://schemas.microsoft.com/office/drawing/2014/main" id="{636B0B95-1EC0-43C9-BC86-DB03764E54BF}"/>
              </a:ext>
            </a:extLst>
          </p:cNvPr>
          <p:cNvSpPr>
            <a:spLocks noGrp="1"/>
          </p:cNvSpPr>
          <p:nvPr/>
        </p:nvSpPr>
        <p:spPr>
          <a:xfrm>
            <a:off x="1095375" y="5334000"/>
            <a:ext cx="37147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Centraliser les formations et les prospects dans Airtable.</a:t>
            </a:r>
          </a:p>
        </p:txBody>
      </p:sp>
      <p:sp>
        <p:nvSpPr>
          <p:cNvPr id="6" name="02">
            <a:extLst>
              <a:ext uri="{FF2B5EF4-FFF2-40B4-BE49-F238E27FC236}">
                <a16:creationId xmlns:a16="http://schemas.microsoft.com/office/drawing/2014/main" id="{2111904B-B06E-450A-A107-C3A726B41F59}"/>
              </a:ext>
            </a:extLst>
          </p:cNvPr>
          <p:cNvSpPr>
            <a:spLocks noGrp="1"/>
          </p:cNvSpPr>
          <p:nvPr/>
        </p:nvSpPr>
        <p:spPr>
          <a:xfrm>
            <a:off x="6334125" y="3524250"/>
            <a:ext cx="1333500" cy="1333500"/>
          </a:xfrm>
          <a:prstGeom prst="ellipse">
            <a:avLst/>
          </a:prstGeom>
          <a:solidFill>
            <a:srgbClr val="A65A43"/>
          </a:solidFill>
          <a:ln w="19050">
            <a:solidFill>
              <a:srgbClr val="A65A43"/>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02</a:t>
            </a:r>
          </a:p>
        </p:txBody>
      </p:sp>
      <p:sp>
        <p:nvSpPr>
          <p:cNvPr id="7" name="Prioriser les leads avec un score explicable.">
            <a:extLst>
              <a:ext uri="{FF2B5EF4-FFF2-40B4-BE49-F238E27FC236}">
                <a16:creationId xmlns:a16="http://schemas.microsoft.com/office/drawing/2014/main" id="{9DDBBCDA-0F7E-4C58-AB6C-CB3F46980316}"/>
              </a:ext>
            </a:extLst>
          </p:cNvPr>
          <p:cNvSpPr>
            <a:spLocks noGrp="1"/>
          </p:cNvSpPr>
          <p:nvPr/>
        </p:nvSpPr>
        <p:spPr>
          <a:xfrm>
            <a:off x="5143500" y="5334000"/>
            <a:ext cx="37147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Prioriser les leads avec un score explicable.</a:t>
            </a:r>
          </a:p>
        </p:txBody>
      </p:sp>
      <p:sp>
        <p:nvSpPr>
          <p:cNvPr id="8" name="03">
            <a:extLst>
              <a:ext uri="{FF2B5EF4-FFF2-40B4-BE49-F238E27FC236}">
                <a16:creationId xmlns:a16="http://schemas.microsoft.com/office/drawing/2014/main" id="{58861E72-E3F9-4084-B311-8518AD84548C}"/>
              </a:ext>
            </a:extLst>
          </p:cNvPr>
          <p:cNvSpPr>
            <a:spLocks noGrp="1"/>
          </p:cNvSpPr>
          <p:nvPr/>
        </p:nvSpPr>
        <p:spPr>
          <a:xfrm>
            <a:off x="10382250" y="3524250"/>
            <a:ext cx="1333500" cy="1333500"/>
          </a:xfrm>
          <a:prstGeom prst="ellipse">
            <a:avLst/>
          </a:prstGeom>
          <a:solidFill>
            <a:srgbClr val="414548"/>
          </a:solidFill>
          <a:ln w="19050">
            <a:solidFill>
              <a:srgbClr val="414548"/>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03</a:t>
            </a:r>
          </a:p>
        </p:txBody>
      </p:sp>
      <p:sp>
        <p:nvSpPr>
          <p:cNvPr id="9" name="Préparer des messages et des documents cohérents.">
            <a:extLst>
              <a:ext uri="{FF2B5EF4-FFF2-40B4-BE49-F238E27FC236}">
                <a16:creationId xmlns:a16="http://schemas.microsoft.com/office/drawing/2014/main" id="{E952DB02-F7AD-498F-83E0-1C6783CB7CBE}"/>
              </a:ext>
            </a:extLst>
          </p:cNvPr>
          <p:cNvSpPr>
            <a:spLocks noGrp="1"/>
          </p:cNvSpPr>
          <p:nvPr/>
        </p:nvSpPr>
        <p:spPr>
          <a:xfrm>
            <a:off x="9191625" y="5334000"/>
            <a:ext cx="37147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Préparer des messages et des documents cohérents.</a:t>
            </a:r>
          </a:p>
        </p:txBody>
      </p:sp>
      <p:sp>
        <p:nvSpPr>
          <p:cNvPr id="10" name="04">
            <a:extLst>
              <a:ext uri="{FF2B5EF4-FFF2-40B4-BE49-F238E27FC236}">
                <a16:creationId xmlns:a16="http://schemas.microsoft.com/office/drawing/2014/main" id="{0E2BE6DC-CD66-4CD8-93C8-A8A76C2804D9}"/>
              </a:ext>
            </a:extLst>
          </p:cNvPr>
          <p:cNvSpPr>
            <a:spLocks noGrp="1"/>
          </p:cNvSpPr>
          <p:nvPr/>
        </p:nvSpPr>
        <p:spPr>
          <a:xfrm>
            <a:off x="14430375" y="3524250"/>
            <a:ext cx="1333500" cy="1333500"/>
          </a:xfrm>
          <a:prstGeom prst="ellipse">
            <a:avLst/>
          </a:prstGeom>
          <a:solidFill>
            <a:srgbClr val="A47A3E"/>
          </a:solidFill>
          <a:ln w="19050">
            <a:solidFill>
              <a:srgbClr val="A47A3E"/>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04</a:t>
            </a:r>
          </a:p>
        </p:txBody>
      </p:sp>
      <p:sp>
        <p:nvSpPr>
          <p:cNvPr id="11" name="Piloter les traitements depuis un tableau de bord.">
            <a:extLst>
              <a:ext uri="{FF2B5EF4-FFF2-40B4-BE49-F238E27FC236}">
                <a16:creationId xmlns:a16="http://schemas.microsoft.com/office/drawing/2014/main" id="{F9166339-313E-4E9F-8E07-9E99AB792F53}"/>
              </a:ext>
            </a:extLst>
          </p:cNvPr>
          <p:cNvSpPr>
            <a:spLocks noGrp="1"/>
          </p:cNvSpPr>
          <p:nvPr/>
        </p:nvSpPr>
        <p:spPr>
          <a:xfrm>
            <a:off x="13239750" y="5334000"/>
            <a:ext cx="37147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Piloter les traitements depuis un tableau de bord.</a:t>
            </a:r>
          </a:p>
        </p:txBody>
      </p:sp>
      <p:sp>
        <p:nvSpPr>
          <p:cNvPr id="12" name="La validation commerciale, la signature et le paiement ">
            <a:extLst>
              <a:ext uri="{FF2B5EF4-FFF2-40B4-BE49-F238E27FC236}">
                <a16:creationId xmlns:a16="http://schemas.microsoft.com/office/drawing/2014/main" id="{EF4EB6EA-1890-45AD-AD2C-DDF6BB544608}"/>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124588644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253ABAE0-CD70-4DEC-B59F-5DA9C7D0AB33}"/>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8 / 22">
            <a:extLst>
              <a:ext uri="{FF2B5EF4-FFF2-40B4-BE49-F238E27FC236}">
                <a16:creationId xmlns:a16="http://schemas.microsoft.com/office/drawing/2014/main" id="{03654E3D-09E2-4F90-9C7C-DAA62C580BB9}"/>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08 / 24</a:t>
            </a:r>
          </a:p>
        </p:txBody>
      </p:sp>
      <p:sp>
        <p:nvSpPr>
          <p:cNvPr id="3" name="Conduite du projet">
            <a:extLst>
              <a:ext uri="{FF2B5EF4-FFF2-40B4-BE49-F238E27FC236}">
                <a16:creationId xmlns:a16="http://schemas.microsoft.com/office/drawing/2014/main" id="{F2B71238-A8F2-41B9-B193-DD762465B56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Conduite du projet</a:t>
            </a:r>
          </a:p>
        </p:txBody>
      </p:sp>
      <p:graphicFrame>
        <p:nvGraphicFramePr>
          <p:cNvPr id="9" name="Tableau 8"/>
          <p:cNvGraphicFramePr/>
          <p:nvPr>
            <p:extLst>
              <p:ext uri="{D42A27DB-BD31-4B8C-83A1-F6EECF244321}">
                <p14:modId xmlns:p14="http://schemas.microsoft.com/office/powerpoint/2010/main" val="598234117"/>
              </p:ext>
            </p:extLst>
          </p:nvPr>
        </p:nvGraphicFramePr>
        <p:xfrm>
          <a:off x="1571625" y="3286125"/>
          <a:ext cx="14478000" cy="4476750"/>
        </p:xfrm>
        <a:graphic>
          <a:graphicData uri="http://schemas.openxmlformats.org/drawingml/2006/table">
            <a:tbl>
              <a:tblPr/>
              <a:tblGrid>
                <a:gridCol w="2968511">
                  <a:extLst>
                    <a:ext uri="{9D8B030D-6E8A-4147-A177-3AD203B41FA5}">
                      <a16:colId xmlns:a16="http://schemas.microsoft.com/office/drawing/2014/main" val="20000"/>
                    </a:ext>
                  </a:extLst>
                </a:gridCol>
                <a:gridCol w="5989101">
                  <a:extLst>
                    <a:ext uri="{9D8B030D-6E8A-4147-A177-3AD203B41FA5}">
                      <a16:colId xmlns:a16="http://schemas.microsoft.com/office/drawing/2014/main" val="20001"/>
                    </a:ext>
                  </a:extLst>
                </a:gridCol>
                <a:gridCol w="5520388">
                  <a:extLst>
                    <a:ext uri="{9D8B030D-6E8A-4147-A177-3AD203B41FA5}">
                      <a16:colId xmlns:a16="http://schemas.microsoft.com/office/drawing/2014/main" val="20002"/>
                    </a:ext>
                  </a:extLst>
                </a:gridCol>
              </a:tblGrid>
              <a:tr h="895350">
                <a:tc>
                  <a:txBody>
                    <a:bodyPr/>
                    <a:lstStyle/>
                    <a:p>
                      <a:pPr algn="ctr"/>
                      <a:r>
                        <a:rPr sz="2700" b="1">
                          <a:solidFill>
                            <a:srgbClr val="F3F0E2"/>
                          </a:solidFill>
                          <a:latin typeface="Calibri"/>
                          <a:ea typeface="Calibri"/>
                          <a:cs typeface="Calibri"/>
                        </a:rPr>
                        <a:t>Phase</a:t>
                      </a:r>
                    </a:p>
                  </a:txBody>
                  <a:tcPr anchor="ctr">
                    <a:solidFill>
                      <a:srgbClr val="5D818B"/>
                    </a:solidFill>
                  </a:tcPr>
                </a:tc>
                <a:tc>
                  <a:txBody>
                    <a:bodyPr/>
                    <a:lstStyle/>
                    <a:p>
                      <a:pPr algn="ctr"/>
                      <a:r>
                        <a:rPr sz="2700" b="1">
                          <a:solidFill>
                            <a:srgbClr val="F3F0E2"/>
                          </a:solidFill>
                          <a:latin typeface="Calibri"/>
                          <a:ea typeface="Calibri"/>
                          <a:cs typeface="Calibri"/>
                        </a:rPr>
                        <a:t>Travaux</a:t>
                      </a:r>
                    </a:p>
                  </a:txBody>
                  <a:tcPr anchor="ctr">
                    <a:solidFill>
                      <a:srgbClr val="5D818B"/>
                    </a:solidFill>
                  </a:tcPr>
                </a:tc>
                <a:tc>
                  <a:txBody>
                    <a:bodyPr/>
                    <a:lstStyle/>
                    <a:p>
                      <a:pPr algn="ctr"/>
                      <a:r>
                        <a:rPr sz="2700" b="1">
                          <a:solidFill>
                            <a:srgbClr val="F3F0E2"/>
                          </a:solidFill>
                          <a:latin typeface="Calibri"/>
                          <a:ea typeface="Calibri"/>
                          <a:cs typeface="Calibri"/>
                        </a:rPr>
                        <a:t>Livrable</a:t>
                      </a:r>
                    </a:p>
                  </a:txBody>
                  <a:tcPr anchor="ctr">
                    <a:solidFill>
                      <a:srgbClr val="5D818B"/>
                    </a:solidFill>
                  </a:tcPr>
                </a:tc>
                <a:extLst>
                  <a:ext uri="{0D108BD9-81ED-4DB2-BD59-A6C34878D82A}">
                    <a16:rowId xmlns:a16="http://schemas.microsoft.com/office/drawing/2014/main" val="10000"/>
                  </a:ext>
                </a:extLst>
              </a:tr>
              <a:tr h="895350">
                <a:tc>
                  <a:txBody>
                    <a:bodyPr/>
                    <a:lstStyle/>
                    <a:p>
                      <a:pPr algn="ctr"/>
                      <a:r>
                        <a:rPr sz="2700" b="0">
                          <a:solidFill>
                            <a:srgbClr val="414548"/>
                          </a:solidFill>
                          <a:latin typeface="Calibri"/>
                          <a:ea typeface="Calibri"/>
                          <a:cs typeface="Calibri"/>
                        </a:rPr>
                        <a:t>Cadrage</a:t>
                      </a:r>
                    </a:p>
                  </a:txBody>
                  <a:tcPr anchor="ctr">
                    <a:solidFill>
                      <a:srgbClr val="E1E5DD"/>
                    </a:solidFill>
                  </a:tcPr>
                </a:tc>
                <a:tc>
                  <a:txBody>
                    <a:bodyPr/>
                    <a:lstStyle/>
                    <a:p>
                      <a:pPr algn="ctr"/>
                      <a:r>
                        <a:rPr sz="2700" b="0">
                          <a:solidFill>
                            <a:srgbClr val="414548"/>
                          </a:solidFill>
                          <a:latin typeface="Calibri"/>
                          <a:ea typeface="Calibri"/>
                          <a:cs typeface="Calibri"/>
                        </a:rPr>
                        <a:t>Parcours commercial et besoins</a:t>
                      </a:r>
                    </a:p>
                  </a:txBody>
                  <a:tcPr anchor="ctr">
                    <a:solidFill>
                      <a:srgbClr val="E1E5DD"/>
                    </a:solidFill>
                  </a:tcPr>
                </a:tc>
                <a:tc>
                  <a:txBody>
                    <a:bodyPr/>
                    <a:lstStyle/>
                    <a:p>
                      <a:pPr algn="ctr"/>
                      <a:r>
                        <a:rPr sz="2700" b="0">
                          <a:solidFill>
                            <a:srgbClr val="414548"/>
                          </a:solidFill>
                          <a:latin typeface="Calibri"/>
                          <a:ea typeface="Calibri"/>
                          <a:cs typeface="Calibri"/>
                        </a:rPr>
                        <a:t>Périmètre E1 à E8</a:t>
                      </a:r>
                    </a:p>
                  </a:txBody>
                  <a:tcPr anchor="ctr">
                    <a:solidFill>
                      <a:srgbClr val="E1E5DD"/>
                    </a:solidFill>
                  </a:tcPr>
                </a:tc>
                <a:extLst>
                  <a:ext uri="{0D108BD9-81ED-4DB2-BD59-A6C34878D82A}">
                    <a16:rowId xmlns:a16="http://schemas.microsoft.com/office/drawing/2014/main" val="10001"/>
                  </a:ext>
                </a:extLst>
              </a:tr>
              <a:tr h="895350">
                <a:tc>
                  <a:txBody>
                    <a:bodyPr/>
                    <a:lstStyle/>
                    <a:p>
                      <a:pPr algn="ctr"/>
                      <a:r>
                        <a:rPr sz="2700" b="0">
                          <a:solidFill>
                            <a:srgbClr val="414548"/>
                          </a:solidFill>
                          <a:latin typeface="Calibri"/>
                          <a:ea typeface="Calibri"/>
                          <a:cs typeface="Calibri"/>
                        </a:rPr>
                        <a:t>Conception</a:t>
                      </a:r>
                    </a:p>
                  </a:txBody>
                  <a:tcPr anchor="ctr">
                    <a:solidFill>
                      <a:srgbClr val="ECEBDD"/>
                    </a:solidFill>
                  </a:tcPr>
                </a:tc>
                <a:tc>
                  <a:txBody>
                    <a:bodyPr/>
                    <a:lstStyle/>
                    <a:p>
                      <a:pPr algn="ctr"/>
                      <a:r>
                        <a:rPr sz="2700" b="0">
                          <a:solidFill>
                            <a:srgbClr val="414548"/>
                          </a:solidFill>
                          <a:latin typeface="Calibri"/>
                          <a:ea typeface="Calibri"/>
                          <a:cs typeface="Calibri"/>
                        </a:rPr>
                        <a:t>Données, règles et interactions</a:t>
                      </a:r>
                    </a:p>
                  </a:txBody>
                  <a:tcPr anchor="ctr">
                    <a:solidFill>
                      <a:srgbClr val="ECEBDD"/>
                    </a:solidFill>
                  </a:tcPr>
                </a:tc>
                <a:tc>
                  <a:txBody>
                    <a:bodyPr/>
                    <a:lstStyle/>
                    <a:p>
                      <a:pPr algn="ctr"/>
                      <a:r>
                        <a:rPr sz="2700" b="0">
                          <a:solidFill>
                            <a:srgbClr val="414548"/>
                          </a:solidFill>
                          <a:latin typeface="Calibri"/>
                          <a:ea typeface="Calibri"/>
                          <a:cs typeface="Calibri"/>
                        </a:rPr>
                        <a:t>Modèles et scénarios</a:t>
                      </a:r>
                    </a:p>
                  </a:txBody>
                  <a:tcPr anchor="ctr">
                    <a:solidFill>
                      <a:srgbClr val="ECEBDD"/>
                    </a:solidFill>
                  </a:tcPr>
                </a:tc>
                <a:extLst>
                  <a:ext uri="{0D108BD9-81ED-4DB2-BD59-A6C34878D82A}">
                    <a16:rowId xmlns:a16="http://schemas.microsoft.com/office/drawing/2014/main" val="10002"/>
                  </a:ext>
                </a:extLst>
              </a:tr>
              <a:tr h="895350">
                <a:tc>
                  <a:txBody>
                    <a:bodyPr/>
                    <a:lstStyle/>
                    <a:p>
                      <a:pPr algn="ctr"/>
                      <a:r>
                        <a:rPr sz="2700" b="0">
                          <a:solidFill>
                            <a:srgbClr val="414548"/>
                          </a:solidFill>
                          <a:latin typeface="Calibri"/>
                          <a:ea typeface="Calibri"/>
                          <a:cs typeface="Calibri"/>
                        </a:rPr>
                        <a:t>Réalisation</a:t>
                      </a:r>
                    </a:p>
                  </a:txBody>
                  <a:tcPr anchor="ctr">
                    <a:solidFill>
                      <a:srgbClr val="E1E5DD"/>
                    </a:solidFill>
                  </a:tcPr>
                </a:tc>
                <a:tc>
                  <a:txBody>
                    <a:bodyPr/>
                    <a:lstStyle/>
                    <a:p>
                      <a:pPr algn="ctr"/>
                      <a:r>
                        <a:rPr sz="2700" b="0">
                          <a:solidFill>
                            <a:srgbClr val="414548"/>
                          </a:solidFill>
                          <a:latin typeface="Calibri"/>
                          <a:ea typeface="Calibri"/>
                          <a:cs typeface="Calibri"/>
                        </a:rPr>
                        <a:t>Scripts, documents et interface</a:t>
                      </a:r>
                    </a:p>
                  </a:txBody>
                  <a:tcPr anchor="ctr">
                    <a:solidFill>
                      <a:srgbClr val="E1E5DD"/>
                    </a:solidFill>
                  </a:tcPr>
                </a:tc>
                <a:tc>
                  <a:txBody>
                    <a:bodyPr/>
                    <a:lstStyle/>
                    <a:p>
                      <a:pPr algn="ctr"/>
                      <a:r>
                        <a:rPr sz="2700" b="0">
                          <a:solidFill>
                            <a:srgbClr val="414548"/>
                          </a:solidFill>
                          <a:latin typeface="Calibri"/>
                          <a:ea typeface="Calibri"/>
                          <a:cs typeface="Calibri"/>
                        </a:rPr>
                        <a:t>Prototype intégré</a:t>
                      </a:r>
                    </a:p>
                  </a:txBody>
                  <a:tcPr anchor="ctr">
                    <a:solidFill>
                      <a:srgbClr val="E1E5DD"/>
                    </a:solidFill>
                  </a:tcPr>
                </a:tc>
                <a:extLst>
                  <a:ext uri="{0D108BD9-81ED-4DB2-BD59-A6C34878D82A}">
                    <a16:rowId xmlns:a16="http://schemas.microsoft.com/office/drawing/2014/main" val="10003"/>
                  </a:ext>
                </a:extLst>
              </a:tr>
              <a:tr h="895350">
                <a:tc>
                  <a:txBody>
                    <a:bodyPr/>
                    <a:lstStyle/>
                    <a:p>
                      <a:pPr algn="ctr"/>
                      <a:r>
                        <a:rPr sz="2700" b="0">
                          <a:solidFill>
                            <a:srgbClr val="414548"/>
                          </a:solidFill>
                          <a:latin typeface="Calibri"/>
                          <a:ea typeface="Calibri"/>
                          <a:cs typeface="Calibri"/>
                        </a:rPr>
                        <a:t>Validation</a:t>
                      </a:r>
                    </a:p>
                  </a:txBody>
                  <a:tcPr anchor="ctr">
                    <a:solidFill>
                      <a:srgbClr val="ECEBDD"/>
                    </a:solidFill>
                  </a:tcPr>
                </a:tc>
                <a:tc>
                  <a:txBody>
                    <a:bodyPr/>
                    <a:lstStyle/>
                    <a:p>
                      <a:pPr algn="ctr"/>
                      <a:r>
                        <a:rPr sz="2700" b="0">
                          <a:solidFill>
                            <a:srgbClr val="414548"/>
                          </a:solidFill>
                          <a:latin typeface="Calibri"/>
                          <a:ea typeface="Calibri"/>
                          <a:cs typeface="Calibri"/>
                        </a:rPr>
                        <a:t>Tests locaux et démonstration</a:t>
                      </a:r>
                    </a:p>
                  </a:txBody>
                  <a:tcPr anchor="ctr">
                    <a:solidFill>
                      <a:srgbClr val="ECEBDD"/>
                    </a:solidFill>
                  </a:tcPr>
                </a:tc>
                <a:tc>
                  <a:txBody>
                    <a:bodyPr/>
                    <a:lstStyle/>
                    <a:p>
                      <a:pPr algn="ctr"/>
                      <a:r>
                        <a:rPr sz="2700" b="0" dirty="0" err="1">
                          <a:solidFill>
                            <a:srgbClr val="414548"/>
                          </a:solidFill>
                          <a:latin typeface="Calibri"/>
                          <a:ea typeface="Calibri"/>
                          <a:cs typeface="Calibri"/>
                        </a:rPr>
                        <a:t>Résultats</a:t>
                      </a:r>
                      <a:r>
                        <a:rPr sz="2700" b="0" dirty="0">
                          <a:solidFill>
                            <a:srgbClr val="414548"/>
                          </a:solidFill>
                          <a:latin typeface="Calibri"/>
                          <a:ea typeface="Calibri"/>
                          <a:cs typeface="Calibri"/>
                        </a:rPr>
                        <a:t> et </a:t>
                      </a:r>
                      <a:r>
                        <a:rPr sz="2700" b="0" dirty="0" err="1">
                          <a:solidFill>
                            <a:srgbClr val="414548"/>
                          </a:solidFill>
                          <a:latin typeface="Calibri"/>
                          <a:ea typeface="Calibri"/>
                          <a:cs typeface="Calibri"/>
                        </a:rPr>
                        <a:t>limites</a:t>
                      </a:r>
                      <a:endParaRPr sz="2700" b="0" dirty="0">
                        <a:solidFill>
                          <a:srgbClr val="414548"/>
                        </a:solidFill>
                        <a:latin typeface="Calibri"/>
                        <a:ea typeface="Calibri"/>
                        <a:cs typeface="Calibri"/>
                      </a:endParaRPr>
                    </a:p>
                  </a:txBody>
                  <a:tcPr anchor="ctr">
                    <a:solidFill>
                      <a:srgbClr val="ECEBDD"/>
                    </a:solidFill>
                  </a:tcPr>
                </a:tc>
                <a:extLst>
                  <a:ext uri="{0D108BD9-81ED-4DB2-BD59-A6C34878D82A}">
                    <a16:rowId xmlns:a16="http://schemas.microsoft.com/office/drawing/2014/main" val="10004"/>
                  </a:ext>
                </a:extLst>
              </a:tr>
            </a:tbl>
          </a:graphicData>
        </a:graphic>
      </p:graphicFrame>
      <p:sp>
        <p:nvSpPr>
          <p:cNvPr id="5" name="Démarche itérative, avec validation des données et des ">
            <a:extLst>
              <a:ext uri="{FF2B5EF4-FFF2-40B4-BE49-F238E27FC236}">
                <a16:creationId xmlns:a16="http://schemas.microsoft.com/office/drawing/2014/main" id="{FEF6BE22-36FA-40F7-A153-21A3AA18E6A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116227786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FFCDC15B-3CF9-41F5-A4D9-3A09328C3DD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9 / 22">
            <a:extLst>
              <a:ext uri="{FF2B5EF4-FFF2-40B4-BE49-F238E27FC236}">
                <a16:creationId xmlns:a16="http://schemas.microsoft.com/office/drawing/2014/main" id="{41B47B5A-EA9E-4917-9D60-7DF9C68191E2}"/>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09 / 24</a:t>
            </a:r>
          </a:p>
        </p:txBody>
      </p:sp>
      <p:sp>
        <p:nvSpPr>
          <p:cNvPr id="4" name="03">
            <a:extLst>
              <a:ext uri="{FF2B5EF4-FFF2-40B4-BE49-F238E27FC236}">
                <a16:creationId xmlns:a16="http://schemas.microsoft.com/office/drawing/2014/main" id="{23C6F41A-A477-4295-BFF3-0FB9B9951A0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03</a:t>
            </a:r>
          </a:p>
        </p:txBody>
      </p:sp>
      <p:sp>
        <p:nvSpPr>
          <p:cNvPr id="5" name="Étude conceptuelle&#10;de la solution">
            <a:extLst>
              <a:ext uri="{FF2B5EF4-FFF2-40B4-BE49-F238E27FC236}">
                <a16:creationId xmlns:a16="http://schemas.microsoft.com/office/drawing/2014/main" id="{76C088DF-918C-4633-9A5A-41AC84732CB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Étude conceptuelle</a:t>
            </a:r>
          </a:p>
          <a:p>
            <a:pPr algn="l">
              <a:defRPr sz="5850" b="1">
                <a:solidFill>
                  <a:srgbClr val="414548"/>
                </a:solidFill>
                <a:latin typeface="Calibri"/>
                <a:ea typeface="Calibri"/>
                <a:cs typeface="Calibri"/>
              </a:defRPr>
            </a:pPr>
            <a:r>
              <a:rPr sz="5850" b="1">
                <a:solidFill>
                  <a:srgbClr val="414548"/>
                </a:solidFill>
                <a:latin typeface="Calibri"/>
                <a:ea typeface="Calibri"/>
                <a:cs typeface="Calibri"/>
              </a:rPr>
              <a:t>de la solution</a:t>
            </a:r>
          </a:p>
        </p:txBody>
      </p:sp>
      <p:sp>
        <p:nvSpPr>
          <p:cNvPr id="6" name="Le parcours commercial, les acteurs&#10;et la circulation d">
            <a:extLst>
              <a:ext uri="{FF2B5EF4-FFF2-40B4-BE49-F238E27FC236}">
                <a16:creationId xmlns:a16="http://schemas.microsoft.com/office/drawing/2014/main" id="{DD690682-B676-4E9B-ACB5-4CC2A4ED097A}"/>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Le parcours commercial, les acteurs</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et la circulation des données</a:t>
            </a:r>
          </a:p>
        </p:txBody>
      </p:sp>
    </p:spTree>
    <p:extLst>
      <p:ext uri="{BB962C8B-B14F-4D97-AF65-F5344CB8AC3E}">
        <p14:creationId xmlns:p14="http://schemas.microsoft.com/office/powerpoint/2010/main" val="9683746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0CA67C7A-EE09-4859-9768-07035213902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0 / 22">
            <a:extLst>
              <a:ext uri="{FF2B5EF4-FFF2-40B4-BE49-F238E27FC236}">
                <a16:creationId xmlns:a16="http://schemas.microsoft.com/office/drawing/2014/main" id="{FA4EFDF6-24BF-450D-90BC-D2E7B2F9D9E8}"/>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10 / 24</a:t>
            </a:r>
          </a:p>
        </p:txBody>
      </p:sp>
      <p:sp>
        <p:nvSpPr>
          <p:cNvPr id="3" name="Le parcours ADG-10">
            <a:extLst>
              <a:ext uri="{FF2B5EF4-FFF2-40B4-BE49-F238E27FC236}">
                <a16:creationId xmlns:a16="http://schemas.microsoft.com/office/drawing/2014/main" id="{48277E13-D8E4-487D-8D23-3D547C175AED}"/>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Le parcours ADG-10</a:t>
            </a:r>
          </a:p>
        </p:txBody>
      </p:sp>
      <p:graphicFrame>
        <p:nvGraphicFramePr>
          <p:cNvPr id="9" name="Tableau 8"/>
          <p:cNvGraphicFramePr/>
          <p:nvPr>
            <p:extLst>
              <p:ext uri="{D42A27DB-BD31-4B8C-83A1-F6EECF244321}">
                <p14:modId xmlns:p14="http://schemas.microsoft.com/office/powerpoint/2010/main" val="136856162"/>
              </p:ext>
            </p:extLst>
          </p:nvPr>
        </p:nvGraphicFramePr>
        <p:xfrm>
          <a:off x="1571625" y="3238500"/>
          <a:ext cx="14478000" cy="5000628"/>
        </p:xfrm>
        <a:graphic>
          <a:graphicData uri="http://schemas.openxmlformats.org/drawingml/2006/table">
            <a:tbl>
              <a:tblPr/>
              <a:tblGrid>
                <a:gridCol w="2499799">
                  <a:extLst>
                    <a:ext uri="{9D8B030D-6E8A-4147-A177-3AD203B41FA5}">
                      <a16:colId xmlns:a16="http://schemas.microsoft.com/office/drawing/2014/main" val="20000"/>
                    </a:ext>
                  </a:extLst>
                </a:gridCol>
                <a:gridCol w="6614050">
                  <a:extLst>
                    <a:ext uri="{9D8B030D-6E8A-4147-A177-3AD203B41FA5}">
                      <a16:colId xmlns:a16="http://schemas.microsoft.com/office/drawing/2014/main" val="20001"/>
                    </a:ext>
                  </a:extLst>
                </a:gridCol>
                <a:gridCol w="5364151">
                  <a:extLst>
                    <a:ext uri="{9D8B030D-6E8A-4147-A177-3AD203B41FA5}">
                      <a16:colId xmlns:a16="http://schemas.microsoft.com/office/drawing/2014/main" val="20002"/>
                    </a:ext>
                  </a:extLst>
                </a:gridCol>
              </a:tblGrid>
              <a:tr h="833438">
                <a:tc>
                  <a:txBody>
                    <a:bodyPr/>
                    <a:lstStyle/>
                    <a:p>
                      <a:pPr algn="ctr"/>
                      <a:r>
                        <a:rPr sz="2550" b="1">
                          <a:solidFill>
                            <a:srgbClr val="F3F0E2"/>
                          </a:solidFill>
                          <a:latin typeface="Calibri"/>
                          <a:ea typeface="Calibri"/>
                          <a:cs typeface="Calibri"/>
                        </a:rPr>
                        <a:t>Étape</a:t>
                      </a:r>
                    </a:p>
                  </a:txBody>
                  <a:tcPr anchor="ctr">
                    <a:solidFill>
                      <a:srgbClr val="5D818B"/>
                    </a:solidFill>
                  </a:tcPr>
                </a:tc>
                <a:tc>
                  <a:txBody>
                    <a:bodyPr/>
                    <a:lstStyle/>
                    <a:p>
                      <a:pPr algn="ctr"/>
                      <a:r>
                        <a:rPr sz="2550" b="1">
                          <a:solidFill>
                            <a:srgbClr val="F3F0E2"/>
                          </a:solidFill>
                          <a:latin typeface="Calibri"/>
                          <a:ea typeface="Calibri"/>
                          <a:cs typeface="Calibri"/>
                        </a:rPr>
                        <a:t>Fonction</a:t>
                      </a:r>
                    </a:p>
                  </a:txBody>
                  <a:tcPr anchor="ctr">
                    <a:solidFill>
                      <a:srgbClr val="5D818B"/>
                    </a:solidFill>
                  </a:tcPr>
                </a:tc>
                <a:tc>
                  <a:txBody>
                    <a:bodyPr/>
                    <a:lstStyle/>
                    <a:p>
                      <a:pPr algn="ctr"/>
                      <a:r>
                        <a:rPr sz="2550" b="1">
                          <a:solidFill>
                            <a:srgbClr val="F3F0E2"/>
                          </a:solidFill>
                          <a:latin typeface="Calibri"/>
                          <a:ea typeface="Calibri"/>
                          <a:cs typeface="Calibri"/>
                        </a:rPr>
                        <a:t>État dans le prototype</a:t>
                      </a:r>
                    </a:p>
                  </a:txBody>
                  <a:tcPr anchor="ctr">
                    <a:solidFill>
                      <a:srgbClr val="5D818B"/>
                    </a:solidFill>
                  </a:tcPr>
                </a:tc>
                <a:extLst>
                  <a:ext uri="{0D108BD9-81ED-4DB2-BD59-A6C34878D82A}">
                    <a16:rowId xmlns:a16="http://schemas.microsoft.com/office/drawing/2014/main" val="10000"/>
                  </a:ext>
                </a:extLst>
              </a:tr>
              <a:tr h="833438">
                <a:tc>
                  <a:txBody>
                    <a:bodyPr/>
                    <a:lstStyle/>
                    <a:p>
                      <a:pPr algn="ctr"/>
                      <a:r>
                        <a:rPr sz="2550" b="0">
                          <a:solidFill>
                            <a:srgbClr val="414548"/>
                          </a:solidFill>
                          <a:latin typeface="Calibri"/>
                          <a:ea typeface="Calibri"/>
                          <a:cs typeface="Calibri"/>
                        </a:rPr>
                        <a:t>E1 / E2</a:t>
                      </a:r>
                    </a:p>
                  </a:txBody>
                  <a:tcPr anchor="ctr">
                    <a:solidFill>
                      <a:srgbClr val="E1E5DD"/>
                    </a:solidFill>
                  </a:tcPr>
                </a:tc>
                <a:tc>
                  <a:txBody>
                    <a:bodyPr/>
                    <a:lstStyle/>
                    <a:p>
                      <a:pPr algn="ctr"/>
                      <a:r>
                        <a:rPr sz="2550" b="0">
                          <a:solidFill>
                            <a:srgbClr val="414548"/>
                          </a:solidFill>
                          <a:latin typeface="Calibri"/>
                          <a:ea typeface="Calibri"/>
                          <a:cs typeface="Calibri"/>
                        </a:rPr>
                        <a:t>Contenu IA et textes LinkedIn / WhatsApp</a:t>
                      </a:r>
                    </a:p>
                  </a:txBody>
                  <a:tcPr anchor="ctr">
                    <a:solidFill>
                      <a:srgbClr val="E1E5DD"/>
                    </a:solidFill>
                  </a:tcPr>
                </a:tc>
                <a:tc>
                  <a:txBody>
                    <a:bodyPr/>
                    <a:lstStyle/>
                    <a:p>
                      <a:pPr algn="ctr"/>
                      <a:r>
                        <a:rPr sz="2550" b="0">
                          <a:solidFill>
                            <a:srgbClr val="414548"/>
                          </a:solidFill>
                          <a:latin typeface="Calibri"/>
                          <a:ea typeface="Calibri"/>
                          <a:cs typeface="Calibri"/>
                        </a:rPr>
                        <a:t>Génération disponible</a:t>
                      </a:r>
                    </a:p>
                  </a:txBody>
                  <a:tcPr anchor="ctr">
                    <a:solidFill>
                      <a:srgbClr val="E1E5DD"/>
                    </a:solidFill>
                  </a:tcPr>
                </a:tc>
                <a:extLst>
                  <a:ext uri="{0D108BD9-81ED-4DB2-BD59-A6C34878D82A}">
                    <a16:rowId xmlns:a16="http://schemas.microsoft.com/office/drawing/2014/main" val="10001"/>
                  </a:ext>
                </a:extLst>
              </a:tr>
              <a:tr h="833438">
                <a:tc>
                  <a:txBody>
                    <a:bodyPr/>
                    <a:lstStyle/>
                    <a:p>
                      <a:pPr algn="ctr"/>
                      <a:r>
                        <a:rPr sz="2550" b="0">
                          <a:solidFill>
                            <a:srgbClr val="414548"/>
                          </a:solidFill>
                          <a:latin typeface="Calibri"/>
                          <a:ea typeface="Calibri"/>
                          <a:cs typeface="Calibri"/>
                        </a:rPr>
                        <a:t>E3</a:t>
                      </a:r>
                    </a:p>
                  </a:txBody>
                  <a:tcPr anchor="ctr">
                    <a:solidFill>
                      <a:srgbClr val="ECEBDD"/>
                    </a:solidFill>
                  </a:tcPr>
                </a:tc>
                <a:tc>
                  <a:txBody>
                    <a:bodyPr/>
                    <a:lstStyle/>
                    <a:p>
                      <a:pPr algn="ctr"/>
                      <a:r>
                        <a:rPr sz="2550" b="0">
                          <a:solidFill>
                            <a:srgbClr val="414548"/>
                          </a:solidFill>
                          <a:latin typeface="Calibri"/>
                          <a:ea typeface="Calibri"/>
                          <a:cs typeface="Calibri"/>
                        </a:rPr>
                        <a:t>Publication sociale</a:t>
                      </a:r>
                    </a:p>
                  </a:txBody>
                  <a:tcPr anchor="ctr">
                    <a:solidFill>
                      <a:srgbClr val="ECEBDD"/>
                    </a:solidFill>
                  </a:tcPr>
                </a:tc>
                <a:tc>
                  <a:txBody>
                    <a:bodyPr/>
                    <a:lstStyle/>
                    <a:p>
                      <a:pPr algn="ctr"/>
                      <a:r>
                        <a:rPr sz="2550" b="0">
                          <a:solidFill>
                            <a:srgbClr val="414548"/>
                          </a:solidFill>
                          <a:latin typeface="Calibri"/>
                          <a:ea typeface="Calibri"/>
                          <a:cs typeface="Calibri"/>
                        </a:rPr>
                        <a:t>À développer</a:t>
                      </a:r>
                    </a:p>
                  </a:txBody>
                  <a:tcPr anchor="ctr">
                    <a:solidFill>
                      <a:srgbClr val="ECEBDD"/>
                    </a:solidFill>
                  </a:tcPr>
                </a:tc>
                <a:extLst>
                  <a:ext uri="{0D108BD9-81ED-4DB2-BD59-A6C34878D82A}">
                    <a16:rowId xmlns:a16="http://schemas.microsoft.com/office/drawing/2014/main" val="10002"/>
                  </a:ext>
                </a:extLst>
              </a:tr>
              <a:tr h="833438">
                <a:tc>
                  <a:txBody>
                    <a:bodyPr/>
                    <a:lstStyle/>
                    <a:p>
                      <a:pPr algn="ctr"/>
                      <a:r>
                        <a:rPr sz="2550" b="0">
                          <a:solidFill>
                            <a:srgbClr val="414548"/>
                          </a:solidFill>
                          <a:latin typeface="Calibri"/>
                          <a:ea typeface="Calibri"/>
                          <a:cs typeface="Calibri"/>
                        </a:rPr>
                        <a:t>E4 / E5</a:t>
                      </a:r>
                    </a:p>
                  </a:txBody>
                  <a:tcPr anchor="ctr">
                    <a:solidFill>
                      <a:srgbClr val="E1E5DD"/>
                    </a:solidFill>
                  </a:tcPr>
                </a:tc>
                <a:tc>
                  <a:txBody>
                    <a:bodyPr/>
                    <a:lstStyle/>
                    <a:p>
                      <a:pPr algn="ctr"/>
                      <a:r>
                        <a:rPr sz="2550" b="0">
                          <a:solidFill>
                            <a:srgbClr val="414548"/>
                          </a:solidFill>
                          <a:latin typeface="Calibri"/>
                          <a:ea typeface="Calibri"/>
                          <a:cs typeface="Calibri"/>
                        </a:rPr>
                        <a:t>Scoring et entretien du contact</a:t>
                      </a:r>
                    </a:p>
                  </a:txBody>
                  <a:tcPr anchor="ctr">
                    <a:solidFill>
                      <a:srgbClr val="E1E5DD"/>
                    </a:solidFill>
                  </a:tcPr>
                </a:tc>
                <a:tc>
                  <a:txBody>
                    <a:bodyPr/>
                    <a:lstStyle/>
                    <a:p>
                      <a:pPr algn="ctr"/>
                      <a:r>
                        <a:rPr sz="2550" b="0">
                          <a:solidFill>
                            <a:srgbClr val="414548"/>
                          </a:solidFill>
                          <a:latin typeface="Calibri"/>
                          <a:ea typeface="Calibri"/>
                          <a:cs typeface="Calibri"/>
                        </a:rPr>
                        <a:t>Règles et séquences disponibles</a:t>
                      </a:r>
                    </a:p>
                  </a:txBody>
                  <a:tcPr anchor="ctr">
                    <a:solidFill>
                      <a:srgbClr val="E1E5DD"/>
                    </a:solidFill>
                  </a:tcPr>
                </a:tc>
                <a:extLst>
                  <a:ext uri="{0D108BD9-81ED-4DB2-BD59-A6C34878D82A}">
                    <a16:rowId xmlns:a16="http://schemas.microsoft.com/office/drawing/2014/main" val="10003"/>
                  </a:ext>
                </a:extLst>
              </a:tr>
              <a:tr h="833438">
                <a:tc>
                  <a:txBody>
                    <a:bodyPr/>
                    <a:lstStyle/>
                    <a:p>
                      <a:pPr algn="ctr"/>
                      <a:r>
                        <a:rPr sz="2550" b="0">
                          <a:solidFill>
                            <a:srgbClr val="414548"/>
                          </a:solidFill>
                          <a:latin typeface="Calibri"/>
                          <a:ea typeface="Calibri"/>
                          <a:cs typeface="Calibri"/>
                        </a:rPr>
                        <a:t>E6 / E7</a:t>
                      </a:r>
                    </a:p>
                  </a:txBody>
                  <a:tcPr anchor="ctr">
                    <a:solidFill>
                      <a:srgbClr val="ECEBDD"/>
                    </a:solidFill>
                  </a:tcPr>
                </a:tc>
                <a:tc>
                  <a:txBody>
                    <a:bodyPr/>
                    <a:lstStyle/>
                    <a:p>
                      <a:pPr algn="ctr"/>
                      <a:r>
                        <a:rPr sz="2550" b="0">
                          <a:solidFill>
                            <a:srgbClr val="414548"/>
                          </a:solidFill>
                          <a:latin typeface="Calibri"/>
                          <a:ea typeface="Calibri"/>
                          <a:cs typeface="Calibri"/>
                        </a:rPr>
                        <a:t>Proposition et relances de closing</a:t>
                      </a:r>
                    </a:p>
                  </a:txBody>
                  <a:tcPr anchor="ctr">
                    <a:solidFill>
                      <a:srgbClr val="ECEBDD"/>
                    </a:solidFill>
                  </a:tcPr>
                </a:tc>
                <a:tc>
                  <a:txBody>
                    <a:bodyPr/>
                    <a:lstStyle/>
                    <a:p>
                      <a:pPr algn="ctr"/>
                      <a:r>
                        <a:rPr sz="2550" b="0">
                          <a:solidFill>
                            <a:srgbClr val="414548"/>
                          </a:solidFill>
                          <a:latin typeface="Calibri"/>
                          <a:ea typeface="Calibri"/>
                          <a:cs typeface="Calibri"/>
                        </a:rPr>
                        <a:t>PDF, e-mail et jalons disponibles</a:t>
                      </a:r>
                    </a:p>
                  </a:txBody>
                  <a:tcPr anchor="ctr">
                    <a:solidFill>
                      <a:srgbClr val="ECEBDD"/>
                    </a:solidFill>
                  </a:tcPr>
                </a:tc>
                <a:extLst>
                  <a:ext uri="{0D108BD9-81ED-4DB2-BD59-A6C34878D82A}">
                    <a16:rowId xmlns:a16="http://schemas.microsoft.com/office/drawing/2014/main" val="10004"/>
                  </a:ext>
                </a:extLst>
              </a:tr>
              <a:tr h="833438">
                <a:tc>
                  <a:txBody>
                    <a:bodyPr/>
                    <a:lstStyle/>
                    <a:p>
                      <a:pPr algn="ctr"/>
                      <a:r>
                        <a:rPr sz="2550" b="0">
                          <a:solidFill>
                            <a:srgbClr val="414548"/>
                          </a:solidFill>
                          <a:latin typeface="Calibri"/>
                          <a:ea typeface="Calibri"/>
                          <a:cs typeface="Calibri"/>
                        </a:rPr>
                        <a:t>E8</a:t>
                      </a:r>
                    </a:p>
                  </a:txBody>
                  <a:tcPr anchor="ctr">
                    <a:solidFill>
                      <a:srgbClr val="E1E5DD"/>
                    </a:solidFill>
                  </a:tcPr>
                </a:tc>
                <a:tc>
                  <a:txBody>
                    <a:bodyPr/>
                    <a:lstStyle/>
                    <a:p>
                      <a:pPr algn="ctr"/>
                      <a:r>
                        <a:rPr sz="2550" b="0">
                          <a:solidFill>
                            <a:srgbClr val="414548"/>
                          </a:solidFill>
                          <a:latin typeface="Calibri"/>
                          <a:ea typeface="Calibri"/>
                          <a:cs typeface="Calibri"/>
                        </a:rPr>
                        <a:t>Convention et facture</a:t>
                      </a:r>
                    </a:p>
                  </a:txBody>
                  <a:tcPr anchor="ctr">
                    <a:solidFill>
                      <a:srgbClr val="E1E5DD"/>
                    </a:solidFill>
                  </a:tcPr>
                </a:tc>
                <a:tc>
                  <a:txBody>
                    <a:bodyPr/>
                    <a:lstStyle/>
                    <a:p>
                      <a:pPr algn="ctr"/>
                      <a:r>
                        <a:rPr sz="2550" b="0" dirty="0" err="1">
                          <a:solidFill>
                            <a:srgbClr val="414548"/>
                          </a:solidFill>
                          <a:latin typeface="Calibri"/>
                          <a:ea typeface="Calibri"/>
                          <a:cs typeface="Calibri"/>
                        </a:rPr>
                        <a:t>Génération</a:t>
                      </a:r>
                      <a:r>
                        <a:rPr sz="2550" b="0" dirty="0">
                          <a:solidFill>
                            <a:srgbClr val="414548"/>
                          </a:solidFill>
                          <a:latin typeface="Calibri"/>
                          <a:ea typeface="Calibri"/>
                          <a:cs typeface="Calibri"/>
                        </a:rPr>
                        <a:t> et envoi </a:t>
                      </a:r>
                      <a:r>
                        <a:rPr sz="2550" b="0" dirty="0" err="1">
                          <a:solidFill>
                            <a:srgbClr val="414548"/>
                          </a:solidFill>
                          <a:latin typeface="Calibri"/>
                          <a:ea typeface="Calibri"/>
                          <a:cs typeface="Calibri"/>
                        </a:rPr>
                        <a:t>disponibles</a:t>
                      </a:r>
                      <a:endParaRPr sz="2550" b="0" dirty="0">
                        <a:solidFill>
                          <a:srgbClr val="414548"/>
                        </a:solidFill>
                        <a:latin typeface="Calibri"/>
                        <a:ea typeface="Calibri"/>
                        <a:cs typeface="Calibri"/>
                      </a:endParaRPr>
                    </a:p>
                  </a:txBody>
                  <a:tcPr anchor="ctr">
                    <a:solidFill>
                      <a:srgbClr val="E1E5DD"/>
                    </a:solidFill>
                  </a:tcPr>
                </a:tc>
                <a:extLst>
                  <a:ext uri="{0D108BD9-81ED-4DB2-BD59-A6C34878D82A}">
                    <a16:rowId xmlns:a16="http://schemas.microsoft.com/office/drawing/2014/main" val="10005"/>
                  </a:ext>
                </a:extLst>
              </a:tr>
            </a:tbl>
          </a:graphicData>
        </a:graphic>
      </p:graphicFrame>
      <p:sp>
        <p:nvSpPr>
          <p:cNvPr id="5" name="Les scripts doivent s’exécuter aux échéances prévues. L">
            <a:extLst>
              <a:ext uri="{FF2B5EF4-FFF2-40B4-BE49-F238E27FC236}">
                <a16:creationId xmlns:a16="http://schemas.microsoft.com/office/drawing/2014/main" id="{B5D95766-5063-4AEE-8956-19A945FB9967}"/>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20869235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5" name="ADG-10  /  AUTOMATISATION DU CYCLE COMMERCIAL">
            <a:extLst>
              <a:ext uri="{FF2B5EF4-FFF2-40B4-BE49-F238E27FC236}">
                <a16:creationId xmlns:a16="http://schemas.microsoft.com/office/drawing/2014/main" id="{A61C645D-6D07-4AF1-9680-85AFD04AE349}"/>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1 / 22">
            <a:extLst>
              <a:ext uri="{FF2B5EF4-FFF2-40B4-BE49-F238E27FC236}">
                <a16:creationId xmlns:a16="http://schemas.microsoft.com/office/drawing/2014/main" id="{CF546047-32F2-4972-A468-CD69A25110BD}"/>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11 / 24</a:t>
            </a:r>
          </a:p>
        </p:txBody>
      </p:sp>
      <p:sp>
        <p:nvSpPr>
          <p:cNvPr id="3" name="Cas d’utilisation">
            <a:extLst>
              <a:ext uri="{FF2B5EF4-FFF2-40B4-BE49-F238E27FC236}">
                <a16:creationId xmlns:a16="http://schemas.microsoft.com/office/drawing/2014/main" id="{0AB28C8D-7622-41D4-A459-BDDE3A4A881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Cas d’utilisation</a:t>
            </a:r>
          </a:p>
        </p:txBody>
      </p:sp>
      <p:sp>
        <p:nvSpPr>
          <p:cNvPr id="4" name="Système ADG-10">
            <a:extLst>
              <a:ext uri="{FF2B5EF4-FFF2-40B4-BE49-F238E27FC236}">
                <a16:creationId xmlns:a16="http://schemas.microsoft.com/office/drawing/2014/main" id="{ED12A5D8-1CC0-4939-8A9B-663D563FF89E}"/>
              </a:ext>
            </a:extLst>
          </p:cNvPr>
          <p:cNvSpPr>
            <a:spLocks noGrp="1"/>
          </p:cNvSpPr>
          <p:nvPr/>
        </p:nvSpPr>
        <p:spPr>
          <a:xfrm>
            <a:off x="4857750" y="3067050"/>
            <a:ext cx="8286750" cy="5600700"/>
          </a:xfrm>
          <a:prstGeom prst="rect">
            <a:avLst/>
          </a:prstGeom>
          <a:noFill/>
          <a:ln w="19050">
            <a:solidFill>
              <a:srgbClr val="5D818B"/>
            </a:solidFill>
          </a:ln>
        </p:spPr>
        <p:txBody>
          <a:bodyPr/>
          <a:lstStyle/>
          <a:p>
            <a:endParaRPr lang="en-GB"/>
          </a:p>
        </p:txBody>
      </p:sp>
      <p:sp>
        <p:nvSpPr>
          <p:cNvPr id="5" name="Système ADG-10">
            <a:extLst>
              <a:ext uri="{FF2B5EF4-FFF2-40B4-BE49-F238E27FC236}">
                <a16:creationId xmlns:a16="http://schemas.microsoft.com/office/drawing/2014/main" id="{B5865A18-FD92-4934-B1D5-DF78C1C5BEA6}"/>
              </a:ext>
            </a:extLst>
          </p:cNvPr>
          <p:cNvSpPr>
            <a:spLocks noGrp="1"/>
          </p:cNvSpPr>
          <p:nvPr/>
        </p:nvSpPr>
        <p:spPr>
          <a:xfrm>
            <a:off x="5334000" y="3124200"/>
            <a:ext cx="7334250" cy="457200"/>
          </a:xfrm>
          <a:prstGeom prst="rect">
            <a:avLst/>
          </a:prstGeom>
          <a:noFill/>
          <a:ln w="0">
            <a:noFill/>
          </a:ln>
        </p:spPr>
        <p:txBody>
          <a:bodyPr wrap="square" lIns="0" tIns="0" rIns="0" bIns="0" anchor="ctr">
            <a:noAutofit/>
          </a:bodyPr>
          <a:lstStyle/>
          <a:p>
            <a:pPr algn="ctr">
              <a:defRPr sz="2250" b="1">
                <a:solidFill>
                  <a:srgbClr val="414548"/>
                </a:solidFill>
                <a:latin typeface="Calibri"/>
                <a:ea typeface="Calibri"/>
                <a:cs typeface="Calibri"/>
              </a:defRPr>
            </a:pPr>
            <a:r>
              <a:rPr sz="2250" b="1">
                <a:solidFill>
                  <a:srgbClr val="414548"/>
                </a:solidFill>
                <a:latin typeface="Calibri"/>
                <a:ea typeface="Calibri"/>
                <a:cs typeface="Calibri"/>
              </a:rPr>
              <a:t>Système ADG-10</a:t>
            </a:r>
          </a:p>
        </p:txBody>
      </p:sp>
      <p:sp>
        <p:nvSpPr>
          <p:cNvPr id="6" name="Commercial">
            <a:extLst>
              <a:ext uri="{FF2B5EF4-FFF2-40B4-BE49-F238E27FC236}">
                <a16:creationId xmlns:a16="http://schemas.microsoft.com/office/drawing/2014/main" id="{BD9EA111-2922-46E4-9935-89FD675759DE}"/>
              </a:ext>
            </a:extLst>
          </p:cNvPr>
          <p:cNvSpPr>
            <a:spLocks noGrp="1"/>
          </p:cNvSpPr>
          <p:nvPr/>
        </p:nvSpPr>
        <p:spPr>
          <a:xfrm>
            <a:off x="1095375" y="4191000"/>
            <a:ext cx="2857500" cy="857250"/>
          </a:xfrm>
          <a:prstGeom prst="rect">
            <a:avLst/>
          </a:prstGeom>
          <a:solidFill>
            <a:srgbClr val="E1E5DD"/>
          </a:solidFill>
          <a:ln w="19050">
            <a:solidFill>
              <a:srgbClr val="5D818B"/>
            </a:solidFill>
          </a:ln>
        </p:spPr>
        <p:txBody>
          <a:bodyPr lIns="114300" tIns="85725" rIns="114300" bIns="85725" anchor="ctr">
            <a:noAutofit/>
          </a:bodyPr>
          <a:lstStyle/>
          <a:p>
            <a:pPr algn="ctr">
              <a:defRPr sz="2700">
                <a:solidFill>
                  <a:srgbClr val="414548"/>
                </a:solidFill>
                <a:latin typeface="Calibri"/>
                <a:ea typeface="Calibri"/>
                <a:cs typeface="Calibri"/>
              </a:defRPr>
            </a:pPr>
            <a:r>
              <a:rPr sz="2700">
                <a:solidFill>
                  <a:srgbClr val="414548"/>
                </a:solidFill>
                <a:latin typeface="Calibri"/>
                <a:ea typeface="Calibri"/>
                <a:cs typeface="Calibri"/>
              </a:rPr>
              <a:t>Commercial</a:t>
            </a:r>
          </a:p>
        </p:txBody>
      </p:sp>
      <p:sp>
        <p:nvSpPr>
          <p:cNvPr id="7" name="Administrateur">
            <a:extLst>
              <a:ext uri="{FF2B5EF4-FFF2-40B4-BE49-F238E27FC236}">
                <a16:creationId xmlns:a16="http://schemas.microsoft.com/office/drawing/2014/main" id="{917DA315-CB7C-4609-9F43-2C10C7EC1F97}"/>
              </a:ext>
            </a:extLst>
          </p:cNvPr>
          <p:cNvSpPr>
            <a:spLocks noGrp="1"/>
          </p:cNvSpPr>
          <p:nvPr/>
        </p:nvSpPr>
        <p:spPr>
          <a:xfrm>
            <a:off x="1095375" y="7067550"/>
            <a:ext cx="2857500" cy="857250"/>
          </a:xfrm>
          <a:prstGeom prst="rect">
            <a:avLst/>
          </a:prstGeom>
          <a:solidFill>
            <a:srgbClr val="E1E5DD"/>
          </a:solidFill>
          <a:ln w="19050">
            <a:solidFill>
              <a:srgbClr val="5D818B"/>
            </a:solidFill>
          </a:ln>
        </p:spPr>
        <p:txBody>
          <a:bodyPr lIns="114300" tIns="85725" rIns="114300" bIns="85725" anchor="ctr">
            <a:noAutofit/>
          </a:bodyPr>
          <a:lstStyle/>
          <a:p>
            <a:pPr algn="ctr">
              <a:defRPr sz="2550">
                <a:solidFill>
                  <a:srgbClr val="414548"/>
                </a:solidFill>
                <a:latin typeface="Calibri"/>
                <a:ea typeface="Calibri"/>
                <a:cs typeface="Calibri"/>
              </a:defRPr>
            </a:pPr>
            <a:r>
              <a:rPr sz="2550">
                <a:solidFill>
                  <a:srgbClr val="414548"/>
                </a:solidFill>
                <a:latin typeface="Calibri"/>
                <a:ea typeface="Calibri"/>
                <a:cs typeface="Calibri"/>
              </a:rPr>
              <a:t>Administrateur</a:t>
            </a:r>
          </a:p>
        </p:txBody>
      </p:sp>
      <p:sp>
        <p:nvSpPr>
          <p:cNvPr id="8" name="Consulter et filtrer les leads">
            <a:extLst>
              <a:ext uri="{FF2B5EF4-FFF2-40B4-BE49-F238E27FC236}">
                <a16:creationId xmlns:a16="http://schemas.microsoft.com/office/drawing/2014/main" id="{A4E83CC3-DEF5-4F90-AE48-7B549EA3BF29}"/>
              </a:ext>
            </a:extLst>
          </p:cNvPr>
          <p:cNvSpPr>
            <a:spLocks noGrp="1"/>
          </p:cNvSpPr>
          <p:nvPr/>
        </p:nvSpPr>
        <p:spPr>
          <a:xfrm>
            <a:off x="5381625" y="366712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Consulter et filtrer les leads</a:t>
            </a:r>
          </a:p>
        </p:txBody>
      </p:sp>
      <p:sp>
        <p:nvSpPr>
          <p:cNvPr id="9" name="Exécuter en simulation / réel">
            <a:extLst>
              <a:ext uri="{FF2B5EF4-FFF2-40B4-BE49-F238E27FC236}">
                <a16:creationId xmlns:a16="http://schemas.microsoft.com/office/drawing/2014/main" id="{FDBAF3B4-70B3-4F2B-928E-B3D709689DC6}"/>
              </a:ext>
            </a:extLst>
          </p:cNvPr>
          <p:cNvSpPr>
            <a:spLocks noGrp="1"/>
          </p:cNvSpPr>
          <p:nvPr/>
        </p:nvSpPr>
        <p:spPr>
          <a:xfrm>
            <a:off x="5381625" y="463867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Exécuter en simulation / réel</a:t>
            </a:r>
          </a:p>
        </p:txBody>
      </p:sp>
      <p:sp>
        <p:nvSpPr>
          <p:cNvPr id="10" name="Générer contenus et documents">
            <a:extLst>
              <a:ext uri="{FF2B5EF4-FFF2-40B4-BE49-F238E27FC236}">
                <a16:creationId xmlns:a16="http://schemas.microsoft.com/office/drawing/2014/main" id="{AC33E205-9147-4134-B2FB-120ECF4195EA}"/>
              </a:ext>
            </a:extLst>
          </p:cNvPr>
          <p:cNvSpPr>
            <a:spLocks noGrp="1"/>
          </p:cNvSpPr>
          <p:nvPr/>
        </p:nvSpPr>
        <p:spPr>
          <a:xfrm>
            <a:off x="5381625" y="561022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Générer contenus et documents</a:t>
            </a:r>
          </a:p>
        </p:txBody>
      </p:sp>
      <p:sp>
        <p:nvSpPr>
          <p:cNvPr id="11" name="Déclencher les relances">
            <a:extLst>
              <a:ext uri="{FF2B5EF4-FFF2-40B4-BE49-F238E27FC236}">
                <a16:creationId xmlns:a16="http://schemas.microsoft.com/office/drawing/2014/main" id="{76E435E5-381A-4B31-9A03-8635FFBD9EB7}"/>
              </a:ext>
            </a:extLst>
          </p:cNvPr>
          <p:cNvSpPr>
            <a:spLocks noGrp="1"/>
          </p:cNvSpPr>
          <p:nvPr/>
        </p:nvSpPr>
        <p:spPr>
          <a:xfrm>
            <a:off x="5381625" y="658177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Déclencher les relances</a:t>
            </a:r>
          </a:p>
        </p:txBody>
      </p:sp>
      <p:sp>
        <p:nvSpPr>
          <p:cNvPr id="12" name="Configurer et contrôler les journaux">
            <a:extLst>
              <a:ext uri="{FF2B5EF4-FFF2-40B4-BE49-F238E27FC236}">
                <a16:creationId xmlns:a16="http://schemas.microsoft.com/office/drawing/2014/main" id="{28A2D41C-FB2C-48EA-BB75-116645D3A4EE}"/>
              </a:ext>
            </a:extLst>
          </p:cNvPr>
          <p:cNvSpPr>
            <a:spLocks noGrp="1"/>
          </p:cNvSpPr>
          <p:nvPr/>
        </p:nvSpPr>
        <p:spPr>
          <a:xfrm>
            <a:off x="5381625" y="755332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Configurer et contrôler les journaux</a:t>
            </a:r>
          </a:p>
        </p:txBody>
      </p:sp>
      <p:cxnSp>
        <p:nvCxnSpPr>
          <p:cNvPr id="37" name="Connecteur droit avec flèche 36"/>
          <p:cNvCxnSpPr>
            <a:stCxn id="6" idx="3"/>
            <a:endCxn id="8" idx="2"/>
          </p:cNvCxnSpPr>
          <p:nvPr/>
        </p:nvCxnSpPr>
        <p:spPr>
          <a:xfrm flipV="1">
            <a:off x="3952875" y="4048125"/>
            <a:ext cx="1428750" cy="571500"/>
          </a:xfrm>
          <a:prstGeom prst="straightConnector1">
            <a:avLst/>
          </a:prstGeom>
          <a:ln w="28575">
            <a:solidFill>
              <a:srgbClr val="A65A43"/>
            </a:solidFill>
            <a:tailEnd type="triangle" w="sm" len="sm"/>
          </a:ln>
        </p:spPr>
      </p:cxnSp>
      <p:cxnSp>
        <p:nvCxnSpPr>
          <p:cNvPr id="38" name="Connecteur droit avec flèche 37"/>
          <p:cNvCxnSpPr>
            <a:stCxn id="6" idx="3"/>
            <a:endCxn id="9" idx="2"/>
          </p:cNvCxnSpPr>
          <p:nvPr/>
        </p:nvCxnSpPr>
        <p:spPr>
          <a:xfrm>
            <a:off x="3952875" y="4619625"/>
            <a:ext cx="1428750" cy="400050"/>
          </a:xfrm>
          <a:prstGeom prst="straightConnector1">
            <a:avLst/>
          </a:prstGeom>
          <a:ln w="28575">
            <a:solidFill>
              <a:srgbClr val="A65A43"/>
            </a:solidFill>
            <a:tailEnd type="triangle" w="sm" len="sm"/>
          </a:ln>
        </p:spPr>
      </p:cxnSp>
      <p:cxnSp>
        <p:nvCxnSpPr>
          <p:cNvPr id="39" name="Connecteur droit avec flèche 38"/>
          <p:cNvCxnSpPr>
            <a:stCxn id="6" idx="3"/>
            <a:endCxn id="10" idx="2"/>
          </p:cNvCxnSpPr>
          <p:nvPr/>
        </p:nvCxnSpPr>
        <p:spPr>
          <a:xfrm>
            <a:off x="3952875" y="4619625"/>
            <a:ext cx="1428750" cy="1371600"/>
          </a:xfrm>
          <a:prstGeom prst="straightConnector1">
            <a:avLst/>
          </a:prstGeom>
          <a:ln w="28575">
            <a:solidFill>
              <a:srgbClr val="A65A43"/>
            </a:solidFill>
            <a:tailEnd type="triangle" w="sm" len="sm"/>
          </a:ln>
        </p:spPr>
      </p:cxnSp>
      <p:cxnSp>
        <p:nvCxnSpPr>
          <p:cNvPr id="40" name="Connecteur droit avec flèche 39"/>
          <p:cNvCxnSpPr>
            <a:stCxn id="6" idx="3"/>
            <a:endCxn id="11" idx="2"/>
          </p:cNvCxnSpPr>
          <p:nvPr/>
        </p:nvCxnSpPr>
        <p:spPr>
          <a:xfrm>
            <a:off x="3952875" y="4619625"/>
            <a:ext cx="1428750" cy="2343150"/>
          </a:xfrm>
          <a:prstGeom prst="straightConnector1">
            <a:avLst/>
          </a:prstGeom>
          <a:ln w="28575">
            <a:solidFill>
              <a:srgbClr val="A65A43"/>
            </a:solidFill>
            <a:tailEnd type="triangle" w="sm" len="sm"/>
          </a:ln>
        </p:spPr>
      </p:cxnSp>
      <p:cxnSp>
        <p:nvCxnSpPr>
          <p:cNvPr id="41" name="Connecteur droit avec flèche 40"/>
          <p:cNvCxnSpPr>
            <a:stCxn id="7" idx="3"/>
            <a:endCxn id="12" idx="2"/>
          </p:cNvCxnSpPr>
          <p:nvPr/>
        </p:nvCxnSpPr>
        <p:spPr>
          <a:xfrm>
            <a:off x="3952875" y="7496175"/>
            <a:ext cx="1428750" cy="438150"/>
          </a:xfrm>
          <a:prstGeom prst="straightConnector1">
            <a:avLst/>
          </a:prstGeom>
          <a:ln w="28575">
            <a:solidFill>
              <a:srgbClr val="A65A43"/>
            </a:solidFill>
            <a:tailEnd type="triangle" w="sm" len="sm"/>
          </a:ln>
        </p:spPr>
      </p:cxnSp>
      <p:sp>
        <p:nvSpPr>
          <p:cNvPr id="18" name="Airtable&#10;Données CRM">
            <a:extLst>
              <a:ext uri="{FF2B5EF4-FFF2-40B4-BE49-F238E27FC236}">
                <a16:creationId xmlns:a16="http://schemas.microsoft.com/office/drawing/2014/main" id="{F634FF19-F943-4A94-B8AC-4FE7F223EF81}"/>
              </a:ext>
            </a:extLst>
          </p:cNvPr>
          <p:cNvSpPr>
            <a:spLocks noGrp="1"/>
          </p:cNvSpPr>
          <p:nvPr/>
        </p:nvSpPr>
        <p:spPr>
          <a:xfrm>
            <a:off x="14097000" y="3810000"/>
            <a:ext cx="3048000" cy="904875"/>
          </a:xfrm>
          <a:prstGeom prst="rect">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Airtable</a:t>
            </a:r>
          </a:p>
          <a:p>
            <a:pPr algn="ctr">
              <a:defRPr sz="2400">
                <a:solidFill>
                  <a:srgbClr val="414548"/>
                </a:solidFill>
                <a:latin typeface="Calibri"/>
                <a:ea typeface="Calibri"/>
                <a:cs typeface="Calibri"/>
              </a:defRPr>
            </a:pPr>
            <a:r>
              <a:rPr sz="2400">
                <a:solidFill>
                  <a:srgbClr val="414548"/>
                </a:solidFill>
                <a:latin typeface="Calibri"/>
                <a:ea typeface="Calibri"/>
                <a:cs typeface="Calibri"/>
              </a:rPr>
              <a:t>Données CRM</a:t>
            </a:r>
          </a:p>
        </p:txBody>
      </p:sp>
      <p:sp>
        <p:nvSpPr>
          <p:cNvPr id="19" name="Groq&#10;Génération IA">
            <a:extLst>
              <a:ext uri="{FF2B5EF4-FFF2-40B4-BE49-F238E27FC236}">
                <a16:creationId xmlns:a16="http://schemas.microsoft.com/office/drawing/2014/main" id="{C052D946-997E-43B7-A0E3-A78946F89719}"/>
              </a:ext>
            </a:extLst>
          </p:cNvPr>
          <p:cNvSpPr>
            <a:spLocks noGrp="1"/>
          </p:cNvSpPr>
          <p:nvPr/>
        </p:nvSpPr>
        <p:spPr>
          <a:xfrm>
            <a:off x="14097000" y="5657850"/>
            <a:ext cx="3048000" cy="904875"/>
          </a:xfrm>
          <a:prstGeom prst="rect">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Groq</a:t>
            </a:r>
          </a:p>
          <a:p>
            <a:pPr algn="ctr">
              <a:defRPr sz="2400">
                <a:solidFill>
                  <a:srgbClr val="414548"/>
                </a:solidFill>
                <a:latin typeface="Calibri"/>
                <a:ea typeface="Calibri"/>
                <a:cs typeface="Calibri"/>
              </a:defRPr>
            </a:pPr>
            <a:r>
              <a:rPr sz="2400">
                <a:solidFill>
                  <a:srgbClr val="414548"/>
                </a:solidFill>
                <a:latin typeface="Calibri"/>
                <a:ea typeface="Calibri"/>
                <a:cs typeface="Calibri"/>
              </a:rPr>
              <a:t>Génération IA</a:t>
            </a:r>
          </a:p>
        </p:txBody>
      </p:sp>
      <p:sp>
        <p:nvSpPr>
          <p:cNvPr id="20" name="SMTP / navigateur&#10;Communication">
            <a:extLst>
              <a:ext uri="{FF2B5EF4-FFF2-40B4-BE49-F238E27FC236}">
                <a16:creationId xmlns:a16="http://schemas.microsoft.com/office/drawing/2014/main" id="{E12D8AB8-D35B-4DF4-83DD-D915FBBC77E5}"/>
              </a:ext>
            </a:extLst>
          </p:cNvPr>
          <p:cNvSpPr>
            <a:spLocks noGrp="1"/>
          </p:cNvSpPr>
          <p:nvPr/>
        </p:nvSpPr>
        <p:spPr>
          <a:xfrm>
            <a:off x="14097000" y="7524750"/>
            <a:ext cx="3048000" cy="904875"/>
          </a:xfrm>
          <a:prstGeom prst="rect">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SMTP / navigateur</a:t>
            </a:r>
          </a:p>
          <a:p>
            <a:pPr algn="ctr">
              <a:defRPr sz="2400">
                <a:solidFill>
                  <a:srgbClr val="414548"/>
                </a:solidFill>
                <a:latin typeface="Calibri"/>
                <a:ea typeface="Calibri"/>
                <a:cs typeface="Calibri"/>
              </a:defRPr>
            </a:pPr>
            <a:r>
              <a:rPr sz="2400">
                <a:solidFill>
                  <a:srgbClr val="414548"/>
                </a:solidFill>
                <a:latin typeface="Calibri"/>
                <a:ea typeface="Calibri"/>
                <a:cs typeface="Calibri"/>
              </a:rPr>
              <a:t>Communication</a:t>
            </a:r>
          </a:p>
        </p:txBody>
      </p:sp>
      <p:cxnSp>
        <p:nvCxnSpPr>
          <p:cNvPr id="45" name="Connecteur droit avec flèche 44"/>
          <p:cNvCxnSpPr>
            <a:stCxn id="8" idx="6"/>
            <a:endCxn id="18" idx="1"/>
          </p:cNvCxnSpPr>
          <p:nvPr/>
        </p:nvCxnSpPr>
        <p:spPr>
          <a:xfrm>
            <a:off x="12620625" y="4048125"/>
            <a:ext cx="1476375" cy="214313"/>
          </a:xfrm>
          <a:prstGeom prst="straightConnector1">
            <a:avLst/>
          </a:prstGeom>
          <a:ln w="28575">
            <a:solidFill>
              <a:srgbClr val="A65A43"/>
            </a:solidFill>
            <a:tailEnd type="triangle" w="sm" len="sm"/>
          </a:ln>
        </p:spPr>
      </p:cxnSp>
      <p:cxnSp>
        <p:nvCxnSpPr>
          <p:cNvPr id="46" name="Connecteur droit avec flèche 45"/>
          <p:cNvCxnSpPr>
            <a:stCxn id="10" idx="6"/>
            <a:endCxn id="19" idx="1"/>
          </p:cNvCxnSpPr>
          <p:nvPr/>
        </p:nvCxnSpPr>
        <p:spPr>
          <a:xfrm>
            <a:off x="12620625" y="5991225"/>
            <a:ext cx="1476375" cy="119063"/>
          </a:xfrm>
          <a:prstGeom prst="straightConnector1">
            <a:avLst/>
          </a:prstGeom>
          <a:ln w="28575">
            <a:solidFill>
              <a:srgbClr val="A65A43"/>
            </a:solidFill>
            <a:tailEnd type="triangle" w="sm" len="sm"/>
          </a:ln>
        </p:spPr>
      </p:cxnSp>
      <p:cxnSp>
        <p:nvCxnSpPr>
          <p:cNvPr id="47" name="Connecteur droit avec flèche 46"/>
          <p:cNvCxnSpPr>
            <a:stCxn id="11" idx="6"/>
            <a:endCxn id="20" idx="1"/>
          </p:cNvCxnSpPr>
          <p:nvPr/>
        </p:nvCxnSpPr>
        <p:spPr>
          <a:xfrm>
            <a:off x="12620625" y="6962775"/>
            <a:ext cx="1476375" cy="1014413"/>
          </a:xfrm>
          <a:prstGeom prst="straightConnector1">
            <a:avLst/>
          </a:prstGeom>
          <a:ln w="28575">
            <a:solidFill>
              <a:srgbClr val="A65A43"/>
            </a:solidFill>
            <a:tailEnd type="triangle" w="sm" len="sm"/>
          </a:ln>
        </p:spPr>
      </p:cxnSp>
      <p:sp>
        <p:nvSpPr>
          <p:cNvPr id="24" name="Rôles métier du rapport. Le prototype ne dispose pas en">
            <a:extLst>
              <a:ext uri="{FF2B5EF4-FFF2-40B4-BE49-F238E27FC236}">
                <a16:creationId xmlns:a16="http://schemas.microsoft.com/office/drawing/2014/main" id="{CE65D6B8-F897-4FD6-9974-0F42A826159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10090483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5" name="ADG-10  /  AUTOMATISATION DU CYCLE COMMERCIAL">
            <a:extLst>
              <a:ext uri="{FF2B5EF4-FFF2-40B4-BE49-F238E27FC236}">
                <a16:creationId xmlns:a16="http://schemas.microsoft.com/office/drawing/2014/main" id="{2612F9CD-1064-4D53-9C6E-565C0438F28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2 / 22">
            <a:extLst>
              <a:ext uri="{FF2B5EF4-FFF2-40B4-BE49-F238E27FC236}">
                <a16:creationId xmlns:a16="http://schemas.microsoft.com/office/drawing/2014/main" id="{EA6D5E10-9F9E-4B57-8B74-E848B488E863}"/>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12 / 24</a:t>
            </a:r>
          </a:p>
        </p:txBody>
      </p:sp>
      <p:sp>
        <p:nvSpPr>
          <p:cNvPr id="3" name="Modèle conceptuel des données">
            <a:extLst>
              <a:ext uri="{FF2B5EF4-FFF2-40B4-BE49-F238E27FC236}">
                <a16:creationId xmlns:a16="http://schemas.microsoft.com/office/drawing/2014/main" id="{E224A7B5-BA1F-4A57-944B-ADB07C00E966}"/>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Modèle conceptuel des données</a:t>
            </a:r>
          </a:p>
        </p:txBody>
      </p:sp>
      <p:sp>
        <p:nvSpPr>
          <p:cNvPr id="4" name="Formation&#10;id, titre, durée&#10;prix, pitch, objectifs">
            <a:extLst>
              <a:ext uri="{FF2B5EF4-FFF2-40B4-BE49-F238E27FC236}">
                <a16:creationId xmlns:a16="http://schemas.microsoft.com/office/drawing/2014/main" id="{A409B344-7742-452C-BCE7-1BD3CEB7DF56}"/>
              </a:ext>
            </a:extLst>
          </p:cNvPr>
          <p:cNvSpPr>
            <a:spLocks noGrp="1"/>
          </p:cNvSpPr>
          <p:nvPr/>
        </p:nvSpPr>
        <p:spPr>
          <a:xfrm>
            <a:off x="1381125" y="3333750"/>
            <a:ext cx="5810250" cy="1905000"/>
          </a:xfrm>
          <a:prstGeom prst="rect">
            <a:avLst/>
          </a:prstGeom>
          <a:solidFill>
            <a:srgbClr val="E1E5DD"/>
          </a:solidFill>
          <a:ln w="19050">
            <a:solidFill>
              <a:srgbClr val="5D818B"/>
            </a:solidFill>
          </a:ln>
        </p:spPr>
        <p:txBody>
          <a:bodyPr lIns="114300" tIns="85725" rIns="114300" bIns="85725" anchor="ctr">
            <a:noAutofit/>
          </a:bodyPr>
          <a:lstStyle/>
          <a:p>
            <a:pPr algn="ctr">
              <a:defRPr sz="3000">
                <a:solidFill>
                  <a:srgbClr val="414548"/>
                </a:solidFill>
                <a:latin typeface="Calibri"/>
                <a:ea typeface="Calibri"/>
                <a:cs typeface="Calibri"/>
              </a:defRPr>
            </a:pPr>
            <a:r>
              <a:rPr sz="3000">
                <a:solidFill>
                  <a:srgbClr val="414548"/>
                </a:solidFill>
                <a:latin typeface="Calibri"/>
                <a:ea typeface="Calibri"/>
                <a:cs typeface="Calibri"/>
              </a:rPr>
              <a:t>Formation</a:t>
            </a:r>
          </a:p>
          <a:p>
            <a:pPr algn="ctr">
              <a:defRPr sz="3000">
                <a:solidFill>
                  <a:srgbClr val="414548"/>
                </a:solidFill>
                <a:latin typeface="Calibri"/>
                <a:ea typeface="Calibri"/>
                <a:cs typeface="Calibri"/>
              </a:defRPr>
            </a:pPr>
            <a:r>
              <a:rPr sz="3000">
                <a:solidFill>
                  <a:srgbClr val="414548"/>
                </a:solidFill>
                <a:latin typeface="Calibri"/>
                <a:ea typeface="Calibri"/>
                <a:cs typeface="Calibri"/>
              </a:rPr>
              <a:t>id, titre, durée</a:t>
            </a:r>
          </a:p>
          <a:p>
            <a:pPr algn="ctr">
              <a:defRPr sz="3000">
                <a:solidFill>
                  <a:srgbClr val="414548"/>
                </a:solidFill>
                <a:latin typeface="Calibri"/>
                <a:ea typeface="Calibri"/>
                <a:cs typeface="Calibri"/>
              </a:defRPr>
            </a:pPr>
            <a:r>
              <a:rPr sz="3000">
                <a:solidFill>
                  <a:srgbClr val="414548"/>
                </a:solidFill>
                <a:latin typeface="Calibri"/>
                <a:ea typeface="Calibri"/>
                <a:cs typeface="Calibri"/>
              </a:rPr>
              <a:t>prix, pitch, objectifs</a:t>
            </a:r>
          </a:p>
        </p:txBody>
      </p:sp>
      <p:sp>
        <p:nvSpPr>
          <p:cNvPr id="5" name="Lead&#10;id, coordonnées, score&#10;statut, formation, dates">
            <a:extLst>
              <a:ext uri="{FF2B5EF4-FFF2-40B4-BE49-F238E27FC236}">
                <a16:creationId xmlns:a16="http://schemas.microsoft.com/office/drawing/2014/main" id="{7C465DAB-0742-4872-9483-B6C2AA781195}"/>
              </a:ext>
            </a:extLst>
          </p:cNvPr>
          <p:cNvSpPr>
            <a:spLocks noGrp="1"/>
          </p:cNvSpPr>
          <p:nvPr/>
        </p:nvSpPr>
        <p:spPr>
          <a:xfrm>
            <a:off x="10810875" y="3333750"/>
            <a:ext cx="5810250" cy="1905000"/>
          </a:xfrm>
          <a:prstGeom prst="rect">
            <a:avLst/>
          </a:prstGeom>
          <a:solidFill>
            <a:srgbClr val="E1E5DD"/>
          </a:solidFill>
          <a:ln w="19050">
            <a:solidFill>
              <a:srgbClr val="5D818B"/>
            </a:solidFill>
          </a:ln>
        </p:spPr>
        <p:txBody>
          <a:bodyPr lIns="114300" tIns="85725" rIns="114300" bIns="85725" anchor="ctr">
            <a:noAutofit/>
          </a:bodyPr>
          <a:lstStyle/>
          <a:p>
            <a:pPr algn="ctr">
              <a:defRPr sz="3000">
                <a:solidFill>
                  <a:srgbClr val="414548"/>
                </a:solidFill>
                <a:latin typeface="Calibri"/>
                <a:ea typeface="Calibri"/>
                <a:cs typeface="Calibri"/>
              </a:defRPr>
            </a:pPr>
            <a:r>
              <a:rPr sz="3000">
                <a:solidFill>
                  <a:srgbClr val="414548"/>
                </a:solidFill>
                <a:latin typeface="Calibri"/>
                <a:ea typeface="Calibri"/>
                <a:cs typeface="Calibri"/>
              </a:rPr>
              <a:t>Lead</a:t>
            </a:r>
          </a:p>
          <a:p>
            <a:pPr algn="ctr">
              <a:defRPr sz="3000">
                <a:solidFill>
                  <a:srgbClr val="414548"/>
                </a:solidFill>
                <a:latin typeface="Calibri"/>
                <a:ea typeface="Calibri"/>
                <a:cs typeface="Calibri"/>
              </a:defRPr>
            </a:pPr>
            <a:r>
              <a:rPr sz="3000">
                <a:solidFill>
                  <a:srgbClr val="414548"/>
                </a:solidFill>
                <a:latin typeface="Calibri"/>
                <a:ea typeface="Calibri"/>
                <a:cs typeface="Calibri"/>
              </a:rPr>
              <a:t>id, coordonnées, score</a:t>
            </a:r>
          </a:p>
          <a:p>
            <a:pPr algn="ctr">
              <a:defRPr sz="3000">
                <a:solidFill>
                  <a:srgbClr val="414548"/>
                </a:solidFill>
                <a:latin typeface="Calibri"/>
                <a:ea typeface="Calibri"/>
                <a:cs typeface="Calibri"/>
              </a:defRPr>
            </a:pPr>
            <a:r>
              <a:rPr sz="3000">
                <a:solidFill>
                  <a:srgbClr val="414548"/>
                </a:solidFill>
                <a:latin typeface="Calibri"/>
                <a:ea typeface="Calibri"/>
                <a:cs typeface="Calibri"/>
              </a:rPr>
              <a:t>statut, formation, dates</a:t>
            </a:r>
          </a:p>
        </p:txBody>
      </p:sp>
      <p:cxnSp>
        <p:nvCxnSpPr>
          <p:cNvPr id="20" name="Connecteur droit avec flèche 19"/>
          <p:cNvCxnSpPr>
            <a:stCxn id="4" idx="3"/>
            <a:endCxn id="5" idx="1"/>
          </p:cNvCxnSpPr>
          <p:nvPr/>
        </p:nvCxnSpPr>
        <p:spPr>
          <a:xfrm>
            <a:off x="7191375" y="4286250"/>
            <a:ext cx="3619500" cy="0"/>
          </a:xfrm>
          <a:prstGeom prst="straightConnector1">
            <a:avLst/>
          </a:prstGeom>
          <a:ln w="28575">
            <a:solidFill>
              <a:srgbClr val="A65A43"/>
            </a:solidFill>
            <a:tailEnd type="triangle" w="sm" len="sm"/>
          </a:ln>
        </p:spPr>
      </p:cxnSp>
      <p:sp>
        <p:nvSpPr>
          <p:cNvPr id="7" name="1                         0..*">
            <a:extLst>
              <a:ext uri="{FF2B5EF4-FFF2-40B4-BE49-F238E27FC236}">
                <a16:creationId xmlns:a16="http://schemas.microsoft.com/office/drawing/2014/main" id="{5E70FE42-D0E7-4AD6-8DBA-69AA51605B44}"/>
              </a:ext>
            </a:extLst>
          </p:cNvPr>
          <p:cNvSpPr>
            <a:spLocks noGrp="1"/>
          </p:cNvSpPr>
          <p:nvPr/>
        </p:nvSpPr>
        <p:spPr>
          <a:xfrm>
            <a:off x="7477125" y="3810000"/>
            <a:ext cx="3048000" cy="476250"/>
          </a:xfrm>
          <a:prstGeom prst="rect">
            <a:avLst/>
          </a:prstGeom>
          <a:noFill/>
          <a:ln w="0">
            <a:noFill/>
          </a:ln>
        </p:spPr>
        <p:txBody>
          <a:bodyPr wrap="square" lIns="0" tIns="0" rIns="0" bIns="0" anchor="ctr">
            <a:noAutofit/>
          </a:bodyPr>
          <a:lstStyle/>
          <a:p>
            <a:pPr algn="ctr">
              <a:defRPr sz="2325" b="0">
                <a:solidFill>
                  <a:srgbClr val="414548"/>
                </a:solidFill>
                <a:latin typeface="Calibri"/>
                <a:ea typeface="Calibri"/>
                <a:cs typeface="Calibri"/>
              </a:defRPr>
            </a:pPr>
            <a:r>
              <a:rPr sz="2325" b="0">
                <a:solidFill>
                  <a:srgbClr val="414548"/>
                </a:solidFill>
                <a:latin typeface="Calibri"/>
                <a:ea typeface="Calibri"/>
                <a:cs typeface="Calibri"/>
              </a:rPr>
              <a:t>1                         0..*</a:t>
            </a:r>
          </a:p>
        </p:txBody>
      </p:sp>
      <p:sp>
        <p:nvSpPr>
          <p:cNvPr id="8" name="Proposition&#10;référence, date&#10;PDF local">
            <a:extLst>
              <a:ext uri="{FF2B5EF4-FFF2-40B4-BE49-F238E27FC236}">
                <a16:creationId xmlns:a16="http://schemas.microsoft.com/office/drawing/2014/main" id="{E8ABD35F-7962-4282-8E60-9EDDDD482D6E}"/>
              </a:ext>
            </a:extLst>
          </p:cNvPr>
          <p:cNvSpPr>
            <a:spLocks noGrp="1"/>
          </p:cNvSpPr>
          <p:nvPr/>
        </p:nvSpPr>
        <p:spPr>
          <a:xfrm>
            <a:off x="1381125" y="6715125"/>
            <a:ext cx="4572000" cy="1619250"/>
          </a:xfrm>
          <a:prstGeom prst="rect">
            <a:avLst/>
          </a:prstGeom>
          <a:solidFill>
            <a:srgbClr val="E1E5DD"/>
          </a:solidFill>
          <a:ln w="19050">
            <a:solidFill>
              <a:srgbClr val="5D818B"/>
            </a:solidFill>
          </a:ln>
        </p:spPr>
        <p:txBody>
          <a:bodyPr lIns="114300" tIns="85725" rIns="114300" bIns="85725" anchor="ctr">
            <a:noAutofit/>
          </a:bodyPr>
          <a:lstStyle/>
          <a:p>
            <a:pPr algn="ctr">
              <a:defRPr sz="2700">
                <a:solidFill>
                  <a:srgbClr val="414548"/>
                </a:solidFill>
                <a:latin typeface="Calibri"/>
                <a:ea typeface="Calibri"/>
                <a:cs typeface="Calibri"/>
              </a:defRPr>
            </a:pPr>
            <a:r>
              <a:rPr sz="2700">
                <a:solidFill>
                  <a:srgbClr val="414548"/>
                </a:solidFill>
                <a:latin typeface="Calibri"/>
                <a:ea typeface="Calibri"/>
                <a:cs typeface="Calibri"/>
              </a:rPr>
              <a:t>Proposition</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référence, date</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PDF local</a:t>
            </a:r>
          </a:p>
        </p:txBody>
      </p:sp>
      <p:sp>
        <p:nvSpPr>
          <p:cNvPr id="9" name="Convention / Facture&#10;numéro, montants&#10;PDF local">
            <a:extLst>
              <a:ext uri="{FF2B5EF4-FFF2-40B4-BE49-F238E27FC236}">
                <a16:creationId xmlns:a16="http://schemas.microsoft.com/office/drawing/2014/main" id="{B9925B34-6AAF-4DEA-B36E-0C2E6BBFAB86}"/>
              </a:ext>
            </a:extLst>
          </p:cNvPr>
          <p:cNvSpPr>
            <a:spLocks noGrp="1"/>
          </p:cNvSpPr>
          <p:nvPr/>
        </p:nvSpPr>
        <p:spPr>
          <a:xfrm>
            <a:off x="6715125" y="6715125"/>
            <a:ext cx="4762500" cy="1619250"/>
          </a:xfrm>
          <a:prstGeom prst="rect">
            <a:avLst/>
          </a:prstGeom>
          <a:solidFill>
            <a:srgbClr val="E1E5DD"/>
          </a:solidFill>
          <a:ln w="19050">
            <a:solidFill>
              <a:srgbClr val="5D818B"/>
            </a:solidFill>
          </a:ln>
        </p:spPr>
        <p:txBody>
          <a:bodyPr lIns="114300" tIns="85725" rIns="114300" bIns="85725" anchor="ctr">
            <a:noAutofit/>
          </a:bodyPr>
          <a:lstStyle/>
          <a:p>
            <a:pPr algn="ctr">
              <a:defRPr sz="2700">
                <a:solidFill>
                  <a:srgbClr val="414548"/>
                </a:solidFill>
                <a:latin typeface="Calibri"/>
                <a:ea typeface="Calibri"/>
                <a:cs typeface="Calibri"/>
              </a:defRPr>
            </a:pPr>
            <a:r>
              <a:rPr sz="2700">
                <a:solidFill>
                  <a:srgbClr val="414548"/>
                </a:solidFill>
                <a:latin typeface="Calibri"/>
                <a:ea typeface="Calibri"/>
                <a:cs typeface="Calibri"/>
              </a:rPr>
              <a:t>Convention / Facture</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numéro, montants</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PDF local</a:t>
            </a:r>
          </a:p>
        </p:txBody>
      </p:sp>
      <p:sp>
        <p:nvSpPr>
          <p:cNvPr id="10" name="ActionEnvoi&#10;clé, canal, date UTC&#10;journal JSON">
            <a:extLst>
              <a:ext uri="{FF2B5EF4-FFF2-40B4-BE49-F238E27FC236}">
                <a16:creationId xmlns:a16="http://schemas.microsoft.com/office/drawing/2014/main" id="{51CC7B81-1183-42E3-9C09-71E1DF9FC088}"/>
              </a:ext>
            </a:extLst>
          </p:cNvPr>
          <p:cNvSpPr>
            <a:spLocks noGrp="1"/>
          </p:cNvSpPr>
          <p:nvPr/>
        </p:nvSpPr>
        <p:spPr>
          <a:xfrm>
            <a:off x="12239625" y="6715125"/>
            <a:ext cx="4381500" cy="1619250"/>
          </a:xfrm>
          <a:prstGeom prst="rect">
            <a:avLst/>
          </a:prstGeom>
          <a:solidFill>
            <a:srgbClr val="E1E5DD"/>
          </a:solidFill>
          <a:ln w="19050">
            <a:solidFill>
              <a:srgbClr val="5D818B"/>
            </a:solidFill>
          </a:ln>
        </p:spPr>
        <p:txBody>
          <a:bodyPr lIns="114300" tIns="85725" rIns="114300" bIns="85725" anchor="ctr">
            <a:noAutofit/>
          </a:bodyPr>
          <a:lstStyle/>
          <a:p>
            <a:pPr algn="ctr">
              <a:defRPr sz="2700">
                <a:solidFill>
                  <a:srgbClr val="414548"/>
                </a:solidFill>
                <a:latin typeface="Calibri"/>
                <a:ea typeface="Calibri"/>
                <a:cs typeface="Calibri"/>
              </a:defRPr>
            </a:pPr>
            <a:r>
              <a:rPr sz="2700">
                <a:solidFill>
                  <a:srgbClr val="414548"/>
                </a:solidFill>
                <a:latin typeface="Calibri"/>
                <a:ea typeface="Calibri"/>
                <a:cs typeface="Calibri"/>
              </a:rPr>
              <a:t>ActionEnvoi</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clé, canal, date UTC</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journal JSON</a:t>
            </a:r>
          </a:p>
        </p:txBody>
      </p:sp>
      <p:cxnSp>
        <p:nvCxnSpPr>
          <p:cNvPr id="25" name="Connecteur droit avec flèche 24"/>
          <p:cNvCxnSpPr>
            <a:stCxn id="5" idx="2"/>
            <a:endCxn id="8" idx="0"/>
          </p:cNvCxnSpPr>
          <p:nvPr/>
        </p:nvCxnSpPr>
        <p:spPr>
          <a:xfrm flipH="1">
            <a:off x="3667125" y="5238750"/>
            <a:ext cx="10048875" cy="1476375"/>
          </a:xfrm>
          <a:prstGeom prst="straightConnector1">
            <a:avLst/>
          </a:prstGeom>
          <a:ln w="28575">
            <a:solidFill>
              <a:srgbClr val="A65A43"/>
            </a:solidFill>
            <a:tailEnd type="triangle" w="sm" len="sm"/>
          </a:ln>
        </p:spPr>
      </p:cxnSp>
      <p:cxnSp>
        <p:nvCxnSpPr>
          <p:cNvPr id="26" name="Connecteur droit avec flèche 25"/>
          <p:cNvCxnSpPr>
            <a:stCxn id="5" idx="2"/>
            <a:endCxn id="9" idx="0"/>
          </p:cNvCxnSpPr>
          <p:nvPr/>
        </p:nvCxnSpPr>
        <p:spPr>
          <a:xfrm flipH="1">
            <a:off x="9096375" y="5238750"/>
            <a:ext cx="4619625" cy="1476375"/>
          </a:xfrm>
          <a:prstGeom prst="straightConnector1">
            <a:avLst/>
          </a:prstGeom>
          <a:ln w="28575">
            <a:solidFill>
              <a:srgbClr val="A65A43"/>
            </a:solidFill>
            <a:tailEnd type="triangle" w="sm" len="sm"/>
          </a:ln>
        </p:spPr>
      </p:cxnSp>
      <p:cxnSp>
        <p:nvCxnSpPr>
          <p:cNvPr id="27" name="Connecteur droit avec flèche 26"/>
          <p:cNvCxnSpPr>
            <a:stCxn id="5" idx="2"/>
            <a:endCxn id="10" idx="0"/>
          </p:cNvCxnSpPr>
          <p:nvPr/>
        </p:nvCxnSpPr>
        <p:spPr>
          <a:xfrm>
            <a:off x="13716000" y="5238750"/>
            <a:ext cx="714375" cy="1476375"/>
          </a:xfrm>
          <a:prstGeom prst="straightConnector1">
            <a:avLst/>
          </a:prstGeom>
          <a:ln w="28575">
            <a:solidFill>
              <a:srgbClr val="A65A43"/>
            </a:solidFill>
            <a:tailEnd type="triangle" w="sm" len="sm"/>
          </a:ln>
        </p:spPr>
      </p:cxnSp>
      <p:sp>
        <p:nvSpPr>
          <p:cNvPr id="14" name="Modèle conceptuel, non classes Python persistées. Donné">
            <a:extLst>
              <a:ext uri="{FF2B5EF4-FFF2-40B4-BE49-F238E27FC236}">
                <a16:creationId xmlns:a16="http://schemas.microsoft.com/office/drawing/2014/main" id="{544C76AC-2969-413B-9429-59AFB6242A30}"/>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123291427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9" name="ADG-10  /  AUTOMATISATION DU CYCLE COMMERCIAL">
            <a:extLst>
              <a:ext uri="{FF2B5EF4-FFF2-40B4-BE49-F238E27FC236}">
                <a16:creationId xmlns:a16="http://schemas.microsoft.com/office/drawing/2014/main" id="{421048B0-4365-4314-A7C1-2297E4F8DD0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3 / 22">
            <a:extLst>
              <a:ext uri="{FF2B5EF4-FFF2-40B4-BE49-F238E27FC236}">
                <a16:creationId xmlns:a16="http://schemas.microsoft.com/office/drawing/2014/main" id="{E14548D8-56CF-4B0C-8C97-9F26BC88A150}"/>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13 / 24</a:t>
            </a:r>
          </a:p>
        </p:txBody>
      </p:sp>
      <p:sp>
        <p:nvSpPr>
          <p:cNvPr id="3" name="Scoring et routage des prospects">
            <a:extLst>
              <a:ext uri="{FF2B5EF4-FFF2-40B4-BE49-F238E27FC236}">
                <a16:creationId xmlns:a16="http://schemas.microsoft.com/office/drawing/2014/main" id="{4FF48443-6ED1-4E13-92AF-8E36E998E51C}"/>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Scoring et routage des prospects</a:t>
            </a:r>
          </a:p>
        </p:txBody>
      </p:sp>
      <p:sp>
        <p:nvSpPr>
          <p:cNvPr id="4" name="Pondération des critères (%)">
            <a:extLst>
              <a:ext uri="{FF2B5EF4-FFF2-40B4-BE49-F238E27FC236}">
                <a16:creationId xmlns:a16="http://schemas.microsoft.com/office/drawing/2014/main" id="{7C539E95-C0F5-4FA0-9AD8-182026CE91DC}"/>
              </a:ext>
            </a:extLst>
          </p:cNvPr>
          <p:cNvSpPr>
            <a:spLocks noGrp="1"/>
          </p:cNvSpPr>
          <p:nvPr/>
        </p:nvSpPr>
        <p:spPr>
          <a:xfrm>
            <a:off x="1905000" y="2952750"/>
            <a:ext cx="6858000" cy="523875"/>
          </a:xfrm>
          <a:prstGeom prst="rect">
            <a:avLst/>
          </a:prstGeom>
          <a:noFill/>
          <a:ln w="0">
            <a:noFill/>
          </a:ln>
        </p:spPr>
        <p:txBody>
          <a:bodyPr wrap="square" lIns="0" tIns="0" rIns="0" bIns="0" anchor="ctr">
            <a:noAutofit/>
          </a:bodyPr>
          <a:lstStyle/>
          <a:p>
            <a:pPr algn="ctr">
              <a:defRPr sz="2250" b="0">
                <a:solidFill>
                  <a:srgbClr val="414548"/>
                </a:solidFill>
                <a:latin typeface="Calibri"/>
                <a:ea typeface="Calibri"/>
                <a:cs typeface="Calibri"/>
              </a:defRPr>
            </a:pPr>
            <a:r>
              <a:rPr sz="2250" b="0">
                <a:solidFill>
                  <a:srgbClr val="414548"/>
                </a:solidFill>
                <a:latin typeface="Calibri"/>
                <a:ea typeface="Calibri"/>
                <a:cs typeface="Calibri"/>
              </a:rPr>
              <a:t>Pondération des critères (%)</a:t>
            </a:r>
          </a:p>
        </p:txBody>
      </p:sp>
      <p:graphicFrame>
        <p:nvGraphicFramePr>
          <p:cNvPr id="13" name="Chart"/>
          <p:cNvGraphicFramePr/>
          <p:nvPr/>
        </p:nvGraphicFramePr>
        <p:xfrm>
          <a:off x="1381125" y="3333750"/>
          <a:ext cx="7715250" cy="4714875"/>
        </p:xfrm>
        <a:graphic>
          <a:graphicData uri="http://schemas.openxmlformats.org/drawingml/2006/chart">
            <c:chart xmlns:c="http://schemas.openxmlformats.org/drawingml/2006/chart" xmlns:r="http://schemas.openxmlformats.org/officeDocument/2006/relationships" r:id="rId3"/>
          </a:graphicData>
        </a:graphic>
      </p:graphicFrame>
      <p:sp>
        <p:nvSpPr>
          <p:cNvPr id="6" name="Score ≥ 8 : priorité commerciale&#10;&#10;5 ≤ score &lt; 8 : quali">
            <a:extLst>
              <a:ext uri="{FF2B5EF4-FFF2-40B4-BE49-F238E27FC236}">
                <a16:creationId xmlns:a16="http://schemas.microsoft.com/office/drawing/2014/main" id="{ABB77C48-A0DC-48AC-969B-F3101D9D503C}"/>
              </a:ext>
            </a:extLst>
          </p:cNvPr>
          <p:cNvSpPr>
            <a:spLocks noGrp="1"/>
          </p:cNvSpPr>
          <p:nvPr/>
        </p:nvSpPr>
        <p:spPr>
          <a:xfrm>
            <a:off x="9810750" y="3476625"/>
            <a:ext cx="5715000" cy="3143250"/>
          </a:xfrm>
          <a:prstGeom prst="rect">
            <a:avLst/>
          </a:prstGeom>
          <a:noFill/>
          <a:ln w="0">
            <a:noFill/>
          </a:ln>
        </p:spPr>
        <p:txBody>
          <a:bodyPr wrap="square" lIns="0" tIns="0" rIns="0" bIns="0" anchor="ctr">
            <a:noAutofit/>
          </a:bodyPr>
          <a:lstStyle/>
          <a:p>
            <a:pPr algn="l">
              <a:defRPr sz="3000" b="0">
                <a:solidFill>
                  <a:srgbClr val="414548"/>
                </a:solidFill>
                <a:latin typeface="Calibri"/>
                <a:ea typeface="Calibri"/>
                <a:cs typeface="Calibri"/>
              </a:defRPr>
            </a:pPr>
            <a:r>
              <a:rPr sz="3000" b="0">
                <a:solidFill>
                  <a:srgbClr val="414548"/>
                </a:solidFill>
                <a:latin typeface="Calibri"/>
                <a:ea typeface="Calibri"/>
                <a:cs typeface="Calibri"/>
              </a:rPr>
              <a:t>Score ≥ 8 : priorité commerciale</a:t>
            </a:r>
          </a:p>
          <a:p>
            <a:endParaRPr sz="3000" b="0">
              <a:solidFill>
                <a:srgbClr val="414548"/>
              </a:solidFill>
              <a:latin typeface="Calibri"/>
              <a:ea typeface="Calibri"/>
              <a:cs typeface="Calibri"/>
            </a:endParaRPr>
          </a:p>
          <a:p>
            <a:pPr algn="l">
              <a:defRPr sz="3000" b="0">
                <a:solidFill>
                  <a:srgbClr val="414548"/>
                </a:solidFill>
                <a:latin typeface="Calibri"/>
                <a:ea typeface="Calibri"/>
                <a:cs typeface="Calibri"/>
              </a:defRPr>
            </a:pPr>
            <a:r>
              <a:rPr sz="3000" b="0">
                <a:solidFill>
                  <a:srgbClr val="414548"/>
                </a:solidFill>
                <a:latin typeface="Calibri"/>
                <a:ea typeface="Calibri"/>
                <a:cs typeface="Calibri"/>
              </a:rPr>
              <a:t>5 ≤ score &lt; 8 : qualification</a:t>
            </a:r>
          </a:p>
          <a:p>
            <a:endParaRPr sz="3000" b="0">
              <a:solidFill>
                <a:srgbClr val="414548"/>
              </a:solidFill>
              <a:latin typeface="Calibri"/>
              <a:ea typeface="Calibri"/>
              <a:cs typeface="Calibri"/>
            </a:endParaRPr>
          </a:p>
          <a:p>
            <a:pPr algn="l">
              <a:defRPr sz="3000" b="0">
                <a:solidFill>
                  <a:srgbClr val="414548"/>
                </a:solidFill>
                <a:latin typeface="Calibri"/>
                <a:ea typeface="Calibri"/>
                <a:cs typeface="Calibri"/>
              </a:defRPr>
            </a:pPr>
            <a:r>
              <a:rPr sz="3000" b="0">
                <a:solidFill>
                  <a:srgbClr val="414548"/>
                </a:solidFill>
                <a:latin typeface="Calibri"/>
                <a:ea typeface="Calibri"/>
                <a:cs typeface="Calibri"/>
              </a:rPr>
              <a:t>Score &lt; 5 : nurturing</a:t>
            </a:r>
          </a:p>
        </p:txBody>
      </p:sp>
      <p:sp>
        <p:nvSpPr>
          <p:cNvPr id="7" name="Exemple fictif : 9,5 / 10&#10;Budget 6 000 MAD, besoin urge">
            <a:extLst>
              <a:ext uri="{FF2B5EF4-FFF2-40B4-BE49-F238E27FC236}">
                <a16:creationId xmlns:a16="http://schemas.microsoft.com/office/drawing/2014/main" id="{57B7080B-D251-4979-8892-396A83BD9425}"/>
              </a:ext>
            </a:extLst>
          </p:cNvPr>
          <p:cNvSpPr>
            <a:spLocks noGrp="1"/>
          </p:cNvSpPr>
          <p:nvPr/>
        </p:nvSpPr>
        <p:spPr>
          <a:xfrm>
            <a:off x="9810750" y="6858000"/>
            <a:ext cx="5619750" cy="1524000"/>
          </a:xfrm>
          <a:prstGeom prst="rect">
            <a:avLst/>
          </a:prstGeom>
          <a:noFill/>
          <a:ln w="0">
            <a:noFill/>
          </a:ln>
        </p:spPr>
        <p:txBody>
          <a:bodyPr wrap="square" lIns="0" tIns="0" rIns="0" bIns="0" anchor="ctr">
            <a:noAutofit/>
          </a:bodyPr>
          <a:lstStyle/>
          <a:p>
            <a:pPr algn="l">
              <a:defRPr sz="2625" b="0">
                <a:solidFill>
                  <a:srgbClr val="414548"/>
                </a:solidFill>
                <a:latin typeface="Calibri"/>
                <a:ea typeface="Calibri"/>
                <a:cs typeface="Calibri"/>
              </a:defRPr>
            </a:pPr>
            <a:r>
              <a:rPr sz="2625" b="0">
                <a:solidFill>
                  <a:srgbClr val="414548"/>
                </a:solidFill>
                <a:latin typeface="Calibri"/>
                <a:ea typeface="Calibri"/>
                <a:cs typeface="Calibri"/>
              </a:rPr>
              <a:t>Exemple fictif : 9,5 / 10</a:t>
            </a:r>
          </a:p>
          <a:p>
            <a:pPr algn="l">
              <a:defRPr sz="2625" b="0">
                <a:solidFill>
                  <a:srgbClr val="414548"/>
                </a:solidFill>
                <a:latin typeface="Calibri"/>
                <a:ea typeface="Calibri"/>
                <a:cs typeface="Calibri"/>
              </a:defRPr>
            </a:pPr>
            <a:r>
              <a:rPr sz="2625" b="0">
                <a:solidFill>
                  <a:srgbClr val="414548"/>
                </a:solidFill>
                <a:latin typeface="Calibri"/>
                <a:ea typeface="Calibri"/>
                <a:cs typeface="Calibri"/>
              </a:rPr>
              <a:t>Budget 6 000 MAD, besoin urgent, DRH, PME, e-mail direct.</a:t>
            </a:r>
          </a:p>
        </p:txBody>
      </p:sp>
      <p:sp>
        <p:nvSpPr>
          <p:cNvPr id="8" name="Le score exprime une priorité de traitement. Il ne mesu">
            <a:extLst>
              <a:ext uri="{FF2B5EF4-FFF2-40B4-BE49-F238E27FC236}">
                <a16:creationId xmlns:a16="http://schemas.microsoft.com/office/drawing/2014/main" id="{2F4CBCF4-6E2C-4DBC-8790-3282CB8FDF81}"/>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96296024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44" name="ADG-10  /  AUTOMATISATION DU CYCLE COMMERCIAL">
            <a:extLst>
              <a:ext uri="{FF2B5EF4-FFF2-40B4-BE49-F238E27FC236}">
                <a16:creationId xmlns:a16="http://schemas.microsoft.com/office/drawing/2014/main" id="{D181BC1D-A804-4E93-B78F-A679D860B560}"/>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4 / 22">
            <a:extLst>
              <a:ext uri="{FF2B5EF4-FFF2-40B4-BE49-F238E27FC236}">
                <a16:creationId xmlns:a16="http://schemas.microsoft.com/office/drawing/2014/main" id="{0126BA8E-7A44-409C-9A78-5FF694051F25}"/>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14 / 24</a:t>
            </a:r>
          </a:p>
        </p:txBody>
      </p:sp>
      <p:sp>
        <p:nvSpPr>
          <p:cNvPr id="3" name="Séquence d’envoi d’une proposition">
            <a:extLst>
              <a:ext uri="{FF2B5EF4-FFF2-40B4-BE49-F238E27FC236}">
                <a16:creationId xmlns:a16="http://schemas.microsoft.com/office/drawing/2014/main" id="{DF26974F-3DF6-44EC-818F-7B16EA0DC42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Séquence d’envoi d’une proposition</a:t>
            </a:r>
          </a:p>
        </p:txBody>
      </p:sp>
      <p:sp>
        <p:nvSpPr>
          <p:cNvPr id="4" name="Script E6">
            <a:extLst>
              <a:ext uri="{FF2B5EF4-FFF2-40B4-BE49-F238E27FC236}">
                <a16:creationId xmlns:a16="http://schemas.microsoft.com/office/drawing/2014/main" id="{202C86D4-01B2-4CD1-B922-A37D7CFFE179}"/>
              </a:ext>
            </a:extLst>
          </p:cNvPr>
          <p:cNvSpPr>
            <a:spLocks noGrp="1"/>
          </p:cNvSpPr>
          <p:nvPr/>
        </p:nvSpPr>
        <p:spPr>
          <a:xfrm>
            <a:off x="952500"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Script E6</a:t>
            </a:r>
          </a:p>
        </p:txBody>
      </p:sp>
      <p:sp>
        <p:nvSpPr>
          <p:cNvPr id="5" name="Airtable">
            <a:extLst>
              <a:ext uri="{FF2B5EF4-FFF2-40B4-BE49-F238E27FC236}">
                <a16:creationId xmlns:a16="http://schemas.microsoft.com/office/drawing/2014/main" id="{4EDFE9B5-12A7-4B6D-A2AC-AA026534AF26}"/>
              </a:ext>
            </a:extLst>
          </p:cNvPr>
          <p:cNvSpPr>
            <a:spLocks noGrp="1"/>
          </p:cNvSpPr>
          <p:nvPr/>
        </p:nvSpPr>
        <p:spPr>
          <a:xfrm>
            <a:off x="4333875"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Airtable</a:t>
            </a:r>
          </a:p>
        </p:txBody>
      </p:sp>
      <p:sp>
        <p:nvSpPr>
          <p:cNvPr id="6" name="Journal local">
            <a:extLst>
              <a:ext uri="{FF2B5EF4-FFF2-40B4-BE49-F238E27FC236}">
                <a16:creationId xmlns:a16="http://schemas.microsoft.com/office/drawing/2014/main" id="{A45D825F-07C6-49D3-BE4D-679A1DCD321C}"/>
              </a:ext>
            </a:extLst>
          </p:cNvPr>
          <p:cNvSpPr>
            <a:spLocks noGrp="1"/>
          </p:cNvSpPr>
          <p:nvPr/>
        </p:nvSpPr>
        <p:spPr>
          <a:xfrm>
            <a:off x="7715250"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Journal local</a:t>
            </a:r>
          </a:p>
        </p:txBody>
      </p:sp>
      <p:sp>
        <p:nvSpPr>
          <p:cNvPr id="7" name="PDF">
            <a:extLst>
              <a:ext uri="{FF2B5EF4-FFF2-40B4-BE49-F238E27FC236}">
                <a16:creationId xmlns:a16="http://schemas.microsoft.com/office/drawing/2014/main" id="{91F8FC03-5778-4DFE-BBA1-6C960AA705C6}"/>
              </a:ext>
            </a:extLst>
          </p:cNvPr>
          <p:cNvSpPr>
            <a:spLocks noGrp="1"/>
          </p:cNvSpPr>
          <p:nvPr/>
        </p:nvSpPr>
        <p:spPr>
          <a:xfrm>
            <a:off x="11096625"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PDF</a:t>
            </a:r>
          </a:p>
        </p:txBody>
      </p:sp>
      <p:sp>
        <p:nvSpPr>
          <p:cNvPr id="8" name="SMTP">
            <a:extLst>
              <a:ext uri="{FF2B5EF4-FFF2-40B4-BE49-F238E27FC236}">
                <a16:creationId xmlns:a16="http://schemas.microsoft.com/office/drawing/2014/main" id="{21C3CEC5-4C75-4B99-80A2-76ED1148B7AD}"/>
              </a:ext>
            </a:extLst>
          </p:cNvPr>
          <p:cNvSpPr>
            <a:spLocks noGrp="1"/>
          </p:cNvSpPr>
          <p:nvPr/>
        </p:nvSpPr>
        <p:spPr>
          <a:xfrm>
            <a:off x="14478000"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SMTP</a:t>
            </a:r>
          </a:p>
        </p:txBody>
      </p:sp>
      <p:sp>
        <p:nvSpPr>
          <p:cNvPr id="9" name="Point de séquence">
            <a:extLst>
              <a:ext uri="{FF2B5EF4-FFF2-40B4-BE49-F238E27FC236}">
                <a16:creationId xmlns:a16="http://schemas.microsoft.com/office/drawing/2014/main" id="{97230F1D-AB37-49DA-BDA8-02671D9904C2}"/>
              </a:ext>
            </a:extLst>
          </p:cNvPr>
          <p:cNvSpPr>
            <a:spLocks noGrp="1"/>
          </p:cNvSpPr>
          <p:nvPr/>
        </p:nvSpPr>
        <p:spPr>
          <a:xfrm>
            <a:off x="2286000" y="8705850"/>
            <a:ext cx="9525" cy="9525"/>
          </a:xfrm>
          <a:prstGeom prst="rect">
            <a:avLst/>
          </a:prstGeom>
          <a:noFill/>
          <a:ln w="0">
            <a:noFill/>
          </a:ln>
        </p:spPr>
        <p:txBody>
          <a:bodyPr/>
          <a:lstStyle/>
          <a:p>
            <a:endParaRPr lang="en-GB"/>
          </a:p>
        </p:txBody>
      </p:sp>
      <p:cxnSp>
        <p:nvCxnSpPr>
          <p:cNvPr id="53" name="Connecteur droit avec flèche 52"/>
          <p:cNvCxnSpPr>
            <a:stCxn id="4" idx="2"/>
            <a:endCxn id="9" idx="0"/>
          </p:cNvCxnSpPr>
          <p:nvPr/>
        </p:nvCxnSpPr>
        <p:spPr>
          <a:xfrm>
            <a:off x="2286000" y="3810000"/>
            <a:ext cx="4763" cy="4895850"/>
          </a:xfrm>
          <a:prstGeom prst="straightConnector1">
            <a:avLst/>
          </a:prstGeom>
          <a:ln w="19050">
            <a:solidFill>
              <a:srgbClr val="5D818B"/>
            </a:solidFill>
            <a:prstDash val="dash"/>
          </a:ln>
        </p:spPr>
      </p:cxnSp>
      <p:sp>
        <p:nvSpPr>
          <p:cNvPr id="11" name="Point de séquence">
            <a:extLst>
              <a:ext uri="{FF2B5EF4-FFF2-40B4-BE49-F238E27FC236}">
                <a16:creationId xmlns:a16="http://schemas.microsoft.com/office/drawing/2014/main" id="{0D666916-82EC-4F3F-8CA6-89E027612310}"/>
              </a:ext>
            </a:extLst>
          </p:cNvPr>
          <p:cNvSpPr>
            <a:spLocks noGrp="1"/>
          </p:cNvSpPr>
          <p:nvPr/>
        </p:nvSpPr>
        <p:spPr>
          <a:xfrm>
            <a:off x="5667375" y="8705850"/>
            <a:ext cx="9525" cy="9525"/>
          </a:xfrm>
          <a:prstGeom prst="rect">
            <a:avLst/>
          </a:prstGeom>
          <a:noFill/>
          <a:ln w="0">
            <a:noFill/>
          </a:ln>
        </p:spPr>
        <p:txBody>
          <a:bodyPr/>
          <a:lstStyle/>
          <a:p>
            <a:endParaRPr lang="en-GB"/>
          </a:p>
        </p:txBody>
      </p:sp>
      <p:cxnSp>
        <p:nvCxnSpPr>
          <p:cNvPr id="55" name="Connecteur droit avec flèche 54"/>
          <p:cNvCxnSpPr>
            <a:stCxn id="5" idx="2"/>
            <a:endCxn id="11" idx="0"/>
          </p:cNvCxnSpPr>
          <p:nvPr/>
        </p:nvCxnSpPr>
        <p:spPr>
          <a:xfrm>
            <a:off x="5667375" y="3810000"/>
            <a:ext cx="4763" cy="4895850"/>
          </a:xfrm>
          <a:prstGeom prst="straightConnector1">
            <a:avLst/>
          </a:prstGeom>
          <a:ln w="19050">
            <a:solidFill>
              <a:srgbClr val="5D818B"/>
            </a:solidFill>
            <a:prstDash val="dash"/>
          </a:ln>
        </p:spPr>
      </p:cxnSp>
      <p:sp>
        <p:nvSpPr>
          <p:cNvPr id="13" name="Point de séquence">
            <a:extLst>
              <a:ext uri="{FF2B5EF4-FFF2-40B4-BE49-F238E27FC236}">
                <a16:creationId xmlns:a16="http://schemas.microsoft.com/office/drawing/2014/main" id="{D426F840-332E-44BE-B1D1-F1ADE68019D3}"/>
              </a:ext>
            </a:extLst>
          </p:cNvPr>
          <p:cNvSpPr>
            <a:spLocks noGrp="1"/>
          </p:cNvSpPr>
          <p:nvPr/>
        </p:nvSpPr>
        <p:spPr>
          <a:xfrm>
            <a:off x="9048750" y="8705850"/>
            <a:ext cx="9525" cy="9525"/>
          </a:xfrm>
          <a:prstGeom prst="rect">
            <a:avLst/>
          </a:prstGeom>
          <a:noFill/>
          <a:ln w="0">
            <a:noFill/>
          </a:ln>
        </p:spPr>
        <p:txBody>
          <a:bodyPr/>
          <a:lstStyle/>
          <a:p>
            <a:endParaRPr lang="en-GB"/>
          </a:p>
        </p:txBody>
      </p:sp>
      <p:cxnSp>
        <p:nvCxnSpPr>
          <p:cNvPr id="57" name="Connecteur droit avec flèche 56"/>
          <p:cNvCxnSpPr>
            <a:stCxn id="6" idx="2"/>
            <a:endCxn id="13" idx="0"/>
          </p:cNvCxnSpPr>
          <p:nvPr/>
        </p:nvCxnSpPr>
        <p:spPr>
          <a:xfrm>
            <a:off x="9048750" y="3810000"/>
            <a:ext cx="4763" cy="4895850"/>
          </a:xfrm>
          <a:prstGeom prst="straightConnector1">
            <a:avLst/>
          </a:prstGeom>
          <a:ln w="19050">
            <a:solidFill>
              <a:srgbClr val="5D818B"/>
            </a:solidFill>
            <a:prstDash val="dash"/>
          </a:ln>
        </p:spPr>
      </p:cxnSp>
      <p:sp>
        <p:nvSpPr>
          <p:cNvPr id="15" name="Point de séquence">
            <a:extLst>
              <a:ext uri="{FF2B5EF4-FFF2-40B4-BE49-F238E27FC236}">
                <a16:creationId xmlns:a16="http://schemas.microsoft.com/office/drawing/2014/main" id="{07FFF647-0F78-4295-B245-4A3A0F9A7C2D}"/>
              </a:ext>
            </a:extLst>
          </p:cNvPr>
          <p:cNvSpPr>
            <a:spLocks noGrp="1"/>
          </p:cNvSpPr>
          <p:nvPr/>
        </p:nvSpPr>
        <p:spPr>
          <a:xfrm>
            <a:off x="12430125" y="8705850"/>
            <a:ext cx="9525" cy="9525"/>
          </a:xfrm>
          <a:prstGeom prst="rect">
            <a:avLst/>
          </a:prstGeom>
          <a:noFill/>
          <a:ln w="0">
            <a:noFill/>
          </a:ln>
        </p:spPr>
        <p:txBody>
          <a:bodyPr/>
          <a:lstStyle/>
          <a:p>
            <a:endParaRPr lang="en-GB"/>
          </a:p>
        </p:txBody>
      </p:sp>
      <p:cxnSp>
        <p:nvCxnSpPr>
          <p:cNvPr id="59" name="Connecteur droit avec flèche 58"/>
          <p:cNvCxnSpPr>
            <a:stCxn id="7" idx="2"/>
            <a:endCxn id="15" idx="0"/>
          </p:cNvCxnSpPr>
          <p:nvPr/>
        </p:nvCxnSpPr>
        <p:spPr>
          <a:xfrm>
            <a:off x="12430125" y="3810000"/>
            <a:ext cx="4763" cy="4895850"/>
          </a:xfrm>
          <a:prstGeom prst="straightConnector1">
            <a:avLst/>
          </a:prstGeom>
          <a:ln w="19050">
            <a:solidFill>
              <a:srgbClr val="5D818B"/>
            </a:solidFill>
            <a:prstDash val="dash"/>
          </a:ln>
        </p:spPr>
      </p:cxnSp>
      <p:sp>
        <p:nvSpPr>
          <p:cNvPr id="17" name="Point de séquence">
            <a:extLst>
              <a:ext uri="{FF2B5EF4-FFF2-40B4-BE49-F238E27FC236}">
                <a16:creationId xmlns:a16="http://schemas.microsoft.com/office/drawing/2014/main" id="{C5DA14B5-1A19-4298-B809-2F54A680EB81}"/>
              </a:ext>
            </a:extLst>
          </p:cNvPr>
          <p:cNvSpPr>
            <a:spLocks noGrp="1"/>
          </p:cNvSpPr>
          <p:nvPr/>
        </p:nvSpPr>
        <p:spPr>
          <a:xfrm>
            <a:off x="15811500" y="8705850"/>
            <a:ext cx="9525" cy="9525"/>
          </a:xfrm>
          <a:prstGeom prst="rect">
            <a:avLst/>
          </a:prstGeom>
          <a:noFill/>
          <a:ln w="0">
            <a:noFill/>
          </a:ln>
        </p:spPr>
        <p:txBody>
          <a:bodyPr/>
          <a:lstStyle/>
          <a:p>
            <a:endParaRPr lang="en-GB"/>
          </a:p>
        </p:txBody>
      </p:sp>
      <p:cxnSp>
        <p:nvCxnSpPr>
          <p:cNvPr id="61" name="Connecteur droit avec flèche 60"/>
          <p:cNvCxnSpPr>
            <a:stCxn id="8" idx="2"/>
            <a:endCxn id="17" idx="0"/>
          </p:cNvCxnSpPr>
          <p:nvPr/>
        </p:nvCxnSpPr>
        <p:spPr>
          <a:xfrm>
            <a:off x="15811500" y="3810000"/>
            <a:ext cx="4763" cy="4895850"/>
          </a:xfrm>
          <a:prstGeom prst="straightConnector1">
            <a:avLst/>
          </a:prstGeom>
          <a:ln w="19050">
            <a:solidFill>
              <a:srgbClr val="5D818B"/>
            </a:solidFill>
            <a:prstDash val="dash"/>
          </a:ln>
        </p:spPr>
      </p:cxnSp>
      <p:sp>
        <p:nvSpPr>
          <p:cNvPr id="19" name="Point de séquence">
            <a:extLst>
              <a:ext uri="{FF2B5EF4-FFF2-40B4-BE49-F238E27FC236}">
                <a16:creationId xmlns:a16="http://schemas.microsoft.com/office/drawing/2014/main" id="{D6DB26A4-D243-4D18-B561-3851123F1D82}"/>
              </a:ext>
            </a:extLst>
          </p:cNvPr>
          <p:cNvSpPr>
            <a:spLocks noGrp="1"/>
          </p:cNvSpPr>
          <p:nvPr/>
        </p:nvSpPr>
        <p:spPr>
          <a:xfrm>
            <a:off x="2286000" y="4333875"/>
            <a:ext cx="9525" cy="9525"/>
          </a:xfrm>
          <a:prstGeom prst="rect">
            <a:avLst/>
          </a:prstGeom>
          <a:noFill/>
          <a:ln w="0">
            <a:noFill/>
          </a:ln>
        </p:spPr>
        <p:txBody>
          <a:bodyPr/>
          <a:lstStyle/>
          <a:p>
            <a:endParaRPr lang="en-GB"/>
          </a:p>
        </p:txBody>
      </p:sp>
      <p:sp>
        <p:nvSpPr>
          <p:cNvPr id="20" name="Point de séquence">
            <a:extLst>
              <a:ext uri="{FF2B5EF4-FFF2-40B4-BE49-F238E27FC236}">
                <a16:creationId xmlns:a16="http://schemas.microsoft.com/office/drawing/2014/main" id="{9FE55328-082C-4D96-83F9-958AF8E39336}"/>
              </a:ext>
            </a:extLst>
          </p:cNvPr>
          <p:cNvSpPr>
            <a:spLocks noGrp="1"/>
          </p:cNvSpPr>
          <p:nvPr/>
        </p:nvSpPr>
        <p:spPr>
          <a:xfrm>
            <a:off x="5667375" y="4333875"/>
            <a:ext cx="9525" cy="9525"/>
          </a:xfrm>
          <a:prstGeom prst="rect">
            <a:avLst/>
          </a:prstGeom>
          <a:noFill/>
          <a:ln w="0">
            <a:noFill/>
          </a:ln>
        </p:spPr>
        <p:txBody>
          <a:bodyPr/>
          <a:lstStyle/>
          <a:p>
            <a:endParaRPr lang="en-GB"/>
          </a:p>
        </p:txBody>
      </p:sp>
      <p:cxnSp>
        <p:nvCxnSpPr>
          <p:cNvPr id="64" name="Connecteur droit avec flèche 63"/>
          <p:cNvCxnSpPr>
            <a:stCxn id="19" idx="3"/>
            <a:endCxn id="20" idx="1"/>
          </p:cNvCxnSpPr>
          <p:nvPr/>
        </p:nvCxnSpPr>
        <p:spPr>
          <a:xfrm>
            <a:off x="2295525" y="4338638"/>
            <a:ext cx="3371850" cy="0"/>
          </a:xfrm>
          <a:prstGeom prst="straightConnector1">
            <a:avLst/>
          </a:prstGeom>
          <a:ln w="28575">
            <a:solidFill>
              <a:srgbClr val="A65A43"/>
            </a:solidFill>
            <a:tailEnd type="triangle" w="sm" len="sm"/>
          </a:ln>
        </p:spPr>
      </p:cxnSp>
      <p:sp>
        <p:nvSpPr>
          <p:cNvPr id="22" name="1. Lire les prospects">
            <a:extLst>
              <a:ext uri="{FF2B5EF4-FFF2-40B4-BE49-F238E27FC236}">
                <a16:creationId xmlns:a16="http://schemas.microsoft.com/office/drawing/2014/main" id="{3648BF78-A5DE-4274-AA0C-5CBD7BC29FFE}"/>
              </a:ext>
            </a:extLst>
          </p:cNvPr>
          <p:cNvSpPr>
            <a:spLocks noGrp="1"/>
          </p:cNvSpPr>
          <p:nvPr/>
        </p:nvSpPr>
        <p:spPr>
          <a:xfrm>
            <a:off x="2428875" y="3876675"/>
            <a:ext cx="5048250"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1. Lire les prospects</a:t>
            </a:r>
          </a:p>
        </p:txBody>
      </p:sp>
      <p:sp>
        <p:nvSpPr>
          <p:cNvPr id="23" name="Point de séquence">
            <a:extLst>
              <a:ext uri="{FF2B5EF4-FFF2-40B4-BE49-F238E27FC236}">
                <a16:creationId xmlns:a16="http://schemas.microsoft.com/office/drawing/2014/main" id="{3A37DA74-1B06-4198-A131-2515775AA81D}"/>
              </a:ext>
            </a:extLst>
          </p:cNvPr>
          <p:cNvSpPr>
            <a:spLocks noGrp="1"/>
          </p:cNvSpPr>
          <p:nvPr/>
        </p:nvSpPr>
        <p:spPr>
          <a:xfrm>
            <a:off x="2286000" y="5095875"/>
            <a:ext cx="9525" cy="9525"/>
          </a:xfrm>
          <a:prstGeom prst="rect">
            <a:avLst/>
          </a:prstGeom>
          <a:noFill/>
          <a:ln w="0">
            <a:noFill/>
          </a:ln>
        </p:spPr>
        <p:txBody>
          <a:bodyPr/>
          <a:lstStyle/>
          <a:p>
            <a:endParaRPr lang="en-GB"/>
          </a:p>
        </p:txBody>
      </p:sp>
      <p:sp>
        <p:nvSpPr>
          <p:cNvPr id="24" name="Point de séquence">
            <a:extLst>
              <a:ext uri="{FF2B5EF4-FFF2-40B4-BE49-F238E27FC236}">
                <a16:creationId xmlns:a16="http://schemas.microsoft.com/office/drawing/2014/main" id="{0B9B808B-123A-484E-ACDD-0F33190117C9}"/>
              </a:ext>
            </a:extLst>
          </p:cNvPr>
          <p:cNvSpPr>
            <a:spLocks noGrp="1"/>
          </p:cNvSpPr>
          <p:nvPr/>
        </p:nvSpPr>
        <p:spPr>
          <a:xfrm>
            <a:off x="9048750" y="5095875"/>
            <a:ext cx="9525" cy="9525"/>
          </a:xfrm>
          <a:prstGeom prst="rect">
            <a:avLst/>
          </a:prstGeom>
          <a:noFill/>
          <a:ln w="0">
            <a:noFill/>
          </a:ln>
        </p:spPr>
        <p:txBody>
          <a:bodyPr/>
          <a:lstStyle/>
          <a:p>
            <a:endParaRPr lang="en-GB"/>
          </a:p>
        </p:txBody>
      </p:sp>
      <p:cxnSp>
        <p:nvCxnSpPr>
          <p:cNvPr id="68" name="Connecteur droit avec flèche 67"/>
          <p:cNvCxnSpPr>
            <a:stCxn id="23" idx="3"/>
            <a:endCxn id="24" idx="1"/>
          </p:cNvCxnSpPr>
          <p:nvPr/>
        </p:nvCxnSpPr>
        <p:spPr>
          <a:xfrm>
            <a:off x="2295525" y="5100638"/>
            <a:ext cx="6753225" cy="0"/>
          </a:xfrm>
          <a:prstGeom prst="straightConnector1">
            <a:avLst/>
          </a:prstGeom>
          <a:ln w="28575">
            <a:solidFill>
              <a:srgbClr val="A65A43"/>
            </a:solidFill>
            <a:tailEnd type="triangle" w="sm" len="sm"/>
          </a:ln>
        </p:spPr>
      </p:cxnSp>
      <p:sp>
        <p:nvSpPr>
          <p:cNvPr id="26" name="2. Rechercher un envoi antérieur">
            <a:extLst>
              <a:ext uri="{FF2B5EF4-FFF2-40B4-BE49-F238E27FC236}">
                <a16:creationId xmlns:a16="http://schemas.microsoft.com/office/drawing/2014/main" id="{3E30E637-8E30-46CD-87C5-C02A90420CFD}"/>
              </a:ext>
            </a:extLst>
          </p:cNvPr>
          <p:cNvSpPr>
            <a:spLocks noGrp="1"/>
          </p:cNvSpPr>
          <p:nvPr/>
        </p:nvSpPr>
        <p:spPr>
          <a:xfrm>
            <a:off x="2428875" y="4638675"/>
            <a:ext cx="6524625"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2. Rechercher un envoi antérieur</a:t>
            </a:r>
          </a:p>
        </p:txBody>
      </p:sp>
      <p:sp>
        <p:nvSpPr>
          <p:cNvPr id="27" name="Point de séquence">
            <a:extLst>
              <a:ext uri="{FF2B5EF4-FFF2-40B4-BE49-F238E27FC236}">
                <a16:creationId xmlns:a16="http://schemas.microsoft.com/office/drawing/2014/main" id="{DFA9C459-EE56-4523-8ADB-B1D3F41AB1AF}"/>
              </a:ext>
            </a:extLst>
          </p:cNvPr>
          <p:cNvSpPr>
            <a:spLocks noGrp="1"/>
          </p:cNvSpPr>
          <p:nvPr/>
        </p:nvSpPr>
        <p:spPr>
          <a:xfrm>
            <a:off x="2286000" y="5857875"/>
            <a:ext cx="9525" cy="9525"/>
          </a:xfrm>
          <a:prstGeom prst="rect">
            <a:avLst/>
          </a:prstGeom>
          <a:noFill/>
          <a:ln w="0">
            <a:noFill/>
          </a:ln>
        </p:spPr>
        <p:txBody>
          <a:bodyPr/>
          <a:lstStyle/>
          <a:p>
            <a:endParaRPr lang="en-GB"/>
          </a:p>
        </p:txBody>
      </p:sp>
      <p:sp>
        <p:nvSpPr>
          <p:cNvPr id="28" name="Point de séquence">
            <a:extLst>
              <a:ext uri="{FF2B5EF4-FFF2-40B4-BE49-F238E27FC236}">
                <a16:creationId xmlns:a16="http://schemas.microsoft.com/office/drawing/2014/main" id="{84A6FF12-C42F-4CA1-BFEC-73F95EA83B91}"/>
              </a:ext>
            </a:extLst>
          </p:cNvPr>
          <p:cNvSpPr>
            <a:spLocks noGrp="1"/>
          </p:cNvSpPr>
          <p:nvPr/>
        </p:nvSpPr>
        <p:spPr>
          <a:xfrm>
            <a:off x="12430125" y="5857875"/>
            <a:ext cx="9525" cy="9525"/>
          </a:xfrm>
          <a:prstGeom prst="rect">
            <a:avLst/>
          </a:prstGeom>
          <a:noFill/>
          <a:ln w="0">
            <a:noFill/>
          </a:ln>
        </p:spPr>
        <p:txBody>
          <a:bodyPr/>
          <a:lstStyle/>
          <a:p>
            <a:endParaRPr lang="en-GB"/>
          </a:p>
        </p:txBody>
      </p:sp>
      <p:cxnSp>
        <p:nvCxnSpPr>
          <p:cNvPr id="72" name="Connecteur droit avec flèche 71"/>
          <p:cNvCxnSpPr>
            <a:stCxn id="27" idx="3"/>
            <a:endCxn id="28" idx="1"/>
          </p:cNvCxnSpPr>
          <p:nvPr/>
        </p:nvCxnSpPr>
        <p:spPr>
          <a:xfrm>
            <a:off x="2295525" y="5862638"/>
            <a:ext cx="10134600" cy="0"/>
          </a:xfrm>
          <a:prstGeom prst="straightConnector1">
            <a:avLst/>
          </a:prstGeom>
          <a:ln w="28575">
            <a:solidFill>
              <a:srgbClr val="A65A43"/>
            </a:solidFill>
            <a:tailEnd type="triangle" w="sm" len="sm"/>
          </a:ln>
        </p:spPr>
      </p:cxnSp>
      <p:sp>
        <p:nvSpPr>
          <p:cNvPr id="30" name="3. Générer la proposition">
            <a:extLst>
              <a:ext uri="{FF2B5EF4-FFF2-40B4-BE49-F238E27FC236}">
                <a16:creationId xmlns:a16="http://schemas.microsoft.com/office/drawing/2014/main" id="{0D4155C6-87C8-497C-9C8F-BCDF7C20542B}"/>
              </a:ext>
            </a:extLst>
          </p:cNvPr>
          <p:cNvSpPr>
            <a:spLocks noGrp="1"/>
          </p:cNvSpPr>
          <p:nvPr/>
        </p:nvSpPr>
        <p:spPr>
          <a:xfrm>
            <a:off x="2428875" y="5400675"/>
            <a:ext cx="9906000"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3. Générer la proposition</a:t>
            </a:r>
          </a:p>
        </p:txBody>
      </p:sp>
      <p:sp>
        <p:nvSpPr>
          <p:cNvPr id="31" name="Point de séquence">
            <a:extLst>
              <a:ext uri="{FF2B5EF4-FFF2-40B4-BE49-F238E27FC236}">
                <a16:creationId xmlns:a16="http://schemas.microsoft.com/office/drawing/2014/main" id="{11438645-DEBD-47D9-94F1-9C9405A8FF43}"/>
              </a:ext>
            </a:extLst>
          </p:cNvPr>
          <p:cNvSpPr>
            <a:spLocks noGrp="1"/>
          </p:cNvSpPr>
          <p:nvPr/>
        </p:nvSpPr>
        <p:spPr>
          <a:xfrm>
            <a:off x="2286000" y="6619875"/>
            <a:ext cx="9525" cy="9525"/>
          </a:xfrm>
          <a:prstGeom prst="rect">
            <a:avLst/>
          </a:prstGeom>
          <a:noFill/>
          <a:ln w="0">
            <a:noFill/>
          </a:ln>
        </p:spPr>
        <p:txBody>
          <a:bodyPr/>
          <a:lstStyle/>
          <a:p>
            <a:endParaRPr lang="en-GB"/>
          </a:p>
        </p:txBody>
      </p:sp>
      <p:sp>
        <p:nvSpPr>
          <p:cNvPr id="32" name="Point de séquence">
            <a:extLst>
              <a:ext uri="{FF2B5EF4-FFF2-40B4-BE49-F238E27FC236}">
                <a16:creationId xmlns:a16="http://schemas.microsoft.com/office/drawing/2014/main" id="{D9F3A0CF-DB24-4C98-AD4B-1F6C8233AF95}"/>
              </a:ext>
            </a:extLst>
          </p:cNvPr>
          <p:cNvSpPr>
            <a:spLocks noGrp="1"/>
          </p:cNvSpPr>
          <p:nvPr/>
        </p:nvSpPr>
        <p:spPr>
          <a:xfrm>
            <a:off x="15811500" y="6619875"/>
            <a:ext cx="9525" cy="9525"/>
          </a:xfrm>
          <a:prstGeom prst="rect">
            <a:avLst/>
          </a:prstGeom>
          <a:noFill/>
          <a:ln w="0">
            <a:noFill/>
          </a:ln>
        </p:spPr>
        <p:txBody>
          <a:bodyPr/>
          <a:lstStyle/>
          <a:p>
            <a:endParaRPr lang="en-GB"/>
          </a:p>
        </p:txBody>
      </p:sp>
      <p:cxnSp>
        <p:nvCxnSpPr>
          <p:cNvPr id="76" name="Connecteur droit avec flèche 75"/>
          <p:cNvCxnSpPr>
            <a:stCxn id="31" idx="3"/>
            <a:endCxn id="32" idx="1"/>
          </p:cNvCxnSpPr>
          <p:nvPr/>
        </p:nvCxnSpPr>
        <p:spPr>
          <a:xfrm>
            <a:off x="2295525" y="6624638"/>
            <a:ext cx="13515975" cy="0"/>
          </a:xfrm>
          <a:prstGeom prst="straightConnector1">
            <a:avLst/>
          </a:prstGeom>
          <a:ln w="28575">
            <a:solidFill>
              <a:srgbClr val="A65A43"/>
            </a:solidFill>
            <a:tailEnd type="triangle" w="sm" len="sm"/>
          </a:ln>
        </p:spPr>
      </p:cxnSp>
      <p:sp>
        <p:nvSpPr>
          <p:cNvPr id="34" name="4. Envoyer avec pièce jointe">
            <a:extLst>
              <a:ext uri="{FF2B5EF4-FFF2-40B4-BE49-F238E27FC236}">
                <a16:creationId xmlns:a16="http://schemas.microsoft.com/office/drawing/2014/main" id="{654EEFF7-6806-4260-8CB5-58F377377CC7}"/>
              </a:ext>
            </a:extLst>
          </p:cNvPr>
          <p:cNvSpPr>
            <a:spLocks noGrp="1"/>
          </p:cNvSpPr>
          <p:nvPr/>
        </p:nvSpPr>
        <p:spPr>
          <a:xfrm>
            <a:off x="2428875" y="6162675"/>
            <a:ext cx="13287375"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4. Envoyer avec pièce jointe</a:t>
            </a:r>
          </a:p>
        </p:txBody>
      </p:sp>
      <p:sp>
        <p:nvSpPr>
          <p:cNvPr id="35" name="Point de séquence">
            <a:extLst>
              <a:ext uri="{FF2B5EF4-FFF2-40B4-BE49-F238E27FC236}">
                <a16:creationId xmlns:a16="http://schemas.microsoft.com/office/drawing/2014/main" id="{8183025A-A370-4F31-90ED-D39B6492DB97}"/>
              </a:ext>
            </a:extLst>
          </p:cNvPr>
          <p:cNvSpPr>
            <a:spLocks noGrp="1"/>
          </p:cNvSpPr>
          <p:nvPr/>
        </p:nvSpPr>
        <p:spPr>
          <a:xfrm>
            <a:off x="2286000" y="7381875"/>
            <a:ext cx="9525" cy="9525"/>
          </a:xfrm>
          <a:prstGeom prst="rect">
            <a:avLst/>
          </a:prstGeom>
          <a:noFill/>
          <a:ln w="0">
            <a:noFill/>
          </a:ln>
        </p:spPr>
        <p:txBody>
          <a:bodyPr/>
          <a:lstStyle/>
          <a:p>
            <a:endParaRPr lang="en-GB"/>
          </a:p>
        </p:txBody>
      </p:sp>
      <p:sp>
        <p:nvSpPr>
          <p:cNvPr id="36" name="Point de séquence">
            <a:extLst>
              <a:ext uri="{FF2B5EF4-FFF2-40B4-BE49-F238E27FC236}">
                <a16:creationId xmlns:a16="http://schemas.microsoft.com/office/drawing/2014/main" id="{1C792C6D-BB57-4667-A4D7-6CC84815A3E5}"/>
              </a:ext>
            </a:extLst>
          </p:cNvPr>
          <p:cNvSpPr>
            <a:spLocks noGrp="1"/>
          </p:cNvSpPr>
          <p:nvPr/>
        </p:nvSpPr>
        <p:spPr>
          <a:xfrm>
            <a:off x="9048750" y="7381875"/>
            <a:ext cx="9525" cy="9525"/>
          </a:xfrm>
          <a:prstGeom prst="rect">
            <a:avLst/>
          </a:prstGeom>
          <a:noFill/>
          <a:ln w="0">
            <a:noFill/>
          </a:ln>
        </p:spPr>
        <p:txBody>
          <a:bodyPr/>
          <a:lstStyle/>
          <a:p>
            <a:endParaRPr lang="en-GB"/>
          </a:p>
        </p:txBody>
      </p:sp>
      <p:cxnSp>
        <p:nvCxnSpPr>
          <p:cNvPr id="80" name="Connecteur droit avec flèche 79"/>
          <p:cNvCxnSpPr>
            <a:stCxn id="35" idx="3"/>
            <a:endCxn id="36" idx="1"/>
          </p:cNvCxnSpPr>
          <p:nvPr/>
        </p:nvCxnSpPr>
        <p:spPr>
          <a:xfrm>
            <a:off x="2295525" y="7386638"/>
            <a:ext cx="6753225" cy="0"/>
          </a:xfrm>
          <a:prstGeom prst="straightConnector1">
            <a:avLst/>
          </a:prstGeom>
          <a:ln w="28575">
            <a:solidFill>
              <a:srgbClr val="A65A43"/>
            </a:solidFill>
            <a:tailEnd type="triangle" w="sm" len="sm"/>
          </a:ln>
        </p:spPr>
      </p:cxnSp>
      <p:sp>
        <p:nvSpPr>
          <p:cNvPr id="38" name="5. Mémoriser le succès">
            <a:extLst>
              <a:ext uri="{FF2B5EF4-FFF2-40B4-BE49-F238E27FC236}">
                <a16:creationId xmlns:a16="http://schemas.microsoft.com/office/drawing/2014/main" id="{75F47FEE-1291-4714-8951-5EC2C05C93E8}"/>
              </a:ext>
            </a:extLst>
          </p:cNvPr>
          <p:cNvSpPr>
            <a:spLocks noGrp="1"/>
          </p:cNvSpPr>
          <p:nvPr/>
        </p:nvSpPr>
        <p:spPr>
          <a:xfrm>
            <a:off x="2428875" y="6924675"/>
            <a:ext cx="6524625"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5. Mémoriser le succès</a:t>
            </a:r>
          </a:p>
        </p:txBody>
      </p:sp>
      <p:sp>
        <p:nvSpPr>
          <p:cNvPr id="39" name="Point de séquence">
            <a:extLst>
              <a:ext uri="{FF2B5EF4-FFF2-40B4-BE49-F238E27FC236}">
                <a16:creationId xmlns:a16="http://schemas.microsoft.com/office/drawing/2014/main" id="{7CE29C24-3E46-4DE8-B310-0952B29AD886}"/>
              </a:ext>
            </a:extLst>
          </p:cNvPr>
          <p:cNvSpPr>
            <a:spLocks noGrp="1"/>
          </p:cNvSpPr>
          <p:nvPr/>
        </p:nvSpPr>
        <p:spPr>
          <a:xfrm>
            <a:off x="2286000" y="8143875"/>
            <a:ext cx="9525" cy="9525"/>
          </a:xfrm>
          <a:prstGeom prst="rect">
            <a:avLst/>
          </a:prstGeom>
          <a:noFill/>
          <a:ln w="0">
            <a:noFill/>
          </a:ln>
        </p:spPr>
        <p:txBody>
          <a:bodyPr/>
          <a:lstStyle/>
          <a:p>
            <a:endParaRPr lang="en-GB"/>
          </a:p>
        </p:txBody>
      </p:sp>
      <p:sp>
        <p:nvSpPr>
          <p:cNvPr id="40" name="Point de séquence">
            <a:extLst>
              <a:ext uri="{FF2B5EF4-FFF2-40B4-BE49-F238E27FC236}">
                <a16:creationId xmlns:a16="http://schemas.microsoft.com/office/drawing/2014/main" id="{DE773BAC-8062-4CB6-A196-C9B28756DF52}"/>
              </a:ext>
            </a:extLst>
          </p:cNvPr>
          <p:cNvSpPr>
            <a:spLocks noGrp="1"/>
          </p:cNvSpPr>
          <p:nvPr/>
        </p:nvSpPr>
        <p:spPr>
          <a:xfrm>
            <a:off x="5667375" y="8143875"/>
            <a:ext cx="9525" cy="9525"/>
          </a:xfrm>
          <a:prstGeom prst="rect">
            <a:avLst/>
          </a:prstGeom>
          <a:noFill/>
          <a:ln w="0">
            <a:noFill/>
          </a:ln>
        </p:spPr>
        <p:txBody>
          <a:bodyPr/>
          <a:lstStyle/>
          <a:p>
            <a:endParaRPr lang="en-GB"/>
          </a:p>
        </p:txBody>
      </p:sp>
      <p:cxnSp>
        <p:nvCxnSpPr>
          <p:cNvPr id="84" name="Connecteur droit avec flèche 83"/>
          <p:cNvCxnSpPr>
            <a:stCxn id="39" idx="3"/>
            <a:endCxn id="40" idx="1"/>
          </p:cNvCxnSpPr>
          <p:nvPr/>
        </p:nvCxnSpPr>
        <p:spPr>
          <a:xfrm>
            <a:off x="2295525" y="8148638"/>
            <a:ext cx="3371850" cy="0"/>
          </a:xfrm>
          <a:prstGeom prst="straightConnector1">
            <a:avLst/>
          </a:prstGeom>
          <a:ln w="28575">
            <a:solidFill>
              <a:srgbClr val="A65A43"/>
            </a:solidFill>
            <a:tailEnd type="triangle" w="sm" len="sm"/>
          </a:ln>
        </p:spPr>
      </p:cxnSp>
      <p:sp>
        <p:nvSpPr>
          <p:cNvPr id="42" name="6. Mettre à jour date et statut">
            <a:extLst>
              <a:ext uri="{FF2B5EF4-FFF2-40B4-BE49-F238E27FC236}">
                <a16:creationId xmlns:a16="http://schemas.microsoft.com/office/drawing/2014/main" id="{C641C5DD-9723-49A8-8DE6-503AF4C25F89}"/>
              </a:ext>
            </a:extLst>
          </p:cNvPr>
          <p:cNvSpPr>
            <a:spLocks noGrp="1"/>
          </p:cNvSpPr>
          <p:nvPr/>
        </p:nvSpPr>
        <p:spPr>
          <a:xfrm>
            <a:off x="2428875" y="7686675"/>
            <a:ext cx="5048250"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6. Mettre à jour date et statut</a:t>
            </a:r>
          </a:p>
        </p:txBody>
      </p:sp>
      <p:sp>
        <p:nvSpPr>
          <p:cNvPr id="43" name="Si l’envoi est déjà journalisé : réconcilier le CRM san">
            <a:extLst>
              <a:ext uri="{FF2B5EF4-FFF2-40B4-BE49-F238E27FC236}">
                <a16:creationId xmlns:a16="http://schemas.microsoft.com/office/drawing/2014/main" id="{2D3561B4-F220-49F5-88DE-44B6D56A36D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01047859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6" name="ADG-10  /  AUTOMATISATION DU CYCLE COMMERCIAL">
            <a:extLst>
              <a:ext uri="{FF2B5EF4-FFF2-40B4-BE49-F238E27FC236}">
                <a16:creationId xmlns:a16="http://schemas.microsoft.com/office/drawing/2014/main" id="{7D13FAFE-FBB7-4F73-8E58-EB10EC32F988}"/>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5 / 22">
            <a:extLst>
              <a:ext uri="{FF2B5EF4-FFF2-40B4-BE49-F238E27FC236}">
                <a16:creationId xmlns:a16="http://schemas.microsoft.com/office/drawing/2014/main" id="{BDECBA8A-B43E-49D2-AEA0-8969672452EC}"/>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15 / 24</a:t>
            </a:r>
          </a:p>
        </p:txBody>
      </p:sp>
      <p:sp>
        <p:nvSpPr>
          <p:cNvPr id="3" name="Architecture technique">
            <a:extLst>
              <a:ext uri="{FF2B5EF4-FFF2-40B4-BE49-F238E27FC236}">
                <a16:creationId xmlns:a16="http://schemas.microsoft.com/office/drawing/2014/main" id="{B4BC43E0-7CBC-47B7-A03F-471AF36FB425}"/>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Architecture technique</a:t>
            </a:r>
          </a:p>
        </p:txBody>
      </p:sp>
      <p:sp>
        <p:nvSpPr>
          <p:cNvPr id="4" name="Interface Streamlit : vues, filtres, commandes">
            <a:extLst>
              <a:ext uri="{FF2B5EF4-FFF2-40B4-BE49-F238E27FC236}">
                <a16:creationId xmlns:a16="http://schemas.microsoft.com/office/drawing/2014/main" id="{DBE8C58E-EAED-48B5-8B58-24599A3E4EB3}"/>
              </a:ext>
            </a:extLst>
          </p:cNvPr>
          <p:cNvSpPr>
            <a:spLocks noGrp="1"/>
          </p:cNvSpPr>
          <p:nvPr/>
        </p:nvSpPr>
        <p:spPr>
          <a:xfrm>
            <a:off x="3381375" y="3095625"/>
            <a:ext cx="11049000" cy="952500"/>
          </a:xfrm>
          <a:prstGeom prst="rect">
            <a:avLst/>
          </a:prstGeom>
          <a:solidFill>
            <a:srgbClr val="E1E5DD"/>
          </a:solidFill>
          <a:ln w="19050">
            <a:solidFill>
              <a:srgbClr val="5D818B"/>
            </a:solidFill>
          </a:ln>
        </p:spPr>
        <p:txBody>
          <a:bodyPr lIns="114300" tIns="85725" rIns="114300" bIns="85725" anchor="ctr">
            <a:noAutofit/>
          </a:bodyPr>
          <a:lstStyle/>
          <a:p>
            <a:pPr algn="ctr">
              <a:defRPr sz="2925">
                <a:solidFill>
                  <a:srgbClr val="414548"/>
                </a:solidFill>
                <a:latin typeface="Calibri"/>
                <a:ea typeface="Calibri"/>
                <a:cs typeface="Calibri"/>
              </a:defRPr>
            </a:pPr>
            <a:r>
              <a:rPr sz="2925">
                <a:solidFill>
                  <a:srgbClr val="414548"/>
                </a:solidFill>
                <a:latin typeface="Calibri"/>
                <a:ea typeface="Calibri"/>
                <a:cs typeface="Calibri"/>
              </a:rPr>
              <a:t>Interface Streamlit : vues, filtres, commandes</a:t>
            </a:r>
          </a:p>
        </p:txBody>
      </p:sp>
      <p:sp>
        <p:nvSpPr>
          <p:cNvPr id="5" name="Scripts E1 à E8 et orchestrateur du pipeline">
            <a:extLst>
              <a:ext uri="{FF2B5EF4-FFF2-40B4-BE49-F238E27FC236}">
                <a16:creationId xmlns:a16="http://schemas.microsoft.com/office/drawing/2014/main" id="{56EC3815-ECB1-46E6-B3B6-EB8C43D2412D}"/>
              </a:ext>
            </a:extLst>
          </p:cNvPr>
          <p:cNvSpPr>
            <a:spLocks noGrp="1"/>
          </p:cNvSpPr>
          <p:nvPr/>
        </p:nvSpPr>
        <p:spPr>
          <a:xfrm>
            <a:off x="3381375" y="4619625"/>
            <a:ext cx="11049000" cy="952500"/>
          </a:xfrm>
          <a:prstGeom prst="rect">
            <a:avLst/>
          </a:prstGeom>
          <a:solidFill>
            <a:srgbClr val="E1E5DD"/>
          </a:solidFill>
          <a:ln w="19050">
            <a:solidFill>
              <a:srgbClr val="5D818B"/>
            </a:solidFill>
          </a:ln>
        </p:spPr>
        <p:txBody>
          <a:bodyPr lIns="114300" tIns="85725" rIns="114300" bIns="85725" anchor="ctr">
            <a:noAutofit/>
          </a:bodyPr>
          <a:lstStyle/>
          <a:p>
            <a:pPr algn="ctr">
              <a:defRPr sz="2925">
                <a:solidFill>
                  <a:srgbClr val="414548"/>
                </a:solidFill>
                <a:latin typeface="Calibri"/>
                <a:ea typeface="Calibri"/>
                <a:cs typeface="Calibri"/>
              </a:defRPr>
            </a:pPr>
            <a:r>
              <a:rPr sz="2925">
                <a:solidFill>
                  <a:srgbClr val="414548"/>
                </a:solidFill>
                <a:latin typeface="Calibri"/>
                <a:ea typeface="Calibri"/>
                <a:cs typeface="Calibri"/>
              </a:rPr>
              <a:t>Scripts E1 à E8 et orchestrateur du pipeline</a:t>
            </a:r>
          </a:p>
        </p:txBody>
      </p:sp>
      <p:sp>
        <p:nvSpPr>
          <p:cNvPr id="6" name="Règles métier : scoring, séquences, modèles de messages">
            <a:extLst>
              <a:ext uri="{FF2B5EF4-FFF2-40B4-BE49-F238E27FC236}">
                <a16:creationId xmlns:a16="http://schemas.microsoft.com/office/drawing/2014/main" id="{590C7B00-2D5C-4DDD-9C71-EF3C02574B82}"/>
              </a:ext>
            </a:extLst>
          </p:cNvPr>
          <p:cNvSpPr>
            <a:spLocks noGrp="1"/>
          </p:cNvSpPr>
          <p:nvPr/>
        </p:nvSpPr>
        <p:spPr>
          <a:xfrm>
            <a:off x="3381375" y="6143625"/>
            <a:ext cx="11049000" cy="952500"/>
          </a:xfrm>
          <a:prstGeom prst="rect">
            <a:avLst/>
          </a:prstGeom>
          <a:solidFill>
            <a:srgbClr val="E1E5DD"/>
          </a:solidFill>
          <a:ln w="19050">
            <a:solidFill>
              <a:srgbClr val="5D818B"/>
            </a:solidFill>
          </a:ln>
        </p:spPr>
        <p:txBody>
          <a:bodyPr lIns="114300" tIns="85725" rIns="114300" bIns="85725" anchor="ctr">
            <a:noAutofit/>
          </a:bodyPr>
          <a:lstStyle/>
          <a:p>
            <a:pPr algn="ctr">
              <a:defRPr sz="2775">
                <a:solidFill>
                  <a:srgbClr val="414548"/>
                </a:solidFill>
                <a:latin typeface="Calibri"/>
                <a:ea typeface="Calibri"/>
                <a:cs typeface="Calibri"/>
              </a:defRPr>
            </a:pPr>
            <a:r>
              <a:rPr sz="2775">
                <a:solidFill>
                  <a:srgbClr val="414548"/>
                </a:solidFill>
                <a:latin typeface="Calibri"/>
                <a:ea typeface="Calibri"/>
                <a:cs typeface="Calibri"/>
              </a:rPr>
              <a:t>Règles métier : scoring, séquences, modèles de messages</a:t>
            </a:r>
          </a:p>
        </p:txBody>
      </p:sp>
      <p:cxnSp>
        <p:nvCxnSpPr>
          <p:cNvPr id="22" name="Connecteur droit avec flèche 21"/>
          <p:cNvCxnSpPr>
            <a:stCxn id="4" idx="2"/>
            <a:endCxn id="5" idx="0"/>
          </p:cNvCxnSpPr>
          <p:nvPr/>
        </p:nvCxnSpPr>
        <p:spPr>
          <a:xfrm>
            <a:off x="8905875" y="4048125"/>
            <a:ext cx="0" cy="571500"/>
          </a:xfrm>
          <a:prstGeom prst="straightConnector1">
            <a:avLst/>
          </a:prstGeom>
          <a:ln w="28575">
            <a:solidFill>
              <a:srgbClr val="A65A43"/>
            </a:solidFill>
            <a:tailEnd type="triangle" w="sm" len="sm"/>
          </a:ln>
        </p:spPr>
      </p:cxnSp>
      <p:cxnSp>
        <p:nvCxnSpPr>
          <p:cNvPr id="23" name="Connecteur droit avec flèche 22"/>
          <p:cNvCxnSpPr>
            <a:stCxn id="5" idx="2"/>
            <a:endCxn id="6" idx="0"/>
          </p:cNvCxnSpPr>
          <p:nvPr/>
        </p:nvCxnSpPr>
        <p:spPr>
          <a:xfrm>
            <a:off x="8905875" y="5572125"/>
            <a:ext cx="0" cy="571500"/>
          </a:xfrm>
          <a:prstGeom prst="straightConnector1">
            <a:avLst/>
          </a:prstGeom>
          <a:ln w="28575">
            <a:solidFill>
              <a:srgbClr val="A65A43"/>
            </a:solidFill>
            <a:tailEnd type="triangle" w="sm" len="sm"/>
          </a:ln>
        </p:spPr>
      </p:cxnSp>
      <p:sp>
        <p:nvSpPr>
          <p:cNvPr id="9" name="Airtable / Groq&#10;API externes">
            <a:extLst>
              <a:ext uri="{FF2B5EF4-FFF2-40B4-BE49-F238E27FC236}">
                <a16:creationId xmlns:a16="http://schemas.microsoft.com/office/drawing/2014/main" id="{FE90DE21-668B-4734-9D93-ABFB0E2C833B}"/>
              </a:ext>
            </a:extLst>
          </p:cNvPr>
          <p:cNvSpPr>
            <a:spLocks noGrp="1"/>
          </p:cNvSpPr>
          <p:nvPr/>
        </p:nvSpPr>
        <p:spPr>
          <a:xfrm>
            <a:off x="1238250" y="7810500"/>
            <a:ext cx="4572000" cy="1000125"/>
          </a:xfrm>
          <a:prstGeom prst="rect">
            <a:avLst/>
          </a:prstGeom>
          <a:solidFill>
            <a:srgbClr val="E1E5DD"/>
          </a:solidFill>
          <a:ln w="19050">
            <a:solidFill>
              <a:srgbClr val="5D818B"/>
            </a:solidFill>
          </a:ln>
        </p:spPr>
        <p:txBody>
          <a:bodyPr lIns="114300" tIns="85725" rIns="114300" bIns="85725" anchor="ctr">
            <a:noAutofit/>
          </a:bodyPr>
          <a:lstStyle/>
          <a:p>
            <a:pPr algn="ctr">
              <a:defRPr sz="2475">
                <a:solidFill>
                  <a:srgbClr val="414548"/>
                </a:solidFill>
                <a:latin typeface="Calibri"/>
                <a:ea typeface="Calibri"/>
                <a:cs typeface="Calibri"/>
              </a:defRPr>
            </a:pPr>
            <a:r>
              <a:rPr sz="2475">
                <a:solidFill>
                  <a:srgbClr val="414548"/>
                </a:solidFill>
                <a:latin typeface="Calibri"/>
                <a:ea typeface="Calibri"/>
                <a:cs typeface="Calibri"/>
              </a:rPr>
              <a:t>Airtable / Groq</a:t>
            </a:r>
          </a:p>
          <a:p>
            <a:pPr algn="ctr">
              <a:defRPr sz="2475">
                <a:solidFill>
                  <a:srgbClr val="414548"/>
                </a:solidFill>
                <a:latin typeface="Calibri"/>
                <a:ea typeface="Calibri"/>
                <a:cs typeface="Calibri"/>
              </a:defRPr>
            </a:pPr>
            <a:r>
              <a:rPr sz="2475">
                <a:solidFill>
                  <a:srgbClr val="414548"/>
                </a:solidFill>
                <a:latin typeface="Calibri"/>
                <a:ea typeface="Calibri"/>
                <a:cs typeface="Calibri"/>
              </a:rPr>
              <a:t>API externes</a:t>
            </a:r>
          </a:p>
        </p:txBody>
      </p:sp>
      <p:sp>
        <p:nvSpPr>
          <p:cNvPr id="10" name="SMTP / WhatsApp&#10;Adaptateurs d’envoi">
            <a:extLst>
              <a:ext uri="{FF2B5EF4-FFF2-40B4-BE49-F238E27FC236}">
                <a16:creationId xmlns:a16="http://schemas.microsoft.com/office/drawing/2014/main" id="{8602B24F-0A0A-4B27-9461-2EBECD072F51}"/>
              </a:ext>
            </a:extLst>
          </p:cNvPr>
          <p:cNvSpPr>
            <a:spLocks noGrp="1"/>
          </p:cNvSpPr>
          <p:nvPr/>
        </p:nvSpPr>
        <p:spPr>
          <a:xfrm>
            <a:off x="6667500" y="7810500"/>
            <a:ext cx="4572000" cy="1000125"/>
          </a:xfrm>
          <a:prstGeom prst="rect">
            <a:avLst/>
          </a:prstGeom>
          <a:solidFill>
            <a:srgbClr val="E1E5DD"/>
          </a:solidFill>
          <a:ln w="19050">
            <a:solidFill>
              <a:srgbClr val="5D818B"/>
            </a:solidFill>
          </a:ln>
        </p:spPr>
        <p:txBody>
          <a:bodyPr lIns="114300" tIns="85725" rIns="114300" bIns="85725" anchor="ctr">
            <a:noAutofit/>
          </a:bodyPr>
          <a:lstStyle/>
          <a:p>
            <a:pPr algn="ctr">
              <a:defRPr sz="2475">
                <a:solidFill>
                  <a:srgbClr val="414548"/>
                </a:solidFill>
                <a:latin typeface="Calibri"/>
                <a:ea typeface="Calibri"/>
                <a:cs typeface="Calibri"/>
              </a:defRPr>
            </a:pPr>
            <a:r>
              <a:rPr sz="2475">
                <a:solidFill>
                  <a:srgbClr val="414548"/>
                </a:solidFill>
                <a:latin typeface="Calibri"/>
                <a:ea typeface="Calibri"/>
                <a:cs typeface="Calibri"/>
              </a:rPr>
              <a:t>SMTP / WhatsApp</a:t>
            </a:r>
          </a:p>
          <a:p>
            <a:pPr algn="ctr">
              <a:defRPr sz="2475">
                <a:solidFill>
                  <a:srgbClr val="414548"/>
                </a:solidFill>
                <a:latin typeface="Calibri"/>
                <a:ea typeface="Calibri"/>
                <a:cs typeface="Calibri"/>
              </a:defRPr>
            </a:pPr>
            <a:r>
              <a:rPr sz="2475">
                <a:solidFill>
                  <a:srgbClr val="414548"/>
                </a:solidFill>
                <a:latin typeface="Calibri"/>
                <a:ea typeface="Calibri"/>
                <a:cs typeface="Calibri"/>
              </a:rPr>
              <a:t>Adaptateurs d’envoi</a:t>
            </a:r>
          </a:p>
        </p:txBody>
      </p:sp>
      <p:sp>
        <p:nvSpPr>
          <p:cNvPr id="11" name="ReportLab / JSON&#10;PDF et état local">
            <a:extLst>
              <a:ext uri="{FF2B5EF4-FFF2-40B4-BE49-F238E27FC236}">
                <a16:creationId xmlns:a16="http://schemas.microsoft.com/office/drawing/2014/main" id="{F692E796-5FE1-46DF-B86B-F34BCF4510E4}"/>
              </a:ext>
            </a:extLst>
          </p:cNvPr>
          <p:cNvSpPr>
            <a:spLocks noGrp="1"/>
          </p:cNvSpPr>
          <p:nvPr/>
        </p:nvSpPr>
        <p:spPr>
          <a:xfrm>
            <a:off x="12096750" y="7810500"/>
            <a:ext cx="4572000" cy="1000125"/>
          </a:xfrm>
          <a:prstGeom prst="rect">
            <a:avLst/>
          </a:prstGeom>
          <a:solidFill>
            <a:srgbClr val="E1E5DD"/>
          </a:solidFill>
          <a:ln w="19050">
            <a:solidFill>
              <a:srgbClr val="5D818B"/>
            </a:solidFill>
          </a:ln>
        </p:spPr>
        <p:txBody>
          <a:bodyPr lIns="114300" tIns="85725" rIns="114300" bIns="85725" anchor="ctr">
            <a:noAutofit/>
          </a:bodyPr>
          <a:lstStyle/>
          <a:p>
            <a:pPr algn="ctr">
              <a:defRPr sz="2475">
                <a:solidFill>
                  <a:srgbClr val="414548"/>
                </a:solidFill>
                <a:latin typeface="Calibri"/>
                <a:ea typeface="Calibri"/>
                <a:cs typeface="Calibri"/>
              </a:defRPr>
            </a:pPr>
            <a:r>
              <a:rPr sz="2475">
                <a:solidFill>
                  <a:srgbClr val="414548"/>
                </a:solidFill>
                <a:latin typeface="Calibri"/>
                <a:ea typeface="Calibri"/>
                <a:cs typeface="Calibri"/>
              </a:rPr>
              <a:t>ReportLab / JSON</a:t>
            </a:r>
          </a:p>
          <a:p>
            <a:pPr algn="ctr">
              <a:defRPr sz="2475">
                <a:solidFill>
                  <a:srgbClr val="414548"/>
                </a:solidFill>
                <a:latin typeface="Calibri"/>
                <a:ea typeface="Calibri"/>
                <a:cs typeface="Calibri"/>
              </a:defRPr>
            </a:pPr>
            <a:r>
              <a:rPr sz="2475">
                <a:solidFill>
                  <a:srgbClr val="414548"/>
                </a:solidFill>
                <a:latin typeface="Calibri"/>
                <a:ea typeface="Calibri"/>
                <a:cs typeface="Calibri"/>
              </a:rPr>
              <a:t>PDF et état local</a:t>
            </a:r>
          </a:p>
        </p:txBody>
      </p:sp>
      <p:cxnSp>
        <p:nvCxnSpPr>
          <p:cNvPr id="27" name="Connecteur droit avec flèche 26"/>
          <p:cNvCxnSpPr>
            <a:stCxn id="6" idx="2"/>
            <a:endCxn id="9" idx="0"/>
          </p:cNvCxnSpPr>
          <p:nvPr/>
        </p:nvCxnSpPr>
        <p:spPr>
          <a:xfrm flipH="1">
            <a:off x="3524250" y="7096125"/>
            <a:ext cx="5381625" cy="714375"/>
          </a:xfrm>
          <a:prstGeom prst="straightConnector1">
            <a:avLst/>
          </a:prstGeom>
          <a:ln w="28575">
            <a:solidFill>
              <a:srgbClr val="A65A43"/>
            </a:solidFill>
            <a:tailEnd type="triangle" w="sm" len="sm"/>
          </a:ln>
        </p:spPr>
      </p:cxnSp>
      <p:cxnSp>
        <p:nvCxnSpPr>
          <p:cNvPr id="28" name="Connecteur droit avec flèche 27"/>
          <p:cNvCxnSpPr>
            <a:stCxn id="6" idx="2"/>
            <a:endCxn id="10" idx="0"/>
          </p:cNvCxnSpPr>
          <p:nvPr/>
        </p:nvCxnSpPr>
        <p:spPr>
          <a:xfrm>
            <a:off x="8905875" y="7096125"/>
            <a:ext cx="47625" cy="714375"/>
          </a:xfrm>
          <a:prstGeom prst="straightConnector1">
            <a:avLst/>
          </a:prstGeom>
          <a:ln w="28575">
            <a:solidFill>
              <a:srgbClr val="A65A43"/>
            </a:solidFill>
            <a:tailEnd type="triangle" w="sm" len="sm"/>
          </a:ln>
        </p:spPr>
      </p:cxnSp>
      <p:cxnSp>
        <p:nvCxnSpPr>
          <p:cNvPr id="29" name="Connecteur droit avec flèche 28"/>
          <p:cNvCxnSpPr>
            <a:stCxn id="6" idx="2"/>
            <a:endCxn id="11" idx="0"/>
          </p:cNvCxnSpPr>
          <p:nvPr/>
        </p:nvCxnSpPr>
        <p:spPr>
          <a:xfrm>
            <a:off x="8905875" y="7096125"/>
            <a:ext cx="5476875" cy="714375"/>
          </a:xfrm>
          <a:prstGeom prst="straightConnector1">
            <a:avLst/>
          </a:prstGeom>
          <a:ln w="28575">
            <a:solidFill>
              <a:srgbClr val="A65A43"/>
            </a:solidFill>
            <a:tailEnd type="triangle" w="sm" len="sm"/>
          </a:ln>
        </p:spPr>
      </p:cxnSp>
      <p:sp>
        <p:nvSpPr>
          <p:cNvPr id="15" name="Configuration centralisée, simulation par défaut, logs ">
            <a:extLst>
              <a:ext uri="{FF2B5EF4-FFF2-40B4-BE49-F238E27FC236}">
                <a16:creationId xmlns:a16="http://schemas.microsoft.com/office/drawing/2014/main" id="{43C9E977-72A6-4169-B6CD-CB073B00ADF6}"/>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53265911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39C9BB4-989A-41EC-BEE1-69C61C1CD79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16 / 22">
            <a:extLst>
              <a:ext uri="{FF2B5EF4-FFF2-40B4-BE49-F238E27FC236}">
                <a16:creationId xmlns:a16="http://schemas.microsoft.com/office/drawing/2014/main" id="{392BD285-B82E-4CC6-BD82-4A63B8D8BD11}"/>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16 / 24</a:t>
            </a:r>
          </a:p>
        </p:txBody>
      </p:sp>
      <p:sp>
        <p:nvSpPr>
          <p:cNvPr id="4" name="04">
            <a:extLst>
              <a:ext uri="{FF2B5EF4-FFF2-40B4-BE49-F238E27FC236}">
                <a16:creationId xmlns:a16="http://schemas.microsoft.com/office/drawing/2014/main" id="{9B45A550-6BC3-4194-A36C-EFFD4F9157F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04</a:t>
            </a:r>
          </a:p>
        </p:txBody>
      </p:sp>
      <p:sp>
        <p:nvSpPr>
          <p:cNvPr id="5" name="Réalisation et&#10;mise en œuvre">
            <a:extLst>
              <a:ext uri="{FF2B5EF4-FFF2-40B4-BE49-F238E27FC236}">
                <a16:creationId xmlns:a16="http://schemas.microsoft.com/office/drawing/2014/main" id="{DFAB81EC-A43E-4B89-BC80-EABFE9EA5641}"/>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Réalisation et</a:t>
            </a:r>
          </a:p>
          <a:p>
            <a:pPr algn="l">
              <a:defRPr sz="5850" b="1">
                <a:solidFill>
                  <a:srgbClr val="414548"/>
                </a:solidFill>
                <a:latin typeface="Calibri"/>
                <a:ea typeface="Calibri"/>
                <a:cs typeface="Calibri"/>
              </a:defRPr>
            </a:pPr>
            <a:r>
              <a:rPr sz="5850" b="1">
                <a:solidFill>
                  <a:srgbClr val="414548"/>
                </a:solidFill>
                <a:latin typeface="Calibri"/>
                <a:ea typeface="Calibri"/>
                <a:cs typeface="Calibri"/>
              </a:rPr>
              <a:t>mise en œuvre</a:t>
            </a:r>
          </a:p>
        </p:txBody>
      </p:sp>
      <p:sp>
        <p:nvSpPr>
          <p:cNvPr id="6" name="Les fonctions développées&#10;et leurs résultats visibles">
            <a:extLst>
              <a:ext uri="{FF2B5EF4-FFF2-40B4-BE49-F238E27FC236}">
                <a16:creationId xmlns:a16="http://schemas.microsoft.com/office/drawing/2014/main" id="{2ECC37F0-567F-40A6-AB9A-5D690D1CA669}"/>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Les fonctions développées</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et leurs résultats visibles</a:t>
            </a:r>
          </a:p>
        </p:txBody>
      </p:sp>
    </p:spTree>
    <p:extLst>
      <p:ext uri="{BB962C8B-B14F-4D97-AF65-F5344CB8AC3E}">
        <p14:creationId xmlns:p14="http://schemas.microsoft.com/office/powerpoint/2010/main" val="196999697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4BF77E62-F2BF-4EAC-BED3-C6D7ED40AA8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7 / 22">
            <a:extLst>
              <a:ext uri="{FF2B5EF4-FFF2-40B4-BE49-F238E27FC236}">
                <a16:creationId xmlns:a16="http://schemas.microsoft.com/office/drawing/2014/main" id="{815FA912-8C19-4C5D-9BF8-D69EF5E1C4DA}"/>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17 / 24</a:t>
            </a:r>
          </a:p>
        </p:txBody>
      </p:sp>
      <p:sp>
        <p:nvSpPr>
          <p:cNvPr id="3" name="Choix techniques">
            <a:extLst>
              <a:ext uri="{FF2B5EF4-FFF2-40B4-BE49-F238E27FC236}">
                <a16:creationId xmlns:a16="http://schemas.microsoft.com/office/drawing/2014/main" id="{C86F1865-5114-4D16-AC80-CD97BABE0DE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Choix techniques</a:t>
            </a:r>
          </a:p>
        </p:txBody>
      </p:sp>
      <p:graphicFrame>
        <p:nvGraphicFramePr>
          <p:cNvPr id="9" name="Tableau 8"/>
          <p:cNvGraphicFramePr/>
          <p:nvPr>
            <p:extLst>
              <p:ext uri="{D42A27DB-BD31-4B8C-83A1-F6EECF244321}">
                <p14:modId xmlns:p14="http://schemas.microsoft.com/office/powerpoint/2010/main" val="4125621963"/>
              </p:ext>
            </p:extLst>
          </p:nvPr>
        </p:nvGraphicFramePr>
        <p:xfrm>
          <a:off x="1571625" y="3238500"/>
          <a:ext cx="14478000" cy="5143500"/>
        </p:xfrm>
        <a:graphic>
          <a:graphicData uri="http://schemas.openxmlformats.org/drawingml/2006/table">
            <a:tbl>
              <a:tblPr/>
              <a:tblGrid>
                <a:gridCol w="2916432">
                  <a:extLst>
                    <a:ext uri="{9D8B030D-6E8A-4147-A177-3AD203B41FA5}">
                      <a16:colId xmlns:a16="http://schemas.microsoft.com/office/drawing/2014/main" val="20000"/>
                    </a:ext>
                  </a:extLst>
                </a:gridCol>
                <a:gridCol w="5780784">
                  <a:extLst>
                    <a:ext uri="{9D8B030D-6E8A-4147-A177-3AD203B41FA5}">
                      <a16:colId xmlns:a16="http://schemas.microsoft.com/office/drawing/2014/main" val="20001"/>
                    </a:ext>
                  </a:extLst>
                </a:gridCol>
                <a:gridCol w="5780784">
                  <a:extLst>
                    <a:ext uri="{9D8B030D-6E8A-4147-A177-3AD203B41FA5}">
                      <a16:colId xmlns:a16="http://schemas.microsoft.com/office/drawing/2014/main" val="20002"/>
                    </a:ext>
                  </a:extLst>
                </a:gridCol>
              </a:tblGrid>
              <a:tr h="857250">
                <a:tc>
                  <a:txBody>
                    <a:bodyPr/>
                    <a:lstStyle/>
                    <a:p>
                      <a:pPr algn="ctr"/>
                      <a:r>
                        <a:rPr sz="2625" b="1">
                          <a:solidFill>
                            <a:srgbClr val="F3F0E2"/>
                          </a:solidFill>
                          <a:latin typeface="Calibri"/>
                          <a:ea typeface="Calibri"/>
                          <a:cs typeface="Calibri"/>
                        </a:rPr>
                        <a:t>Technologie</a:t>
                      </a:r>
                    </a:p>
                  </a:txBody>
                  <a:tcPr anchor="ctr">
                    <a:solidFill>
                      <a:srgbClr val="5D818B"/>
                    </a:solidFill>
                  </a:tcPr>
                </a:tc>
                <a:tc>
                  <a:txBody>
                    <a:bodyPr/>
                    <a:lstStyle/>
                    <a:p>
                      <a:pPr algn="ctr"/>
                      <a:r>
                        <a:rPr sz="2625" b="1">
                          <a:solidFill>
                            <a:srgbClr val="F3F0E2"/>
                          </a:solidFill>
                          <a:latin typeface="Calibri"/>
                          <a:ea typeface="Calibri"/>
                          <a:cs typeface="Calibri"/>
                        </a:rPr>
                        <a:t>Rôle dans ADG-10</a:t>
                      </a:r>
                    </a:p>
                  </a:txBody>
                  <a:tcPr anchor="ctr">
                    <a:solidFill>
                      <a:srgbClr val="5D818B"/>
                    </a:solidFill>
                  </a:tcPr>
                </a:tc>
                <a:tc>
                  <a:txBody>
                    <a:bodyPr/>
                    <a:lstStyle/>
                    <a:p>
                      <a:pPr algn="ctr"/>
                      <a:r>
                        <a:rPr sz="2625" b="1">
                          <a:solidFill>
                            <a:srgbClr val="F3F0E2"/>
                          </a:solidFill>
                          <a:latin typeface="Calibri"/>
                          <a:ea typeface="Calibri"/>
                          <a:cs typeface="Calibri"/>
                        </a:rPr>
                        <a:t>Justification</a:t>
                      </a:r>
                    </a:p>
                  </a:txBody>
                  <a:tcPr anchor="ctr">
                    <a:solidFill>
                      <a:srgbClr val="5D818B"/>
                    </a:solidFill>
                  </a:tcPr>
                </a:tc>
                <a:extLst>
                  <a:ext uri="{0D108BD9-81ED-4DB2-BD59-A6C34878D82A}">
                    <a16:rowId xmlns:a16="http://schemas.microsoft.com/office/drawing/2014/main" val="10000"/>
                  </a:ext>
                </a:extLst>
              </a:tr>
              <a:tr h="857250">
                <a:tc>
                  <a:txBody>
                    <a:bodyPr/>
                    <a:lstStyle/>
                    <a:p>
                      <a:pPr algn="ctr"/>
                      <a:r>
                        <a:rPr sz="2625" b="0">
                          <a:solidFill>
                            <a:srgbClr val="414548"/>
                          </a:solidFill>
                          <a:latin typeface="Calibri"/>
                          <a:ea typeface="Calibri"/>
                          <a:cs typeface="Calibri"/>
                        </a:rPr>
                        <a:t>Python</a:t>
                      </a:r>
                    </a:p>
                  </a:txBody>
                  <a:tcPr anchor="ctr">
                    <a:solidFill>
                      <a:srgbClr val="E1E5DD"/>
                    </a:solidFill>
                  </a:tcPr>
                </a:tc>
                <a:tc>
                  <a:txBody>
                    <a:bodyPr/>
                    <a:lstStyle/>
                    <a:p>
                      <a:pPr algn="ctr"/>
                      <a:r>
                        <a:rPr sz="2625" b="0">
                          <a:solidFill>
                            <a:srgbClr val="414548"/>
                          </a:solidFill>
                          <a:latin typeface="Calibri"/>
                          <a:ea typeface="Calibri"/>
                          <a:cs typeface="Calibri"/>
                        </a:rPr>
                        <a:t>Scripts et règles métier</a:t>
                      </a:r>
                    </a:p>
                  </a:txBody>
                  <a:tcPr anchor="ctr">
                    <a:solidFill>
                      <a:srgbClr val="E1E5DD"/>
                    </a:solidFill>
                  </a:tcPr>
                </a:tc>
                <a:tc>
                  <a:txBody>
                    <a:bodyPr/>
                    <a:lstStyle/>
                    <a:p>
                      <a:pPr algn="ctr"/>
                      <a:r>
                        <a:rPr sz="2625" b="0">
                          <a:solidFill>
                            <a:srgbClr val="414548"/>
                          </a:solidFill>
                          <a:latin typeface="Calibri"/>
                          <a:ea typeface="Calibri"/>
                          <a:cs typeface="Calibri"/>
                        </a:rPr>
                        <a:t>Modules lisibles et testables</a:t>
                      </a:r>
                    </a:p>
                  </a:txBody>
                  <a:tcPr anchor="ctr">
                    <a:solidFill>
                      <a:srgbClr val="E1E5DD"/>
                    </a:solidFill>
                  </a:tcPr>
                </a:tc>
                <a:extLst>
                  <a:ext uri="{0D108BD9-81ED-4DB2-BD59-A6C34878D82A}">
                    <a16:rowId xmlns:a16="http://schemas.microsoft.com/office/drawing/2014/main" val="10001"/>
                  </a:ext>
                </a:extLst>
              </a:tr>
              <a:tr h="857250">
                <a:tc>
                  <a:txBody>
                    <a:bodyPr/>
                    <a:lstStyle/>
                    <a:p>
                      <a:pPr algn="ctr"/>
                      <a:r>
                        <a:rPr sz="2625" b="0">
                          <a:solidFill>
                            <a:srgbClr val="414548"/>
                          </a:solidFill>
                          <a:latin typeface="Calibri"/>
                          <a:ea typeface="Calibri"/>
                          <a:cs typeface="Calibri"/>
                        </a:rPr>
                        <a:t>Airtable</a:t>
                      </a:r>
                    </a:p>
                  </a:txBody>
                  <a:tcPr anchor="ctr">
                    <a:solidFill>
                      <a:srgbClr val="ECEBDD"/>
                    </a:solidFill>
                  </a:tcPr>
                </a:tc>
                <a:tc>
                  <a:txBody>
                    <a:bodyPr/>
                    <a:lstStyle/>
                    <a:p>
                      <a:pPr algn="ctr"/>
                      <a:r>
                        <a:rPr sz="2625" b="0">
                          <a:solidFill>
                            <a:srgbClr val="414548"/>
                          </a:solidFill>
                          <a:latin typeface="Calibri"/>
                          <a:ea typeface="Calibri"/>
                          <a:cs typeface="Calibri"/>
                        </a:rPr>
                        <a:t>Catalogue et prospects</a:t>
                      </a:r>
                    </a:p>
                  </a:txBody>
                  <a:tcPr anchor="ctr">
                    <a:solidFill>
                      <a:srgbClr val="ECEBDD"/>
                    </a:solidFill>
                  </a:tcPr>
                </a:tc>
                <a:tc>
                  <a:txBody>
                    <a:bodyPr/>
                    <a:lstStyle/>
                    <a:p>
                      <a:pPr algn="ctr"/>
                      <a:r>
                        <a:rPr sz="2625" b="0">
                          <a:solidFill>
                            <a:srgbClr val="414548"/>
                          </a:solidFill>
                          <a:latin typeface="Calibri"/>
                          <a:ea typeface="Calibri"/>
                          <a:cs typeface="Calibri"/>
                        </a:rPr>
                        <a:t>Données accessibles à l’équipe</a:t>
                      </a:r>
                    </a:p>
                  </a:txBody>
                  <a:tcPr anchor="ctr">
                    <a:solidFill>
                      <a:srgbClr val="ECEBDD"/>
                    </a:solidFill>
                  </a:tcPr>
                </a:tc>
                <a:extLst>
                  <a:ext uri="{0D108BD9-81ED-4DB2-BD59-A6C34878D82A}">
                    <a16:rowId xmlns:a16="http://schemas.microsoft.com/office/drawing/2014/main" val="10002"/>
                  </a:ext>
                </a:extLst>
              </a:tr>
              <a:tr h="857250">
                <a:tc>
                  <a:txBody>
                    <a:bodyPr/>
                    <a:lstStyle/>
                    <a:p>
                      <a:pPr algn="ctr"/>
                      <a:r>
                        <a:rPr sz="2625" b="0">
                          <a:solidFill>
                            <a:srgbClr val="414548"/>
                          </a:solidFill>
                          <a:latin typeface="Calibri"/>
                          <a:ea typeface="Calibri"/>
                          <a:cs typeface="Calibri"/>
                        </a:rPr>
                        <a:t>Groq</a:t>
                      </a:r>
                    </a:p>
                  </a:txBody>
                  <a:tcPr anchor="ctr">
                    <a:solidFill>
                      <a:srgbClr val="E1E5DD"/>
                    </a:solidFill>
                  </a:tcPr>
                </a:tc>
                <a:tc>
                  <a:txBody>
                    <a:bodyPr/>
                    <a:lstStyle/>
                    <a:p>
                      <a:pPr algn="ctr"/>
                      <a:r>
                        <a:rPr sz="2625" b="0">
                          <a:solidFill>
                            <a:srgbClr val="414548"/>
                          </a:solidFill>
                          <a:latin typeface="Calibri"/>
                          <a:ea typeface="Calibri"/>
                          <a:cs typeface="Calibri"/>
                        </a:rPr>
                        <a:t>Génération des contenus</a:t>
                      </a:r>
                    </a:p>
                  </a:txBody>
                  <a:tcPr anchor="ctr">
                    <a:solidFill>
                      <a:srgbClr val="E1E5DD"/>
                    </a:solidFill>
                  </a:tcPr>
                </a:tc>
                <a:tc>
                  <a:txBody>
                    <a:bodyPr/>
                    <a:lstStyle/>
                    <a:p>
                      <a:pPr algn="ctr"/>
                      <a:r>
                        <a:rPr sz="2625" b="0">
                          <a:solidFill>
                            <a:srgbClr val="414548"/>
                          </a:solidFill>
                          <a:latin typeface="Calibri"/>
                          <a:ea typeface="Calibri"/>
                          <a:cs typeface="Calibri"/>
                        </a:rPr>
                        <a:t>Réponse JSON contrôlée</a:t>
                      </a:r>
                    </a:p>
                  </a:txBody>
                  <a:tcPr anchor="ctr">
                    <a:solidFill>
                      <a:srgbClr val="E1E5DD"/>
                    </a:solidFill>
                  </a:tcPr>
                </a:tc>
                <a:extLst>
                  <a:ext uri="{0D108BD9-81ED-4DB2-BD59-A6C34878D82A}">
                    <a16:rowId xmlns:a16="http://schemas.microsoft.com/office/drawing/2014/main" val="10003"/>
                  </a:ext>
                </a:extLst>
              </a:tr>
              <a:tr h="857250">
                <a:tc>
                  <a:txBody>
                    <a:bodyPr/>
                    <a:lstStyle/>
                    <a:p>
                      <a:pPr algn="ctr"/>
                      <a:r>
                        <a:rPr sz="2625" b="0">
                          <a:solidFill>
                            <a:srgbClr val="414548"/>
                          </a:solidFill>
                          <a:latin typeface="Calibri"/>
                          <a:ea typeface="Calibri"/>
                          <a:cs typeface="Calibri"/>
                        </a:rPr>
                        <a:t>Streamlit</a:t>
                      </a:r>
                    </a:p>
                  </a:txBody>
                  <a:tcPr anchor="ctr">
                    <a:solidFill>
                      <a:srgbClr val="ECEBDD"/>
                    </a:solidFill>
                  </a:tcPr>
                </a:tc>
                <a:tc>
                  <a:txBody>
                    <a:bodyPr/>
                    <a:lstStyle/>
                    <a:p>
                      <a:pPr algn="ctr"/>
                      <a:r>
                        <a:rPr sz="2625" b="0">
                          <a:solidFill>
                            <a:srgbClr val="414548"/>
                          </a:solidFill>
                          <a:latin typeface="Calibri"/>
                          <a:ea typeface="Calibri"/>
                          <a:cs typeface="Calibri"/>
                        </a:rPr>
                        <a:t>Interface de pilotage</a:t>
                      </a:r>
                    </a:p>
                  </a:txBody>
                  <a:tcPr anchor="ctr">
                    <a:solidFill>
                      <a:srgbClr val="ECEBDD"/>
                    </a:solidFill>
                  </a:tcPr>
                </a:tc>
                <a:tc>
                  <a:txBody>
                    <a:bodyPr/>
                    <a:lstStyle/>
                    <a:p>
                      <a:pPr algn="ctr"/>
                      <a:r>
                        <a:rPr sz="2625" b="0">
                          <a:solidFill>
                            <a:srgbClr val="414548"/>
                          </a:solidFill>
                          <a:latin typeface="Calibri"/>
                          <a:ea typeface="Calibri"/>
                          <a:cs typeface="Calibri"/>
                        </a:rPr>
                        <a:t>Dashboard directement en Python</a:t>
                      </a:r>
                    </a:p>
                  </a:txBody>
                  <a:tcPr anchor="ctr">
                    <a:solidFill>
                      <a:srgbClr val="ECEBDD"/>
                    </a:solidFill>
                  </a:tcPr>
                </a:tc>
                <a:extLst>
                  <a:ext uri="{0D108BD9-81ED-4DB2-BD59-A6C34878D82A}">
                    <a16:rowId xmlns:a16="http://schemas.microsoft.com/office/drawing/2014/main" val="10004"/>
                  </a:ext>
                </a:extLst>
              </a:tr>
              <a:tr h="857250">
                <a:tc>
                  <a:txBody>
                    <a:bodyPr/>
                    <a:lstStyle/>
                    <a:p>
                      <a:pPr algn="ctr"/>
                      <a:r>
                        <a:rPr sz="2625" b="0">
                          <a:solidFill>
                            <a:srgbClr val="414548"/>
                          </a:solidFill>
                          <a:latin typeface="Calibri"/>
                          <a:ea typeface="Calibri"/>
                          <a:cs typeface="Calibri"/>
                        </a:rPr>
                        <a:t>ReportLab</a:t>
                      </a:r>
                    </a:p>
                  </a:txBody>
                  <a:tcPr anchor="ctr">
                    <a:solidFill>
                      <a:srgbClr val="E1E5DD"/>
                    </a:solidFill>
                  </a:tcPr>
                </a:tc>
                <a:tc>
                  <a:txBody>
                    <a:bodyPr/>
                    <a:lstStyle/>
                    <a:p>
                      <a:pPr algn="ctr"/>
                      <a:r>
                        <a:rPr sz="2625" b="0">
                          <a:solidFill>
                            <a:srgbClr val="414548"/>
                          </a:solidFill>
                          <a:latin typeface="Calibri"/>
                          <a:ea typeface="Calibri"/>
                          <a:cs typeface="Calibri"/>
                        </a:rPr>
                        <a:t>Offres, conventions et factures</a:t>
                      </a:r>
                    </a:p>
                  </a:txBody>
                  <a:tcPr anchor="ctr">
                    <a:solidFill>
                      <a:srgbClr val="E1E5DD"/>
                    </a:solidFill>
                  </a:tcPr>
                </a:tc>
                <a:tc>
                  <a:txBody>
                    <a:bodyPr/>
                    <a:lstStyle/>
                    <a:p>
                      <a:pPr algn="ctr"/>
                      <a:r>
                        <a:rPr sz="2625" b="0" dirty="0" err="1">
                          <a:solidFill>
                            <a:srgbClr val="414548"/>
                          </a:solidFill>
                          <a:latin typeface="Calibri"/>
                          <a:ea typeface="Calibri"/>
                          <a:cs typeface="Calibri"/>
                        </a:rPr>
                        <a:t>Thème</a:t>
                      </a:r>
                      <a:r>
                        <a:rPr sz="2625" b="0" dirty="0">
                          <a:solidFill>
                            <a:srgbClr val="414548"/>
                          </a:solidFill>
                          <a:latin typeface="Calibri"/>
                          <a:ea typeface="Calibri"/>
                          <a:cs typeface="Calibri"/>
                        </a:rPr>
                        <a:t> </a:t>
                      </a:r>
                      <a:r>
                        <a:rPr sz="2625" b="0" dirty="0" err="1">
                          <a:solidFill>
                            <a:srgbClr val="414548"/>
                          </a:solidFill>
                          <a:latin typeface="Calibri"/>
                          <a:ea typeface="Calibri"/>
                          <a:cs typeface="Calibri"/>
                        </a:rPr>
                        <a:t>documentaire</a:t>
                      </a:r>
                      <a:r>
                        <a:rPr sz="2625" b="0" dirty="0">
                          <a:solidFill>
                            <a:srgbClr val="414548"/>
                          </a:solidFill>
                          <a:latin typeface="Calibri"/>
                          <a:ea typeface="Calibri"/>
                          <a:cs typeface="Calibri"/>
                        </a:rPr>
                        <a:t> </a:t>
                      </a:r>
                      <a:r>
                        <a:rPr sz="2625" b="0" dirty="0" err="1">
                          <a:solidFill>
                            <a:srgbClr val="414548"/>
                          </a:solidFill>
                          <a:latin typeface="Calibri"/>
                          <a:ea typeface="Calibri"/>
                          <a:cs typeface="Calibri"/>
                        </a:rPr>
                        <a:t>partagé</a:t>
                      </a:r>
                      <a:endParaRPr sz="2625" b="0" dirty="0">
                        <a:solidFill>
                          <a:srgbClr val="414548"/>
                        </a:solidFill>
                        <a:latin typeface="Calibri"/>
                        <a:ea typeface="Calibri"/>
                        <a:cs typeface="Calibri"/>
                      </a:endParaRPr>
                    </a:p>
                  </a:txBody>
                  <a:tcPr anchor="ctr">
                    <a:solidFill>
                      <a:srgbClr val="E1E5DD"/>
                    </a:solidFill>
                  </a:tcPr>
                </a:tc>
                <a:extLst>
                  <a:ext uri="{0D108BD9-81ED-4DB2-BD59-A6C34878D82A}">
                    <a16:rowId xmlns:a16="http://schemas.microsoft.com/office/drawing/2014/main" val="10005"/>
                  </a:ext>
                </a:extLst>
              </a:tr>
            </a:tbl>
          </a:graphicData>
        </a:graphic>
      </p:graphicFrame>
      <p:sp>
        <p:nvSpPr>
          <p:cNvPr id="5" name="SMTP gère l’e-mail. WhatsApp repose sur l’automatisatio">
            <a:extLst>
              <a:ext uri="{FF2B5EF4-FFF2-40B4-BE49-F238E27FC236}">
                <a16:creationId xmlns:a16="http://schemas.microsoft.com/office/drawing/2014/main" id="{4D754F72-1A51-40F3-8639-FFE1D683FF43}"/>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193252935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7" name="ADG-10  /  AUTOMATISATION DU CYCLE COMMERCIAL">
            <a:extLst>
              <a:ext uri="{FF2B5EF4-FFF2-40B4-BE49-F238E27FC236}">
                <a16:creationId xmlns:a16="http://schemas.microsoft.com/office/drawing/2014/main" id="{241F4E59-1129-4819-AFC3-76128E03562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8 / 22">
            <a:extLst>
              <a:ext uri="{FF2B5EF4-FFF2-40B4-BE49-F238E27FC236}">
                <a16:creationId xmlns:a16="http://schemas.microsoft.com/office/drawing/2014/main" id="{754BE854-8865-4C2B-A0C1-0CC13651DB68}"/>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18 / 24</a:t>
            </a:r>
          </a:p>
        </p:txBody>
      </p:sp>
      <p:sp>
        <p:nvSpPr>
          <p:cNvPr id="3" name="Démonstration du tableau de bord">
            <a:extLst>
              <a:ext uri="{FF2B5EF4-FFF2-40B4-BE49-F238E27FC236}">
                <a16:creationId xmlns:a16="http://schemas.microsoft.com/office/drawing/2014/main" id="{D563D389-C1D1-481E-B6AF-DD166C3866DB}"/>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Démonstration du tableau de bord</a:t>
            </a:r>
          </a:p>
        </p:txBody>
      </p:sp>
      <p:pic>
        <p:nvPicPr>
          <p:cNvPr id="10" name="Image 9"/>
          <p:cNvPicPr>
            <a:picLocks noChangeAspect="1"/>
          </p:cNvPicPr>
          <p:nvPr/>
        </p:nvPicPr>
        <p:blipFill>
          <a:blip r:embed="rId3"/>
          <a:stretch/>
        </p:blipFill>
        <p:spPr>
          <a:xfrm>
            <a:off x="1428750" y="3124200"/>
            <a:ext cx="9906000" cy="5572125"/>
          </a:xfrm>
          <a:prstGeom prst="rect">
            <a:avLst/>
          </a:prstGeom>
        </p:spPr>
      </p:pic>
      <p:sp>
        <p:nvSpPr>
          <p:cNvPr id="5" name="1. Consulter les indicateurs&#10;&#10;2. Rechercher un prospect">
            <a:extLst>
              <a:ext uri="{FF2B5EF4-FFF2-40B4-BE49-F238E27FC236}">
                <a16:creationId xmlns:a16="http://schemas.microsoft.com/office/drawing/2014/main" id="{ABB61E85-F6AD-4D0F-84CC-F4FD571A8ED2}"/>
              </a:ext>
            </a:extLst>
          </p:cNvPr>
          <p:cNvSpPr>
            <a:spLocks noGrp="1"/>
          </p:cNvSpPr>
          <p:nvPr/>
        </p:nvSpPr>
        <p:spPr>
          <a:xfrm>
            <a:off x="11763375" y="3371850"/>
            <a:ext cx="4143375" cy="46863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1. Consulter les indicateurs</a:t>
            </a:r>
          </a:p>
          <a:p>
            <a:endParaRPr sz="2850" b="0">
              <a:solidFill>
                <a:srgbClr val="414548"/>
              </a:solidFill>
              <a:latin typeface="Calibri"/>
              <a:ea typeface="Calibri"/>
              <a:cs typeface="Calibri"/>
            </a:endParaRP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2. Rechercher un prospect</a:t>
            </a:r>
          </a:p>
          <a:p>
            <a:endParaRPr sz="2850" b="0">
              <a:solidFill>
                <a:srgbClr val="414548"/>
              </a:solidFill>
              <a:latin typeface="Calibri"/>
              <a:ea typeface="Calibri"/>
              <a:cs typeface="Calibri"/>
            </a:endParaRP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3. Choisir la simulation</a:t>
            </a:r>
          </a:p>
          <a:p>
            <a:endParaRPr sz="2850" b="0">
              <a:solidFill>
                <a:srgbClr val="414548"/>
              </a:solidFill>
              <a:latin typeface="Calibri"/>
              <a:ea typeface="Calibri"/>
              <a:cs typeface="Calibri"/>
            </a:endParaRP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4. Lancer et vérifier</a:t>
            </a:r>
          </a:p>
        </p:txBody>
      </p:sp>
      <p:sp>
        <p:nvSpPr>
          <p:cNvPr id="6" name="Capture de l’application réelle avec six prospects fict">
            <a:extLst>
              <a:ext uri="{FF2B5EF4-FFF2-40B4-BE49-F238E27FC236}">
                <a16:creationId xmlns:a16="http://schemas.microsoft.com/office/drawing/2014/main" id="{EA1E1DD9-2C31-4979-9A8C-63C9F6E3F38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186346132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1" name="ADG-10  /  AUTOMATISATION DU CYCLE COMMERCIAL">
            <a:extLst>
              <a:ext uri="{FF2B5EF4-FFF2-40B4-BE49-F238E27FC236}">
                <a16:creationId xmlns:a16="http://schemas.microsoft.com/office/drawing/2014/main" id="{0D6C1508-124F-414A-B859-AE52CAC7234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9 / 22">
            <a:extLst>
              <a:ext uri="{FF2B5EF4-FFF2-40B4-BE49-F238E27FC236}">
                <a16:creationId xmlns:a16="http://schemas.microsoft.com/office/drawing/2014/main" id="{88CEF426-DCE5-490E-ABD5-86EE54A5D8A9}"/>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19 / 24</a:t>
            </a:r>
          </a:p>
        </p:txBody>
      </p:sp>
      <p:sp>
        <p:nvSpPr>
          <p:cNvPr id="3" name="Documents et communications">
            <a:extLst>
              <a:ext uri="{FF2B5EF4-FFF2-40B4-BE49-F238E27FC236}">
                <a16:creationId xmlns:a16="http://schemas.microsoft.com/office/drawing/2014/main" id="{70222B31-E3AC-4107-9DC4-CBD6408FF47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Documents et communications</a:t>
            </a:r>
          </a:p>
        </p:txBody>
      </p:sp>
      <p:pic>
        <p:nvPicPr>
          <p:cNvPr id="14" name="Image 13"/>
          <p:cNvPicPr>
            <a:picLocks noChangeAspect="1"/>
          </p:cNvPicPr>
          <p:nvPr/>
        </p:nvPicPr>
        <p:blipFill>
          <a:blip r:embed="rId3"/>
          <a:stretch/>
        </p:blipFill>
        <p:spPr>
          <a:xfrm>
            <a:off x="1719395" y="3067050"/>
            <a:ext cx="3704960" cy="5238750"/>
          </a:xfrm>
          <a:prstGeom prst="rect">
            <a:avLst/>
          </a:prstGeom>
        </p:spPr>
      </p:pic>
      <p:pic>
        <p:nvPicPr>
          <p:cNvPr id="15" name="Image 14"/>
          <p:cNvPicPr>
            <a:picLocks noChangeAspect="1"/>
          </p:cNvPicPr>
          <p:nvPr/>
        </p:nvPicPr>
        <p:blipFill>
          <a:blip r:embed="rId4"/>
          <a:stretch/>
        </p:blipFill>
        <p:spPr>
          <a:xfrm>
            <a:off x="6720020" y="3067050"/>
            <a:ext cx="3704960" cy="5238750"/>
          </a:xfrm>
          <a:prstGeom prst="rect">
            <a:avLst/>
          </a:prstGeom>
        </p:spPr>
      </p:pic>
      <p:pic>
        <p:nvPicPr>
          <p:cNvPr id="16" name="Image 15"/>
          <p:cNvPicPr>
            <a:picLocks noChangeAspect="1"/>
          </p:cNvPicPr>
          <p:nvPr/>
        </p:nvPicPr>
        <p:blipFill>
          <a:blip r:embed="rId5"/>
          <a:stretch/>
        </p:blipFill>
        <p:spPr>
          <a:xfrm>
            <a:off x="11720645" y="3067050"/>
            <a:ext cx="3704960" cy="5238750"/>
          </a:xfrm>
          <a:prstGeom prst="rect">
            <a:avLst/>
          </a:prstGeom>
        </p:spPr>
      </p:pic>
      <p:sp>
        <p:nvSpPr>
          <p:cNvPr id="7" name="Proposition">
            <a:extLst>
              <a:ext uri="{FF2B5EF4-FFF2-40B4-BE49-F238E27FC236}">
                <a16:creationId xmlns:a16="http://schemas.microsoft.com/office/drawing/2014/main" id="{14B681F6-3E5C-4BB0-A250-322572D50D6E}"/>
              </a:ext>
            </a:extLst>
          </p:cNvPr>
          <p:cNvSpPr>
            <a:spLocks noGrp="1"/>
          </p:cNvSpPr>
          <p:nvPr/>
        </p:nvSpPr>
        <p:spPr>
          <a:xfrm>
            <a:off x="1571625" y="8505825"/>
            <a:ext cx="4095750" cy="571500"/>
          </a:xfrm>
          <a:prstGeom prst="rect">
            <a:avLst/>
          </a:prstGeom>
          <a:noFill/>
          <a:ln w="0">
            <a:noFill/>
          </a:ln>
        </p:spPr>
        <p:txBody>
          <a:bodyPr wrap="square" lIns="0" tIns="0" rIns="0" bIns="0" anchor="ctr">
            <a:noAutofit/>
          </a:bodyPr>
          <a:lstStyle/>
          <a:p>
            <a:pPr algn="ctr">
              <a:defRPr sz="2700" b="1">
                <a:solidFill>
                  <a:srgbClr val="414548"/>
                </a:solidFill>
                <a:latin typeface="Calibri"/>
                <a:ea typeface="Calibri"/>
                <a:cs typeface="Calibri"/>
              </a:defRPr>
            </a:pPr>
            <a:r>
              <a:rPr sz="2700" b="1">
                <a:solidFill>
                  <a:srgbClr val="414548"/>
                </a:solidFill>
                <a:latin typeface="Calibri"/>
                <a:ea typeface="Calibri"/>
                <a:cs typeface="Calibri"/>
              </a:rPr>
              <a:t>Proposition</a:t>
            </a:r>
          </a:p>
        </p:txBody>
      </p:sp>
      <p:sp>
        <p:nvSpPr>
          <p:cNvPr id="8" name="Convention">
            <a:extLst>
              <a:ext uri="{FF2B5EF4-FFF2-40B4-BE49-F238E27FC236}">
                <a16:creationId xmlns:a16="http://schemas.microsoft.com/office/drawing/2014/main" id="{B3D72C91-909C-412D-B3B1-CDD5C979FED5}"/>
              </a:ext>
            </a:extLst>
          </p:cNvPr>
          <p:cNvSpPr>
            <a:spLocks noGrp="1"/>
          </p:cNvSpPr>
          <p:nvPr/>
        </p:nvSpPr>
        <p:spPr>
          <a:xfrm>
            <a:off x="6524625" y="8505825"/>
            <a:ext cx="4095750" cy="571500"/>
          </a:xfrm>
          <a:prstGeom prst="rect">
            <a:avLst/>
          </a:prstGeom>
          <a:noFill/>
          <a:ln w="0">
            <a:noFill/>
          </a:ln>
        </p:spPr>
        <p:txBody>
          <a:bodyPr wrap="square" lIns="0" tIns="0" rIns="0" bIns="0" anchor="ctr">
            <a:noAutofit/>
          </a:bodyPr>
          <a:lstStyle/>
          <a:p>
            <a:pPr algn="ctr">
              <a:defRPr sz="2700" b="1">
                <a:solidFill>
                  <a:srgbClr val="414548"/>
                </a:solidFill>
                <a:latin typeface="Calibri"/>
                <a:ea typeface="Calibri"/>
                <a:cs typeface="Calibri"/>
              </a:defRPr>
            </a:pPr>
            <a:r>
              <a:rPr sz="2700" b="1">
                <a:solidFill>
                  <a:srgbClr val="414548"/>
                </a:solidFill>
                <a:latin typeface="Calibri"/>
                <a:ea typeface="Calibri"/>
                <a:cs typeface="Calibri"/>
              </a:rPr>
              <a:t>Convention</a:t>
            </a:r>
          </a:p>
        </p:txBody>
      </p:sp>
      <p:sp>
        <p:nvSpPr>
          <p:cNvPr id="9" name="Facture">
            <a:extLst>
              <a:ext uri="{FF2B5EF4-FFF2-40B4-BE49-F238E27FC236}">
                <a16:creationId xmlns:a16="http://schemas.microsoft.com/office/drawing/2014/main" id="{00C56FBC-DF48-42D1-AED2-A20ACFFDCEA0}"/>
              </a:ext>
            </a:extLst>
          </p:cNvPr>
          <p:cNvSpPr>
            <a:spLocks noGrp="1"/>
          </p:cNvSpPr>
          <p:nvPr/>
        </p:nvSpPr>
        <p:spPr>
          <a:xfrm>
            <a:off x="11525250" y="8505825"/>
            <a:ext cx="4095750" cy="571500"/>
          </a:xfrm>
          <a:prstGeom prst="rect">
            <a:avLst/>
          </a:prstGeom>
          <a:noFill/>
          <a:ln w="0">
            <a:noFill/>
          </a:ln>
        </p:spPr>
        <p:txBody>
          <a:bodyPr wrap="square" lIns="0" tIns="0" rIns="0" bIns="0" anchor="ctr">
            <a:noAutofit/>
          </a:bodyPr>
          <a:lstStyle/>
          <a:p>
            <a:pPr algn="ctr">
              <a:defRPr sz="2700" b="1">
                <a:solidFill>
                  <a:srgbClr val="414548"/>
                </a:solidFill>
                <a:latin typeface="Calibri"/>
                <a:ea typeface="Calibri"/>
                <a:cs typeface="Calibri"/>
              </a:defRPr>
            </a:pPr>
            <a:r>
              <a:rPr sz="2700" b="1">
                <a:solidFill>
                  <a:srgbClr val="414548"/>
                </a:solidFill>
                <a:latin typeface="Calibri"/>
                <a:ea typeface="Calibri"/>
                <a:cs typeface="Calibri"/>
              </a:rPr>
              <a:t>Facture</a:t>
            </a:r>
          </a:p>
        </p:txBody>
      </p:sp>
      <p:sp>
        <p:nvSpPr>
          <p:cNvPr id="10" name="Exemples fictifs. L’équipe doit valider les données com">
            <a:extLst>
              <a:ext uri="{FF2B5EF4-FFF2-40B4-BE49-F238E27FC236}">
                <a16:creationId xmlns:a16="http://schemas.microsoft.com/office/drawing/2014/main" id="{0AA5AB77-CB2A-4138-AA65-138C4FADF0A4}"/>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133142877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7"/>
                                  </p:tgtEl>
                                  <p:attrNameLst>
                                    <p:attrName>style.visibility</p:attrName>
                                  </p:attrNameLst>
                                </p:cBhvr>
                                <p:to>
                                  <p:strVal val="visible"/>
                                </p:to>
                              </p:set>
                              <p:animEffect transition="in" filter="wipe(right)">
                                <p:cBhvr>
                                  <p:cTn id="10" dur="550" fill="hold"/>
                                  <p:tgtEl>
                                    <p:spTgt spid="7"/>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8"/>
                                  </p:tgtEl>
                                  <p:attrNameLst>
                                    <p:attrName>style.visibility</p:attrName>
                                  </p:attrNameLst>
                                </p:cBhvr>
                                <p:to>
                                  <p:strVal val="visible"/>
                                </p:to>
                              </p:set>
                              <p:animEffect transition="in" filter="wipe(right)">
                                <p:cBhvr>
                                  <p:cTn id="14" dur="550" fill="hold"/>
                                  <p:tgtEl>
                                    <p:spTgt spid="8"/>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9"/>
                                  </p:tgtEl>
                                  <p:attrNameLst>
                                    <p:attrName>style.visibility</p:attrName>
                                  </p:attrNameLst>
                                </p:cBhvr>
                                <p:to>
                                  <p:strVal val="visible"/>
                                </p:to>
                              </p:set>
                              <p:animEffect transition="in" filter="wipe(right)">
                                <p:cBhvr>
                                  <p:cTn id="18"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3" name="ADG-10  /  AUTOMATISATION DU CYCLE COMMERCIAL">
            <a:extLst>
              <a:ext uri="{FF2B5EF4-FFF2-40B4-BE49-F238E27FC236}">
                <a16:creationId xmlns:a16="http://schemas.microsoft.com/office/drawing/2014/main" id="{9445855B-A10D-42B2-87B2-195CB8B4BA3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20 / 22">
            <a:extLst>
              <a:ext uri="{FF2B5EF4-FFF2-40B4-BE49-F238E27FC236}">
                <a16:creationId xmlns:a16="http://schemas.microsoft.com/office/drawing/2014/main" id="{4C9594F2-6C73-4EDD-8F94-C36C50D718AB}"/>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20 / 24</a:t>
            </a:r>
          </a:p>
        </p:txBody>
      </p:sp>
      <p:sp>
        <p:nvSpPr>
          <p:cNvPr id="3" name="Résultats et validation">
            <a:extLst>
              <a:ext uri="{FF2B5EF4-FFF2-40B4-BE49-F238E27FC236}">
                <a16:creationId xmlns:a16="http://schemas.microsoft.com/office/drawing/2014/main" id="{017008DE-FD5D-4396-81EA-4B05ADFC9DC2}"/>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Résultats et validation</a:t>
            </a:r>
          </a:p>
        </p:txBody>
      </p:sp>
      <p:sp>
        <p:nvSpPr>
          <p:cNvPr id="4" name="11 tests métier réussis">
            <a:extLst>
              <a:ext uri="{FF2B5EF4-FFF2-40B4-BE49-F238E27FC236}">
                <a16:creationId xmlns:a16="http://schemas.microsoft.com/office/drawing/2014/main" id="{A1B254A8-13E9-49F6-B963-FE82B7BDA849}"/>
              </a:ext>
            </a:extLst>
          </p:cNvPr>
          <p:cNvSpPr>
            <a:spLocks noGrp="1"/>
          </p:cNvSpPr>
          <p:nvPr/>
        </p:nvSpPr>
        <p:spPr>
          <a:xfrm>
            <a:off x="1857375" y="3429000"/>
            <a:ext cx="12382500" cy="952500"/>
          </a:xfrm>
          <a:prstGeom prst="rect">
            <a:avLst/>
          </a:prstGeom>
          <a:noFill/>
          <a:ln w="0">
            <a:noFill/>
          </a:ln>
        </p:spPr>
        <p:txBody>
          <a:bodyPr wrap="square" lIns="0" tIns="0" rIns="0" bIns="0" anchor="ctr">
            <a:noAutofit/>
          </a:bodyPr>
          <a:lstStyle/>
          <a:p>
            <a:pPr algn="ctr">
              <a:defRPr sz="4800" b="1">
                <a:solidFill>
                  <a:srgbClr val="A65A43"/>
                </a:solidFill>
                <a:latin typeface="Calibri"/>
                <a:ea typeface="Calibri"/>
                <a:cs typeface="Calibri"/>
              </a:defRPr>
            </a:pPr>
            <a:r>
              <a:rPr sz="4800" b="1">
                <a:solidFill>
                  <a:srgbClr val="A65A43"/>
                </a:solidFill>
                <a:latin typeface="Calibri"/>
                <a:ea typeface="Calibri"/>
                <a:cs typeface="Calibri"/>
              </a:rPr>
              <a:t>11 tests métier réussis</a:t>
            </a:r>
          </a:p>
        </p:txBody>
      </p:sp>
      <p:sp>
        <p:nvSpPr>
          <p:cNvPr id="5" name="01">
            <a:extLst>
              <a:ext uri="{FF2B5EF4-FFF2-40B4-BE49-F238E27FC236}">
                <a16:creationId xmlns:a16="http://schemas.microsoft.com/office/drawing/2014/main" id="{B3656310-86C5-4A98-9E90-42BF3F1DC2DF}"/>
              </a:ext>
            </a:extLst>
          </p:cNvPr>
          <p:cNvSpPr>
            <a:spLocks noGrp="1"/>
          </p:cNvSpPr>
          <p:nvPr/>
        </p:nvSpPr>
        <p:spPr>
          <a:xfrm>
            <a:off x="1428750" y="4905375"/>
            <a:ext cx="714375" cy="714375"/>
          </a:xfrm>
          <a:prstGeom prst="ellipse">
            <a:avLst/>
          </a:prstGeom>
          <a:solidFill>
            <a:srgbClr val="5D818B"/>
          </a:solidFill>
          <a:ln w="19050">
            <a:solidFill>
              <a:srgbClr val="5D818B"/>
            </a:solidFill>
          </a:ln>
        </p:spPr>
        <p:txBody>
          <a:bodyPr wrap="square" lIns="0" tIns="0" rIns="0" bIns="0" anchor="ctr">
            <a:noAutofit/>
          </a:bodyPr>
          <a:lstStyle/>
          <a:p>
            <a:pPr algn="ctr">
              <a:defRPr sz="2250" b="1">
                <a:solidFill>
                  <a:srgbClr val="F3F0E2"/>
                </a:solidFill>
                <a:latin typeface="Calibri"/>
                <a:ea typeface="Calibri"/>
                <a:cs typeface="Calibri"/>
              </a:defRPr>
            </a:pPr>
            <a:r>
              <a:rPr sz="2250" b="1">
                <a:solidFill>
                  <a:srgbClr val="F3F0E2"/>
                </a:solidFill>
                <a:latin typeface="Calibri"/>
                <a:ea typeface="Calibri"/>
                <a:cs typeface="Calibri"/>
              </a:rPr>
              <a:t>01</a:t>
            </a:r>
          </a:p>
        </p:txBody>
      </p:sp>
      <p:sp>
        <p:nvSpPr>
          <p:cNvPr id="6" name="Scoring, routage et sélection de la formation.">
            <a:extLst>
              <a:ext uri="{FF2B5EF4-FFF2-40B4-BE49-F238E27FC236}">
                <a16:creationId xmlns:a16="http://schemas.microsoft.com/office/drawing/2014/main" id="{2CC16E97-4EE8-4401-9EC5-4206A99915A1}"/>
              </a:ext>
            </a:extLst>
          </p:cNvPr>
          <p:cNvSpPr>
            <a:spLocks noGrp="1"/>
          </p:cNvSpPr>
          <p:nvPr/>
        </p:nvSpPr>
        <p:spPr>
          <a:xfrm>
            <a:off x="2428875" y="4857750"/>
            <a:ext cx="12287250" cy="857250"/>
          </a:xfrm>
          <a:prstGeom prst="rect">
            <a:avLst/>
          </a:prstGeom>
          <a:noFill/>
          <a:ln w="0">
            <a:noFill/>
          </a:ln>
        </p:spPr>
        <p:txBody>
          <a:bodyPr wrap="square" lIns="0" tIns="0" rIns="0" bIns="0" anchor="ctr">
            <a:noAutofit/>
          </a:bodyPr>
          <a:lstStyle/>
          <a:p>
            <a:pPr algn="l">
              <a:defRPr sz="3075" b="0">
                <a:solidFill>
                  <a:srgbClr val="414548"/>
                </a:solidFill>
                <a:latin typeface="Calibri"/>
                <a:ea typeface="Calibri"/>
                <a:cs typeface="Calibri"/>
              </a:defRPr>
            </a:pPr>
            <a:r>
              <a:rPr sz="3075" b="0">
                <a:solidFill>
                  <a:srgbClr val="414548"/>
                </a:solidFill>
                <a:latin typeface="Calibri"/>
                <a:ea typeface="Calibri"/>
                <a:cs typeface="Calibri"/>
              </a:rPr>
              <a:t>Scoring, routage et sélection de la formation.</a:t>
            </a:r>
          </a:p>
        </p:txBody>
      </p:sp>
      <p:sp>
        <p:nvSpPr>
          <p:cNvPr id="7" name="02">
            <a:extLst>
              <a:ext uri="{FF2B5EF4-FFF2-40B4-BE49-F238E27FC236}">
                <a16:creationId xmlns:a16="http://schemas.microsoft.com/office/drawing/2014/main" id="{EBAFB8F8-BEE4-4F9C-9633-7D22D725211C}"/>
              </a:ext>
            </a:extLst>
          </p:cNvPr>
          <p:cNvSpPr>
            <a:spLocks noGrp="1"/>
          </p:cNvSpPr>
          <p:nvPr/>
        </p:nvSpPr>
        <p:spPr>
          <a:xfrm>
            <a:off x="1428750" y="5924550"/>
            <a:ext cx="714375" cy="714375"/>
          </a:xfrm>
          <a:prstGeom prst="ellipse">
            <a:avLst/>
          </a:prstGeom>
          <a:solidFill>
            <a:srgbClr val="A65A43"/>
          </a:solidFill>
          <a:ln w="19050">
            <a:solidFill>
              <a:srgbClr val="A65A43"/>
            </a:solidFill>
          </a:ln>
        </p:spPr>
        <p:txBody>
          <a:bodyPr wrap="square" lIns="0" tIns="0" rIns="0" bIns="0" anchor="ctr">
            <a:noAutofit/>
          </a:bodyPr>
          <a:lstStyle/>
          <a:p>
            <a:pPr algn="ctr">
              <a:defRPr sz="2250" b="1">
                <a:solidFill>
                  <a:srgbClr val="F3F0E2"/>
                </a:solidFill>
                <a:latin typeface="Calibri"/>
                <a:ea typeface="Calibri"/>
                <a:cs typeface="Calibri"/>
              </a:defRPr>
            </a:pPr>
            <a:r>
              <a:rPr sz="2250" b="1">
                <a:solidFill>
                  <a:srgbClr val="F3F0E2"/>
                </a:solidFill>
                <a:latin typeface="Calibri"/>
                <a:ea typeface="Calibri"/>
                <a:cs typeface="Calibri"/>
              </a:rPr>
              <a:t>02</a:t>
            </a:r>
          </a:p>
        </p:txBody>
      </p:sp>
      <p:sp>
        <p:nvSpPr>
          <p:cNvPr id="8" name="Prix, références et numérotation des documents.">
            <a:extLst>
              <a:ext uri="{FF2B5EF4-FFF2-40B4-BE49-F238E27FC236}">
                <a16:creationId xmlns:a16="http://schemas.microsoft.com/office/drawing/2014/main" id="{54D38DF0-DE1A-47BA-BB4E-066F93AEDDE0}"/>
              </a:ext>
            </a:extLst>
          </p:cNvPr>
          <p:cNvSpPr>
            <a:spLocks noGrp="1"/>
          </p:cNvSpPr>
          <p:nvPr/>
        </p:nvSpPr>
        <p:spPr>
          <a:xfrm>
            <a:off x="2428875" y="5876925"/>
            <a:ext cx="12287250" cy="857250"/>
          </a:xfrm>
          <a:prstGeom prst="rect">
            <a:avLst/>
          </a:prstGeom>
          <a:noFill/>
          <a:ln w="0">
            <a:noFill/>
          </a:ln>
        </p:spPr>
        <p:txBody>
          <a:bodyPr wrap="square" lIns="0" tIns="0" rIns="0" bIns="0" anchor="ctr">
            <a:noAutofit/>
          </a:bodyPr>
          <a:lstStyle/>
          <a:p>
            <a:pPr algn="l">
              <a:defRPr sz="3075" b="0">
                <a:solidFill>
                  <a:srgbClr val="414548"/>
                </a:solidFill>
                <a:latin typeface="Calibri"/>
                <a:ea typeface="Calibri"/>
                <a:cs typeface="Calibri"/>
              </a:defRPr>
            </a:pPr>
            <a:r>
              <a:rPr sz="3075" b="0">
                <a:solidFill>
                  <a:srgbClr val="414548"/>
                </a:solidFill>
                <a:latin typeface="Calibri"/>
                <a:ea typeface="Calibri"/>
                <a:cs typeface="Calibri"/>
              </a:rPr>
              <a:t>Prix, références et numérotation des documents.</a:t>
            </a:r>
          </a:p>
        </p:txBody>
      </p:sp>
      <p:sp>
        <p:nvSpPr>
          <p:cNvPr id="9" name="03">
            <a:extLst>
              <a:ext uri="{FF2B5EF4-FFF2-40B4-BE49-F238E27FC236}">
                <a16:creationId xmlns:a16="http://schemas.microsoft.com/office/drawing/2014/main" id="{0FFE963C-E447-4811-A160-C6B0FEA3542E}"/>
              </a:ext>
            </a:extLst>
          </p:cNvPr>
          <p:cNvSpPr>
            <a:spLocks noGrp="1"/>
          </p:cNvSpPr>
          <p:nvPr/>
        </p:nvSpPr>
        <p:spPr>
          <a:xfrm>
            <a:off x="1428750" y="6943725"/>
            <a:ext cx="714375" cy="714375"/>
          </a:xfrm>
          <a:prstGeom prst="ellipse">
            <a:avLst/>
          </a:prstGeom>
          <a:solidFill>
            <a:srgbClr val="414548"/>
          </a:solidFill>
          <a:ln w="19050">
            <a:solidFill>
              <a:srgbClr val="414548"/>
            </a:solidFill>
          </a:ln>
        </p:spPr>
        <p:txBody>
          <a:bodyPr wrap="square" lIns="0" tIns="0" rIns="0" bIns="0" anchor="ctr">
            <a:noAutofit/>
          </a:bodyPr>
          <a:lstStyle/>
          <a:p>
            <a:pPr algn="ctr">
              <a:defRPr sz="2250" b="1">
                <a:solidFill>
                  <a:srgbClr val="F3F0E2"/>
                </a:solidFill>
                <a:latin typeface="Calibri"/>
                <a:ea typeface="Calibri"/>
                <a:cs typeface="Calibri"/>
              </a:defRPr>
            </a:pPr>
            <a:r>
              <a:rPr sz="2250" b="1">
                <a:solidFill>
                  <a:srgbClr val="F3F0E2"/>
                </a:solidFill>
                <a:latin typeface="Calibri"/>
                <a:ea typeface="Calibri"/>
                <a:cs typeface="Calibri"/>
              </a:rPr>
              <a:t>03</a:t>
            </a:r>
          </a:p>
        </p:txBody>
      </p:sp>
      <p:sp>
        <p:nvSpPr>
          <p:cNvPr id="10" name="Journal d’envoi, reprise CRM et erreurs contrôlées.">
            <a:extLst>
              <a:ext uri="{FF2B5EF4-FFF2-40B4-BE49-F238E27FC236}">
                <a16:creationId xmlns:a16="http://schemas.microsoft.com/office/drawing/2014/main" id="{0073F5FC-E73E-4782-A9F9-87CDADB44213}"/>
              </a:ext>
            </a:extLst>
          </p:cNvPr>
          <p:cNvSpPr>
            <a:spLocks noGrp="1"/>
          </p:cNvSpPr>
          <p:nvPr/>
        </p:nvSpPr>
        <p:spPr>
          <a:xfrm>
            <a:off x="2428875" y="6896100"/>
            <a:ext cx="12287250" cy="857250"/>
          </a:xfrm>
          <a:prstGeom prst="rect">
            <a:avLst/>
          </a:prstGeom>
          <a:noFill/>
          <a:ln w="0">
            <a:noFill/>
          </a:ln>
        </p:spPr>
        <p:txBody>
          <a:bodyPr wrap="square" lIns="0" tIns="0" rIns="0" bIns="0" anchor="ctr">
            <a:noAutofit/>
          </a:bodyPr>
          <a:lstStyle/>
          <a:p>
            <a:pPr algn="l">
              <a:defRPr sz="3075" b="0">
                <a:solidFill>
                  <a:srgbClr val="414548"/>
                </a:solidFill>
                <a:latin typeface="Calibri"/>
                <a:ea typeface="Calibri"/>
                <a:cs typeface="Calibri"/>
              </a:defRPr>
            </a:pPr>
            <a:r>
              <a:rPr sz="3075" b="0">
                <a:solidFill>
                  <a:srgbClr val="414548"/>
                </a:solidFill>
                <a:latin typeface="Calibri"/>
                <a:ea typeface="Calibri"/>
                <a:cs typeface="Calibri"/>
              </a:rPr>
              <a:t>Journal d’envoi, reprise CRM et erreurs contrôlées.</a:t>
            </a:r>
          </a:p>
        </p:txBody>
      </p:sp>
      <p:sp>
        <p:nvSpPr>
          <p:cNvPr id="11" name="28 fichiers Python analysés. Aucun conflit de dépendanc">
            <a:extLst>
              <a:ext uri="{FF2B5EF4-FFF2-40B4-BE49-F238E27FC236}">
                <a16:creationId xmlns:a16="http://schemas.microsoft.com/office/drawing/2014/main" id="{9EB226D5-FB04-4A44-8B62-1C95D56B263C}"/>
              </a:ext>
            </a:extLst>
          </p:cNvPr>
          <p:cNvSpPr>
            <a:spLocks noGrp="1"/>
          </p:cNvSpPr>
          <p:nvPr/>
        </p:nvSpPr>
        <p:spPr>
          <a:xfrm>
            <a:off x="1857375" y="8048625"/>
            <a:ext cx="12573000" cy="666750"/>
          </a:xfrm>
          <a:prstGeom prst="rect">
            <a:avLst/>
          </a:prstGeom>
          <a:noFill/>
          <a:ln w="0">
            <a:noFill/>
          </a:ln>
        </p:spPr>
        <p:txBody>
          <a:bodyPr wrap="square" lIns="0" tIns="0" rIns="0" bIns="0" anchor="ctr">
            <a:noAutofit/>
          </a:bodyPr>
          <a:lstStyle/>
          <a:p>
            <a:pPr algn="ctr">
              <a:defRPr sz="2550" b="0">
                <a:solidFill>
                  <a:srgbClr val="414548"/>
                </a:solidFill>
                <a:latin typeface="Calibri"/>
                <a:ea typeface="Calibri"/>
                <a:cs typeface="Calibri"/>
              </a:defRPr>
            </a:pPr>
            <a:r>
              <a:rPr sz="2550" b="0">
                <a:solidFill>
                  <a:srgbClr val="414548"/>
                </a:solidFill>
                <a:latin typeface="Calibri"/>
                <a:ea typeface="Calibri"/>
                <a:cs typeface="Calibri"/>
              </a:rPr>
              <a:t>28 fichiers Python analysés. Aucun conflit de dépendances détecté.</a:t>
            </a:r>
          </a:p>
        </p:txBody>
      </p:sp>
      <p:sp>
        <p:nvSpPr>
          <p:cNvPr id="12" name="Vérifications locales du 17 septembre 2026. Les service">
            <a:extLst>
              <a:ext uri="{FF2B5EF4-FFF2-40B4-BE49-F238E27FC236}">
                <a16:creationId xmlns:a16="http://schemas.microsoft.com/office/drawing/2014/main" id="{9D39663E-4DCB-4D9D-8B3D-51FA0B16E62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70771483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49F7E39F-1F49-4679-9914-81710ED0711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21 / 22">
            <a:extLst>
              <a:ext uri="{FF2B5EF4-FFF2-40B4-BE49-F238E27FC236}">
                <a16:creationId xmlns:a16="http://schemas.microsoft.com/office/drawing/2014/main" id="{607F9E9D-531F-4F8C-896F-2A17B4FB996C}"/>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21 / 24</a:t>
            </a:r>
          </a:p>
        </p:txBody>
      </p:sp>
      <p:sp>
        <p:nvSpPr>
          <p:cNvPr id="3" name="Limites et perspectives">
            <a:extLst>
              <a:ext uri="{FF2B5EF4-FFF2-40B4-BE49-F238E27FC236}">
                <a16:creationId xmlns:a16="http://schemas.microsoft.com/office/drawing/2014/main" id="{66177D3D-105A-4A9A-824B-FFE227E923F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Limites et perspectives</a:t>
            </a:r>
          </a:p>
        </p:txBody>
      </p:sp>
      <p:graphicFrame>
        <p:nvGraphicFramePr>
          <p:cNvPr id="9" name="Tableau 8"/>
          <p:cNvGraphicFramePr/>
          <p:nvPr>
            <p:extLst>
              <p:ext uri="{D42A27DB-BD31-4B8C-83A1-F6EECF244321}">
                <p14:modId xmlns:p14="http://schemas.microsoft.com/office/powerpoint/2010/main" val="2068702888"/>
              </p:ext>
            </p:extLst>
          </p:nvPr>
        </p:nvGraphicFramePr>
        <p:xfrm>
          <a:off x="1571625" y="3333750"/>
          <a:ext cx="14478000" cy="4953000"/>
        </p:xfrm>
        <a:graphic>
          <a:graphicData uri="http://schemas.openxmlformats.org/drawingml/2006/table">
            <a:tbl>
              <a:tblPr/>
              <a:tblGrid>
                <a:gridCol w="3437223">
                  <a:extLst>
                    <a:ext uri="{9D8B030D-6E8A-4147-A177-3AD203B41FA5}">
                      <a16:colId xmlns:a16="http://schemas.microsoft.com/office/drawing/2014/main" val="20000"/>
                    </a:ext>
                  </a:extLst>
                </a:gridCol>
                <a:gridCol w="11040777">
                  <a:extLst>
                    <a:ext uri="{9D8B030D-6E8A-4147-A177-3AD203B41FA5}">
                      <a16:colId xmlns:a16="http://schemas.microsoft.com/office/drawing/2014/main" val="20001"/>
                    </a:ext>
                  </a:extLst>
                </a:gridCol>
              </a:tblGrid>
              <a:tr h="825500">
                <a:tc>
                  <a:txBody>
                    <a:bodyPr/>
                    <a:lstStyle/>
                    <a:p>
                      <a:pPr algn="ctr"/>
                      <a:r>
                        <a:rPr sz="2625" b="1">
                          <a:solidFill>
                            <a:srgbClr val="F3F0E2"/>
                          </a:solidFill>
                          <a:latin typeface="Calibri"/>
                          <a:ea typeface="Calibri"/>
                          <a:cs typeface="Calibri"/>
                        </a:rPr>
                        <a:t>Priorité</a:t>
                      </a:r>
                    </a:p>
                  </a:txBody>
                  <a:tcPr anchor="ctr">
                    <a:solidFill>
                      <a:srgbClr val="5D818B"/>
                    </a:solidFill>
                  </a:tcPr>
                </a:tc>
                <a:tc>
                  <a:txBody>
                    <a:bodyPr/>
                    <a:lstStyle/>
                    <a:p>
                      <a:pPr algn="ctr"/>
                      <a:r>
                        <a:rPr sz="2625" b="1">
                          <a:solidFill>
                            <a:srgbClr val="F3F0E2"/>
                          </a:solidFill>
                          <a:latin typeface="Calibri"/>
                          <a:ea typeface="Calibri"/>
                          <a:cs typeface="Calibri"/>
                        </a:rPr>
                        <a:t>Amélioration attendue</a:t>
                      </a:r>
                    </a:p>
                  </a:txBody>
                  <a:tcPr anchor="ctr">
                    <a:solidFill>
                      <a:srgbClr val="5D818B"/>
                    </a:solidFill>
                  </a:tcPr>
                </a:tc>
                <a:extLst>
                  <a:ext uri="{0D108BD9-81ED-4DB2-BD59-A6C34878D82A}">
                    <a16:rowId xmlns:a16="http://schemas.microsoft.com/office/drawing/2014/main" val="10000"/>
                  </a:ext>
                </a:extLst>
              </a:tr>
              <a:tr h="825500">
                <a:tc>
                  <a:txBody>
                    <a:bodyPr/>
                    <a:lstStyle/>
                    <a:p>
                      <a:pPr algn="ctr"/>
                      <a:r>
                        <a:rPr sz="2625" b="0">
                          <a:solidFill>
                            <a:srgbClr val="414548"/>
                          </a:solidFill>
                          <a:latin typeface="Calibri"/>
                          <a:ea typeface="Calibri"/>
                          <a:cs typeface="Calibri"/>
                        </a:rPr>
                        <a:t>Fiabilité métier</a:t>
                      </a:r>
                    </a:p>
                  </a:txBody>
                  <a:tcPr anchor="ctr">
                    <a:solidFill>
                      <a:srgbClr val="E1E5DD"/>
                    </a:solidFill>
                  </a:tcPr>
                </a:tc>
                <a:tc>
                  <a:txBody>
                    <a:bodyPr/>
                    <a:lstStyle/>
                    <a:p>
                      <a:pPr algn="ctr"/>
                      <a:r>
                        <a:rPr sz="2625" b="0">
                          <a:solidFill>
                            <a:srgbClr val="414548"/>
                          </a:solidFill>
                          <a:latin typeface="Calibri"/>
                          <a:ea typeface="Calibri"/>
                          <a:cs typeface="Calibri"/>
                        </a:rPr>
                        <a:t>Formation obligatoire, prix structurés, règles de TVA validées</a:t>
                      </a:r>
                    </a:p>
                  </a:txBody>
                  <a:tcPr anchor="ctr">
                    <a:solidFill>
                      <a:srgbClr val="E1E5DD"/>
                    </a:solidFill>
                  </a:tcPr>
                </a:tc>
                <a:extLst>
                  <a:ext uri="{0D108BD9-81ED-4DB2-BD59-A6C34878D82A}">
                    <a16:rowId xmlns:a16="http://schemas.microsoft.com/office/drawing/2014/main" val="10001"/>
                  </a:ext>
                </a:extLst>
              </a:tr>
              <a:tr h="825500">
                <a:tc>
                  <a:txBody>
                    <a:bodyPr/>
                    <a:lstStyle/>
                    <a:p>
                      <a:pPr algn="ctr"/>
                      <a:r>
                        <a:rPr sz="2625" b="0">
                          <a:solidFill>
                            <a:srgbClr val="414548"/>
                          </a:solidFill>
                          <a:latin typeface="Calibri"/>
                          <a:ea typeface="Calibri"/>
                          <a:cs typeface="Calibri"/>
                        </a:rPr>
                        <a:t>Exploitation</a:t>
                      </a:r>
                    </a:p>
                  </a:txBody>
                  <a:tcPr anchor="ctr">
                    <a:solidFill>
                      <a:srgbClr val="ECEBDD"/>
                    </a:solidFill>
                  </a:tcPr>
                </a:tc>
                <a:tc>
                  <a:txBody>
                    <a:bodyPr/>
                    <a:lstStyle/>
                    <a:p>
                      <a:pPr algn="ctr"/>
                      <a:r>
                        <a:rPr sz="2625" b="0">
                          <a:solidFill>
                            <a:srgbClr val="414548"/>
                          </a:solidFill>
                          <a:latin typeface="Calibri"/>
                          <a:ea typeface="Calibri"/>
                          <a:cs typeface="Calibri"/>
                        </a:rPr>
                        <a:t>Planification, rattrapage des échéances, suivi des réponses</a:t>
                      </a:r>
                    </a:p>
                  </a:txBody>
                  <a:tcPr anchor="ctr">
                    <a:solidFill>
                      <a:srgbClr val="ECEBDD"/>
                    </a:solidFill>
                  </a:tcPr>
                </a:tc>
                <a:extLst>
                  <a:ext uri="{0D108BD9-81ED-4DB2-BD59-A6C34878D82A}">
                    <a16:rowId xmlns:a16="http://schemas.microsoft.com/office/drawing/2014/main" val="10002"/>
                  </a:ext>
                </a:extLst>
              </a:tr>
              <a:tr h="825500">
                <a:tc>
                  <a:txBody>
                    <a:bodyPr/>
                    <a:lstStyle/>
                    <a:p>
                      <a:pPr algn="ctr"/>
                      <a:r>
                        <a:rPr sz="2625" b="0">
                          <a:solidFill>
                            <a:srgbClr val="414548"/>
                          </a:solidFill>
                          <a:latin typeface="Calibri"/>
                          <a:ea typeface="Calibri"/>
                          <a:cs typeface="Calibri"/>
                        </a:rPr>
                        <a:t>Sécurité</a:t>
                      </a:r>
                    </a:p>
                  </a:txBody>
                  <a:tcPr anchor="ctr">
                    <a:solidFill>
                      <a:srgbClr val="E1E5DD"/>
                    </a:solidFill>
                  </a:tcPr>
                </a:tc>
                <a:tc>
                  <a:txBody>
                    <a:bodyPr/>
                    <a:lstStyle/>
                    <a:p>
                      <a:pPr algn="ctr"/>
                      <a:r>
                        <a:rPr sz="2625" b="0">
                          <a:solidFill>
                            <a:srgbClr val="414548"/>
                          </a:solidFill>
                          <a:latin typeface="Calibri"/>
                          <a:ea typeface="Calibri"/>
                          <a:cs typeface="Calibri"/>
                        </a:rPr>
                        <a:t>Accès authentifié, gestion des secrets et des habilitations</a:t>
                      </a:r>
                    </a:p>
                  </a:txBody>
                  <a:tcPr anchor="ctr">
                    <a:solidFill>
                      <a:srgbClr val="E1E5DD"/>
                    </a:solidFill>
                  </a:tcPr>
                </a:tc>
                <a:extLst>
                  <a:ext uri="{0D108BD9-81ED-4DB2-BD59-A6C34878D82A}">
                    <a16:rowId xmlns:a16="http://schemas.microsoft.com/office/drawing/2014/main" val="10003"/>
                  </a:ext>
                </a:extLst>
              </a:tr>
              <a:tr h="825500">
                <a:tc>
                  <a:txBody>
                    <a:bodyPr/>
                    <a:lstStyle/>
                    <a:p>
                      <a:pPr algn="ctr"/>
                      <a:r>
                        <a:rPr sz="2625" b="0">
                          <a:solidFill>
                            <a:srgbClr val="414548"/>
                          </a:solidFill>
                          <a:latin typeface="Calibri"/>
                          <a:ea typeface="Calibri"/>
                          <a:cs typeface="Calibri"/>
                        </a:rPr>
                        <a:t>Montée en charge</a:t>
                      </a:r>
                    </a:p>
                  </a:txBody>
                  <a:tcPr anchor="ctr">
                    <a:solidFill>
                      <a:srgbClr val="ECEBDD"/>
                    </a:solidFill>
                  </a:tcPr>
                </a:tc>
                <a:tc>
                  <a:txBody>
                    <a:bodyPr/>
                    <a:lstStyle/>
                    <a:p>
                      <a:pPr algn="ctr"/>
                      <a:r>
                        <a:rPr sz="2625" b="0">
                          <a:solidFill>
                            <a:srgbClr val="414548"/>
                          </a:solidFill>
                          <a:latin typeface="Calibri"/>
                          <a:ea typeface="Calibri"/>
                          <a:cs typeface="Calibri"/>
                        </a:rPr>
                        <a:t>Journal central, verrouillage et tests de concurrence</a:t>
                      </a:r>
                    </a:p>
                  </a:txBody>
                  <a:tcPr anchor="ctr">
                    <a:solidFill>
                      <a:srgbClr val="ECEBDD"/>
                    </a:solidFill>
                  </a:tcPr>
                </a:tc>
                <a:extLst>
                  <a:ext uri="{0D108BD9-81ED-4DB2-BD59-A6C34878D82A}">
                    <a16:rowId xmlns:a16="http://schemas.microsoft.com/office/drawing/2014/main" val="10004"/>
                  </a:ext>
                </a:extLst>
              </a:tr>
              <a:tr h="825500">
                <a:tc>
                  <a:txBody>
                    <a:bodyPr/>
                    <a:lstStyle/>
                    <a:p>
                      <a:pPr algn="ctr"/>
                      <a:r>
                        <a:rPr sz="2625" b="0">
                          <a:solidFill>
                            <a:srgbClr val="414548"/>
                          </a:solidFill>
                          <a:latin typeface="Calibri"/>
                          <a:ea typeface="Calibri"/>
                          <a:cs typeface="Calibri"/>
                        </a:rPr>
                        <a:t>Périmètre</a:t>
                      </a:r>
                    </a:p>
                  </a:txBody>
                  <a:tcPr anchor="ctr">
                    <a:solidFill>
                      <a:srgbClr val="E1E5DD"/>
                    </a:solidFill>
                  </a:tcPr>
                </a:tc>
                <a:tc>
                  <a:txBody>
                    <a:bodyPr/>
                    <a:lstStyle/>
                    <a:p>
                      <a:pPr algn="ctr"/>
                      <a:r>
                        <a:rPr sz="2625" b="0" dirty="0">
                          <a:solidFill>
                            <a:srgbClr val="414548"/>
                          </a:solidFill>
                          <a:latin typeface="Calibri"/>
                          <a:ea typeface="Calibri"/>
                          <a:cs typeface="Calibri"/>
                        </a:rPr>
                        <a:t>Publication </a:t>
                      </a:r>
                      <a:r>
                        <a:rPr sz="2625" b="0" dirty="0" err="1">
                          <a:solidFill>
                            <a:srgbClr val="414548"/>
                          </a:solidFill>
                          <a:latin typeface="Calibri"/>
                          <a:ea typeface="Calibri"/>
                          <a:cs typeface="Calibri"/>
                        </a:rPr>
                        <a:t>sociale</a:t>
                      </a:r>
                      <a:r>
                        <a:rPr sz="2625" b="0" dirty="0">
                          <a:solidFill>
                            <a:srgbClr val="414548"/>
                          </a:solidFill>
                          <a:latin typeface="Calibri"/>
                          <a:ea typeface="Calibri"/>
                          <a:cs typeface="Calibri"/>
                        </a:rPr>
                        <a:t> E3 et </a:t>
                      </a:r>
                      <a:r>
                        <a:rPr sz="2625" b="0" dirty="0" err="1">
                          <a:solidFill>
                            <a:srgbClr val="414548"/>
                          </a:solidFill>
                          <a:latin typeface="Calibri"/>
                          <a:ea typeface="Calibri"/>
                          <a:cs typeface="Calibri"/>
                        </a:rPr>
                        <a:t>suivi</a:t>
                      </a:r>
                      <a:r>
                        <a:rPr sz="2625" b="0" dirty="0">
                          <a:solidFill>
                            <a:srgbClr val="414548"/>
                          </a:solidFill>
                          <a:latin typeface="Calibri"/>
                          <a:ea typeface="Calibri"/>
                          <a:cs typeface="Calibri"/>
                        </a:rPr>
                        <a:t> après-vente</a:t>
                      </a:r>
                    </a:p>
                  </a:txBody>
                  <a:tcPr anchor="ctr">
                    <a:solidFill>
                      <a:srgbClr val="E1E5DD"/>
                    </a:solidFill>
                  </a:tcPr>
                </a:tc>
                <a:extLst>
                  <a:ext uri="{0D108BD9-81ED-4DB2-BD59-A6C34878D82A}">
                    <a16:rowId xmlns:a16="http://schemas.microsoft.com/office/drawing/2014/main" val="10005"/>
                  </a:ext>
                </a:extLst>
              </a:tr>
            </a:tbl>
          </a:graphicData>
        </a:graphic>
      </p:graphicFrame>
      <p:sp>
        <p:nvSpPr>
          <p:cNvPr id="5" name="Priorité : fiabiliser les parcours existants avant d’aj">
            <a:extLst>
              <a:ext uri="{FF2B5EF4-FFF2-40B4-BE49-F238E27FC236}">
                <a16:creationId xmlns:a16="http://schemas.microsoft.com/office/drawing/2014/main" id="{26258BE2-5590-44AC-814E-A1879032C2E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62169203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07500B12-2945-4644-85D0-2ED529260F2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22 / 22">
            <a:extLst>
              <a:ext uri="{FF2B5EF4-FFF2-40B4-BE49-F238E27FC236}">
                <a16:creationId xmlns:a16="http://schemas.microsoft.com/office/drawing/2014/main" id="{5A987653-DA01-415B-9AED-1379733AAFE5}"/>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22 / 24</a:t>
            </a:r>
          </a:p>
        </p:txBody>
      </p:sp>
      <p:sp>
        <p:nvSpPr>
          <p:cNvPr id="4" name="05">
            <a:extLst>
              <a:ext uri="{FF2B5EF4-FFF2-40B4-BE49-F238E27FC236}">
                <a16:creationId xmlns:a16="http://schemas.microsoft.com/office/drawing/2014/main" id="{12AAF49B-B5F5-4ADE-8522-7FE4FE76B94C}"/>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05</a:t>
            </a:r>
          </a:p>
        </p:txBody>
      </p:sp>
      <p:sp>
        <p:nvSpPr>
          <p:cNvPr id="5" name="Conclusion">
            <a:extLst>
              <a:ext uri="{FF2B5EF4-FFF2-40B4-BE49-F238E27FC236}">
                <a16:creationId xmlns:a16="http://schemas.microsoft.com/office/drawing/2014/main" id="{191B3D87-75DA-4E2C-BB07-5453B79C9580}"/>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Conclusion</a:t>
            </a:r>
          </a:p>
        </p:txBody>
      </p:sp>
      <p:sp>
        <p:nvSpPr>
          <p:cNvPr id="6" name="Un prototype qui relie la qualification du prospect&#10;aux">
            <a:extLst>
              <a:ext uri="{FF2B5EF4-FFF2-40B4-BE49-F238E27FC236}">
                <a16:creationId xmlns:a16="http://schemas.microsoft.com/office/drawing/2014/main" id="{4E835F1E-7F34-4E18-87C0-7B92D5A2B6AB}"/>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Un prototype qui relie la qualification du prospect</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aux communications et aux documents commerciaux</a:t>
            </a:r>
          </a:p>
        </p:txBody>
      </p:sp>
      <p:sp>
        <p:nvSpPr>
          <p:cNvPr id="7" name="Merci pour votre attention">
            <a:extLst>
              <a:ext uri="{FF2B5EF4-FFF2-40B4-BE49-F238E27FC236}">
                <a16:creationId xmlns:a16="http://schemas.microsoft.com/office/drawing/2014/main" id="{39E3D2F8-BEB3-4C72-A2BA-A8283251AF0E}"/>
              </a:ext>
            </a:extLst>
          </p:cNvPr>
          <p:cNvSpPr>
            <a:spLocks noGrp="1"/>
          </p:cNvSpPr>
          <p:nvPr/>
        </p:nvSpPr>
        <p:spPr>
          <a:xfrm>
            <a:off x="1000125" y="7667625"/>
            <a:ext cx="9525000" cy="809625"/>
          </a:xfrm>
          <a:prstGeom prst="rect">
            <a:avLst/>
          </a:prstGeom>
          <a:noFill/>
          <a:ln w="0">
            <a:noFill/>
          </a:ln>
        </p:spPr>
        <p:txBody>
          <a:bodyPr wrap="square" lIns="0" tIns="0" rIns="0" bIns="0" anchor="ctr">
            <a:noAutofit/>
          </a:bodyPr>
          <a:lstStyle/>
          <a:p>
            <a:pPr algn="l">
              <a:defRPr sz="3300" b="1">
                <a:solidFill>
                  <a:srgbClr val="A65A43"/>
                </a:solidFill>
                <a:latin typeface="Calibri"/>
                <a:ea typeface="Calibri"/>
                <a:cs typeface="Calibri"/>
              </a:defRPr>
            </a:pPr>
            <a:r>
              <a:rPr sz="3300" b="1">
                <a:solidFill>
                  <a:srgbClr val="A65A43"/>
                </a:solidFill>
                <a:latin typeface="Calibri"/>
                <a:ea typeface="Calibri"/>
                <a:cs typeface="Calibri"/>
              </a:rPr>
              <a:t>Merci pour votre attention</a:t>
            </a:r>
          </a:p>
        </p:txBody>
      </p:sp>
      <p:sp>
        <p:nvSpPr>
          <p:cNvPr id="8" name="Questions et échanges">
            <a:extLst>
              <a:ext uri="{FF2B5EF4-FFF2-40B4-BE49-F238E27FC236}">
                <a16:creationId xmlns:a16="http://schemas.microsoft.com/office/drawing/2014/main" id="{4871E3D6-3840-4EBF-9D40-F382634FE432}"/>
              </a:ext>
            </a:extLst>
          </p:cNvPr>
          <p:cNvSpPr>
            <a:spLocks noGrp="1"/>
          </p:cNvSpPr>
          <p:nvPr/>
        </p:nvSpPr>
        <p:spPr>
          <a:xfrm>
            <a:off x="1000125" y="8572500"/>
            <a:ext cx="8572500" cy="571500"/>
          </a:xfrm>
          <a:prstGeom prst="rect">
            <a:avLst/>
          </a:prstGeom>
          <a:noFill/>
          <a:ln w="0">
            <a:noFill/>
          </a:ln>
        </p:spPr>
        <p:txBody>
          <a:bodyPr wrap="square" lIns="0" tIns="0" rIns="0" bIns="0" anchor="ctr">
            <a:noAutofit/>
          </a:bodyPr>
          <a:lstStyle/>
          <a:p>
            <a:pPr algn="l">
              <a:defRPr sz="2400" b="0">
                <a:solidFill>
                  <a:srgbClr val="414548"/>
                </a:solidFill>
                <a:latin typeface="Calibri"/>
                <a:ea typeface="Calibri"/>
                <a:cs typeface="Calibri"/>
              </a:defRPr>
            </a:pPr>
            <a:r>
              <a:rPr sz="2400" b="0">
                <a:solidFill>
                  <a:srgbClr val="414548"/>
                </a:solidFill>
                <a:latin typeface="Calibri"/>
                <a:ea typeface="Calibri"/>
                <a:cs typeface="Calibri"/>
              </a:rPr>
              <a:t>Questions et échanges</a:t>
            </a:r>
          </a:p>
        </p:txBody>
      </p:sp>
    </p:spTree>
    <p:extLst>
      <p:ext uri="{BB962C8B-B14F-4D97-AF65-F5344CB8AC3E}">
        <p14:creationId xmlns:p14="http://schemas.microsoft.com/office/powerpoint/2010/main" val="2305208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F3F0E2"/>
        </a:solidFill>
      </p:bgPr>
    </p:bg>
    <p:spTree>
      <p:nvGrpSpPr>
        <p:cNvPr id="1" name=""/>
        <p:cNvGrpSpPr/>
        <p:nvPr/>
      </p:nvGrpSpPr>
      <p:grpSpPr>
        <a:xfrm xmlns:a="http://schemas.openxmlformats.org/drawingml/2006/main"/>
      </p:grpSpPr>
      <p:pic>
        <p:nvPicPr>
          <p:cNvPr id="2000" name=""/>
          <p:cNvPicPr>
            <a:picLocks xmlns:a="http://schemas.openxmlformats.org/drawingml/2006/main" noChangeAspect="1"/>
          </p:cNvPicPr>
          <p:nvPr/>
        </p:nvPicPr>
        <p:blipFill>
          <a:blip xmlns:r="http://schemas.openxmlformats.org/officeDocument/2006/relationships" xmlns:a="http://schemas.openxmlformats.org/drawingml/2006/main" r:embed="rIdResearchBg"/>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2FE0F32-18BE-481E-8327-C18A169BD86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9E10320E-4601-4785-B55B-321602556D73}"/>
              </a:ext>
            </a:extLst>
          </p:cNvPr>
          <p:cNvSpPr>
            <a:spLocks xmlns:a="http://schemas.openxmlformats.org/drawingml/2006/main" noGrp="1"/>
          </p:cNvSpPr>
          <p:nvPr/>
        </p:nvSpPr>
        <p:spPr>
          <a:xfrm xmlns:a="http://schemas.openxmlformats.org/drawingml/2006/main">
            <a:off x="14382750" y="96964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414548"/>
                </a:solidFill>
                <a:latin typeface="Calibri"/>
                <a:ea typeface="Calibri"/>
                <a:cs typeface="Calibri"/>
              </a:defRPr>
            </a:pPr>
            <a:r>
              <a:rPr sz="1650" b="1">
                <a:solidFill>
                  <a:srgbClr val="414548"/>
                </a:solidFill>
                <a:latin typeface="Calibri"/>
                <a:ea typeface="Calibri"/>
                <a:cs typeface="Calibri"/>
              </a:rPr>
              <a:t>23 / 24</a:t>
            </a:r>
          </a:p>
        </p:txBody>
      </p:sp>
      <p:sp>
        <p:nvSpPr>
          <p:cNvPr id="3" name="">
            <a:extLst xmlns:a="http://schemas.openxmlformats.org/drawingml/2006/main">
              <a:ext uri="{FF2B5EF4-FFF2-40B4-BE49-F238E27FC236}">
                <a16:creationId xmlns:a16="http://schemas.microsoft.com/office/drawing/2014/main" id="{631FAAD9-B158-4F04-B8A5-1E181418B5F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4650" b="1">
                <a:solidFill>
                  <a:srgbClr val="414548"/>
                </a:solidFill>
                <a:latin typeface="Calibri"/>
                <a:ea typeface="Calibri"/>
                <a:cs typeface="Calibri"/>
              </a:defRPr>
            </a:pPr>
            <a:r>
              <a:rPr sz="4650" b="1">
                <a:solidFill>
                  <a:srgbClr val="414548"/>
                </a:solidFill>
                <a:latin typeface="Calibri"/>
                <a:ea typeface="Calibri"/>
                <a:cs typeface="Calibri"/>
              </a:rPr>
              <a:t>Références</a:t>
            </a:r>
          </a:p>
        </p:txBody>
      </p:sp>
      <p:sp>
        <p:nvSpPr>
          <p:cNvPr id="4" name="">
            <a:extLst xmlns:a="http://schemas.openxmlformats.org/drawingml/2006/main">
              <a:ext uri="{FF2B5EF4-FFF2-40B4-BE49-F238E27FC236}">
                <a16:creationId xmlns:a16="http://schemas.microsoft.com/office/drawing/2014/main" id="{7D0F4F9A-9C3F-43B1-BFBF-D06ACF778BD7}"/>
              </a:ext>
            </a:extLst>
          </p:cNvPr>
          <p:cNvSpPr>
            <a:spLocks xmlns:a="http://schemas.openxmlformats.org/drawingml/2006/main" noGrp="1"/>
          </p:cNvSpPr>
          <p:nvPr/>
        </p:nvSpPr>
        <p:spPr>
          <a:xfrm xmlns:a="http://schemas.openxmlformats.org/drawingml/2006/main">
            <a:off x="1381125" y="29527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Python</a:t>
            </a:r>
          </a:p>
        </p:txBody>
      </p:sp>
      <p:sp>
        <p:nvSpPr>
          <p:cNvPr id="5" name="">
            <a:extLst xmlns:a="http://schemas.openxmlformats.org/drawingml/2006/main">
              <a:ext uri="{FF2B5EF4-FFF2-40B4-BE49-F238E27FC236}">
                <a16:creationId xmlns:a16="http://schemas.microsoft.com/office/drawing/2014/main" id="{B0085EF2-D8B6-4739-A282-61745FF517B9}"/>
              </a:ext>
            </a:extLst>
          </p:cNvPr>
          <p:cNvSpPr>
            <a:spLocks xmlns:a="http://schemas.openxmlformats.org/drawingml/2006/main" noGrp="1"/>
          </p:cNvSpPr>
          <p:nvPr/>
        </p:nvSpPr>
        <p:spPr>
          <a:xfrm xmlns:a="http://schemas.openxmlformats.org/drawingml/2006/main">
            <a:off x="5572125" y="29527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https://docs.python.org/3/</a:t>
            </a:r>
          </a:p>
        </p:txBody>
      </p:sp>
      <p:sp>
        <p:nvSpPr>
          <p:cNvPr id="6" name="">
            <a:extLst xmlns:a="http://schemas.openxmlformats.org/drawingml/2006/main">
              <a:ext uri="{FF2B5EF4-FFF2-40B4-BE49-F238E27FC236}">
                <a16:creationId xmlns:a16="http://schemas.microsoft.com/office/drawing/2014/main" id="{A98C533E-05B3-428A-8B5F-9D2C228AF5BA}"/>
              </a:ext>
            </a:extLst>
          </p:cNvPr>
          <p:cNvSpPr>
            <a:spLocks xmlns:a="http://schemas.openxmlformats.org/drawingml/2006/main" noGrp="1"/>
          </p:cNvSpPr>
          <p:nvPr/>
        </p:nvSpPr>
        <p:spPr>
          <a:xfrm xmlns:a="http://schemas.openxmlformats.org/drawingml/2006/main">
            <a:off x="1381125" y="393382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Airtable Web API</a:t>
            </a:r>
          </a:p>
        </p:txBody>
      </p:sp>
      <p:sp>
        <p:nvSpPr>
          <p:cNvPr id="7" name="">
            <a:extLst xmlns:a="http://schemas.openxmlformats.org/drawingml/2006/main">
              <a:ext uri="{FF2B5EF4-FFF2-40B4-BE49-F238E27FC236}">
                <a16:creationId xmlns:a16="http://schemas.microsoft.com/office/drawing/2014/main" id="{9D9D4059-F486-41FF-A9F6-C8808220BD70}"/>
              </a:ext>
            </a:extLst>
          </p:cNvPr>
          <p:cNvSpPr>
            <a:spLocks xmlns:a="http://schemas.openxmlformats.org/drawingml/2006/main" noGrp="1"/>
          </p:cNvSpPr>
          <p:nvPr/>
        </p:nvSpPr>
        <p:spPr>
          <a:xfrm xmlns:a="http://schemas.openxmlformats.org/drawingml/2006/main">
            <a:off x="5572125" y="393382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https://airtable.com/developers/web/api/introduction</a:t>
            </a:r>
          </a:p>
        </p:txBody>
      </p:sp>
      <p:sp>
        <p:nvSpPr>
          <p:cNvPr id="8" name="">
            <a:extLst xmlns:a="http://schemas.openxmlformats.org/drawingml/2006/main">
              <a:ext uri="{FF2B5EF4-FFF2-40B4-BE49-F238E27FC236}">
                <a16:creationId xmlns:a16="http://schemas.microsoft.com/office/drawing/2014/main" id="{EC8D1B8B-9CBE-4F1F-8266-33ECAC4E5250}"/>
              </a:ext>
            </a:extLst>
          </p:cNvPr>
          <p:cNvSpPr>
            <a:spLocks xmlns:a="http://schemas.openxmlformats.org/drawingml/2006/main" noGrp="1"/>
          </p:cNvSpPr>
          <p:nvPr/>
        </p:nvSpPr>
        <p:spPr>
          <a:xfrm xmlns:a="http://schemas.openxmlformats.org/drawingml/2006/main">
            <a:off x="1381125" y="491490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Groq</a:t>
            </a:r>
          </a:p>
        </p:txBody>
      </p:sp>
      <p:sp>
        <p:nvSpPr>
          <p:cNvPr id="9" name="">
            <a:extLst xmlns:a="http://schemas.openxmlformats.org/drawingml/2006/main">
              <a:ext uri="{FF2B5EF4-FFF2-40B4-BE49-F238E27FC236}">
                <a16:creationId xmlns:a16="http://schemas.microsoft.com/office/drawing/2014/main" id="{5B6FF680-7121-41E9-BB67-4BC2D25939A5}"/>
              </a:ext>
            </a:extLst>
          </p:cNvPr>
          <p:cNvSpPr>
            <a:spLocks xmlns:a="http://schemas.openxmlformats.org/drawingml/2006/main" noGrp="1"/>
          </p:cNvSpPr>
          <p:nvPr/>
        </p:nvSpPr>
        <p:spPr>
          <a:xfrm xmlns:a="http://schemas.openxmlformats.org/drawingml/2006/main">
            <a:off x="5572125" y="491490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https://console.groq.com/docs/overview</a:t>
            </a:r>
          </a:p>
        </p:txBody>
      </p:sp>
      <p:sp>
        <p:nvSpPr>
          <p:cNvPr id="10" name="">
            <a:extLst xmlns:a="http://schemas.openxmlformats.org/drawingml/2006/main">
              <a:ext uri="{FF2B5EF4-FFF2-40B4-BE49-F238E27FC236}">
                <a16:creationId xmlns:a16="http://schemas.microsoft.com/office/drawing/2014/main" id="{20F2ACB5-F930-46CA-92D6-F56AEED5BA13}"/>
              </a:ext>
            </a:extLst>
          </p:cNvPr>
          <p:cNvSpPr>
            <a:spLocks xmlns:a="http://schemas.openxmlformats.org/drawingml/2006/main" noGrp="1"/>
          </p:cNvSpPr>
          <p:nvPr/>
        </p:nvSpPr>
        <p:spPr>
          <a:xfrm xmlns:a="http://schemas.openxmlformats.org/drawingml/2006/main">
            <a:off x="1381125" y="589597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Streamlit</a:t>
            </a:r>
          </a:p>
        </p:txBody>
      </p:sp>
      <p:sp>
        <p:nvSpPr>
          <p:cNvPr id="11" name="">
            <a:extLst xmlns:a="http://schemas.openxmlformats.org/drawingml/2006/main">
              <a:ext uri="{FF2B5EF4-FFF2-40B4-BE49-F238E27FC236}">
                <a16:creationId xmlns:a16="http://schemas.microsoft.com/office/drawing/2014/main" id="{4DA247B4-E521-4585-9653-6FD52F51CEFA}"/>
              </a:ext>
            </a:extLst>
          </p:cNvPr>
          <p:cNvSpPr>
            <a:spLocks xmlns:a="http://schemas.openxmlformats.org/drawingml/2006/main" noGrp="1"/>
          </p:cNvSpPr>
          <p:nvPr/>
        </p:nvSpPr>
        <p:spPr>
          <a:xfrm xmlns:a="http://schemas.openxmlformats.org/drawingml/2006/main">
            <a:off x="5572125" y="58959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https://docs.streamlit.io/</a:t>
            </a:r>
          </a:p>
        </p:txBody>
      </p:sp>
      <p:sp>
        <p:nvSpPr>
          <p:cNvPr id="12" name="">
            <a:extLst xmlns:a="http://schemas.openxmlformats.org/drawingml/2006/main">
              <a:ext uri="{FF2B5EF4-FFF2-40B4-BE49-F238E27FC236}">
                <a16:creationId xmlns:a16="http://schemas.microsoft.com/office/drawing/2014/main" id="{2E5526A7-42DE-4353-A24F-607770C2716F}"/>
              </a:ext>
            </a:extLst>
          </p:cNvPr>
          <p:cNvSpPr>
            <a:spLocks xmlns:a="http://schemas.openxmlformats.org/drawingml/2006/main" noGrp="1"/>
          </p:cNvSpPr>
          <p:nvPr/>
        </p:nvSpPr>
        <p:spPr>
          <a:xfrm xmlns:a="http://schemas.openxmlformats.org/drawingml/2006/main">
            <a:off x="1381125" y="68770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ReportLab</a:t>
            </a:r>
          </a:p>
        </p:txBody>
      </p:sp>
      <p:sp>
        <p:nvSpPr>
          <p:cNvPr id="13" name="">
            <a:extLst xmlns:a="http://schemas.openxmlformats.org/drawingml/2006/main">
              <a:ext uri="{FF2B5EF4-FFF2-40B4-BE49-F238E27FC236}">
                <a16:creationId xmlns:a16="http://schemas.microsoft.com/office/drawing/2014/main" id="{5E62DFF3-3F65-48B3-BB55-84F2375743A2}"/>
              </a:ext>
            </a:extLst>
          </p:cNvPr>
          <p:cNvSpPr>
            <a:spLocks xmlns:a="http://schemas.openxmlformats.org/drawingml/2006/main" noGrp="1"/>
          </p:cNvSpPr>
          <p:nvPr/>
        </p:nvSpPr>
        <p:spPr>
          <a:xfrm xmlns:a="http://schemas.openxmlformats.org/drawingml/2006/main">
            <a:off x="5572125" y="68770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https://docs.reportlab.com/</a:t>
            </a:r>
          </a:p>
        </p:txBody>
      </p:sp>
      <p:sp>
        <p:nvSpPr>
          <p:cNvPr id="14" name="">
            <a:extLst xmlns:a="http://schemas.openxmlformats.org/drawingml/2006/main">
              <a:ext uri="{FF2B5EF4-FFF2-40B4-BE49-F238E27FC236}">
                <a16:creationId xmlns:a16="http://schemas.microsoft.com/office/drawing/2014/main" id="{E6F1B851-FC2C-4933-B31B-CD3591BA8074}"/>
              </a:ext>
            </a:extLst>
          </p:cNvPr>
          <p:cNvSpPr>
            <a:spLocks xmlns:a="http://schemas.openxmlformats.org/drawingml/2006/main" noGrp="1"/>
          </p:cNvSpPr>
          <p:nvPr/>
        </p:nvSpPr>
        <p:spPr>
          <a:xfrm xmlns:a="http://schemas.openxmlformats.org/drawingml/2006/main">
            <a:off x="1381125" y="8239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Documentation interne : rapport de stage et code source du projet ADG-10.</a:t>
            </a:r>
          </a:p>
        </p:txBody>
      </p:sp>
    </p:spTree>
    <p:extLst>
      <p:ext uri="{BB962C8B-B14F-4D97-AF65-F5344CB8AC3E}">
        <p14:creationId xmlns:p14="http://schemas.microsoft.com/office/powerpoint/2010/main" val="1531569876"/>
      </p:ext>
    </p:extLst>
  </p:cSld>
  <p:transition spd="med" advClick="1">
    <p:push dir="l"/>
  </p:transition>
</p:sld>
</file>

<file path=ppt/slides/slide24.xml><?xml version="1.0" encoding="utf-8"?>
<p:sld xmlns:p="http://schemas.openxmlformats.org/presentationml/2006/main">
  <p:cSld>
    <p:bg>
      <p:bgPr>
        <a:solidFill xmlns:a="http://schemas.openxmlformats.org/drawingml/2006/main">
          <a:srgbClr val="F3F0E2"/>
        </a:solidFill>
      </p:bgPr>
    </p:bg>
    <p:spTree>
      <p:nvGrpSpPr>
        <p:cNvPr id="1" name=""/>
        <p:cNvGrpSpPr/>
        <p:nvPr/>
      </p:nvGrpSpPr>
      <p:grpSpPr>
        <a:xfrm xmlns:a="http://schemas.openxmlformats.org/drawingml/2006/main"/>
      </p:grpSpPr>
      <p:pic>
        <p:nvPicPr>
          <p:cNvPr id="2000" name="" descr="Illustration conceptuelle du suivi des prospects, des échanges et des documents commerciaux"/>
          <p:cNvPicPr>
            <a:picLocks xmlns:a="http://schemas.openxmlformats.org/drawingml/2006/main" noChangeAspect="1"/>
          </p:cNvPicPr>
          <p:nvPr/>
        </p:nvPicPr>
        <p:blipFill>
          <a:blip xmlns:r="http://schemas.openxmlformats.org/officeDocument/2006/relationships" xmlns:a="http://schemas.openxmlformats.org/drawingml/2006/main" r:embed="rIdWorkflowBg"/>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6F27DC-3E25-405C-9002-AEB54EA16A25}"/>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5BFC45D1-55DA-4B7A-A77F-8EB7106797AE}"/>
              </a:ext>
            </a:extLst>
          </p:cNvPr>
          <p:cNvSpPr>
            <a:spLocks xmlns:a="http://schemas.openxmlformats.org/drawingml/2006/main" noGrp="1"/>
          </p:cNvSpPr>
          <p:nvPr/>
        </p:nvSpPr>
        <p:spPr>
          <a:xfrm xmlns:a="http://schemas.openxmlformats.org/drawingml/2006/main">
            <a:off x="14382750" y="96964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414548"/>
                </a:solidFill>
                <a:latin typeface="Calibri"/>
                <a:ea typeface="Calibri"/>
                <a:cs typeface="Calibri"/>
              </a:defRPr>
            </a:pPr>
            <a:r>
              <a:rPr sz="1650" b="1">
                <a:solidFill>
                  <a:srgbClr val="414548"/>
                </a:solidFill>
                <a:latin typeface="Calibri"/>
                <a:ea typeface="Calibri"/>
                <a:cs typeface="Calibri"/>
              </a:rPr>
              <a:t>24 / 24</a:t>
            </a:r>
          </a:p>
        </p:txBody>
      </p:sp>
      <p:sp>
        <p:nvSpPr>
          <p:cNvPr id="3" name="">
            <a:extLst xmlns:a="http://schemas.openxmlformats.org/drawingml/2006/main">
              <a:ext uri="{FF2B5EF4-FFF2-40B4-BE49-F238E27FC236}">
                <a16:creationId xmlns:a16="http://schemas.microsoft.com/office/drawing/2014/main" id="{FCAFFE07-67AE-40F0-A956-2928045D4FA1}"/>
              </a:ext>
            </a:extLst>
          </p:cNvPr>
          <p:cNvSpPr>
            <a:spLocks xmlns:a="http://schemas.openxmlformats.org/drawingml/2006/main" noGrp="1"/>
          </p:cNvSpPr>
          <p:nvPr/>
        </p:nvSpPr>
        <p:spPr>
          <a:xfrm xmlns:a="http://schemas.openxmlformats.org/drawingml/2006/main">
            <a:off x="952500" y="3429000"/>
            <a:ext cx="10668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7200" b="1">
                <a:solidFill>
                  <a:srgbClr val="414548"/>
                </a:solidFill>
                <a:latin typeface="Calibri"/>
                <a:ea typeface="Calibri"/>
                <a:cs typeface="Calibri"/>
              </a:defRPr>
            </a:pPr>
            <a:r>
              <a:rPr sz="7200" b="1">
                <a:solidFill>
                  <a:srgbClr val="414548"/>
                </a:solidFill>
                <a:latin typeface="Calibri"/>
                <a:ea typeface="Calibri"/>
                <a:cs typeface="Calibri"/>
              </a:rPr>
              <a:t>Merci pour</a:t>
            </a:r>
          </a:p>
          <a:p xmlns:a="http://schemas.openxmlformats.org/drawingml/2006/main">
            <a:pPr>
              <a:defRPr sz="7200" b="1">
                <a:solidFill>
                  <a:srgbClr val="414548"/>
                </a:solidFill>
                <a:latin typeface="Calibri"/>
                <a:ea typeface="Calibri"/>
                <a:cs typeface="Calibri"/>
              </a:defRPr>
            </a:pPr>
            <a:r>
              <a:rPr sz="7200" b="1">
                <a:solidFill>
                  <a:srgbClr val="414548"/>
                </a:solidFill>
                <a:latin typeface="Calibri"/>
                <a:ea typeface="Calibri"/>
                <a:cs typeface="Calibri"/>
              </a:rPr>
              <a:t>votre attention</a:t>
            </a:r>
          </a:p>
        </p:txBody>
      </p:sp>
      <p:sp>
        <p:nvSpPr>
          <p:cNvPr id="4" name="">
            <a:extLst xmlns:a="http://schemas.openxmlformats.org/drawingml/2006/main">
              <a:ext uri="{FF2B5EF4-FFF2-40B4-BE49-F238E27FC236}">
                <a16:creationId xmlns:a16="http://schemas.microsoft.com/office/drawing/2014/main" id="{A4163291-65F3-4611-9C24-C8E0A3CFE4FE}"/>
              </a:ext>
            </a:extLst>
          </p:cNvPr>
          <p:cNvSpPr>
            <a:spLocks xmlns:a="http://schemas.openxmlformats.org/drawingml/2006/main" noGrp="1"/>
          </p:cNvSpPr>
          <p:nvPr/>
        </p:nvSpPr>
        <p:spPr>
          <a:xfrm xmlns:a="http://schemas.openxmlformats.org/drawingml/2006/main">
            <a:off x="1000125" y="63341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3300" b="0">
                <a:solidFill>
                  <a:srgbClr val="A65A43"/>
                </a:solidFill>
                <a:latin typeface="Calibri"/>
                <a:ea typeface="Calibri"/>
                <a:cs typeface="Calibri"/>
              </a:defRPr>
            </a:pPr>
            <a:r>
              <a:rPr sz="3300" b="0">
                <a:solidFill>
                  <a:srgbClr val="A65A43"/>
                </a:solidFill>
                <a:latin typeface="Calibri"/>
                <a:ea typeface="Calibri"/>
                <a:cs typeface="Calibri"/>
              </a:rPr>
              <a:t>Questions et échanges</a:t>
            </a:r>
          </a:p>
        </p:txBody>
      </p:sp>
    </p:spTree>
    <p:extLst>
      <p:ext uri="{BB962C8B-B14F-4D97-AF65-F5344CB8AC3E}">
        <p14:creationId xmlns:p14="http://schemas.microsoft.com/office/powerpoint/2010/main" val="1914626176"/>
      </p:ext>
    </p:extLst>
  </p:cSld>
  <p:transition spd="med" advClick="1">
    <p:push dir="l"/>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3528</Words>
  <Application>Microsoft Office PowerPoint</Application>
  <DocSecurity>0</DocSecurity>
  <PresentationFormat>Personnalisé</PresentationFormat>
  <Paragraphs>415</Paragraphs>
  <Slides>24</Slides>
  <Notes>22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22</vt:i4>
      </vt:variant>
    </vt:vector>
  </HeadingPairs>
  <TitlesOfParts>
    <vt:vector size="24" baseType="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yassine fa</cp:lastModifiedBy>
  <cp:revision>5</cp:revision>
  <dcterms:created xsi:type="dcterms:W3CDTF">2026-09-23T20:34:58Z</dcterms:created>
  <dcterms:modified xsi:type="dcterms:W3CDTF">2026-09-26T18:59:09Z</dcterms:modified>
</cp:coreProperties>
</file>