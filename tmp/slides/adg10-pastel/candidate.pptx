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C97345"/>
            </a:solidFill>
          </c:spPr>
          <c:invertIfNegative val="1"/>
          <c:dLbls>
            <c:spPr>
              <a:noFill/>
              <a:ln>
                <a:noFill/>
              </a:ln>
              <a:effectLst/>
            </c:spPr>
            <c:txPr>
              <a:bodyPr anchorCtr="1"/>
              <a:lstStyle/>
              <a:p>
                <a:pPr>
                  <a:defRPr sz="2250">
                    <a:solidFill>
                      <a:srgbClr val="17283E"/>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17283E"/>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91ACCE"/>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17283E"/>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17283E"/>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CBDCF0"/>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PastelBg" Type="http://schemas.openxmlformats.org/officeDocument/2006/relationships/image" Target="../media/pastel-background.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PastelBg" Type="http://schemas.openxmlformats.org/officeDocument/2006/relationships/image" Target="../media/pastel-background.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PastelBg" Type="http://schemas.openxmlformats.org/officeDocument/2006/relationships/image" Target="../media/pastel-background.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095500"/>
            <a:ext cx="10477500" cy="619125"/>
          </a:xfrm>
          <a:prstGeom prst="rect">
            <a:avLst/>
          </a:prstGeom>
          <a:noFill/>
          <a:ln w="0">
            <a:noFill/>
          </a:ln>
        </p:spPr>
        <p:txBody>
          <a:bodyPr wrap="square" lIns="0" tIns="0" rIns="0" bIns="0" anchor="ctr">
            <a:noAutofit/>
          </a:bodyPr>
          <a:lstStyle/>
          <a:p>
            <a:pPr algn="l">
              <a:defRPr sz="2250" b="1">
                <a:solidFill>
                  <a:srgbClr val="405675"/>
                </a:solidFill>
                <a:latin typeface="Calibri"/>
                <a:ea typeface="Calibri"/>
                <a:cs typeface="Calibri"/>
              </a:defRPr>
            </a:pPr>
            <a:r>
              <a:rPr sz="2250" b="1">
                <a:solidFill>
                  <a:srgbClr val="405675"/>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04875" y="3190875"/>
            <a:ext cx="9525000" cy="1571625"/>
          </a:xfrm>
          <a:prstGeom prst="rect">
            <a:avLst/>
          </a:prstGeom>
          <a:noFill/>
          <a:ln w="0">
            <a:noFill/>
          </a:ln>
        </p:spPr>
        <p:txBody>
          <a:bodyPr wrap="square" lIns="0" tIns="0" rIns="0" bIns="0" anchor="ctr">
            <a:noAutofit/>
          </a:bodyPr>
          <a:lstStyle/>
          <a:p>
            <a:pPr algn="l">
              <a:defRPr sz="10200" b="1">
                <a:solidFill>
                  <a:srgbClr val="17283E"/>
                </a:solidFill>
                <a:latin typeface="Calibri"/>
                <a:ea typeface="Calibri"/>
                <a:cs typeface="Calibri"/>
              </a:defRPr>
            </a:pPr>
            <a:r>
              <a:rPr sz="10200" b="1">
                <a:solidFill>
                  <a:srgbClr val="17283E"/>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4953000"/>
            <a:ext cx="9525000" cy="1571625"/>
          </a:xfrm>
          <a:prstGeom prst="rect">
            <a:avLst/>
          </a:prstGeom>
          <a:noFill/>
          <a:ln w="0">
            <a:noFill/>
          </a:ln>
        </p:spPr>
        <p:txBody>
          <a:bodyPr wrap="square" lIns="0" tIns="0" rIns="0" bIns="0" anchor="ctr">
            <a:noAutofit/>
          </a:bodyPr>
          <a:lstStyle/>
          <a:p>
            <a:pPr algn="l">
              <a:defRPr sz="4500" b="1">
                <a:solidFill>
                  <a:srgbClr val="17283E"/>
                </a:solidFill>
                <a:latin typeface="Calibri"/>
                <a:ea typeface="Calibri"/>
                <a:cs typeface="Calibri"/>
              </a:defRPr>
            </a:pPr>
            <a:r>
              <a:rPr sz="4500" b="1">
                <a:solidFill>
                  <a:srgbClr val="17283E"/>
                </a:solidFill>
                <a:latin typeface="Calibri"/>
                <a:ea typeface="Calibri"/>
                <a:cs typeface="Calibri"/>
              </a:rPr>
              <a:t>Automatisation du cycle</a:t>
            </a:r>
          </a:p>
          <a:p>
            <a:pPr algn="l">
              <a:defRPr sz="4500" b="1">
                <a:solidFill>
                  <a:srgbClr val="17283E"/>
                </a:solidFill>
                <a:latin typeface="Calibri"/>
                <a:ea typeface="Calibri"/>
                <a:cs typeface="Calibri"/>
              </a:defRPr>
            </a:pPr>
            <a:r>
              <a:rPr sz="4500" b="1">
                <a:solidFill>
                  <a:srgbClr val="17283E"/>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429500"/>
            <a:ext cx="10382250" cy="476250"/>
          </a:xfrm>
          <a:prstGeom prst="rect">
            <a:avLst/>
          </a:prstGeom>
          <a:noFill/>
          <a:ln w="0">
            <a:noFill/>
          </a:ln>
        </p:spPr>
        <p:txBody>
          <a:bodyPr wrap="square" lIns="0" tIns="0" rIns="0" bIns="0" anchor="ctr">
            <a:noAutofit/>
          </a:bodyPr>
          <a:lstStyle/>
          <a:p>
            <a:pPr algn="l">
              <a:defRPr sz="2475" b="0">
                <a:solidFill>
                  <a:srgbClr val="17283E"/>
                </a:solidFill>
                <a:latin typeface="Calibri"/>
                <a:ea typeface="Calibri"/>
                <a:cs typeface="Calibri"/>
              </a:defRPr>
            </a:pPr>
            <a:r>
              <a:rPr sz="2475" b="0" dirty="0" err="1">
                <a:solidFill>
                  <a:srgbClr val="17283E"/>
                </a:solidFill>
                <a:latin typeface="Calibri"/>
                <a:ea typeface="Calibri"/>
                <a:cs typeface="Calibri"/>
              </a:rPr>
              <a:t>Présenté</a:t>
            </a:r>
            <a:r>
              <a:rPr sz="2475" b="0" dirty="0">
                <a:solidFill>
                  <a:srgbClr val="17283E"/>
                </a:solidFill>
                <a:latin typeface="Calibri"/>
                <a:ea typeface="Calibri"/>
                <a:cs typeface="Calibri"/>
              </a:rPr>
              <a:t> par </a:t>
            </a:r>
            <a:r>
              <a:rPr lang="en-GB" sz="2475" b="0" dirty="0">
                <a:solidFill>
                  <a:srgbClr val="17283E"/>
                </a:solidFill>
                <a:latin typeface="Calibri"/>
                <a:ea typeface="Calibri"/>
                <a:cs typeface="Calibri"/>
              </a:rPr>
              <a:t>:</a:t>
            </a:r>
          </a:p>
          <a:p>
            <a:pPr algn="l">
              <a:defRPr sz="2475" b="0">
                <a:solidFill>
                  <a:srgbClr val="17283E"/>
                </a:solidFill>
                <a:latin typeface="Calibri"/>
                <a:ea typeface="Calibri"/>
                <a:cs typeface="Calibri"/>
              </a:defRPr>
            </a:pPr>
            <a:r>
              <a:rPr sz="2475" b="0" dirty="0">
                <a:solidFill>
                  <a:srgbClr val="17283E"/>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048625"/>
            <a:ext cx="10382250" cy="1190625"/>
          </a:xfrm>
          <a:prstGeom prst="rect">
            <a:avLst/>
          </a:prstGeom>
          <a:noFill/>
          <a:ln w="0">
            <a:noFill/>
          </a:ln>
        </p:spPr>
        <p:txBody>
          <a:bodyPr wrap="square" lIns="0" tIns="0" rIns="0" bIns="0" anchor="ctr">
            <a:noAutofit/>
          </a:bodyPr>
          <a:lstStyle/>
          <a:p>
            <a:pPr lvl="0"/>
            <a:r>
              <a:rPr lang="fr-FR" sz="2180" dirty="0">
                <a:solidFill>
                  <a:schemeClr val="bg1"/>
                </a:solidFill>
              </a:rPr>
              <a:t>Encadré par :</a:t>
            </a:r>
            <a:endParaRPr lang="en-GB" sz="2180" dirty="0">
              <a:solidFill>
                <a:schemeClr val="bg1"/>
              </a:solidFill>
            </a:endParaRPr>
          </a:p>
          <a:p>
            <a:pPr algn="l">
              <a:defRPr sz="2175" b="0">
                <a:solidFill>
                  <a:srgbClr val="17283E"/>
                </a:solidFill>
                <a:latin typeface="Calibri"/>
                <a:ea typeface="Calibri"/>
                <a:cs typeface="Calibri"/>
              </a:defRPr>
            </a:pPr>
            <a:r>
              <a:rPr sz="2175" b="0" dirty="0">
                <a:solidFill>
                  <a:srgbClr val="17283E"/>
                </a:solidFill>
                <a:latin typeface="Calibri"/>
                <a:ea typeface="Calibri"/>
                <a:cs typeface="Calibri"/>
              </a:rPr>
              <a:t>AZOUGUIGH El </a:t>
            </a:r>
            <a:r>
              <a:rPr sz="2175" b="0" dirty="0" err="1">
                <a:solidFill>
                  <a:srgbClr val="17283E"/>
                </a:solidFill>
                <a:latin typeface="Calibri"/>
                <a:ea typeface="Calibri"/>
                <a:cs typeface="Calibri"/>
              </a:rPr>
              <a:t>Houssaine</a:t>
            </a:r>
            <a:endParaRPr sz="2175" b="0" dirty="0">
              <a:solidFill>
                <a:srgbClr val="17283E"/>
              </a:solidFill>
              <a:latin typeface="Calibri"/>
              <a:ea typeface="Calibri"/>
              <a:cs typeface="Calibri"/>
            </a:endParaRPr>
          </a:p>
          <a:p>
            <a:pPr algn="l">
              <a:defRPr sz="2175" b="0">
                <a:solidFill>
                  <a:srgbClr val="17283E"/>
                </a:solidFill>
                <a:latin typeface="Calibri"/>
                <a:ea typeface="Calibri"/>
                <a:cs typeface="Calibri"/>
              </a:defRPr>
            </a:pPr>
            <a:r>
              <a:rPr sz="2175" b="0" dirty="0">
                <a:solidFill>
                  <a:srgbClr val="17283E"/>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591675"/>
            <a:ext cx="6667500" cy="381000"/>
          </a:xfrm>
          <a:prstGeom prst="rect">
            <a:avLst/>
          </a:prstGeom>
          <a:noFill/>
          <a:ln w="0">
            <a:noFill/>
          </a:ln>
        </p:spPr>
        <p:txBody>
          <a:bodyPr wrap="square" lIns="0" tIns="0" rIns="0" bIns="0" anchor="ctr">
            <a:noAutofit/>
          </a:bodyPr>
          <a:lstStyle/>
          <a:p>
            <a:pPr algn="l">
              <a:defRPr sz="1950" b="0">
                <a:solidFill>
                  <a:srgbClr val="405675"/>
                </a:solidFill>
                <a:latin typeface="Calibri"/>
                <a:ea typeface="Calibri"/>
                <a:cs typeface="Calibri"/>
              </a:defRPr>
            </a:pPr>
            <a:r>
              <a:rPr sz="1950" b="0">
                <a:solidFill>
                  <a:srgbClr val="405675"/>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010128"/>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997227"/>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17283E"/>
                </a:solidFill>
                <a:latin typeface="Calibri"/>
                <a:ea typeface="Calibri"/>
                <a:cs typeface="Calibri"/>
              </a:defRPr>
            </a:pPr>
            <a:r>
              <a:rPr sz="5250" b="1">
                <a:solidFill>
                  <a:srgbClr val="17283E"/>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1000125" y="338137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2095500" y="338137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1000125" y="442912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2095500" y="442912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1000125" y="547687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2095500" y="547687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000125" y="652462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2095500" y="652462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000125" y="7572375"/>
            <a:ext cx="857250" cy="742950"/>
          </a:xfrm>
          <a:prstGeom prst="rect">
            <a:avLst/>
          </a:prstGeom>
          <a:noFill/>
          <a:ln w="0">
            <a:noFill/>
          </a:ln>
        </p:spPr>
        <p:txBody>
          <a:bodyPr wrap="square" lIns="0" tIns="0" rIns="0" bIns="0" anchor="ctr">
            <a:noAutofit/>
          </a:bodyPr>
          <a:lstStyle/>
          <a:p>
            <a:pPr algn="l">
              <a:defRPr sz="2700" b="1">
                <a:solidFill>
                  <a:srgbClr val="9B420B"/>
                </a:solidFill>
                <a:latin typeface="Calibri"/>
                <a:ea typeface="Calibri"/>
                <a:cs typeface="Calibri"/>
              </a:defRPr>
            </a:pPr>
            <a:r>
              <a:rPr sz="2700" b="1">
                <a:solidFill>
                  <a:srgbClr val="9B420B"/>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2095500" y="7572375"/>
            <a:ext cx="8572500" cy="742950"/>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Comment assurer un suivi cohérent</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190625" y="3190875"/>
            <a:ext cx="571500" cy="160020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1857375" y="3190875"/>
            <a:ext cx="12287250" cy="1600200"/>
          </a:xfrm>
          <a:prstGeom prst="rect">
            <a:avLst/>
          </a:prstGeom>
          <a:noFill/>
          <a:ln w="0">
            <a:noFill/>
          </a:ln>
        </p:spPr>
        <p:txBody>
          <a:bodyPr wrap="square" lIns="0" tIns="0" rIns="0" bIns="0" anchor="ctr">
            <a:noAutofit/>
          </a:bodyPr>
          <a:lstStyle/>
          <a:p>
            <a:pPr algn="l">
              <a:defRPr sz="3225" b="0">
                <a:solidFill>
                  <a:srgbClr val="17283E"/>
                </a:solidFill>
                <a:latin typeface="Calibri"/>
                <a:ea typeface="Calibri"/>
                <a:cs typeface="Calibri"/>
              </a:defRPr>
            </a:pPr>
            <a:r>
              <a:rPr sz="3225" b="0">
                <a:solidFill>
                  <a:srgbClr val="17283E"/>
                </a:solidFill>
                <a:latin typeface="Calibri"/>
                <a:ea typeface="Calibri"/>
                <a:cs typeface="Calibri"/>
              </a:rPr>
              <a:t>ADBCENTER LOGISPLAN, dans l’environnement</a:t>
            </a:r>
          </a:p>
          <a:p>
            <a:pPr algn="l">
              <a:defRPr sz="3225" b="0">
                <a:solidFill>
                  <a:srgbClr val="17283E"/>
                </a:solidFill>
                <a:latin typeface="Calibri"/>
                <a:ea typeface="Calibri"/>
                <a:cs typeface="Calibri"/>
              </a:defRPr>
            </a:pPr>
            <a:r>
              <a:rPr sz="3225" b="0">
                <a:solidFill>
                  <a:srgbClr val="17283E"/>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190625" y="4933950"/>
            <a:ext cx="571500" cy="160020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1857375" y="4933950"/>
            <a:ext cx="12287250" cy="1600200"/>
          </a:xfrm>
          <a:prstGeom prst="rect">
            <a:avLst/>
          </a:prstGeom>
          <a:noFill/>
          <a:ln w="0">
            <a:noFill/>
          </a:ln>
        </p:spPr>
        <p:txBody>
          <a:bodyPr wrap="square" lIns="0" tIns="0" rIns="0" bIns="0" anchor="ctr">
            <a:noAutofit/>
          </a:bodyPr>
          <a:lstStyle/>
          <a:p>
            <a:pPr algn="l">
              <a:defRPr sz="3225" b="0">
                <a:solidFill>
                  <a:srgbClr val="17283E"/>
                </a:solidFill>
                <a:latin typeface="Calibri"/>
                <a:ea typeface="Calibri"/>
                <a:cs typeface="Calibri"/>
              </a:defRPr>
            </a:pPr>
            <a:r>
              <a:rPr sz="3225" b="0">
                <a:solidFill>
                  <a:srgbClr val="17283E"/>
                </a:solidFill>
                <a:latin typeface="Calibri"/>
                <a:ea typeface="Calibri"/>
                <a:cs typeface="Calibri"/>
              </a:rPr>
              <a:t>Activité : formation et accompagnement professionnel</a:t>
            </a:r>
          </a:p>
          <a:p>
            <a:pPr algn="l">
              <a:defRPr sz="3225" b="0">
                <a:solidFill>
                  <a:srgbClr val="17283E"/>
                </a:solidFill>
                <a:latin typeface="Calibri"/>
                <a:ea typeface="Calibri"/>
                <a:cs typeface="Calibri"/>
              </a:defRPr>
            </a:pPr>
            <a:r>
              <a:rPr sz="3225" b="0">
                <a:solidFill>
                  <a:srgbClr val="17283E"/>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190625" y="6677025"/>
            <a:ext cx="571500" cy="160020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1857375" y="6677025"/>
            <a:ext cx="12287250" cy="1600200"/>
          </a:xfrm>
          <a:prstGeom prst="rect">
            <a:avLst/>
          </a:prstGeom>
          <a:noFill/>
          <a:ln w="0">
            <a:noFill/>
          </a:ln>
        </p:spPr>
        <p:txBody>
          <a:bodyPr wrap="square" lIns="0" tIns="0" rIns="0" bIns="0" anchor="ctr">
            <a:noAutofit/>
          </a:bodyPr>
          <a:lstStyle/>
          <a:p>
            <a:pPr algn="l">
              <a:defRPr sz="3225" b="0">
                <a:solidFill>
                  <a:srgbClr val="17283E"/>
                </a:solidFill>
                <a:latin typeface="Calibri"/>
                <a:ea typeface="Calibri"/>
                <a:cs typeface="Calibri"/>
              </a:defRPr>
            </a:pPr>
            <a:r>
              <a:rPr sz="3225" b="0">
                <a:solidFill>
                  <a:srgbClr val="17283E"/>
                </a:solidFill>
                <a:latin typeface="Calibri"/>
                <a:ea typeface="Calibri"/>
                <a:cs typeface="Calibri"/>
              </a:rPr>
              <a:t>Besoin : retrouver les informations du prospect et</a:t>
            </a:r>
          </a:p>
          <a:p>
            <a:pPr algn="l">
              <a:defRPr sz="3225" b="0">
                <a:solidFill>
                  <a:srgbClr val="17283E"/>
                </a:solidFill>
                <a:latin typeface="Calibri"/>
                <a:ea typeface="Calibri"/>
                <a:cs typeface="Calibri"/>
              </a:defRPr>
            </a:pPr>
            <a:r>
              <a:rPr sz="3225" b="0">
                <a:solidFill>
                  <a:srgbClr val="17283E"/>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Contexte général</a:t>
            </a:r>
          </a:p>
          <a:p>
            <a:pPr algn="l">
              <a:defRPr sz="5850" b="1">
                <a:solidFill>
                  <a:srgbClr val="17283E"/>
                </a:solidFill>
                <a:latin typeface="Calibri"/>
                <a:ea typeface="Calibri"/>
                <a:cs typeface="Calibri"/>
              </a:defRPr>
            </a:pPr>
            <a:r>
              <a:rPr sz="5850" b="1">
                <a:solidFill>
                  <a:srgbClr val="17283E"/>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Des tâches répétitives à structurer</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dirty="0" err="1">
                <a:solidFill>
                  <a:srgbClr val="17283E"/>
                </a:solidFill>
                <a:latin typeface="Calibri"/>
                <a:ea typeface="Calibri"/>
                <a:cs typeface="Calibri"/>
              </a:rPr>
              <a:t>Problématique</a:t>
            </a:r>
            <a:r>
              <a:rPr lang="en-GB" sz="4650" b="1" dirty="0">
                <a:solidFill>
                  <a:srgbClr val="17283E"/>
                </a:solidFill>
                <a:latin typeface="Calibri"/>
                <a:ea typeface="Calibri"/>
                <a:cs typeface="Calibri"/>
              </a:rPr>
              <a:t>s</a:t>
            </a:r>
            <a:endParaRPr sz="4650" b="1" dirty="0">
              <a:solidFill>
                <a:srgbClr val="17283E"/>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190625" y="3667125"/>
            <a:ext cx="571500" cy="14192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1857375" y="3667125"/>
            <a:ext cx="12287250" cy="1419225"/>
          </a:xfrm>
          <a:prstGeom prst="rect">
            <a:avLst/>
          </a:prstGeom>
          <a:noFill/>
          <a:ln w="0">
            <a:noFill/>
          </a:ln>
        </p:spPr>
        <p:txBody>
          <a:bodyPr wrap="square" lIns="0" tIns="0" rIns="0" bIns="0" anchor="ctr">
            <a:noAutofit/>
          </a:bodyPr>
          <a:lstStyle/>
          <a:p>
            <a:pPr algn="l">
              <a:defRPr sz="3375" b="0">
                <a:solidFill>
                  <a:srgbClr val="17283E"/>
                </a:solidFill>
                <a:latin typeface="Calibri"/>
                <a:ea typeface="Calibri"/>
                <a:cs typeface="Calibri"/>
              </a:defRPr>
            </a:pPr>
            <a:r>
              <a:rPr sz="3375" b="0">
                <a:solidFill>
                  <a:srgbClr val="17283E"/>
                </a:solidFill>
                <a:latin typeface="Calibri"/>
                <a:ea typeface="Calibri"/>
                <a:cs typeface="Calibri"/>
              </a:rPr>
              <a:t>Des informations réparties entre le CRM,</a:t>
            </a:r>
          </a:p>
          <a:p>
            <a:pPr algn="l">
              <a:defRPr sz="3375" b="0">
                <a:solidFill>
                  <a:srgbClr val="17283E"/>
                </a:solidFill>
                <a:latin typeface="Calibri"/>
                <a:ea typeface="Calibri"/>
                <a:cs typeface="Calibri"/>
              </a:defRPr>
            </a:pPr>
            <a:r>
              <a:rPr sz="3375" b="0">
                <a:solidFill>
                  <a:srgbClr val="17283E"/>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190625" y="5229225"/>
            <a:ext cx="571500" cy="14192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1857375" y="5229225"/>
            <a:ext cx="12287250" cy="1419225"/>
          </a:xfrm>
          <a:prstGeom prst="rect">
            <a:avLst/>
          </a:prstGeom>
          <a:noFill/>
          <a:ln w="0">
            <a:noFill/>
          </a:ln>
        </p:spPr>
        <p:txBody>
          <a:bodyPr wrap="square" lIns="0" tIns="0" rIns="0" bIns="0" anchor="ctr">
            <a:noAutofit/>
          </a:bodyPr>
          <a:lstStyle/>
          <a:p>
            <a:pPr algn="l">
              <a:defRPr sz="3375" b="0">
                <a:solidFill>
                  <a:srgbClr val="17283E"/>
                </a:solidFill>
                <a:latin typeface="Calibri"/>
                <a:ea typeface="Calibri"/>
                <a:cs typeface="Calibri"/>
              </a:defRPr>
            </a:pPr>
            <a:r>
              <a:rPr sz="3375" b="0">
                <a:solidFill>
                  <a:srgbClr val="17283E"/>
                </a:solidFill>
                <a:latin typeface="Calibri"/>
                <a:ea typeface="Calibri"/>
                <a:cs typeface="Calibri"/>
              </a:rPr>
              <a:t>Des relances difficiles à suivre et un risque</a:t>
            </a:r>
          </a:p>
          <a:p>
            <a:pPr algn="l">
              <a:defRPr sz="3375" b="0">
                <a:solidFill>
                  <a:srgbClr val="17283E"/>
                </a:solidFill>
                <a:latin typeface="Calibri"/>
                <a:ea typeface="Calibri"/>
                <a:cs typeface="Calibri"/>
              </a:defRPr>
            </a:pPr>
            <a:r>
              <a:rPr sz="3375" b="0">
                <a:solidFill>
                  <a:srgbClr val="17283E"/>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190625" y="6791325"/>
            <a:ext cx="571500" cy="14192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1857375" y="6791325"/>
            <a:ext cx="12287250" cy="1419225"/>
          </a:xfrm>
          <a:prstGeom prst="rect">
            <a:avLst/>
          </a:prstGeom>
          <a:noFill/>
          <a:ln w="0">
            <a:noFill/>
          </a:ln>
        </p:spPr>
        <p:txBody>
          <a:bodyPr wrap="square" lIns="0" tIns="0" rIns="0" bIns="0" anchor="ctr">
            <a:noAutofit/>
          </a:bodyPr>
          <a:lstStyle/>
          <a:p>
            <a:pPr algn="l">
              <a:defRPr sz="3375" b="0">
                <a:solidFill>
                  <a:srgbClr val="17283E"/>
                </a:solidFill>
                <a:latin typeface="Calibri"/>
                <a:ea typeface="Calibri"/>
                <a:cs typeface="Calibri"/>
              </a:defRPr>
            </a:pPr>
            <a:r>
              <a:rPr sz="3375" b="0">
                <a:solidFill>
                  <a:srgbClr val="17283E"/>
                </a:solidFill>
                <a:latin typeface="Calibri"/>
                <a:ea typeface="Calibri"/>
                <a:cs typeface="Calibri"/>
              </a:rPr>
              <a:t>Comment fiabiliser le parcours sans perdre</a:t>
            </a:r>
          </a:p>
          <a:p>
            <a:pPr algn="l">
              <a:defRPr sz="3375" b="0">
                <a:solidFill>
                  <a:srgbClr val="17283E"/>
                </a:solidFill>
                <a:latin typeface="Calibri"/>
                <a:ea typeface="Calibri"/>
                <a:cs typeface="Calibri"/>
              </a:defRPr>
            </a:pPr>
            <a:r>
              <a:rPr sz="3375" b="0">
                <a:solidFill>
                  <a:srgbClr val="17283E"/>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1190625" y="3514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857375" y="3514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1190625" y="4657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1857375" y="4657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190625" y="5800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1857375" y="5800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190625" y="6943725"/>
            <a:ext cx="571500" cy="1000125"/>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857375" y="6943725"/>
            <a:ext cx="12287250" cy="1000125"/>
          </a:xfrm>
          <a:prstGeom prst="rect">
            <a:avLst/>
          </a:prstGeom>
          <a:noFill/>
          <a:ln w="0">
            <a:noFill/>
          </a:ln>
        </p:spPr>
        <p:txBody>
          <a:bodyPr wrap="square" lIns="0" tIns="0" rIns="0" bIns="0" anchor="ctr">
            <a:noAutofit/>
          </a:bodyPr>
          <a:lstStyle/>
          <a:p>
            <a:pPr algn="l">
              <a:defRPr sz="3150" b="0">
                <a:solidFill>
                  <a:srgbClr val="17283E"/>
                </a:solidFill>
                <a:latin typeface="Calibri"/>
                <a:ea typeface="Calibri"/>
                <a:cs typeface="Calibri"/>
              </a:defRPr>
            </a:pPr>
            <a:r>
              <a:rPr sz="3150" b="0">
                <a:solidFill>
                  <a:srgbClr val="17283E"/>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9B420B"/>
                          </a:solidFill>
                          <a:latin typeface="Calibri"/>
                          <a:ea typeface="Calibri"/>
                          <a:cs typeface="Calibri"/>
                        </a:rPr>
                        <a:t>Phase</a:t>
                      </a:r>
                    </a:p>
                  </a:txBody>
                  <a:tcPr anchor="ctr">
                    <a:solidFill>
                      <a:srgbClr val="A6BDD8"/>
                    </a:solidFill>
                  </a:tcPr>
                </a:tc>
                <a:tc>
                  <a:txBody>
                    <a:bodyPr/>
                    <a:lstStyle/>
                    <a:p>
                      <a:pPr algn="ctr"/>
                      <a:r>
                        <a:rPr sz="2700" b="1">
                          <a:solidFill>
                            <a:srgbClr val="9B420B"/>
                          </a:solidFill>
                          <a:latin typeface="Calibri"/>
                          <a:ea typeface="Calibri"/>
                          <a:cs typeface="Calibri"/>
                        </a:rPr>
                        <a:t>Travaux</a:t>
                      </a:r>
                    </a:p>
                  </a:txBody>
                  <a:tcPr anchor="ctr">
                    <a:solidFill>
                      <a:srgbClr val="A6BDD8"/>
                    </a:solidFill>
                  </a:tcPr>
                </a:tc>
                <a:tc>
                  <a:txBody>
                    <a:bodyPr/>
                    <a:lstStyle/>
                    <a:p>
                      <a:pPr algn="ctr"/>
                      <a:r>
                        <a:rPr sz="2700" b="1">
                          <a:solidFill>
                            <a:srgbClr val="9B420B"/>
                          </a:solidFill>
                          <a:latin typeface="Calibri"/>
                          <a:ea typeface="Calibri"/>
                          <a:cs typeface="Calibri"/>
                        </a:rPr>
                        <a:t>Livrable</a:t>
                      </a:r>
                    </a:p>
                  </a:txBody>
                  <a:tcPr anchor="ctr">
                    <a:solidFill>
                      <a:srgbClr val="A6BDD8"/>
                    </a:solidFill>
                  </a:tcPr>
                </a:tc>
                <a:extLst>
                  <a:ext uri="{0D108BD9-81ED-4DB2-BD59-A6C34878D82A}">
                    <a16:rowId xmlns:a16="http://schemas.microsoft.com/office/drawing/2014/main" val="10000"/>
                  </a:ext>
                </a:extLst>
              </a:tr>
              <a:tr h="895350">
                <a:tc>
                  <a:txBody>
                    <a:bodyPr/>
                    <a:lstStyle/>
                    <a:p>
                      <a:pPr algn="ctr"/>
                      <a:r>
                        <a:rPr sz="2700" b="0">
                          <a:solidFill>
                            <a:srgbClr val="17283E"/>
                          </a:solidFill>
                          <a:latin typeface="Calibri"/>
                          <a:ea typeface="Calibri"/>
                          <a:cs typeface="Calibri"/>
                        </a:rPr>
                        <a:t>Cadrage</a:t>
                      </a:r>
                    </a:p>
                  </a:txBody>
                  <a:tcPr anchor="ctr">
                    <a:solidFill>
                      <a:srgbClr val="E0EAF6"/>
                    </a:solidFill>
                  </a:tcPr>
                </a:tc>
                <a:tc>
                  <a:txBody>
                    <a:bodyPr/>
                    <a:lstStyle/>
                    <a:p>
                      <a:pPr algn="ctr"/>
                      <a:r>
                        <a:rPr sz="2700" b="0">
                          <a:solidFill>
                            <a:srgbClr val="17283E"/>
                          </a:solidFill>
                          <a:latin typeface="Calibri"/>
                          <a:ea typeface="Calibri"/>
                          <a:cs typeface="Calibri"/>
                        </a:rPr>
                        <a:t>Parcours commercial et besoins</a:t>
                      </a:r>
                    </a:p>
                  </a:txBody>
                  <a:tcPr anchor="ctr">
                    <a:solidFill>
                      <a:srgbClr val="E0EAF6"/>
                    </a:solidFill>
                  </a:tcPr>
                </a:tc>
                <a:tc>
                  <a:txBody>
                    <a:bodyPr/>
                    <a:lstStyle/>
                    <a:p>
                      <a:pPr algn="ctr"/>
                      <a:r>
                        <a:rPr sz="2700" b="0">
                          <a:solidFill>
                            <a:srgbClr val="17283E"/>
                          </a:solidFill>
                          <a:latin typeface="Calibri"/>
                          <a:ea typeface="Calibri"/>
                          <a:cs typeface="Calibri"/>
                        </a:rPr>
                        <a:t>Périmètre E1 à E8</a:t>
                      </a:r>
                    </a:p>
                  </a:txBody>
                  <a:tcPr anchor="ctr">
                    <a:solidFill>
                      <a:srgbClr val="E0EAF6"/>
                    </a:solidFill>
                  </a:tcPr>
                </a:tc>
                <a:extLst>
                  <a:ext uri="{0D108BD9-81ED-4DB2-BD59-A6C34878D82A}">
                    <a16:rowId xmlns:a16="http://schemas.microsoft.com/office/drawing/2014/main" val="10001"/>
                  </a:ext>
                </a:extLst>
              </a:tr>
              <a:tr h="895350">
                <a:tc>
                  <a:txBody>
                    <a:bodyPr/>
                    <a:lstStyle/>
                    <a:p>
                      <a:pPr algn="ctr"/>
                      <a:r>
                        <a:rPr sz="2700" b="0">
                          <a:solidFill>
                            <a:srgbClr val="17283E"/>
                          </a:solidFill>
                          <a:latin typeface="Calibri"/>
                          <a:ea typeface="Calibri"/>
                          <a:cs typeface="Calibri"/>
                        </a:rPr>
                        <a:t>Conception</a:t>
                      </a:r>
                    </a:p>
                  </a:txBody>
                  <a:tcPr anchor="ctr">
                    <a:solidFill>
                      <a:srgbClr val="D4E1F0"/>
                    </a:solidFill>
                  </a:tcPr>
                </a:tc>
                <a:tc>
                  <a:txBody>
                    <a:bodyPr/>
                    <a:lstStyle/>
                    <a:p>
                      <a:pPr algn="ctr"/>
                      <a:r>
                        <a:rPr sz="2700" b="0">
                          <a:solidFill>
                            <a:srgbClr val="17283E"/>
                          </a:solidFill>
                          <a:latin typeface="Calibri"/>
                          <a:ea typeface="Calibri"/>
                          <a:cs typeface="Calibri"/>
                        </a:rPr>
                        <a:t>Données, règles et interactions</a:t>
                      </a:r>
                    </a:p>
                  </a:txBody>
                  <a:tcPr anchor="ctr">
                    <a:solidFill>
                      <a:srgbClr val="D4E1F0"/>
                    </a:solidFill>
                  </a:tcPr>
                </a:tc>
                <a:tc>
                  <a:txBody>
                    <a:bodyPr/>
                    <a:lstStyle/>
                    <a:p>
                      <a:pPr algn="ctr"/>
                      <a:r>
                        <a:rPr sz="2700" b="0">
                          <a:solidFill>
                            <a:srgbClr val="17283E"/>
                          </a:solidFill>
                          <a:latin typeface="Calibri"/>
                          <a:ea typeface="Calibri"/>
                          <a:cs typeface="Calibri"/>
                        </a:rPr>
                        <a:t>Modèles et scénarios</a:t>
                      </a:r>
                    </a:p>
                  </a:txBody>
                  <a:tcPr anchor="ctr">
                    <a:solidFill>
                      <a:srgbClr val="D4E1F0"/>
                    </a:solidFill>
                  </a:tcPr>
                </a:tc>
                <a:extLst>
                  <a:ext uri="{0D108BD9-81ED-4DB2-BD59-A6C34878D82A}">
                    <a16:rowId xmlns:a16="http://schemas.microsoft.com/office/drawing/2014/main" val="10002"/>
                  </a:ext>
                </a:extLst>
              </a:tr>
              <a:tr h="895350">
                <a:tc>
                  <a:txBody>
                    <a:bodyPr/>
                    <a:lstStyle/>
                    <a:p>
                      <a:pPr algn="ctr"/>
                      <a:r>
                        <a:rPr sz="2700" b="0">
                          <a:solidFill>
                            <a:srgbClr val="17283E"/>
                          </a:solidFill>
                          <a:latin typeface="Calibri"/>
                          <a:ea typeface="Calibri"/>
                          <a:cs typeface="Calibri"/>
                        </a:rPr>
                        <a:t>Réalisation</a:t>
                      </a:r>
                    </a:p>
                  </a:txBody>
                  <a:tcPr anchor="ctr">
                    <a:solidFill>
                      <a:srgbClr val="E0EAF6"/>
                    </a:solidFill>
                  </a:tcPr>
                </a:tc>
                <a:tc>
                  <a:txBody>
                    <a:bodyPr/>
                    <a:lstStyle/>
                    <a:p>
                      <a:pPr algn="ctr"/>
                      <a:r>
                        <a:rPr sz="2700" b="0">
                          <a:solidFill>
                            <a:srgbClr val="17283E"/>
                          </a:solidFill>
                          <a:latin typeface="Calibri"/>
                          <a:ea typeface="Calibri"/>
                          <a:cs typeface="Calibri"/>
                        </a:rPr>
                        <a:t>Scripts, documents et interface</a:t>
                      </a:r>
                    </a:p>
                  </a:txBody>
                  <a:tcPr anchor="ctr">
                    <a:solidFill>
                      <a:srgbClr val="E0EAF6"/>
                    </a:solidFill>
                  </a:tcPr>
                </a:tc>
                <a:tc>
                  <a:txBody>
                    <a:bodyPr/>
                    <a:lstStyle/>
                    <a:p>
                      <a:pPr algn="ctr"/>
                      <a:r>
                        <a:rPr sz="2700" b="0">
                          <a:solidFill>
                            <a:srgbClr val="17283E"/>
                          </a:solidFill>
                          <a:latin typeface="Calibri"/>
                          <a:ea typeface="Calibri"/>
                          <a:cs typeface="Calibri"/>
                        </a:rPr>
                        <a:t>Prototype intégré</a:t>
                      </a:r>
                    </a:p>
                  </a:txBody>
                  <a:tcPr anchor="ctr">
                    <a:solidFill>
                      <a:srgbClr val="E0EAF6"/>
                    </a:solidFill>
                  </a:tcPr>
                </a:tc>
                <a:extLst>
                  <a:ext uri="{0D108BD9-81ED-4DB2-BD59-A6C34878D82A}">
                    <a16:rowId xmlns:a16="http://schemas.microsoft.com/office/drawing/2014/main" val="10003"/>
                  </a:ext>
                </a:extLst>
              </a:tr>
              <a:tr h="895350">
                <a:tc>
                  <a:txBody>
                    <a:bodyPr/>
                    <a:lstStyle/>
                    <a:p>
                      <a:pPr algn="ctr"/>
                      <a:r>
                        <a:rPr sz="2700" b="0">
                          <a:solidFill>
                            <a:srgbClr val="17283E"/>
                          </a:solidFill>
                          <a:latin typeface="Calibri"/>
                          <a:ea typeface="Calibri"/>
                          <a:cs typeface="Calibri"/>
                        </a:rPr>
                        <a:t>Validation</a:t>
                      </a:r>
                    </a:p>
                  </a:txBody>
                  <a:tcPr anchor="ctr">
                    <a:solidFill>
                      <a:srgbClr val="D4E1F0"/>
                    </a:solidFill>
                  </a:tcPr>
                </a:tc>
                <a:tc>
                  <a:txBody>
                    <a:bodyPr/>
                    <a:lstStyle/>
                    <a:p>
                      <a:pPr algn="ctr"/>
                      <a:r>
                        <a:rPr sz="2700" b="0">
                          <a:solidFill>
                            <a:srgbClr val="17283E"/>
                          </a:solidFill>
                          <a:latin typeface="Calibri"/>
                          <a:ea typeface="Calibri"/>
                          <a:cs typeface="Calibri"/>
                        </a:rPr>
                        <a:t>Tests locaux et démonstration</a:t>
                      </a:r>
                    </a:p>
                  </a:txBody>
                  <a:tcPr anchor="ctr">
                    <a:solidFill>
                      <a:srgbClr val="D4E1F0"/>
                    </a:solidFill>
                  </a:tcPr>
                </a:tc>
                <a:tc>
                  <a:txBody>
                    <a:bodyPr/>
                    <a:lstStyle/>
                    <a:p>
                      <a:pPr algn="ctr"/>
                      <a:r>
                        <a:rPr sz="2700" b="0" dirty="0" err="1">
                          <a:solidFill>
                            <a:srgbClr val="17283E"/>
                          </a:solidFill>
                          <a:latin typeface="Calibri"/>
                          <a:ea typeface="Calibri"/>
                          <a:cs typeface="Calibri"/>
                        </a:rPr>
                        <a:t>Résultats</a:t>
                      </a:r>
                      <a:r>
                        <a:rPr sz="2700" b="0" dirty="0">
                          <a:solidFill>
                            <a:srgbClr val="17283E"/>
                          </a:solidFill>
                          <a:latin typeface="Calibri"/>
                          <a:ea typeface="Calibri"/>
                          <a:cs typeface="Calibri"/>
                        </a:rPr>
                        <a:t> et </a:t>
                      </a:r>
                      <a:r>
                        <a:rPr sz="2700" b="0" dirty="0" err="1">
                          <a:solidFill>
                            <a:srgbClr val="17283E"/>
                          </a:solidFill>
                          <a:latin typeface="Calibri"/>
                          <a:ea typeface="Calibri"/>
                          <a:cs typeface="Calibri"/>
                        </a:rPr>
                        <a:t>limites</a:t>
                      </a:r>
                      <a:endParaRPr sz="2700" b="0" dirty="0">
                        <a:solidFill>
                          <a:srgbClr val="17283E"/>
                        </a:solidFill>
                        <a:latin typeface="Calibri"/>
                        <a:ea typeface="Calibri"/>
                        <a:cs typeface="Calibri"/>
                      </a:endParaRPr>
                    </a:p>
                  </a:txBody>
                  <a:tcPr anchor="ctr">
                    <a:solidFill>
                      <a:srgbClr val="D4E1F0"/>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Étude conceptuelle</a:t>
            </a:r>
          </a:p>
          <a:p>
            <a:pPr algn="l">
              <a:defRPr sz="5850" b="1">
                <a:solidFill>
                  <a:srgbClr val="17283E"/>
                </a:solidFill>
                <a:latin typeface="Calibri"/>
                <a:ea typeface="Calibri"/>
                <a:cs typeface="Calibri"/>
              </a:defRPr>
            </a:pPr>
            <a:r>
              <a:rPr sz="5850" b="1">
                <a:solidFill>
                  <a:srgbClr val="17283E"/>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Le parcours commercial, les acteurs</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9B420B"/>
                          </a:solidFill>
                          <a:latin typeface="Calibri"/>
                          <a:ea typeface="Calibri"/>
                          <a:cs typeface="Calibri"/>
                        </a:rPr>
                        <a:t>Étape</a:t>
                      </a:r>
                    </a:p>
                  </a:txBody>
                  <a:tcPr anchor="ctr">
                    <a:solidFill>
                      <a:srgbClr val="A6BDD8"/>
                    </a:solidFill>
                  </a:tcPr>
                </a:tc>
                <a:tc>
                  <a:txBody>
                    <a:bodyPr/>
                    <a:lstStyle/>
                    <a:p>
                      <a:pPr algn="ctr"/>
                      <a:r>
                        <a:rPr sz="2550" b="1">
                          <a:solidFill>
                            <a:srgbClr val="9B420B"/>
                          </a:solidFill>
                          <a:latin typeface="Calibri"/>
                          <a:ea typeface="Calibri"/>
                          <a:cs typeface="Calibri"/>
                        </a:rPr>
                        <a:t>Fonction</a:t>
                      </a:r>
                    </a:p>
                  </a:txBody>
                  <a:tcPr anchor="ctr">
                    <a:solidFill>
                      <a:srgbClr val="A6BDD8"/>
                    </a:solidFill>
                  </a:tcPr>
                </a:tc>
                <a:tc>
                  <a:txBody>
                    <a:bodyPr/>
                    <a:lstStyle/>
                    <a:p>
                      <a:pPr algn="ctr"/>
                      <a:r>
                        <a:rPr sz="2550" b="1">
                          <a:solidFill>
                            <a:srgbClr val="9B420B"/>
                          </a:solidFill>
                          <a:latin typeface="Calibri"/>
                          <a:ea typeface="Calibri"/>
                          <a:cs typeface="Calibri"/>
                        </a:rPr>
                        <a:t>État dans le prototype</a:t>
                      </a:r>
                    </a:p>
                  </a:txBody>
                  <a:tcPr anchor="ctr">
                    <a:solidFill>
                      <a:srgbClr val="A6BDD8"/>
                    </a:solidFill>
                  </a:tcPr>
                </a:tc>
                <a:extLst>
                  <a:ext uri="{0D108BD9-81ED-4DB2-BD59-A6C34878D82A}">
                    <a16:rowId xmlns:a16="http://schemas.microsoft.com/office/drawing/2014/main" val="10000"/>
                  </a:ext>
                </a:extLst>
              </a:tr>
              <a:tr h="833438">
                <a:tc>
                  <a:txBody>
                    <a:bodyPr/>
                    <a:lstStyle/>
                    <a:p>
                      <a:pPr algn="ctr"/>
                      <a:r>
                        <a:rPr sz="2550" b="0">
                          <a:solidFill>
                            <a:srgbClr val="17283E"/>
                          </a:solidFill>
                          <a:latin typeface="Calibri"/>
                          <a:ea typeface="Calibri"/>
                          <a:cs typeface="Calibri"/>
                        </a:rPr>
                        <a:t>E1 / E2</a:t>
                      </a:r>
                    </a:p>
                  </a:txBody>
                  <a:tcPr anchor="ctr">
                    <a:solidFill>
                      <a:srgbClr val="E0EAF6"/>
                    </a:solidFill>
                  </a:tcPr>
                </a:tc>
                <a:tc>
                  <a:txBody>
                    <a:bodyPr/>
                    <a:lstStyle/>
                    <a:p>
                      <a:pPr algn="ctr"/>
                      <a:r>
                        <a:rPr sz="2550" b="0">
                          <a:solidFill>
                            <a:srgbClr val="17283E"/>
                          </a:solidFill>
                          <a:latin typeface="Calibri"/>
                          <a:ea typeface="Calibri"/>
                          <a:cs typeface="Calibri"/>
                        </a:rPr>
                        <a:t>Contenu IA et textes LinkedIn / WhatsApp</a:t>
                      </a:r>
                    </a:p>
                  </a:txBody>
                  <a:tcPr anchor="ctr">
                    <a:solidFill>
                      <a:srgbClr val="E0EAF6"/>
                    </a:solidFill>
                  </a:tcPr>
                </a:tc>
                <a:tc>
                  <a:txBody>
                    <a:bodyPr/>
                    <a:lstStyle/>
                    <a:p>
                      <a:pPr algn="ctr"/>
                      <a:r>
                        <a:rPr sz="2550" b="0">
                          <a:solidFill>
                            <a:srgbClr val="17283E"/>
                          </a:solidFill>
                          <a:latin typeface="Calibri"/>
                          <a:ea typeface="Calibri"/>
                          <a:cs typeface="Calibri"/>
                        </a:rPr>
                        <a:t>Génération disponible</a:t>
                      </a:r>
                    </a:p>
                  </a:txBody>
                  <a:tcPr anchor="ctr">
                    <a:solidFill>
                      <a:srgbClr val="E0EAF6"/>
                    </a:solidFill>
                  </a:tcPr>
                </a:tc>
                <a:extLst>
                  <a:ext uri="{0D108BD9-81ED-4DB2-BD59-A6C34878D82A}">
                    <a16:rowId xmlns:a16="http://schemas.microsoft.com/office/drawing/2014/main" val="10001"/>
                  </a:ext>
                </a:extLst>
              </a:tr>
              <a:tr h="833438">
                <a:tc>
                  <a:txBody>
                    <a:bodyPr/>
                    <a:lstStyle/>
                    <a:p>
                      <a:pPr algn="ctr"/>
                      <a:r>
                        <a:rPr sz="2550" b="0">
                          <a:solidFill>
                            <a:srgbClr val="17283E"/>
                          </a:solidFill>
                          <a:latin typeface="Calibri"/>
                          <a:ea typeface="Calibri"/>
                          <a:cs typeface="Calibri"/>
                        </a:rPr>
                        <a:t>E3</a:t>
                      </a:r>
                    </a:p>
                  </a:txBody>
                  <a:tcPr anchor="ctr">
                    <a:solidFill>
                      <a:srgbClr val="D4E1F0"/>
                    </a:solidFill>
                  </a:tcPr>
                </a:tc>
                <a:tc>
                  <a:txBody>
                    <a:bodyPr/>
                    <a:lstStyle/>
                    <a:p>
                      <a:pPr algn="ctr"/>
                      <a:r>
                        <a:rPr sz="2550" b="0">
                          <a:solidFill>
                            <a:srgbClr val="17283E"/>
                          </a:solidFill>
                          <a:latin typeface="Calibri"/>
                          <a:ea typeface="Calibri"/>
                          <a:cs typeface="Calibri"/>
                        </a:rPr>
                        <a:t>Publication sociale</a:t>
                      </a:r>
                    </a:p>
                  </a:txBody>
                  <a:tcPr anchor="ctr">
                    <a:solidFill>
                      <a:srgbClr val="D4E1F0"/>
                    </a:solidFill>
                  </a:tcPr>
                </a:tc>
                <a:tc>
                  <a:txBody>
                    <a:bodyPr/>
                    <a:lstStyle/>
                    <a:p>
                      <a:pPr algn="ctr"/>
                      <a:r>
                        <a:rPr sz="2550" b="0">
                          <a:solidFill>
                            <a:srgbClr val="17283E"/>
                          </a:solidFill>
                          <a:latin typeface="Calibri"/>
                          <a:ea typeface="Calibri"/>
                          <a:cs typeface="Calibri"/>
                        </a:rPr>
                        <a:t>À développer</a:t>
                      </a:r>
                    </a:p>
                  </a:txBody>
                  <a:tcPr anchor="ctr">
                    <a:solidFill>
                      <a:srgbClr val="D4E1F0"/>
                    </a:solidFill>
                  </a:tcPr>
                </a:tc>
                <a:extLst>
                  <a:ext uri="{0D108BD9-81ED-4DB2-BD59-A6C34878D82A}">
                    <a16:rowId xmlns:a16="http://schemas.microsoft.com/office/drawing/2014/main" val="10002"/>
                  </a:ext>
                </a:extLst>
              </a:tr>
              <a:tr h="833438">
                <a:tc>
                  <a:txBody>
                    <a:bodyPr/>
                    <a:lstStyle/>
                    <a:p>
                      <a:pPr algn="ctr"/>
                      <a:r>
                        <a:rPr sz="2550" b="0">
                          <a:solidFill>
                            <a:srgbClr val="17283E"/>
                          </a:solidFill>
                          <a:latin typeface="Calibri"/>
                          <a:ea typeface="Calibri"/>
                          <a:cs typeface="Calibri"/>
                        </a:rPr>
                        <a:t>E4 / E5</a:t>
                      </a:r>
                    </a:p>
                  </a:txBody>
                  <a:tcPr anchor="ctr">
                    <a:solidFill>
                      <a:srgbClr val="E0EAF6"/>
                    </a:solidFill>
                  </a:tcPr>
                </a:tc>
                <a:tc>
                  <a:txBody>
                    <a:bodyPr/>
                    <a:lstStyle/>
                    <a:p>
                      <a:pPr algn="ctr"/>
                      <a:r>
                        <a:rPr sz="2550" b="0">
                          <a:solidFill>
                            <a:srgbClr val="17283E"/>
                          </a:solidFill>
                          <a:latin typeface="Calibri"/>
                          <a:ea typeface="Calibri"/>
                          <a:cs typeface="Calibri"/>
                        </a:rPr>
                        <a:t>Scoring et entretien du contact</a:t>
                      </a:r>
                    </a:p>
                  </a:txBody>
                  <a:tcPr anchor="ctr">
                    <a:solidFill>
                      <a:srgbClr val="E0EAF6"/>
                    </a:solidFill>
                  </a:tcPr>
                </a:tc>
                <a:tc>
                  <a:txBody>
                    <a:bodyPr/>
                    <a:lstStyle/>
                    <a:p>
                      <a:pPr algn="ctr"/>
                      <a:r>
                        <a:rPr sz="2550" b="0">
                          <a:solidFill>
                            <a:srgbClr val="17283E"/>
                          </a:solidFill>
                          <a:latin typeface="Calibri"/>
                          <a:ea typeface="Calibri"/>
                          <a:cs typeface="Calibri"/>
                        </a:rPr>
                        <a:t>Règles et séquences disponibles</a:t>
                      </a:r>
                    </a:p>
                  </a:txBody>
                  <a:tcPr anchor="ctr">
                    <a:solidFill>
                      <a:srgbClr val="E0EAF6"/>
                    </a:solidFill>
                  </a:tcPr>
                </a:tc>
                <a:extLst>
                  <a:ext uri="{0D108BD9-81ED-4DB2-BD59-A6C34878D82A}">
                    <a16:rowId xmlns:a16="http://schemas.microsoft.com/office/drawing/2014/main" val="10003"/>
                  </a:ext>
                </a:extLst>
              </a:tr>
              <a:tr h="833438">
                <a:tc>
                  <a:txBody>
                    <a:bodyPr/>
                    <a:lstStyle/>
                    <a:p>
                      <a:pPr algn="ctr"/>
                      <a:r>
                        <a:rPr sz="2550" b="0">
                          <a:solidFill>
                            <a:srgbClr val="17283E"/>
                          </a:solidFill>
                          <a:latin typeface="Calibri"/>
                          <a:ea typeface="Calibri"/>
                          <a:cs typeface="Calibri"/>
                        </a:rPr>
                        <a:t>E6 / E7</a:t>
                      </a:r>
                    </a:p>
                  </a:txBody>
                  <a:tcPr anchor="ctr">
                    <a:solidFill>
                      <a:srgbClr val="D4E1F0"/>
                    </a:solidFill>
                  </a:tcPr>
                </a:tc>
                <a:tc>
                  <a:txBody>
                    <a:bodyPr/>
                    <a:lstStyle/>
                    <a:p>
                      <a:pPr algn="ctr"/>
                      <a:r>
                        <a:rPr sz="2550" b="0">
                          <a:solidFill>
                            <a:srgbClr val="17283E"/>
                          </a:solidFill>
                          <a:latin typeface="Calibri"/>
                          <a:ea typeface="Calibri"/>
                          <a:cs typeface="Calibri"/>
                        </a:rPr>
                        <a:t>Proposition et relances de closing</a:t>
                      </a:r>
                    </a:p>
                  </a:txBody>
                  <a:tcPr anchor="ctr">
                    <a:solidFill>
                      <a:srgbClr val="D4E1F0"/>
                    </a:solidFill>
                  </a:tcPr>
                </a:tc>
                <a:tc>
                  <a:txBody>
                    <a:bodyPr/>
                    <a:lstStyle/>
                    <a:p>
                      <a:pPr algn="ctr"/>
                      <a:r>
                        <a:rPr sz="2550" b="0">
                          <a:solidFill>
                            <a:srgbClr val="17283E"/>
                          </a:solidFill>
                          <a:latin typeface="Calibri"/>
                          <a:ea typeface="Calibri"/>
                          <a:cs typeface="Calibri"/>
                        </a:rPr>
                        <a:t>PDF, e-mail et jalons disponibles</a:t>
                      </a:r>
                    </a:p>
                  </a:txBody>
                  <a:tcPr anchor="ctr">
                    <a:solidFill>
                      <a:srgbClr val="D4E1F0"/>
                    </a:solidFill>
                  </a:tcPr>
                </a:tc>
                <a:extLst>
                  <a:ext uri="{0D108BD9-81ED-4DB2-BD59-A6C34878D82A}">
                    <a16:rowId xmlns:a16="http://schemas.microsoft.com/office/drawing/2014/main" val="10004"/>
                  </a:ext>
                </a:extLst>
              </a:tr>
              <a:tr h="833438">
                <a:tc>
                  <a:txBody>
                    <a:bodyPr/>
                    <a:lstStyle/>
                    <a:p>
                      <a:pPr algn="ctr"/>
                      <a:r>
                        <a:rPr sz="2550" b="0">
                          <a:solidFill>
                            <a:srgbClr val="17283E"/>
                          </a:solidFill>
                          <a:latin typeface="Calibri"/>
                          <a:ea typeface="Calibri"/>
                          <a:cs typeface="Calibri"/>
                        </a:rPr>
                        <a:t>E8</a:t>
                      </a:r>
                    </a:p>
                  </a:txBody>
                  <a:tcPr anchor="ctr">
                    <a:solidFill>
                      <a:srgbClr val="E0EAF6"/>
                    </a:solidFill>
                  </a:tcPr>
                </a:tc>
                <a:tc>
                  <a:txBody>
                    <a:bodyPr/>
                    <a:lstStyle/>
                    <a:p>
                      <a:pPr algn="ctr"/>
                      <a:r>
                        <a:rPr sz="2550" b="0">
                          <a:solidFill>
                            <a:srgbClr val="17283E"/>
                          </a:solidFill>
                          <a:latin typeface="Calibri"/>
                          <a:ea typeface="Calibri"/>
                          <a:cs typeface="Calibri"/>
                        </a:rPr>
                        <a:t>Convention et facture</a:t>
                      </a:r>
                    </a:p>
                  </a:txBody>
                  <a:tcPr anchor="ctr">
                    <a:solidFill>
                      <a:srgbClr val="E0EAF6"/>
                    </a:solidFill>
                  </a:tcPr>
                </a:tc>
                <a:tc>
                  <a:txBody>
                    <a:bodyPr/>
                    <a:lstStyle/>
                    <a:p>
                      <a:pPr algn="ctr"/>
                      <a:r>
                        <a:rPr sz="2550" b="0" dirty="0" err="1">
                          <a:solidFill>
                            <a:srgbClr val="17283E"/>
                          </a:solidFill>
                          <a:latin typeface="Calibri"/>
                          <a:ea typeface="Calibri"/>
                          <a:cs typeface="Calibri"/>
                        </a:rPr>
                        <a:t>Génération</a:t>
                      </a:r>
                      <a:r>
                        <a:rPr sz="2550" b="0" dirty="0">
                          <a:solidFill>
                            <a:srgbClr val="17283E"/>
                          </a:solidFill>
                          <a:latin typeface="Calibri"/>
                          <a:ea typeface="Calibri"/>
                          <a:cs typeface="Calibri"/>
                        </a:rPr>
                        <a:t> et envoi </a:t>
                      </a:r>
                      <a:r>
                        <a:rPr sz="2550" b="0" dirty="0" err="1">
                          <a:solidFill>
                            <a:srgbClr val="17283E"/>
                          </a:solidFill>
                          <a:latin typeface="Calibri"/>
                          <a:ea typeface="Calibri"/>
                          <a:cs typeface="Calibri"/>
                        </a:rPr>
                        <a:t>disponibles</a:t>
                      </a:r>
                      <a:endParaRPr sz="2550" b="0" dirty="0">
                        <a:solidFill>
                          <a:srgbClr val="17283E"/>
                        </a:solidFill>
                        <a:latin typeface="Calibri"/>
                        <a:ea typeface="Calibri"/>
                        <a:cs typeface="Calibri"/>
                      </a:endParaRPr>
                    </a:p>
                  </a:txBody>
                  <a:tcPr anchor="ctr">
                    <a:solidFill>
                      <a:srgbClr val="E0EAF6"/>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6C91BE"/>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17283E"/>
                </a:solidFill>
                <a:latin typeface="Calibri"/>
                <a:ea typeface="Calibri"/>
                <a:cs typeface="Calibri"/>
              </a:defRPr>
            </a:pPr>
            <a:r>
              <a:rPr sz="2250" b="1">
                <a:solidFill>
                  <a:srgbClr val="17283E"/>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E0EAF6"/>
          </a:solidFill>
          <a:ln w="19050">
            <a:solidFill>
              <a:srgbClr val="C97345"/>
            </a:solidFill>
          </a:ln>
        </p:spPr>
        <p:txBody>
          <a:bodyPr lIns="114300" tIns="85725" rIns="114300" bIns="85725" anchor="ctr">
            <a:noAutofit/>
          </a:bodyPr>
          <a:lstStyle/>
          <a:p>
            <a:pPr algn="ctr">
              <a:defRPr sz="2550">
                <a:solidFill>
                  <a:srgbClr val="17283E"/>
                </a:solidFill>
                <a:latin typeface="Calibri"/>
                <a:ea typeface="Calibri"/>
                <a:cs typeface="Calibri"/>
              </a:defRPr>
            </a:pPr>
            <a:r>
              <a:rPr sz="2550">
                <a:solidFill>
                  <a:srgbClr val="17283E"/>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C97345"/>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C97345"/>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C97345"/>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C97345"/>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C97345"/>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Airtable</a:t>
            </a:r>
          </a:p>
          <a:p>
            <a:pPr algn="ctr">
              <a:defRPr sz="2400">
                <a:solidFill>
                  <a:srgbClr val="17283E"/>
                </a:solidFill>
                <a:latin typeface="Calibri"/>
                <a:ea typeface="Calibri"/>
                <a:cs typeface="Calibri"/>
              </a:defRPr>
            </a:pPr>
            <a:r>
              <a:rPr sz="2400">
                <a:solidFill>
                  <a:srgbClr val="17283E"/>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Groq</a:t>
            </a:r>
          </a:p>
          <a:p>
            <a:pPr algn="ctr">
              <a:defRPr sz="2400">
                <a:solidFill>
                  <a:srgbClr val="17283E"/>
                </a:solidFill>
                <a:latin typeface="Calibri"/>
                <a:ea typeface="Calibri"/>
                <a:cs typeface="Calibri"/>
              </a:defRPr>
            </a:pPr>
            <a:r>
              <a:rPr sz="2400">
                <a:solidFill>
                  <a:srgbClr val="17283E"/>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E0EAF6"/>
          </a:solidFill>
          <a:ln w="19050">
            <a:solidFill>
              <a:srgbClr val="C97345"/>
            </a:solidFill>
          </a:ln>
        </p:spPr>
        <p:txBody>
          <a:bodyPr lIns="114300" tIns="85725" rIns="114300" bIns="85725" anchor="ctr">
            <a:noAutofit/>
          </a:bodyPr>
          <a:lstStyle/>
          <a:p>
            <a:pPr algn="ctr">
              <a:defRPr sz="2400">
                <a:solidFill>
                  <a:srgbClr val="17283E"/>
                </a:solidFill>
                <a:latin typeface="Calibri"/>
                <a:ea typeface="Calibri"/>
                <a:cs typeface="Calibri"/>
              </a:defRPr>
            </a:pPr>
            <a:r>
              <a:rPr sz="2400">
                <a:solidFill>
                  <a:srgbClr val="17283E"/>
                </a:solidFill>
                <a:latin typeface="Calibri"/>
                <a:ea typeface="Calibri"/>
                <a:cs typeface="Calibri"/>
              </a:rPr>
              <a:t>SMTP / navigateur</a:t>
            </a:r>
          </a:p>
          <a:p>
            <a:pPr algn="ctr">
              <a:defRPr sz="2400">
                <a:solidFill>
                  <a:srgbClr val="17283E"/>
                </a:solidFill>
                <a:latin typeface="Calibri"/>
                <a:ea typeface="Calibri"/>
                <a:cs typeface="Calibri"/>
              </a:defRPr>
            </a:pPr>
            <a:r>
              <a:rPr sz="2400">
                <a:solidFill>
                  <a:srgbClr val="17283E"/>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C97345"/>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C97345"/>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C97345"/>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E0EAF6"/>
          </a:solidFill>
          <a:ln w="19050">
            <a:solidFill>
              <a:srgbClr val="C97345"/>
            </a:solidFill>
          </a:ln>
        </p:spPr>
        <p:txBody>
          <a:bodyPr lIns="114300" tIns="85725" rIns="114300" bIns="85725" anchor="ctr">
            <a:noAutofit/>
          </a:bodyPr>
          <a:lstStyle/>
          <a:p>
            <a:pPr algn="ctr">
              <a:defRPr sz="3000">
                <a:solidFill>
                  <a:srgbClr val="17283E"/>
                </a:solidFill>
                <a:latin typeface="Calibri"/>
                <a:ea typeface="Calibri"/>
                <a:cs typeface="Calibri"/>
              </a:defRPr>
            </a:pPr>
            <a:r>
              <a:rPr sz="3000">
                <a:solidFill>
                  <a:srgbClr val="17283E"/>
                </a:solidFill>
                <a:latin typeface="Calibri"/>
                <a:ea typeface="Calibri"/>
                <a:cs typeface="Calibri"/>
              </a:rPr>
              <a:t>Formation</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id, titre, durée</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E0EAF6"/>
          </a:solidFill>
          <a:ln w="19050">
            <a:solidFill>
              <a:srgbClr val="C97345"/>
            </a:solidFill>
          </a:ln>
        </p:spPr>
        <p:txBody>
          <a:bodyPr lIns="114300" tIns="85725" rIns="114300" bIns="85725" anchor="ctr">
            <a:noAutofit/>
          </a:bodyPr>
          <a:lstStyle/>
          <a:p>
            <a:pPr algn="ctr">
              <a:defRPr sz="3000">
                <a:solidFill>
                  <a:srgbClr val="17283E"/>
                </a:solidFill>
                <a:latin typeface="Calibri"/>
                <a:ea typeface="Calibri"/>
                <a:cs typeface="Calibri"/>
              </a:defRPr>
            </a:pPr>
            <a:r>
              <a:rPr sz="3000">
                <a:solidFill>
                  <a:srgbClr val="17283E"/>
                </a:solidFill>
                <a:latin typeface="Calibri"/>
                <a:ea typeface="Calibri"/>
                <a:cs typeface="Calibri"/>
              </a:rPr>
              <a:t>Lead</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id, coordonnées, score</a:t>
            </a:r>
          </a:p>
          <a:p>
            <a:pPr algn="ctr">
              <a:defRPr sz="3000">
                <a:solidFill>
                  <a:srgbClr val="17283E"/>
                </a:solidFill>
                <a:latin typeface="Calibri"/>
                <a:ea typeface="Calibri"/>
                <a:cs typeface="Calibri"/>
              </a:defRPr>
            </a:pPr>
            <a:r>
              <a:rPr sz="3000">
                <a:solidFill>
                  <a:srgbClr val="17283E"/>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C97345"/>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17283E"/>
                </a:solidFill>
                <a:latin typeface="Calibri"/>
                <a:ea typeface="Calibri"/>
                <a:cs typeface="Calibri"/>
              </a:defRPr>
            </a:pPr>
            <a:r>
              <a:rPr sz="2325" b="0">
                <a:solidFill>
                  <a:srgbClr val="17283E"/>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Proposition</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référence, date</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Convention / Facture</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numéro, montants</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E0EAF6"/>
          </a:solidFill>
          <a:ln w="19050">
            <a:solidFill>
              <a:srgbClr val="C97345"/>
            </a:solidFill>
          </a:ln>
        </p:spPr>
        <p:txBody>
          <a:bodyPr lIns="114300" tIns="85725" rIns="114300" bIns="85725" anchor="ctr">
            <a:noAutofit/>
          </a:bodyPr>
          <a:lstStyle/>
          <a:p>
            <a:pPr algn="ctr">
              <a:defRPr sz="2700">
                <a:solidFill>
                  <a:srgbClr val="17283E"/>
                </a:solidFill>
                <a:latin typeface="Calibri"/>
                <a:ea typeface="Calibri"/>
                <a:cs typeface="Calibri"/>
              </a:defRPr>
            </a:pPr>
            <a:r>
              <a:rPr sz="2700">
                <a:solidFill>
                  <a:srgbClr val="17283E"/>
                </a:solidFill>
                <a:latin typeface="Calibri"/>
                <a:ea typeface="Calibri"/>
                <a:cs typeface="Calibri"/>
              </a:rPr>
              <a:t>ActionEnvoi</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clé, canal, date UTC</a:t>
            </a:r>
          </a:p>
          <a:p>
            <a:pPr algn="ctr">
              <a:defRPr sz="2700">
                <a:solidFill>
                  <a:srgbClr val="17283E"/>
                </a:solidFill>
                <a:latin typeface="Calibri"/>
                <a:ea typeface="Calibri"/>
                <a:cs typeface="Calibri"/>
              </a:defRPr>
            </a:pPr>
            <a:r>
              <a:rPr sz="2700">
                <a:solidFill>
                  <a:srgbClr val="17283E"/>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C97345"/>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C97345"/>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C97345"/>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17283E"/>
                </a:solidFill>
                <a:latin typeface="Calibri"/>
                <a:ea typeface="Calibri"/>
                <a:cs typeface="Calibri"/>
              </a:defRPr>
            </a:pPr>
            <a:r>
              <a:rPr sz="2250" b="0">
                <a:solidFill>
                  <a:srgbClr val="17283E"/>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17283E"/>
                </a:solidFill>
                <a:latin typeface="Calibri"/>
                <a:ea typeface="Calibri"/>
                <a:cs typeface="Calibri"/>
              </a:defRPr>
            </a:pPr>
            <a:r>
              <a:rPr sz="3000" b="0">
                <a:solidFill>
                  <a:srgbClr val="17283E"/>
                </a:solidFill>
                <a:latin typeface="Calibri"/>
                <a:ea typeface="Calibri"/>
                <a:cs typeface="Calibri"/>
              </a:rPr>
              <a:t>Score ≥ 8 : priorité commerciale</a:t>
            </a:r>
          </a:p>
          <a:p>
            <a:endParaRPr sz="3000" b="0">
              <a:solidFill>
                <a:srgbClr val="17283E"/>
              </a:solidFill>
              <a:latin typeface="Calibri"/>
              <a:ea typeface="Calibri"/>
              <a:cs typeface="Calibri"/>
            </a:endParaRPr>
          </a:p>
          <a:p>
            <a:pPr algn="l">
              <a:defRPr sz="3000" b="0">
                <a:solidFill>
                  <a:srgbClr val="17283E"/>
                </a:solidFill>
                <a:latin typeface="Calibri"/>
                <a:ea typeface="Calibri"/>
                <a:cs typeface="Calibri"/>
              </a:defRPr>
            </a:pPr>
            <a:r>
              <a:rPr sz="3000" b="0">
                <a:solidFill>
                  <a:srgbClr val="17283E"/>
                </a:solidFill>
                <a:latin typeface="Calibri"/>
                <a:ea typeface="Calibri"/>
                <a:cs typeface="Calibri"/>
              </a:rPr>
              <a:t>5 ≤ score &lt; 8 : qualification</a:t>
            </a:r>
          </a:p>
          <a:p>
            <a:endParaRPr sz="3000" b="0">
              <a:solidFill>
                <a:srgbClr val="17283E"/>
              </a:solidFill>
              <a:latin typeface="Calibri"/>
              <a:ea typeface="Calibri"/>
              <a:cs typeface="Calibri"/>
            </a:endParaRPr>
          </a:p>
          <a:p>
            <a:pPr algn="l">
              <a:defRPr sz="3000" b="0">
                <a:solidFill>
                  <a:srgbClr val="17283E"/>
                </a:solidFill>
                <a:latin typeface="Calibri"/>
                <a:ea typeface="Calibri"/>
                <a:cs typeface="Calibri"/>
              </a:defRPr>
            </a:pPr>
            <a:r>
              <a:rPr sz="3000" b="0">
                <a:solidFill>
                  <a:srgbClr val="17283E"/>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17283E"/>
                </a:solidFill>
                <a:latin typeface="Calibri"/>
                <a:ea typeface="Calibri"/>
                <a:cs typeface="Calibri"/>
              </a:defRPr>
            </a:pPr>
            <a:r>
              <a:rPr sz="2625" b="0">
                <a:solidFill>
                  <a:srgbClr val="17283E"/>
                </a:solidFill>
                <a:latin typeface="Calibri"/>
                <a:ea typeface="Calibri"/>
                <a:cs typeface="Calibri"/>
              </a:rPr>
              <a:t>Exemple fictif : 9,5 / 10</a:t>
            </a:r>
          </a:p>
          <a:p>
            <a:pPr algn="l">
              <a:defRPr sz="2625" b="0">
                <a:solidFill>
                  <a:srgbClr val="17283E"/>
                </a:solidFill>
                <a:latin typeface="Calibri"/>
                <a:ea typeface="Calibri"/>
                <a:cs typeface="Calibri"/>
              </a:defRPr>
            </a:pPr>
            <a:r>
              <a:rPr sz="2625" b="0">
                <a:solidFill>
                  <a:srgbClr val="17283E"/>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E0EAF6"/>
          </a:solidFill>
          <a:ln w="19050">
            <a:solidFill>
              <a:srgbClr val="C97345"/>
            </a:solidFill>
          </a:ln>
        </p:spPr>
        <p:txBody>
          <a:bodyPr lIns="114300" tIns="85725" rIns="114300" bIns="85725" anchor="ctr">
            <a:noAutofit/>
          </a:bodyPr>
          <a:lstStyle/>
          <a:p>
            <a:pPr algn="ctr">
              <a:defRPr sz="2625">
                <a:solidFill>
                  <a:srgbClr val="17283E"/>
                </a:solidFill>
                <a:latin typeface="Calibri"/>
                <a:ea typeface="Calibri"/>
                <a:cs typeface="Calibri"/>
              </a:defRPr>
            </a:pPr>
            <a:r>
              <a:rPr sz="2625">
                <a:solidFill>
                  <a:srgbClr val="17283E"/>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6C91BE"/>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6C91BE"/>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6C91BE"/>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6C91BE"/>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6C91BE"/>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C97345"/>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C97345"/>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C97345"/>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C97345"/>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C97345"/>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C97345"/>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17283E"/>
                </a:solidFill>
                <a:latin typeface="Calibri"/>
                <a:ea typeface="Calibri"/>
                <a:cs typeface="Calibri"/>
              </a:defRPr>
            </a:pPr>
            <a:r>
              <a:rPr sz="2175" b="0">
                <a:solidFill>
                  <a:srgbClr val="17283E"/>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E0EAF6"/>
          </a:solidFill>
          <a:ln w="19050">
            <a:solidFill>
              <a:srgbClr val="C97345"/>
            </a:solidFill>
          </a:ln>
        </p:spPr>
        <p:txBody>
          <a:bodyPr lIns="114300" tIns="85725" rIns="114300" bIns="85725" anchor="ctr">
            <a:noAutofit/>
          </a:bodyPr>
          <a:lstStyle/>
          <a:p>
            <a:pPr algn="ctr">
              <a:defRPr sz="2925">
                <a:solidFill>
                  <a:srgbClr val="17283E"/>
                </a:solidFill>
                <a:latin typeface="Calibri"/>
                <a:ea typeface="Calibri"/>
                <a:cs typeface="Calibri"/>
              </a:defRPr>
            </a:pPr>
            <a:r>
              <a:rPr sz="2925">
                <a:solidFill>
                  <a:srgbClr val="17283E"/>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E0EAF6"/>
          </a:solidFill>
          <a:ln w="19050">
            <a:solidFill>
              <a:srgbClr val="C97345"/>
            </a:solidFill>
          </a:ln>
        </p:spPr>
        <p:txBody>
          <a:bodyPr lIns="114300" tIns="85725" rIns="114300" bIns="85725" anchor="ctr">
            <a:noAutofit/>
          </a:bodyPr>
          <a:lstStyle/>
          <a:p>
            <a:pPr algn="ctr">
              <a:defRPr sz="2925">
                <a:solidFill>
                  <a:srgbClr val="17283E"/>
                </a:solidFill>
                <a:latin typeface="Calibri"/>
                <a:ea typeface="Calibri"/>
                <a:cs typeface="Calibri"/>
              </a:defRPr>
            </a:pPr>
            <a:r>
              <a:rPr sz="2925">
                <a:solidFill>
                  <a:srgbClr val="17283E"/>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E0EAF6"/>
          </a:solidFill>
          <a:ln w="19050">
            <a:solidFill>
              <a:srgbClr val="C97345"/>
            </a:solidFill>
          </a:ln>
        </p:spPr>
        <p:txBody>
          <a:bodyPr lIns="114300" tIns="85725" rIns="114300" bIns="85725" anchor="ctr">
            <a:noAutofit/>
          </a:bodyPr>
          <a:lstStyle/>
          <a:p>
            <a:pPr algn="ctr">
              <a:defRPr sz="2775">
                <a:solidFill>
                  <a:srgbClr val="17283E"/>
                </a:solidFill>
                <a:latin typeface="Calibri"/>
                <a:ea typeface="Calibri"/>
                <a:cs typeface="Calibri"/>
              </a:defRPr>
            </a:pPr>
            <a:r>
              <a:rPr sz="2775">
                <a:solidFill>
                  <a:srgbClr val="17283E"/>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C97345"/>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C97345"/>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E0EAF6"/>
          </a:solidFill>
          <a:ln w="19050">
            <a:solidFill>
              <a:srgbClr val="C97345"/>
            </a:solidFill>
          </a:ln>
        </p:spPr>
        <p:txBody>
          <a:bodyPr lIns="114300" tIns="85725" rIns="114300" bIns="85725" anchor="ctr">
            <a:noAutofit/>
          </a:bodyPr>
          <a:lstStyle/>
          <a:p>
            <a:pPr algn="ctr">
              <a:defRPr sz="2475">
                <a:solidFill>
                  <a:srgbClr val="17283E"/>
                </a:solidFill>
                <a:latin typeface="Calibri"/>
                <a:ea typeface="Calibri"/>
                <a:cs typeface="Calibri"/>
              </a:defRPr>
            </a:pPr>
            <a:r>
              <a:rPr sz="2475">
                <a:solidFill>
                  <a:srgbClr val="17283E"/>
                </a:solidFill>
                <a:latin typeface="Calibri"/>
                <a:ea typeface="Calibri"/>
                <a:cs typeface="Calibri"/>
              </a:rPr>
              <a:t>Airtable / Groq</a:t>
            </a:r>
          </a:p>
          <a:p>
            <a:pPr algn="ctr">
              <a:defRPr sz="2475">
                <a:solidFill>
                  <a:srgbClr val="17283E"/>
                </a:solidFill>
                <a:latin typeface="Calibri"/>
                <a:ea typeface="Calibri"/>
                <a:cs typeface="Calibri"/>
              </a:defRPr>
            </a:pPr>
            <a:r>
              <a:rPr sz="2475">
                <a:solidFill>
                  <a:srgbClr val="17283E"/>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E0EAF6"/>
          </a:solidFill>
          <a:ln w="19050">
            <a:solidFill>
              <a:srgbClr val="C97345"/>
            </a:solidFill>
          </a:ln>
        </p:spPr>
        <p:txBody>
          <a:bodyPr lIns="114300" tIns="85725" rIns="114300" bIns="85725" anchor="ctr">
            <a:noAutofit/>
          </a:bodyPr>
          <a:lstStyle/>
          <a:p>
            <a:pPr algn="ctr">
              <a:defRPr sz="2475">
                <a:solidFill>
                  <a:srgbClr val="17283E"/>
                </a:solidFill>
                <a:latin typeface="Calibri"/>
                <a:ea typeface="Calibri"/>
                <a:cs typeface="Calibri"/>
              </a:defRPr>
            </a:pPr>
            <a:r>
              <a:rPr sz="2475">
                <a:solidFill>
                  <a:srgbClr val="17283E"/>
                </a:solidFill>
                <a:latin typeface="Calibri"/>
                <a:ea typeface="Calibri"/>
                <a:cs typeface="Calibri"/>
              </a:rPr>
              <a:t>SMTP / WhatsApp</a:t>
            </a:r>
          </a:p>
          <a:p>
            <a:pPr algn="ctr">
              <a:defRPr sz="2475">
                <a:solidFill>
                  <a:srgbClr val="17283E"/>
                </a:solidFill>
                <a:latin typeface="Calibri"/>
                <a:ea typeface="Calibri"/>
                <a:cs typeface="Calibri"/>
              </a:defRPr>
            </a:pPr>
            <a:r>
              <a:rPr sz="2475">
                <a:solidFill>
                  <a:srgbClr val="17283E"/>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E0EAF6"/>
          </a:solidFill>
          <a:ln w="19050">
            <a:solidFill>
              <a:srgbClr val="C97345"/>
            </a:solidFill>
          </a:ln>
        </p:spPr>
        <p:txBody>
          <a:bodyPr lIns="114300" tIns="85725" rIns="114300" bIns="85725" anchor="ctr">
            <a:noAutofit/>
          </a:bodyPr>
          <a:lstStyle/>
          <a:p>
            <a:pPr algn="ctr">
              <a:defRPr sz="2475">
                <a:solidFill>
                  <a:srgbClr val="17283E"/>
                </a:solidFill>
                <a:latin typeface="Calibri"/>
                <a:ea typeface="Calibri"/>
                <a:cs typeface="Calibri"/>
              </a:defRPr>
            </a:pPr>
            <a:r>
              <a:rPr sz="2475">
                <a:solidFill>
                  <a:srgbClr val="17283E"/>
                </a:solidFill>
                <a:latin typeface="Calibri"/>
                <a:ea typeface="Calibri"/>
                <a:cs typeface="Calibri"/>
              </a:rPr>
              <a:t>ReportLab / JSON</a:t>
            </a:r>
          </a:p>
          <a:p>
            <a:pPr algn="ctr">
              <a:defRPr sz="2475">
                <a:solidFill>
                  <a:srgbClr val="17283E"/>
                </a:solidFill>
                <a:latin typeface="Calibri"/>
                <a:ea typeface="Calibri"/>
                <a:cs typeface="Calibri"/>
              </a:defRPr>
            </a:pPr>
            <a:r>
              <a:rPr sz="2475">
                <a:solidFill>
                  <a:srgbClr val="17283E"/>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C97345"/>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C97345"/>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C97345"/>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Réalisation et</a:t>
            </a:r>
          </a:p>
          <a:p>
            <a:pPr algn="l">
              <a:defRPr sz="5850" b="1">
                <a:solidFill>
                  <a:srgbClr val="17283E"/>
                </a:solidFill>
                <a:latin typeface="Calibri"/>
                <a:ea typeface="Calibri"/>
                <a:cs typeface="Calibri"/>
              </a:defRPr>
            </a:pPr>
            <a:r>
              <a:rPr sz="5850" b="1">
                <a:solidFill>
                  <a:srgbClr val="17283E"/>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Les fonctions développées</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9B420B"/>
                          </a:solidFill>
                          <a:latin typeface="Calibri"/>
                          <a:ea typeface="Calibri"/>
                          <a:cs typeface="Calibri"/>
                        </a:rPr>
                        <a:t>Technologie</a:t>
                      </a:r>
                    </a:p>
                  </a:txBody>
                  <a:tcPr anchor="ctr">
                    <a:solidFill>
                      <a:srgbClr val="A6BDD8"/>
                    </a:solidFill>
                  </a:tcPr>
                </a:tc>
                <a:tc>
                  <a:txBody>
                    <a:bodyPr/>
                    <a:lstStyle/>
                    <a:p>
                      <a:pPr algn="ctr"/>
                      <a:r>
                        <a:rPr sz="2625" b="1">
                          <a:solidFill>
                            <a:srgbClr val="9B420B"/>
                          </a:solidFill>
                          <a:latin typeface="Calibri"/>
                          <a:ea typeface="Calibri"/>
                          <a:cs typeface="Calibri"/>
                        </a:rPr>
                        <a:t>Rôle dans ADG-10</a:t>
                      </a:r>
                    </a:p>
                  </a:txBody>
                  <a:tcPr anchor="ctr">
                    <a:solidFill>
                      <a:srgbClr val="A6BDD8"/>
                    </a:solidFill>
                  </a:tcPr>
                </a:tc>
                <a:tc>
                  <a:txBody>
                    <a:bodyPr/>
                    <a:lstStyle/>
                    <a:p>
                      <a:pPr algn="ctr"/>
                      <a:r>
                        <a:rPr sz="2625" b="1">
                          <a:solidFill>
                            <a:srgbClr val="9B420B"/>
                          </a:solidFill>
                          <a:latin typeface="Calibri"/>
                          <a:ea typeface="Calibri"/>
                          <a:cs typeface="Calibri"/>
                        </a:rPr>
                        <a:t>Justification</a:t>
                      </a:r>
                    </a:p>
                  </a:txBody>
                  <a:tcPr anchor="ctr">
                    <a:solidFill>
                      <a:srgbClr val="A6BDD8"/>
                    </a:solidFill>
                  </a:tcPr>
                </a:tc>
                <a:extLst>
                  <a:ext uri="{0D108BD9-81ED-4DB2-BD59-A6C34878D82A}">
                    <a16:rowId xmlns:a16="http://schemas.microsoft.com/office/drawing/2014/main" val="10000"/>
                  </a:ext>
                </a:extLst>
              </a:tr>
              <a:tr h="857250">
                <a:tc>
                  <a:txBody>
                    <a:bodyPr/>
                    <a:lstStyle/>
                    <a:p>
                      <a:pPr algn="ctr"/>
                      <a:r>
                        <a:rPr sz="2625" b="0">
                          <a:solidFill>
                            <a:srgbClr val="17283E"/>
                          </a:solidFill>
                          <a:latin typeface="Calibri"/>
                          <a:ea typeface="Calibri"/>
                          <a:cs typeface="Calibri"/>
                        </a:rPr>
                        <a:t>Python</a:t>
                      </a:r>
                    </a:p>
                  </a:txBody>
                  <a:tcPr anchor="ctr">
                    <a:solidFill>
                      <a:srgbClr val="E0EAF6"/>
                    </a:solidFill>
                  </a:tcPr>
                </a:tc>
                <a:tc>
                  <a:txBody>
                    <a:bodyPr/>
                    <a:lstStyle/>
                    <a:p>
                      <a:pPr algn="ctr"/>
                      <a:r>
                        <a:rPr sz="2625" b="0">
                          <a:solidFill>
                            <a:srgbClr val="17283E"/>
                          </a:solidFill>
                          <a:latin typeface="Calibri"/>
                          <a:ea typeface="Calibri"/>
                          <a:cs typeface="Calibri"/>
                        </a:rPr>
                        <a:t>Scripts et règles métier</a:t>
                      </a:r>
                    </a:p>
                  </a:txBody>
                  <a:tcPr anchor="ctr">
                    <a:solidFill>
                      <a:srgbClr val="E0EAF6"/>
                    </a:solidFill>
                  </a:tcPr>
                </a:tc>
                <a:tc>
                  <a:txBody>
                    <a:bodyPr/>
                    <a:lstStyle/>
                    <a:p>
                      <a:pPr algn="ctr"/>
                      <a:r>
                        <a:rPr sz="2625" b="0">
                          <a:solidFill>
                            <a:srgbClr val="17283E"/>
                          </a:solidFill>
                          <a:latin typeface="Calibri"/>
                          <a:ea typeface="Calibri"/>
                          <a:cs typeface="Calibri"/>
                        </a:rPr>
                        <a:t>Modules lisibles et testables</a:t>
                      </a:r>
                    </a:p>
                  </a:txBody>
                  <a:tcPr anchor="ctr">
                    <a:solidFill>
                      <a:srgbClr val="E0EAF6"/>
                    </a:solidFill>
                  </a:tcPr>
                </a:tc>
                <a:extLst>
                  <a:ext uri="{0D108BD9-81ED-4DB2-BD59-A6C34878D82A}">
                    <a16:rowId xmlns:a16="http://schemas.microsoft.com/office/drawing/2014/main" val="10001"/>
                  </a:ext>
                </a:extLst>
              </a:tr>
              <a:tr h="857250">
                <a:tc>
                  <a:txBody>
                    <a:bodyPr/>
                    <a:lstStyle/>
                    <a:p>
                      <a:pPr algn="ctr"/>
                      <a:r>
                        <a:rPr sz="2625" b="0">
                          <a:solidFill>
                            <a:srgbClr val="17283E"/>
                          </a:solidFill>
                          <a:latin typeface="Calibri"/>
                          <a:ea typeface="Calibri"/>
                          <a:cs typeface="Calibri"/>
                        </a:rPr>
                        <a:t>Airtable</a:t>
                      </a:r>
                    </a:p>
                  </a:txBody>
                  <a:tcPr anchor="ctr">
                    <a:solidFill>
                      <a:srgbClr val="D4E1F0"/>
                    </a:solidFill>
                  </a:tcPr>
                </a:tc>
                <a:tc>
                  <a:txBody>
                    <a:bodyPr/>
                    <a:lstStyle/>
                    <a:p>
                      <a:pPr algn="ctr"/>
                      <a:r>
                        <a:rPr sz="2625" b="0">
                          <a:solidFill>
                            <a:srgbClr val="17283E"/>
                          </a:solidFill>
                          <a:latin typeface="Calibri"/>
                          <a:ea typeface="Calibri"/>
                          <a:cs typeface="Calibri"/>
                        </a:rPr>
                        <a:t>Catalogue et prospects</a:t>
                      </a:r>
                    </a:p>
                  </a:txBody>
                  <a:tcPr anchor="ctr">
                    <a:solidFill>
                      <a:srgbClr val="D4E1F0"/>
                    </a:solidFill>
                  </a:tcPr>
                </a:tc>
                <a:tc>
                  <a:txBody>
                    <a:bodyPr/>
                    <a:lstStyle/>
                    <a:p>
                      <a:pPr algn="ctr"/>
                      <a:r>
                        <a:rPr sz="2625" b="0">
                          <a:solidFill>
                            <a:srgbClr val="17283E"/>
                          </a:solidFill>
                          <a:latin typeface="Calibri"/>
                          <a:ea typeface="Calibri"/>
                          <a:cs typeface="Calibri"/>
                        </a:rPr>
                        <a:t>Données accessibles à l’équipe</a:t>
                      </a:r>
                    </a:p>
                  </a:txBody>
                  <a:tcPr anchor="ctr">
                    <a:solidFill>
                      <a:srgbClr val="D4E1F0"/>
                    </a:solidFill>
                  </a:tcPr>
                </a:tc>
                <a:extLst>
                  <a:ext uri="{0D108BD9-81ED-4DB2-BD59-A6C34878D82A}">
                    <a16:rowId xmlns:a16="http://schemas.microsoft.com/office/drawing/2014/main" val="10002"/>
                  </a:ext>
                </a:extLst>
              </a:tr>
              <a:tr h="857250">
                <a:tc>
                  <a:txBody>
                    <a:bodyPr/>
                    <a:lstStyle/>
                    <a:p>
                      <a:pPr algn="ctr"/>
                      <a:r>
                        <a:rPr sz="2625" b="0">
                          <a:solidFill>
                            <a:srgbClr val="17283E"/>
                          </a:solidFill>
                          <a:latin typeface="Calibri"/>
                          <a:ea typeface="Calibri"/>
                          <a:cs typeface="Calibri"/>
                        </a:rPr>
                        <a:t>Groq</a:t>
                      </a:r>
                    </a:p>
                  </a:txBody>
                  <a:tcPr anchor="ctr">
                    <a:solidFill>
                      <a:srgbClr val="E0EAF6"/>
                    </a:solidFill>
                  </a:tcPr>
                </a:tc>
                <a:tc>
                  <a:txBody>
                    <a:bodyPr/>
                    <a:lstStyle/>
                    <a:p>
                      <a:pPr algn="ctr"/>
                      <a:r>
                        <a:rPr sz="2625" b="0">
                          <a:solidFill>
                            <a:srgbClr val="17283E"/>
                          </a:solidFill>
                          <a:latin typeface="Calibri"/>
                          <a:ea typeface="Calibri"/>
                          <a:cs typeface="Calibri"/>
                        </a:rPr>
                        <a:t>Génération des contenus</a:t>
                      </a:r>
                    </a:p>
                  </a:txBody>
                  <a:tcPr anchor="ctr">
                    <a:solidFill>
                      <a:srgbClr val="E0EAF6"/>
                    </a:solidFill>
                  </a:tcPr>
                </a:tc>
                <a:tc>
                  <a:txBody>
                    <a:bodyPr/>
                    <a:lstStyle/>
                    <a:p>
                      <a:pPr algn="ctr"/>
                      <a:r>
                        <a:rPr sz="2625" b="0">
                          <a:solidFill>
                            <a:srgbClr val="17283E"/>
                          </a:solidFill>
                          <a:latin typeface="Calibri"/>
                          <a:ea typeface="Calibri"/>
                          <a:cs typeface="Calibri"/>
                        </a:rPr>
                        <a:t>Réponse JSON contrôlée</a:t>
                      </a:r>
                    </a:p>
                  </a:txBody>
                  <a:tcPr anchor="ctr">
                    <a:solidFill>
                      <a:srgbClr val="E0EAF6"/>
                    </a:solidFill>
                  </a:tcPr>
                </a:tc>
                <a:extLst>
                  <a:ext uri="{0D108BD9-81ED-4DB2-BD59-A6C34878D82A}">
                    <a16:rowId xmlns:a16="http://schemas.microsoft.com/office/drawing/2014/main" val="10003"/>
                  </a:ext>
                </a:extLst>
              </a:tr>
              <a:tr h="857250">
                <a:tc>
                  <a:txBody>
                    <a:bodyPr/>
                    <a:lstStyle/>
                    <a:p>
                      <a:pPr algn="ctr"/>
                      <a:r>
                        <a:rPr sz="2625" b="0">
                          <a:solidFill>
                            <a:srgbClr val="17283E"/>
                          </a:solidFill>
                          <a:latin typeface="Calibri"/>
                          <a:ea typeface="Calibri"/>
                          <a:cs typeface="Calibri"/>
                        </a:rPr>
                        <a:t>Streamlit</a:t>
                      </a:r>
                    </a:p>
                  </a:txBody>
                  <a:tcPr anchor="ctr">
                    <a:solidFill>
                      <a:srgbClr val="D4E1F0"/>
                    </a:solidFill>
                  </a:tcPr>
                </a:tc>
                <a:tc>
                  <a:txBody>
                    <a:bodyPr/>
                    <a:lstStyle/>
                    <a:p>
                      <a:pPr algn="ctr"/>
                      <a:r>
                        <a:rPr sz="2625" b="0">
                          <a:solidFill>
                            <a:srgbClr val="17283E"/>
                          </a:solidFill>
                          <a:latin typeface="Calibri"/>
                          <a:ea typeface="Calibri"/>
                          <a:cs typeface="Calibri"/>
                        </a:rPr>
                        <a:t>Interface de pilotage</a:t>
                      </a:r>
                    </a:p>
                  </a:txBody>
                  <a:tcPr anchor="ctr">
                    <a:solidFill>
                      <a:srgbClr val="D4E1F0"/>
                    </a:solidFill>
                  </a:tcPr>
                </a:tc>
                <a:tc>
                  <a:txBody>
                    <a:bodyPr/>
                    <a:lstStyle/>
                    <a:p>
                      <a:pPr algn="ctr"/>
                      <a:r>
                        <a:rPr sz="2625" b="0">
                          <a:solidFill>
                            <a:srgbClr val="17283E"/>
                          </a:solidFill>
                          <a:latin typeface="Calibri"/>
                          <a:ea typeface="Calibri"/>
                          <a:cs typeface="Calibri"/>
                        </a:rPr>
                        <a:t>Dashboard directement en Python</a:t>
                      </a:r>
                    </a:p>
                  </a:txBody>
                  <a:tcPr anchor="ctr">
                    <a:solidFill>
                      <a:srgbClr val="D4E1F0"/>
                    </a:solidFill>
                  </a:tcPr>
                </a:tc>
                <a:extLst>
                  <a:ext uri="{0D108BD9-81ED-4DB2-BD59-A6C34878D82A}">
                    <a16:rowId xmlns:a16="http://schemas.microsoft.com/office/drawing/2014/main" val="10004"/>
                  </a:ext>
                </a:extLst>
              </a:tr>
              <a:tr h="857250">
                <a:tc>
                  <a:txBody>
                    <a:bodyPr/>
                    <a:lstStyle/>
                    <a:p>
                      <a:pPr algn="ctr"/>
                      <a:r>
                        <a:rPr sz="2625" b="0">
                          <a:solidFill>
                            <a:srgbClr val="17283E"/>
                          </a:solidFill>
                          <a:latin typeface="Calibri"/>
                          <a:ea typeface="Calibri"/>
                          <a:cs typeface="Calibri"/>
                        </a:rPr>
                        <a:t>ReportLab</a:t>
                      </a:r>
                    </a:p>
                  </a:txBody>
                  <a:tcPr anchor="ctr">
                    <a:solidFill>
                      <a:srgbClr val="E0EAF6"/>
                    </a:solidFill>
                  </a:tcPr>
                </a:tc>
                <a:tc>
                  <a:txBody>
                    <a:bodyPr/>
                    <a:lstStyle/>
                    <a:p>
                      <a:pPr algn="ctr"/>
                      <a:r>
                        <a:rPr sz="2625" b="0">
                          <a:solidFill>
                            <a:srgbClr val="17283E"/>
                          </a:solidFill>
                          <a:latin typeface="Calibri"/>
                          <a:ea typeface="Calibri"/>
                          <a:cs typeface="Calibri"/>
                        </a:rPr>
                        <a:t>Offres, conventions et factures</a:t>
                      </a:r>
                    </a:p>
                  </a:txBody>
                  <a:tcPr anchor="ctr">
                    <a:solidFill>
                      <a:srgbClr val="E0EAF6"/>
                    </a:solidFill>
                  </a:tcPr>
                </a:tc>
                <a:tc>
                  <a:txBody>
                    <a:bodyPr/>
                    <a:lstStyle/>
                    <a:p>
                      <a:pPr algn="ctr"/>
                      <a:r>
                        <a:rPr sz="2625" b="0" dirty="0" err="1">
                          <a:solidFill>
                            <a:srgbClr val="17283E"/>
                          </a:solidFill>
                          <a:latin typeface="Calibri"/>
                          <a:ea typeface="Calibri"/>
                          <a:cs typeface="Calibri"/>
                        </a:rPr>
                        <a:t>Thème</a:t>
                      </a:r>
                      <a:r>
                        <a:rPr sz="2625" b="0" dirty="0">
                          <a:solidFill>
                            <a:srgbClr val="17283E"/>
                          </a:solidFill>
                          <a:latin typeface="Calibri"/>
                          <a:ea typeface="Calibri"/>
                          <a:cs typeface="Calibri"/>
                        </a:rPr>
                        <a:t> </a:t>
                      </a:r>
                      <a:r>
                        <a:rPr sz="2625" b="0" dirty="0" err="1">
                          <a:solidFill>
                            <a:srgbClr val="17283E"/>
                          </a:solidFill>
                          <a:latin typeface="Calibri"/>
                          <a:ea typeface="Calibri"/>
                          <a:cs typeface="Calibri"/>
                        </a:rPr>
                        <a:t>documentaire</a:t>
                      </a:r>
                      <a:r>
                        <a:rPr sz="2625" b="0" dirty="0">
                          <a:solidFill>
                            <a:srgbClr val="17283E"/>
                          </a:solidFill>
                          <a:latin typeface="Calibri"/>
                          <a:ea typeface="Calibri"/>
                          <a:cs typeface="Calibri"/>
                        </a:rPr>
                        <a:t> </a:t>
                      </a:r>
                      <a:r>
                        <a:rPr sz="2625" b="0" dirty="0" err="1">
                          <a:solidFill>
                            <a:srgbClr val="17283E"/>
                          </a:solidFill>
                          <a:latin typeface="Calibri"/>
                          <a:ea typeface="Calibri"/>
                          <a:cs typeface="Calibri"/>
                        </a:rPr>
                        <a:t>partagé</a:t>
                      </a:r>
                      <a:endParaRPr sz="2625" b="0" dirty="0">
                        <a:solidFill>
                          <a:srgbClr val="17283E"/>
                        </a:solidFill>
                        <a:latin typeface="Calibri"/>
                        <a:ea typeface="Calibri"/>
                        <a:cs typeface="Calibri"/>
                      </a:endParaRPr>
                    </a:p>
                  </a:txBody>
                  <a:tcPr anchor="ctr">
                    <a:solidFill>
                      <a:srgbClr val="E0EAF6"/>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17283E"/>
                </a:solidFill>
                <a:latin typeface="Calibri"/>
                <a:ea typeface="Calibri"/>
                <a:cs typeface="Calibri"/>
              </a:defRPr>
            </a:pPr>
            <a:r>
              <a:rPr sz="2850" b="0">
                <a:solidFill>
                  <a:srgbClr val="17283E"/>
                </a:solidFill>
                <a:latin typeface="Calibri"/>
                <a:ea typeface="Calibri"/>
                <a:cs typeface="Calibri"/>
              </a:rPr>
              <a:t>1. Consulter les indicateurs</a:t>
            </a:r>
          </a:p>
          <a:p>
            <a:endParaRPr sz="2850" b="0">
              <a:solidFill>
                <a:srgbClr val="17283E"/>
              </a:solidFill>
              <a:latin typeface="Calibri"/>
              <a:ea typeface="Calibri"/>
              <a:cs typeface="Calibri"/>
            </a:endParaRPr>
          </a:p>
          <a:p>
            <a:pPr algn="l">
              <a:defRPr sz="2850" b="0">
                <a:solidFill>
                  <a:srgbClr val="17283E"/>
                </a:solidFill>
                <a:latin typeface="Calibri"/>
                <a:ea typeface="Calibri"/>
                <a:cs typeface="Calibri"/>
              </a:defRPr>
            </a:pPr>
            <a:r>
              <a:rPr sz="2850" b="0">
                <a:solidFill>
                  <a:srgbClr val="17283E"/>
                </a:solidFill>
                <a:latin typeface="Calibri"/>
                <a:ea typeface="Calibri"/>
                <a:cs typeface="Calibri"/>
              </a:rPr>
              <a:t>2. Rechercher un prospect</a:t>
            </a:r>
          </a:p>
          <a:p>
            <a:endParaRPr sz="2850" b="0">
              <a:solidFill>
                <a:srgbClr val="17283E"/>
              </a:solidFill>
              <a:latin typeface="Calibri"/>
              <a:ea typeface="Calibri"/>
              <a:cs typeface="Calibri"/>
            </a:endParaRPr>
          </a:p>
          <a:p>
            <a:pPr algn="l">
              <a:defRPr sz="2850" b="0">
                <a:solidFill>
                  <a:srgbClr val="17283E"/>
                </a:solidFill>
                <a:latin typeface="Calibri"/>
                <a:ea typeface="Calibri"/>
                <a:cs typeface="Calibri"/>
              </a:defRPr>
            </a:pPr>
            <a:r>
              <a:rPr sz="2850" b="0">
                <a:solidFill>
                  <a:srgbClr val="17283E"/>
                </a:solidFill>
                <a:latin typeface="Calibri"/>
                <a:ea typeface="Calibri"/>
                <a:cs typeface="Calibri"/>
              </a:rPr>
              <a:t>3. Choisir la simulation</a:t>
            </a:r>
          </a:p>
          <a:p>
            <a:endParaRPr sz="2850" b="0">
              <a:solidFill>
                <a:srgbClr val="17283E"/>
              </a:solidFill>
              <a:latin typeface="Calibri"/>
              <a:ea typeface="Calibri"/>
              <a:cs typeface="Calibri"/>
            </a:endParaRPr>
          </a:p>
          <a:p>
            <a:pPr algn="l">
              <a:defRPr sz="2850" b="0">
                <a:solidFill>
                  <a:srgbClr val="17283E"/>
                </a:solidFill>
                <a:latin typeface="Calibri"/>
                <a:ea typeface="Calibri"/>
                <a:cs typeface="Calibri"/>
              </a:defRPr>
            </a:pPr>
            <a:r>
              <a:rPr sz="2850" b="0">
                <a:solidFill>
                  <a:srgbClr val="17283E"/>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17283E"/>
                </a:solidFill>
                <a:latin typeface="Calibri"/>
                <a:ea typeface="Calibri"/>
                <a:cs typeface="Calibri"/>
              </a:defRPr>
            </a:pPr>
            <a:r>
              <a:rPr sz="2700" b="1">
                <a:solidFill>
                  <a:srgbClr val="17283E"/>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17283E"/>
                </a:solidFill>
                <a:latin typeface="Calibri"/>
                <a:ea typeface="Calibri"/>
                <a:cs typeface="Calibri"/>
              </a:defRPr>
            </a:pPr>
            <a:r>
              <a:rPr sz="2700" b="1">
                <a:solidFill>
                  <a:srgbClr val="17283E"/>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17283E"/>
                </a:solidFill>
                <a:latin typeface="Calibri"/>
                <a:ea typeface="Calibri"/>
                <a:cs typeface="Calibri"/>
              </a:defRPr>
            </a:pPr>
            <a:r>
              <a:rPr sz="2700" b="1">
                <a:solidFill>
                  <a:srgbClr val="17283E"/>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9B420B"/>
                </a:solidFill>
                <a:latin typeface="Calibri"/>
                <a:ea typeface="Calibri"/>
                <a:cs typeface="Calibri"/>
              </a:defRPr>
            </a:pPr>
            <a:r>
              <a:rPr sz="4800" b="1">
                <a:solidFill>
                  <a:srgbClr val="9B420B"/>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190625" y="4857750"/>
            <a:ext cx="571500" cy="85725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1857375" y="4857750"/>
            <a:ext cx="12287250" cy="857250"/>
          </a:xfrm>
          <a:prstGeom prst="rect">
            <a:avLst/>
          </a:prstGeom>
          <a:noFill/>
          <a:ln w="0">
            <a:noFill/>
          </a:ln>
        </p:spPr>
        <p:txBody>
          <a:bodyPr wrap="square" lIns="0" tIns="0" rIns="0" bIns="0" anchor="ctr">
            <a:noAutofit/>
          </a:bodyPr>
          <a:lstStyle/>
          <a:p>
            <a:pPr algn="l">
              <a:defRPr sz="3075" b="0">
                <a:solidFill>
                  <a:srgbClr val="17283E"/>
                </a:solidFill>
                <a:latin typeface="Calibri"/>
                <a:ea typeface="Calibri"/>
                <a:cs typeface="Calibri"/>
              </a:defRPr>
            </a:pPr>
            <a:r>
              <a:rPr sz="3075" b="0">
                <a:solidFill>
                  <a:srgbClr val="17283E"/>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190625" y="5857875"/>
            <a:ext cx="571500" cy="85725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1857375" y="5857875"/>
            <a:ext cx="12287250" cy="857250"/>
          </a:xfrm>
          <a:prstGeom prst="rect">
            <a:avLst/>
          </a:prstGeom>
          <a:noFill/>
          <a:ln w="0">
            <a:noFill/>
          </a:ln>
        </p:spPr>
        <p:txBody>
          <a:bodyPr wrap="square" lIns="0" tIns="0" rIns="0" bIns="0" anchor="ctr">
            <a:noAutofit/>
          </a:bodyPr>
          <a:lstStyle/>
          <a:p>
            <a:pPr algn="l">
              <a:defRPr sz="3075" b="0">
                <a:solidFill>
                  <a:srgbClr val="17283E"/>
                </a:solidFill>
                <a:latin typeface="Calibri"/>
                <a:ea typeface="Calibri"/>
                <a:cs typeface="Calibri"/>
              </a:defRPr>
            </a:pPr>
            <a:r>
              <a:rPr sz="3075" b="0">
                <a:solidFill>
                  <a:srgbClr val="17283E"/>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190625" y="6858000"/>
            <a:ext cx="571500" cy="857250"/>
          </a:xfrm>
          <a:prstGeom prst="rect">
            <a:avLst/>
          </a:prstGeom>
          <a:noFill/>
          <a:ln w="0">
            <a:noFill/>
          </a:ln>
        </p:spPr>
        <p:txBody>
          <a:bodyPr wrap="square" lIns="0" tIns="0" rIns="0" bIns="0" anchor="ctr">
            <a:noAutofit/>
          </a:bodyPr>
          <a:lstStyle/>
          <a:p>
            <a:pPr algn="l">
              <a:defRPr sz="2100" b="1">
                <a:solidFill>
                  <a:srgbClr val="9B420B"/>
                </a:solidFill>
                <a:latin typeface="Calibri"/>
                <a:ea typeface="Calibri"/>
                <a:cs typeface="Calibri"/>
              </a:defRPr>
            </a:pPr>
            <a:r>
              <a:rPr sz="2100" b="1">
                <a:solidFill>
                  <a:srgbClr val="9B420B"/>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1857375" y="6858000"/>
            <a:ext cx="12287250" cy="857250"/>
          </a:xfrm>
          <a:prstGeom prst="rect">
            <a:avLst/>
          </a:prstGeom>
          <a:noFill/>
          <a:ln w="0">
            <a:noFill/>
          </a:ln>
        </p:spPr>
        <p:txBody>
          <a:bodyPr wrap="square" lIns="0" tIns="0" rIns="0" bIns="0" anchor="ctr">
            <a:noAutofit/>
          </a:bodyPr>
          <a:lstStyle/>
          <a:p>
            <a:pPr algn="l">
              <a:defRPr sz="3075" b="0">
                <a:solidFill>
                  <a:srgbClr val="17283E"/>
                </a:solidFill>
                <a:latin typeface="Calibri"/>
                <a:ea typeface="Calibri"/>
                <a:cs typeface="Calibri"/>
              </a:defRPr>
            </a:pPr>
            <a:r>
              <a:rPr sz="3075" b="0">
                <a:solidFill>
                  <a:srgbClr val="17283E"/>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17283E"/>
                </a:solidFill>
                <a:latin typeface="Calibri"/>
                <a:ea typeface="Calibri"/>
                <a:cs typeface="Calibri"/>
              </a:defRPr>
            </a:pPr>
            <a:r>
              <a:rPr sz="2550" b="0">
                <a:solidFill>
                  <a:srgbClr val="17283E"/>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17283E"/>
                </a:solidFill>
                <a:latin typeface="Calibri"/>
                <a:ea typeface="Calibri"/>
                <a:cs typeface="Calibri"/>
              </a:defRPr>
            </a:pPr>
            <a:r>
              <a:rPr sz="4650" b="1">
                <a:solidFill>
                  <a:srgbClr val="17283E"/>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9B420B"/>
                          </a:solidFill>
                          <a:latin typeface="Calibri"/>
                          <a:ea typeface="Calibri"/>
                          <a:cs typeface="Calibri"/>
                        </a:rPr>
                        <a:t>Priorité</a:t>
                      </a:r>
                    </a:p>
                  </a:txBody>
                  <a:tcPr anchor="ctr">
                    <a:solidFill>
                      <a:srgbClr val="A6BDD8"/>
                    </a:solidFill>
                  </a:tcPr>
                </a:tc>
                <a:tc>
                  <a:txBody>
                    <a:bodyPr/>
                    <a:lstStyle/>
                    <a:p>
                      <a:pPr algn="ctr"/>
                      <a:r>
                        <a:rPr sz="2625" b="1">
                          <a:solidFill>
                            <a:srgbClr val="9B420B"/>
                          </a:solidFill>
                          <a:latin typeface="Calibri"/>
                          <a:ea typeface="Calibri"/>
                          <a:cs typeface="Calibri"/>
                        </a:rPr>
                        <a:t>Amélioration attendue</a:t>
                      </a:r>
                    </a:p>
                  </a:txBody>
                  <a:tcPr anchor="ctr">
                    <a:solidFill>
                      <a:srgbClr val="A6BDD8"/>
                    </a:solidFill>
                  </a:tcPr>
                </a:tc>
                <a:extLst>
                  <a:ext uri="{0D108BD9-81ED-4DB2-BD59-A6C34878D82A}">
                    <a16:rowId xmlns:a16="http://schemas.microsoft.com/office/drawing/2014/main" val="10000"/>
                  </a:ext>
                </a:extLst>
              </a:tr>
              <a:tr h="825500">
                <a:tc>
                  <a:txBody>
                    <a:bodyPr/>
                    <a:lstStyle/>
                    <a:p>
                      <a:pPr algn="ctr"/>
                      <a:r>
                        <a:rPr sz="2625" b="0">
                          <a:solidFill>
                            <a:srgbClr val="17283E"/>
                          </a:solidFill>
                          <a:latin typeface="Calibri"/>
                          <a:ea typeface="Calibri"/>
                          <a:cs typeface="Calibri"/>
                        </a:rPr>
                        <a:t>Fiabilité métier</a:t>
                      </a:r>
                    </a:p>
                  </a:txBody>
                  <a:tcPr anchor="ctr">
                    <a:solidFill>
                      <a:srgbClr val="E0EAF6"/>
                    </a:solidFill>
                  </a:tcPr>
                </a:tc>
                <a:tc>
                  <a:txBody>
                    <a:bodyPr/>
                    <a:lstStyle/>
                    <a:p>
                      <a:pPr algn="ctr"/>
                      <a:r>
                        <a:rPr sz="2625" b="0">
                          <a:solidFill>
                            <a:srgbClr val="17283E"/>
                          </a:solidFill>
                          <a:latin typeface="Calibri"/>
                          <a:ea typeface="Calibri"/>
                          <a:cs typeface="Calibri"/>
                        </a:rPr>
                        <a:t>Formation obligatoire, prix structurés, règles de TVA validées</a:t>
                      </a:r>
                    </a:p>
                  </a:txBody>
                  <a:tcPr anchor="ctr">
                    <a:solidFill>
                      <a:srgbClr val="E0EAF6"/>
                    </a:solidFill>
                  </a:tcPr>
                </a:tc>
                <a:extLst>
                  <a:ext uri="{0D108BD9-81ED-4DB2-BD59-A6C34878D82A}">
                    <a16:rowId xmlns:a16="http://schemas.microsoft.com/office/drawing/2014/main" val="10001"/>
                  </a:ext>
                </a:extLst>
              </a:tr>
              <a:tr h="825500">
                <a:tc>
                  <a:txBody>
                    <a:bodyPr/>
                    <a:lstStyle/>
                    <a:p>
                      <a:pPr algn="ctr"/>
                      <a:r>
                        <a:rPr sz="2625" b="0">
                          <a:solidFill>
                            <a:srgbClr val="17283E"/>
                          </a:solidFill>
                          <a:latin typeface="Calibri"/>
                          <a:ea typeface="Calibri"/>
                          <a:cs typeface="Calibri"/>
                        </a:rPr>
                        <a:t>Exploitation</a:t>
                      </a:r>
                    </a:p>
                  </a:txBody>
                  <a:tcPr anchor="ctr">
                    <a:solidFill>
                      <a:srgbClr val="D4E1F0"/>
                    </a:solidFill>
                  </a:tcPr>
                </a:tc>
                <a:tc>
                  <a:txBody>
                    <a:bodyPr/>
                    <a:lstStyle/>
                    <a:p>
                      <a:pPr algn="ctr"/>
                      <a:r>
                        <a:rPr sz="2625" b="0">
                          <a:solidFill>
                            <a:srgbClr val="17283E"/>
                          </a:solidFill>
                          <a:latin typeface="Calibri"/>
                          <a:ea typeface="Calibri"/>
                          <a:cs typeface="Calibri"/>
                        </a:rPr>
                        <a:t>Planification, rattrapage des échéances, suivi des réponses</a:t>
                      </a:r>
                    </a:p>
                  </a:txBody>
                  <a:tcPr anchor="ctr">
                    <a:solidFill>
                      <a:srgbClr val="D4E1F0"/>
                    </a:solidFill>
                  </a:tcPr>
                </a:tc>
                <a:extLst>
                  <a:ext uri="{0D108BD9-81ED-4DB2-BD59-A6C34878D82A}">
                    <a16:rowId xmlns:a16="http://schemas.microsoft.com/office/drawing/2014/main" val="10002"/>
                  </a:ext>
                </a:extLst>
              </a:tr>
              <a:tr h="825500">
                <a:tc>
                  <a:txBody>
                    <a:bodyPr/>
                    <a:lstStyle/>
                    <a:p>
                      <a:pPr algn="ctr"/>
                      <a:r>
                        <a:rPr sz="2625" b="0">
                          <a:solidFill>
                            <a:srgbClr val="17283E"/>
                          </a:solidFill>
                          <a:latin typeface="Calibri"/>
                          <a:ea typeface="Calibri"/>
                          <a:cs typeface="Calibri"/>
                        </a:rPr>
                        <a:t>Sécurité</a:t>
                      </a:r>
                    </a:p>
                  </a:txBody>
                  <a:tcPr anchor="ctr">
                    <a:solidFill>
                      <a:srgbClr val="E0EAF6"/>
                    </a:solidFill>
                  </a:tcPr>
                </a:tc>
                <a:tc>
                  <a:txBody>
                    <a:bodyPr/>
                    <a:lstStyle/>
                    <a:p>
                      <a:pPr algn="ctr"/>
                      <a:r>
                        <a:rPr sz="2625" b="0">
                          <a:solidFill>
                            <a:srgbClr val="17283E"/>
                          </a:solidFill>
                          <a:latin typeface="Calibri"/>
                          <a:ea typeface="Calibri"/>
                          <a:cs typeface="Calibri"/>
                        </a:rPr>
                        <a:t>Accès authentifié, gestion des secrets et des habilitations</a:t>
                      </a:r>
                    </a:p>
                  </a:txBody>
                  <a:tcPr anchor="ctr">
                    <a:solidFill>
                      <a:srgbClr val="E0EAF6"/>
                    </a:solidFill>
                  </a:tcPr>
                </a:tc>
                <a:extLst>
                  <a:ext uri="{0D108BD9-81ED-4DB2-BD59-A6C34878D82A}">
                    <a16:rowId xmlns:a16="http://schemas.microsoft.com/office/drawing/2014/main" val="10003"/>
                  </a:ext>
                </a:extLst>
              </a:tr>
              <a:tr h="825500">
                <a:tc>
                  <a:txBody>
                    <a:bodyPr/>
                    <a:lstStyle/>
                    <a:p>
                      <a:pPr algn="ctr"/>
                      <a:r>
                        <a:rPr sz="2625" b="0">
                          <a:solidFill>
                            <a:srgbClr val="17283E"/>
                          </a:solidFill>
                          <a:latin typeface="Calibri"/>
                          <a:ea typeface="Calibri"/>
                          <a:cs typeface="Calibri"/>
                        </a:rPr>
                        <a:t>Montée en charge</a:t>
                      </a:r>
                    </a:p>
                  </a:txBody>
                  <a:tcPr anchor="ctr">
                    <a:solidFill>
                      <a:srgbClr val="D4E1F0"/>
                    </a:solidFill>
                  </a:tcPr>
                </a:tc>
                <a:tc>
                  <a:txBody>
                    <a:bodyPr/>
                    <a:lstStyle/>
                    <a:p>
                      <a:pPr algn="ctr"/>
                      <a:r>
                        <a:rPr sz="2625" b="0">
                          <a:solidFill>
                            <a:srgbClr val="17283E"/>
                          </a:solidFill>
                          <a:latin typeface="Calibri"/>
                          <a:ea typeface="Calibri"/>
                          <a:cs typeface="Calibri"/>
                        </a:rPr>
                        <a:t>Journal central, verrouillage et tests de concurrence</a:t>
                      </a:r>
                    </a:p>
                  </a:txBody>
                  <a:tcPr anchor="ctr">
                    <a:solidFill>
                      <a:srgbClr val="D4E1F0"/>
                    </a:solidFill>
                  </a:tcPr>
                </a:tc>
                <a:extLst>
                  <a:ext uri="{0D108BD9-81ED-4DB2-BD59-A6C34878D82A}">
                    <a16:rowId xmlns:a16="http://schemas.microsoft.com/office/drawing/2014/main" val="10004"/>
                  </a:ext>
                </a:extLst>
              </a:tr>
              <a:tr h="825500">
                <a:tc>
                  <a:txBody>
                    <a:bodyPr/>
                    <a:lstStyle/>
                    <a:p>
                      <a:pPr algn="ctr"/>
                      <a:r>
                        <a:rPr sz="2625" b="0">
                          <a:solidFill>
                            <a:srgbClr val="17283E"/>
                          </a:solidFill>
                          <a:latin typeface="Calibri"/>
                          <a:ea typeface="Calibri"/>
                          <a:cs typeface="Calibri"/>
                        </a:rPr>
                        <a:t>Périmètre</a:t>
                      </a:r>
                    </a:p>
                  </a:txBody>
                  <a:tcPr anchor="ctr">
                    <a:solidFill>
                      <a:srgbClr val="E0EAF6"/>
                    </a:solidFill>
                  </a:tcPr>
                </a:tc>
                <a:tc>
                  <a:txBody>
                    <a:bodyPr/>
                    <a:lstStyle/>
                    <a:p>
                      <a:pPr algn="ctr"/>
                      <a:r>
                        <a:rPr sz="2625" b="0" dirty="0">
                          <a:solidFill>
                            <a:srgbClr val="17283E"/>
                          </a:solidFill>
                          <a:latin typeface="Calibri"/>
                          <a:ea typeface="Calibri"/>
                          <a:cs typeface="Calibri"/>
                        </a:rPr>
                        <a:t>Publication </a:t>
                      </a:r>
                      <a:r>
                        <a:rPr sz="2625" b="0" dirty="0" err="1">
                          <a:solidFill>
                            <a:srgbClr val="17283E"/>
                          </a:solidFill>
                          <a:latin typeface="Calibri"/>
                          <a:ea typeface="Calibri"/>
                          <a:cs typeface="Calibri"/>
                        </a:rPr>
                        <a:t>sociale</a:t>
                      </a:r>
                      <a:r>
                        <a:rPr sz="2625" b="0" dirty="0">
                          <a:solidFill>
                            <a:srgbClr val="17283E"/>
                          </a:solidFill>
                          <a:latin typeface="Calibri"/>
                          <a:ea typeface="Calibri"/>
                          <a:cs typeface="Calibri"/>
                        </a:rPr>
                        <a:t> E3 et </a:t>
                      </a:r>
                      <a:r>
                        <a:rPr sz="2625" b="0" dirty="0" err="1">
                          <a:solidFill>
                            <a:srgbClr val="17283E"/>
                          </a:solidFill>
                          <a:latin typeface="Calibri"/>
                          <a:ea typeface="Calibri"/>
                          <a:cs typeface="Calibri"/>
                        </a:rPr>
                        <a:t>suivi</a:t>
                      </a:r>
                      <a:r>
                        <a:rPr sz="2625" b="0" dirty="0">
                          <a:solidFill>
                            <a:srgbClr val="17283E"/>
                          </a:solidFill>
                          <a:latin typeface="Calibri"/>
                          <a:ea typeface="Calibri"/>
                          <a:cs typeface="Calibri"/>
                        </a:rPr>
                        <a:t> après-vente</a:t>
                      </a:r>
                    </a:p>
                  </a:txBody>
                  <a:tcPr anchor="ctr">
                    <a:solidFill>
                      <a:srgbClr val="E0EAF6"/>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405675"/>
                </a:solidFill>
                <a:latin typeface="Calibri"/>
                <a:ea typeface="Calibri"/>
                <a:cs typeface="Calibri"/>
              </a:defRPr>
            </a:pPr>
            <a:r>
              <a:rPr sz="2025" b="0">
                <a:solidFill>
                  <a:srgbClr val="405675"/>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BDCF0"/>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Pastel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17283E"/>
                </a:solidFill>
                <a:latin typeface="Calibri"/>
                <a:ea typeface="Calibri"/>
                <a:cs typeface="Calibri"/>
              </a:defRPr>
            </a:pPr>
            <a:r>
              <a:rPr sz="1950" b="1">
                <a:solidFill>
                  <a:srgbClr val="17283E"/>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9B420B"/>
                </a:solidFill>
                <a:latin typeface="Calibri"/>
                <a:ea typeface="Calibri"/>
                <a:cs typeface="Calibri"/>
              </a:defRPr>
            </a:pPr>
            <a:r>
              <a:rPr sz="11850" b="1">
                <a:solidFill>
                  <a:srgbClr val="9B420B"/>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17283E"/>
                </a:solidFill>
                <a:latin typeface="Calibri"/>
                <a:ea typeface="Calibri"/>
                <a:cs typeface="Calibri"/>
              </a:defRPr>
            </a:pPr>
            <a:r>
              <a:rPr sz="5850" b="1">
                <a:solidFill>
                  <a:srgbClr val="17283E"/>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17283E"/>
                </a:solidFill>
                <a:latin typeface="Calibri"/>
                <a:ea typeface="Calibri"/>
                <a:cs typeface="Calibri"/>
              </a:defRPr>
            </a:pPr>
            <a:r>
              <a:rPr sz="2925" b="0">
                <a:solidFill>
                  <a:srgbClr val="17283E"/>
                </a:solidFill>
                <a:latin typeface="Calibri"/>
                <a:ea typeface="Calibri"/>
                <a:cs typeface="Calibri"/>
              </a:rPr>
              <a:t>Un prototype qui relie la qualification du prospect</a:t>
            </a:r>
          </a:p>
          <a:p>
            <a:pPr algn="l">
              <a:defRPr sz="2925" b="0">
                <a:solidFill>
                  <a:srgbClr val="17283E"/>
                </a:solidFill>
                <a:latin typeface="Calibri"/>
                <a:ea typeface="Calibri"/>
                <a:cs typeface="Calibri"/>
              </a:defRPr>
            </a:pPr>
            <a:r>
              <a:rPr sz="2925" b="0">
                <a:solidFill>
                  <a:srgbClr val="17283E"/>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9B420B"/>
                </a:solidFill>
                <a:latin typeface="Calibri"/>
                <a:ea typeface="Calibri"/>
                <a:cs typeface="Calibri"/>
              </a:defRPr>
            </a:pPr>
            <a:r>
              <a:rPr sz="3300" b="1">
                <a:solidFill>
                  <a:srgbClr val="9B420B"/>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17283E"/>
                </a:solidFill>
                <a:latin typeface="Calibri"/>
                <a:ea typeface="Calibri"/>
                <a:cs typeface="Calibri"/>
              </a:defRPr>
            </a:pPr>
            <a:r>
              <a:rPr sz="2400" b="0">
                <a:solidFill>
                  <a:srgbClr val="17283E"/>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CBDC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17283E"/>
                </a:solidFill>
                <a:latin typeface="Calibri"/>
                <a:ea typeface="Calibri"/>
                <a:cs typeface="Calibri"/>
              </a:defRPr>
            </a:pPr>
            <a:r>
              <a:rPr sz="1950" b="1">
                <a:solidFill>
                  <a:srgbClr val="17283E"/>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17283E"/>
                </a:solidFill>
                <a:latin typeface="Calibri"/>
                <a:ea typeface="Calibri"/>
                <a:cs typeface="Calibri"/>
              </a:defRPr>
            </a:pPr>
            <a:r>
              <a:rPr sz="4650" b="1">
                <a:solidFill>
                  <a:srgbClr val="17283E"/>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9B420B"/>
                </a:solidFill>
                <a:latin typeface="Calibri"/>
                <a:ea typeface="Calibri"/>
                <a:cs typeface="Calibri"/>
              </a:defRPr>
            </a:pPr>
            <a:r>
              <a:rPr sz="2700" b="1">
                <a:solidFill>
                  <a:srgbClr val="9B420B"/>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17283E"/>
                </a:solidFill>
                <a:latin typeface="Calibri"/>
                <a:ea typeface="Calibri"/>
                <a:cs typeface="Calibri"/>
              </a:defRPr>
            </a:pPr>
            <a:r>
              <a:rPr sz="2400" b="0">
                <a:solidFill>
                  <a:srgbClr val="17283E"/>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CBDCF0"/>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Pastel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9B420B"/>
                </a:solidFill>
                <a:latin typeface="Calibri"/>
                <a:ea typeface="Calibri"/>
                <a:cs typeface="Calibri"/>
              </a:defRPr>
            </a:pPr>
            <a:r>
              <a:rPr sz="1800" b="1">
                <a:solidFill>
                  <a:srgbClr val="9B420B"/>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17283E"/>
                </a:solidFill>
                <a:latin typeface="Calibri"/>
                <a:ea typeface="Calibri"/>
                <a:cs typeface="Calibri"/>
              </a:defRPr>
            </a:pPr>
            <a:r>
              <a:rPr sz="1950" b="1">
                <a:solidFill>
                  <a:srgbClr val="17283E"/>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17283E"/>
                </a:solidFill>
                <a:latin typeface="Calibri"/>
                <a:ea typeface="Calibri"/>
                <a:cs typeface="Calibri"/>
              </a:defRPr>
            </a:pPr>
            <a:r>
              <a:rPr sz="7200" b="1">
                <a:solidFill>
                  <a:srgbClr val="17283E"/>
                </a:solidFill>
                <a:latin typeface="Calibri"/>
                <a:ea typeface="Calibri"/>
                <a:cs typeface="Calibri"/>
              </a:rPr>
              <a:t>Merci pour</a:t>
            </a:r>
          </a:p>
          <a:p xmlns:a="http://schemas.openxmlformats.org/drawingml/2006/main">
            <a:pPr>
              <a:defRPr sz="7200" b="1">
                <a:solidFill>
                  <a:srgbClr val="17283E"/>
                </a:solidFill>
                <a:latin typeface="Calibri"/>
                <a:ea typeface="Calibri"/>
                <a:cs typeface="Calibri"/>
              </a:defRPr>
            </a:pPr>
            <a:r>
              <a:rPr sz="7200" b="1">
                <a:solidFill>
                  <a:srgbClr val="17283E"/>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9B420B"/>
                </a:solidFill>
                <a:latin typeface="Calibri"/>
                <a:ea typeface="Calibri"/>
                <a:cs typeface="Calibri"/>
              </a:defRPr>
            </a:pPr>
            <a:r>
              <a:rPr sz="3300" b="0">
                <a:solidFill>
                  <a:srgbClr val="9B420B"/>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